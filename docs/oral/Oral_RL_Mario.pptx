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0a5e5be5-a304-e85c-c464-85b0733edb1e}">
          <p14:sldIdLst>
            <p14:sldId id="256"/>
            <p14:sldId id="257"/>
          </p14:sldIdLst>
        </p14:section>
        <p14:section name="1-1 La veille" id="{882eb250-8041-f490-8363-6f3e77d3807a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1-2 Le duel sur v3" id="{1331af43-7d8f-a13d-b91a-45ec49718eff}">
          <p14:sldIdLst>
            <p14:sldId id="264"/>
            <p14:sldId id="265"/>
            <p14:sldId id="266"/>
            <p14:sldId id="267"/>
            <p14:sldId id="268"/>
          </p14:sldIdLst>
        </p14:section>
        <p14:section name="1-3 Le vrai jeu NES" id="{575af4f8-cdf6-6bf6-ef85-e2dc8c8ad067}">
          <p14:sldIdLst>
            <p14:sldId id="269"/>
            <p14:sldId id="270"/>
            <p14:sldId id="271"/>
            <p14:sldId id="272"/>
          </p14:sldIdLst>
        </p14:section>
        <p14:section name="1-4 Le recul" id="{f6a16260-b31d-ac4a-6649-ecba57d2be2b}">
          <p14:sldIdLst>
            <p14:sldId id="273"/>
            <p14:sldId id="274"/>
            <p14:sldId id="275"/>
            <p14:sldId id="276"/>
          </p14:sldIdLst>
        </p14:section>
        <p14:section name="Fin" id="{8c749128-a257-06cb-61a3-4e7e1b214eed}">
          <p14:sldIdLst>
            <p14:sldId id="277"/>
            <p14:sldId id="278"/>
          </p14:sldIdLst>
        </p14:section>
        <p14:section name="Annexes" id="{bfe67724-e81b-4faf-4a0a-54540b151371}">
          <p14:sldIdLst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[0:20]
À l'écran : le titre, nos trois prénoms.
On dit :
- Bonjour à tous, nous sommes Chris, Ewen et Chloé.
- Notre sujet, c'est un article de recherche sorti en juin 2026 : il fait apprendre à des IA à jouer à Super Mario.
- On ne s'est pas contentés de le lire : on a refait le jeu, on a refait leurs expériences, et on est allés un peu plus loin.
Transition : Voici notre parcours.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[0:30]
À l'écran : les 4 mondes.
On dit :
- On a découpé la présentation en 4 parties, comme les mondes du jeu.
- Monde 1-1 : ce que dit l'article, et ce qu'on en pense.
- Monde 1-2 : on compare les algorithmes sur le même niveau.
- Monde 1-3 : on passe au vrai jeu NES.
- Monde 1-4 : on prend du recul, avec l'énergie consommée et nos limites.
Transition : On commence par l'article.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[0:05]
On dit :
- Premier monde : la veille, c'est-à-dire l'article.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[0:50]
À l'écran : la référence de l'article et ses deux questions.
On dit :
- Beaucoup de gens disent que le premier niveau de Mario est très bien fait : il apprend au joueur à jouer, petit à petit.
- Les auteurs veulent le vérifier avec des IA.
- Première question : quel algorithme apprend le mieux ce niveau ?
- Deuxième question : est-ce que l'ordre du niveau aide l'IA à apprendre plus vite ?
- Ils font 120 entraînements au total.
- Attention : c'est une prépublication. L'article n'a pas encore été relu par d'autres chercheurs.
Transition : Pour comprendre d'où il vient, voici une petite frise.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[0:30]
À l'écran : la frise de 1992 à 2026.
On dit :
- L'article réutilise des méthodes connues : Q-Learning en 1992, DQN en 2015, PPO en 2017.
- Il s'appuie aussi sur une idée de 2009 : on apprend mieux en allant du plus facile au plus difficile.
- Ce qui est nouveau, c'est d'utiliser ces IA pour juger si un niveau de jeu est bien construit.
Transition : Voyons maintenant le terrain de jeu.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[1:15]
À l'écran : le niveau en entier, puis les 4 algorithmes.
On dit :
- Le niveau est découpé en une grille de cases. Mario avance case par case.
- Il n'a que 3 boutons : ne rien faire, avancer, sauter.
- Il gagne des points : +100 au drapeau, -50 s'il meurt, et un peu à chaque pas vers la droite.
- Il existe 3 versions du niveau. La plus difficile, la v3, a 17 ennemis. C'est celle qu'on étudie.
- Quatre algorithmes s'affrontent.
- Q-Learning et SARSA apprennent à chaque pas. SARSA est un peu plus prudent.
- Monte Carlo attend la fin de la partie pour apprendre.
- Ces trois-là remplissent un grand tableau de notes : une note pour chaque situation et chaque bouton.
- DQN, lui, utilise un réseau de neurones à la place du tableau.
Transition : Qu'est-ce que l'article a trouvé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[1:15]
À l'écran : à gauche le classement, à droite l'effet de l'ordre.
On dit :
- À gauche : sur la v3, Monte Carlo gagne le plus souvent, presque 95 % des parties.
- DQN est le dernier, avec 76 %.
- À droite : les auteurs coupent le niveau en 6 morceaux et changent leur ordre.
- Avec l'ordre normal, Monte Carlo gagne 94,7 % des parties.
- Avec l'ordre inversé, il tombe à 48,5 %.
- Leur conclusion : l'ordre du niveau 1-1 aide vraiment à apprendre.
Transition : On a lu l'article avec un œil critique.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
À l'écran : forces, erreurs, faiblesses.
On dit :
- Ce qui est bien : la question est originale, et ils ont codé tout le jeu eux-mêmes.
- Mais on a trouvé des erreurs. Par exemple, le texte donne 94,7 % pour l'ordre inversé, alors que leur propre tableau dit 48,5 %.
- Il y a aussi des faiblesses : ils testent seulement 10 ordres sur 720 possibles, et ils ne publient pas leur code.
- Et surtout : si une IA apprend vite, ça ne prouve pas qu'un humain apprend vite aussi.
Transition : C'est pour ça qu'on a voulu vérifier nous-mêmes.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[0:05]
On dit :
- Deuxième monde : le duel des algorithmes sur la v3.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
À l'écran : notre jeu, et les 4 règles du protocole.
On dit :
- D'abord, on a refait le niveau 1-1 en Python, avec la même physique que sur la console NES.
- Ensuite, on a donné exactement les mêmes conditions à tous les algorithmes.
- Même niveau, la v3. Même durée : 6000 parties. Et 5 essais avec des tirages au hasard différents : on appelle ça des graines.
- On a ajouté un test : 50 parties où on appuie au hasard sur 2 % des boutons. On l'appelle le test de robustesse.
- C'est le même test pour tout le monde, donc c'est le plus juste pour comparer.
Transition : Commençons par les trois méthodes à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[1:15]
À l'écran : la vidéo (à lancer), et les 3 scores.
On dit :
- (Lancer la vidéo.) Ici, c'est la même IA, Q-Learning, filmée à 4 moments de son apprentissage.
- Au début, elle tombe dans le premier trou. Puis dans le deuxième. Puis elle meurt presque à la fin.
- Après 6000 parties, elle atteint le drapeau.
- Les trois méthodes à tableau gagnent entre 94 et 96 % des parties.
- Détail amusant : Monte Carlo attend que les Goombas arrivent pour leur sauter dessus. Ses parties durent deux fois plus longtemps.
Transition : Et DQN, alors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
À l'écran : la vidéo (à lancer), et le graphique des étapes.
On dit :
- (Lancer la vidéo.) Quand on refait le DQN de l'article, il gagne seulement 40 % des parties, contre 76 % dans l'article.
- Dans la vidéo, il meurt colonne 154. Notre version, elle, atteint le drapeau.
- Pourquoi ? Le DQN de l'article ne voit presque rien : 4 lignes de l'écran et son numéro de case. Il ne voit même pas les trous.
- On l'a donc amélioré étape par étape, avec l'aide de Claude, une IA qui aide à coder.
- La grande amélioration, c'est de lui montrer tout l'écran : +38 points d'un coup.
- Les autres changements n'apportent presque rien. Les derniers réglages le rendent juste plus stable : 94,5 %.
- Ce qu'on retient : ce que l'IA voit compte plus que la taille de son réseau.
Transition : On met maintenant tout le monde dans un seul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
À l'écran : le tableau final.
On dit :
- Chaque ligne est un algorithme, et chaque chiffre est une moyenne sur 5 essais.
- La colonne la plus importante, c'est la robustesse, parce que c'est le même test pour tous.
- Les trois méthodes à tableau sont à 88,8 %.
- Notre DQN est à 94,4 % : c'est le plus robuste, et c'est aussi celui qui apprend le plus vite.
- Le DQN de l'article est loin derrière.
- Par rapport à l'article, on retrouve les mêmes tendances. Nos scores sont un peu plus hauts, sûrement parce que nos ennemis sont plus faciles à écraser.
Transition : Tout ça, c'était sur une version simplifiée du jeu. Passons au vrai jeu.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[0:05]
On dit :
- Troisième monde : le vrai jeu 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
À l'écran : la grille comparée au vrai jeu, et PPO.
On dit :
- Dans l'article, le jeu est simplifié : Mario avance d'une case à la fois, et son saut est toujours le même.
- Dans le vrai jeu, Mario prend de l'élan, peut courir, et son saut dépend de sa vitesse.
- Une méthode à tableau n'y arrive plus : elle plafonne autour de 35 % de victoires.
- On a donc utilisé PPO, un algorithme publié par OpenAI en 2017.
- PPO a deux parties : un « acteur » qui choisit le bouton, et un « critique » qui juge si la situation est bonne.
- Ses réglages ont aussi été optimisés avec Claude.
Transition : Voyons ce que ça donne.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[1:15]
À l'écran : la vidéo (à lancer), et les 4 chiffres.
On dit :
- (Lancer la vidéo.) Voici PPO qui joue au vrai jeu, sans aucun hasard.
- Il gagne 81 % des parties pendant son entraînement.
- Quand on l'empêche de jouer au hasard, il gagne à chaque fois, avec les 5 graines.
- Il lui faut environ 11 minutes d'entraînement par graine.
- Son point faible : la robustesse, 60 %. Si on change un bouton au hasard, il a du mal à se rattraper.
Transition : On a ensuite essayé de le faire jouer comme un vrai joueur.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[1:45]
À l'écran : la vidéo (à lancer), les 4 chiffres, et le tableau des corrections.
On dit :
- (Lancer la vidéo.) On a voulu que l'IA joue comme un humain qui connaît le jeu.
- Elle doit prendre le champignon, puis la fleur, passer par le tuyau secret et ramasser les pièces de la salle cachée.
- On a appris une leçon importante : l'IA fait ce qu'on récompense, pas ce qu'on veut.
- Par exemple, elle restait dans la salle cachée jusqu'à la fin du temps. On a donc ajouté une pénalité de temps.
- Elle restait aussi bloquée contre un tuyau. On a ajouté une règle : si rien ne se passe pendant trop longtemps, la partie est perdue.
- Il a fallu une dizaine d'essais pour trouver les bons réglages.
- Résultat : elle gagne 91 % des parties, et prend le champignon et la fleur presque à chaque fois.
Transition : Dernier monde : on prend du recul.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[0:05]
On dit :
- Quatrième monde : le recul.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[1:15]
À l'écran : le tableau des coûts et 3 chiffres.
On dit :
- On a mesuré l'énergie consommée avec un outil qui s'appelle CodeCarbon.
- Une méthode à tableau s'entraîne en 16 secondes. Ça consomme presque rien.
- Notre DQN consomme 88 fois plus qu'un Q-Learning.
- Au total, tous nos entraînements font 113 wattheures. C'est à peu près l'énergie pour faire bouillir un litre d'eau.
- Mais un seul test, le gros réseau sur carte graphique, représente 75 % de ce total. Et il donnait un moins bon résultat.
- Ce qu'on retient : un modèle plus gros n'est pas forcément meilleur.
Transition : Maintenant, nos propres limites.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[1:15]
À l'écran : nos limites, l'usage de l'IA, ce qu'on ferait ensuite.
On dit :
- Notre travail a des limites. On a fait 6000 parties au lieu de 10 000, pour que tout tourne sur un ordinateur portable.
- On n'a pas refait l'expérience sur l'ordre du niveau.
- On a dû deviner les règles des ennemis, car l'article ne les donne pas.
- Notre DQN a été réglé et testé sur les mêmes graines, ce qui l'avantage un peu.
- L'énergie est estimée, pas mesurée par un vrai capteur.
- Sur l'IA comme outil : Claude nous a fait gagner beaucoup de temps, mais on a vérifié chaque choix.
- Avec plus de temps, on referait l'expérience de l'ordre, et on testerait avec de vrais joueurs.
Transition : Pour finir, ce qu'on retient.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
À l'écran : 3 messages.
On dit :
- Un : sur un niveau simple, les méthodes à tableau suffisent. 95 % de victoires en 16 secondes.
- Deux : ce que voit l'IA compte plus que la taille du réseau. Notre DQN passe de 40 à 94 %.
- Trois : sur le vrai jeu, il faut des réseaux de neurones, et c'est la récompense qui décide du comportement.
- Sur l'article : ses grandes idées tiennent, mais ses chiffres dépendent de détails qu'il ne publie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[0:10]
On dit :
- Merci pour votre écoute.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probables, avec une réponse courte :
- Pourquoi le DQN de l'article échoue-t-il ? Il ne voit presque rien de l'écran, donc il doit apprendre le niveau par cœur.
- Pourquoi Monte Carlo attend-il les Goombas ? Quand il gagne une partie, il récompense tous les coups joués, même les attentes.
- Pourquoi DQN ne sent pas l'ordre du niveau ? Il apprend sur des souvenirs tirés au hasard : pour lui, l'ordre des parties disparaît.
- Est-ce que votre travail change la conclusion de l'article ? Les tendances tiennent, mais un DQN qui voit tout l'écran devient le meilleur.
- Pourquoi vos chiffres sont-ils différents ? Moins de parties (6000), et des règles d'ennemis que l'article ne précise pas.
- Pourquoi regarder la robustesse ? C'est le seul test identique pour tous les algorithmes.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Annexe : à montrer si le jury demande pourquoi nos retours sont plus élevés que ceux de l'article.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Annexe : réglages de l'article et de notre DQN.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Annexe : pourquoi le DQN de l'article apprend le niveau par cœur.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Annexe : détail de l'étude étape par étape de notre DQN.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Annexe : détail de PPO par graine.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Annexe : réglages de la Route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Annexe : références citées.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5.png"/><Relationship Id="rId7" Type="http://schemas.openxmlformats.org/officeDocument/2006/relationships/image" Target="../media/image-2-5.png"/><Relationship Id="rId8" Type="http://schemas.openxmlformats.org/officeDocument/2006/relationships/image" Target="../media/image-2-5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5.png"/><Relationship Id="rId7" Type="http://schemas.openxmlformats.org/officeDocument/2006/relationships/image" Target="../media/image-3-5.png"/><Relationship Id="rId8" Type="http://schemas.openxmlformats.org/officeDocument/2006/relationships/image" Target="../media/image-3-5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video" Target="../media/media-11-2.mp4"/><Relationship Id="rId3" Type="http://schemas.microsoft.com/office/2007/relationships/media" Target="../media/media-11-2.mp4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video" Target="../media/media-12-2.mp4"/><Relationship Id="rId3" Type="http://schemas.microsoft.com/office/2007/relationships/media" Target="../media/media-12-2.mp4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video" Target="../media/media-16-2.mp4"/><Relationship Id="rId3" Type="http://schemas.microsoft.com/office/2007/relationships/media" Target="../media/media-16-2.mp4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video" Target="../media/media-17-2.mp4"/><Relationship Id="rId3" Type="http://schemas.microsoft.com/office/2007/relationships/media" Target="../media/media-17-2.mp4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arts" descr="/home/user/MarioRL_FinalWork/docs/oral/fabrication/assets/sprites/hea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94" y="177759"/>
            <a:ext cx="1363096" cy="423367"/>
          </a:xfrm>
          <a:prstGeom prst="rect">
            <a:avLst/>
          </a:prstGeom>
        </p:spPr>
      </p:pic>
      <p:pic>
        <p:nvPicPr>
          <p:cNvPr id="3" name="coin_pipe" descr="/home/user/MarioRL_FinalWork/docs/oral/fabrication/assets/sprites/coin_pi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53" y="3039557"/>
            <a:ext cx="901690" cy="2959090"/>
          </a:xfrm>
          <a:prstGeom prst="rect">
            <a:avLst/>
          </a:prstGeom>
        </p:spPr>
      </p:pic>
      <p:pic>
        <p:nvPicPr>
          <p:cNvPr id="4" name="pipe_short" descr="/home/user/MarioRL_FinalWork/docs/oral/fabrication/assets/sprites/pipe_sho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4538167"/>
            <a:ext cx="795894" cy="1460480"/>
          </a:xfrm>
          <a:prstGeom prst="rect">
            <a:avLst/>
          </a:prstGeom>
        </p:spPr>
      </p:pic>
      <p:pic>
        <p:nvPicPr>
          <p:cNvPr id="5" name="goomba" descr="/home/user/MarioRL_FinalWork/docs/oral/fabrication/assets/sprites/goomb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3757" y="5359390"/>
            <a:ext cx="664677" cy="643463"/>
          </a:xfrm>
          <a:prstGeom prst="rect">
            <a:avLst/>
          </a:prstGeom>
        </p:spPr>
      </p:pic>
      <p:pic>
        <p:nvPicPr>
          <p:cNvPr id="6" name="mario" descr="/home/user/MarioRL_FinalWork/docs/oral/fabrication/assets/sprites/mari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9657" y="5240884"/>
            <a:ext cx="596920" cy="761970"/>
          </a:xfrm>
          <a:prstGeom prst="rect">
            <a:avLst/>
          </a:prstGeom>
        </p:spPr>
      </p:pic>
      <p:pic>
        <p:nvPicPr>
          <p:cNvPr id="7" name="tree" descr="/home/user/MarioRL_FinalWork/docs/oral/fabrication/assets/sprites/tre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8766" y="4102090"/>
            <a:ext cx="1515527" cy="1900763"/>
          </a:xfrm>
          <a:prstGeom prst="rect">
            <a:avLst/>
          </a:prstGeom>
        </p:spPr>
      </p:pic>
      <p:pic>
        <p:nvPicPr>
          <p:cNvPr id="8" name="castle_peach" descr="/home/user/MarioRL_FinalWork/docs/oral/fabrication/assets/sprites/castle_peac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83820" y="1011784"/>
            <a:ext cx="2108149" cy="4991070"/>
          </a:xfrm>
          <a:prstGeom prst="rect">
            <a:avLst/>
          </a:prstGeom>
        </p:spPr>
      </p:pic>
      <p:pic>
        <p:nvPicPr>
          <p:cNvPr id="9" name="pill" descr="/home/user/MarioRL_FinalWork/docs/oral/fabrication/assets/sprites/pil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33870" y="3793023"/>
            <a:ext cx="2772827" cy="639257"/>
          </a:xfrm>
          <a:prstGeom prst="rect">
            <a:avLst/>
          </a:prstGeom>
        </p:spPr>
      </p:pic>
      <p:pic>
        <p:nvPicPr>
          <p:cNvPr id="10" name="ground" descr="/home/user/MarioRL_FinalWork/docs/oral/fabrication/assets/sprites/groun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5977433"/>
            <a:ext cx="12191970" cy="880567"/>
          </a:xfrm>
          <a:prstGeom prst="rect">
            <a:avLst/>
          </a:prstGeom>
        </p:spPr>
      </p:pic>
      <p:sp>
        <p:nvSpPr>
          <p:cNvPr id="11" name="grand_titre"/>
          <p:cNvSpPr txBox="1"/>
          <p:nvPr/>
        </p:nvSpPr>
        <p:spPr>
          <a:xfrm>
            <a:off x="457200" y="822960"/>
            <a:ext cx="11277295" cy="173736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429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REINFORCEMENT</a:t>
            </a:r>
            <a:endParaRPr lang="en-US" sz="5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LEARNING</a:t>
            </a:r>
            <a:endParaRPr lang="en-US" sz="5400" dirty="0"/>
          </a:p>
        </p:txBody>
      </p:sp>
      <p:sp>
        <p:nvSpPr>
          <p:cNvPr id="12" name="sous_titre"/>
          <p:cNvSpPr txBox="1"/>
          <p:nvPr/>
        </p:nvSpPr>
        <p:spPr>
          <a:xfrm>
            <a:off x="914400" y="2697480"/>
            <a:ext cx="10362895" cy="566928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1524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80" dirty="0">
                <a:solidFill>
                  <a:srgbClr val="FFFFFF"/>
                </a:solidFill>
                <a:latin typeface="Disket Mono" pitchFamily="34" charset="0"/>
                <a:ea typeface="Disket Mono" pitchFamily="34" charset="-122"/>
                <a:cs typeface="Disket Mono" pitchFamily="34" charset="-120"/>
              </a:rPr>
              <a:t>IN SUPER MARIO BROS : CURRICULUM, PEDAGOGY, AND OPTIMAL</a:t>
            </a:r>
            <a:endParaRPr lang="en-US" sz="1580" dirty="0"/>
          </a:p>
          <a:p>
            <a:pPr algn="ctr" indent="0" marL="0">
              <a:buNone/>
            </a:pPr>
            <a:r>
              <a:rPr lang="en-US" sz="1580" dirty="0">
                <a:solidFill>
                  <a:srgbClr val="FFFFFF"/>
                </a:solidFill>
                <a:latin typeface="Disket Mono" pitchFamily="34" charset="0"/>
                <a:ea typeface="Disket Mono" pitchFamily="34" charset="-122"/>
                <a:cs typeface="Disket Mono" pitchFamily="34" charset="-120"/>
              </a:rPr>
              <a:t>LEVEL DESIGN IN WORLD 1-1</a:t>
            </a:r>
            <a:endParaRPr lang="en-US" sz="1580" dirty="0"/>
          </a:p>
        </p:txBody>
      </p:sp>
      <p:sp>
        <p:nvSpPr>
          <p:cNvPr id="13" name="Text 2"/>
          <p:cNvSpPr txBox="1"/>
          <p:nvPr/>
        </p:nvSpPr>
        <p:spPr>
          <a:xfrm>
            <a:off x="3200400" y="3310128"/>
            <a:ext cx="5790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Veille scientifique · Ponnock &amp; Ho (2026)</a:t>
            </a:r>
            <a:endParaRPr lang="en-US" sz="1300" dirty="0"/>
          </a:p>
        </p:txBody>
      </p:sp>
      <p:sp>
        <p:nvSpPr>
          <p:cNvPr id="14" name="noms"/>
          <p:cNvSpPr txBox="1"/>
          <p:nvPr/>
        </p:nvSpPr>
        <p:spPr>
          <a:xfrm>
            <a:off x="4533870" y="3793023"/>
            <a:ext cx="2772827" cy="6392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CHRIS, EWEN, CHLOÉ</a:t>
            </a:r>
            <a:endParaRPr lang="en-US" sz="1250" dirty="0"/>
          </a:p>
        </p:txBody>
      </p:sp>
      <p:sp>
        <p:nvSpPr>
          <p:cNvPr id="15" name="Text 4"/>
          <p:cNvSpPr txBox="1"/>
          <p:nvPr/>
        </p:nvSpPr>
        <p:spPr>
          <a:xfrm>
            <a:off x="4754880" y="6464808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HPDA 2026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r_brick" descr="/home/user/MarioRL_FinalWork/docs/oral/fabrication/assets/sprites/star_bri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03380"/>
            <a:ext cx="901690" cy="1739920"/>
          </a:xfrm>
          <a:prstGeom prst="rect">
            <a:avLst/>
          </a:prstGeom>
        </p:spPr>
      </p:pic>
      <p:pic>
        <p:nvPicPr>
          <p:cNvPr id="3" name="coin_pipe2" descr="/home/user/MarioRL_FinalWork/docs/oral/fabrication/assets/sprites/coin_pip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49" y="3784610"/>
            <a:ext cx="812810" cy="2218243"/>
          </a:xfrm>
          <a:prstGeom prst="rect">
            <a:avLst/>
          </a:prstGeom>
        </p:spPr>
      </p:pic>
      <p:pic>
        <p:nvPicPr>
          <p:cNvPr id="4" name="pipe_tall" descr="/home/user/MarioRL_FinalWork/docs/oral/fabrication/assets/sprites/pipe_t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8129" y="3031053"/>
            <a:ext cx="897484" cy="2971800"/>
          </a:xfrm>
          <a:prstGeom prst="rect">
            <a:avLst/>
          </a:prstGeom>
        </p:spPr>
      </p:pic>
      <p:pic>
        <p:nvPicPr>
          <p:cNvPr id="5" name="ground" descr="/home/user/MarioRL_FinalWork/docs/oral/fabrication/assets/sprites/grou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977433"/>
            <a:ext cx="12191970" cy="880567"/>
          </a:xfrm>
          <a:prstGeom prst="rect">
            <a:avLst/>
          </a:prstGeom>
        </p:spPr>
      </p:pic>
      <p:sp>
        <p:nvSpPr>
          <p:cNvPr id="6" name="grand_titre"/>
          <p:cNvSpPr txBox="1"/>
          <p:nvPr/>
        </p:nvSpPr>
        <p:spPr>
          <a:xfrm>
            <a:off x="1828800" y="1691640"/>
            <a:ext cx="8534095" cy="713232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2921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LE PARCOURS</a:t>
            </a:r>
            <a:endParaRPr lang="en-US" sz="4600" dirty="0"/>
          </a:p>
        </p:txBody>
      </p:sp>
      <p:sp>
        <p:nvSpPr>
          <p:cNvPr id="7" name="Text 1"/>
          <p:cNvSpPr txBox="1"/>
          <p:nvPr/>
        </p:nvSpPr>
        <p:spPr>
          <a:xfrm>
            <a:off x="2286000" y="2487168"/>
            <a:ext cx="7619695" cy="384048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1905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4 MONDES  -  20 MINUTES</a:t>
            </a:r>
            <a:endParaRPr lang="en-US" sz="1700" dirty="0"/>
          </a:p>
        </p:txBody>
      </p:sp>
      <p:pic>
        <p:nvPicPr>
          <p:cNvPr id="8" name="bloc_jaune" descr="/home/user/MarioRL_FinalWork/docs/oral/fabrication/assets/sprites/yellow_box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6496" y="3611880"/>
            <a:ext cx="1828800" cy="994867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2209648" y="3666744"/>
            <a:ext cx="1682496" cy="8668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1-1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LA VEILLE</a:t>
            </a:r>
            <a:endParaRPr lang="en-US" sz="1300" dirty="0"/>
          </a:p>
        </p:txBody>
      </p:sp>
      <p:pic>
        <p:nvPicPr>
          <p:cNvPr id="10" name="bloc_jaune" descr="/home/user/MarioRL_FinalWork/docs/oral/fabrication/assets/sprites/yellow_box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6464" y="3611880"/>
            <a:ext cx="1828800" cy="994867"/>
          </a:xfrm>
          <a:prstGeom prst="rect">
            <a:avLst/>
          </a:prstGeom>
        </p:spPr>
      </p:pic>
      <p:sp>
        <p:nvSpPr>
          <p:cNvPr id="11" name="Text 3"/>
          <p:cNvSpPr txBox="1"/>
          <p:nvPr/>
        </p:nvSpPr>
        <p:spPr>
          <a:xfrm>
            <a:off x="4239616" y="3666744"/>
            <a:ext cx="1682496" cy="8668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1-2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LE DUEL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SUR V3</a:t>
            </a:r>
            <a:endParaRPr lang="en-US" sz="1300" dirty="0"/>
          </a:p>
        </p:txBody>
      </p:sp>
      <p:pic>
        <p:nvPicPr>
          <p:cNvPr id="12" name="bloc_jaune" descr="/home/user/MarioRL_FinalWork/docs/oral/fabrication/assets/sprites/yellow_box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6432" y="3611880"/>
            <a:ext cx="1828800" cy="994867"/>
          </a:xfrm>
          <a:prstGeom prst="rect">
            <a:avLst/>
          </a:prstGeom>
        </p:spPr>
      </p:pic>
      <p:sp>
        <p:nvSpPr>
          <p:cNvPr id="13" name="Text 4"/>
          <p:cNvSpPr txBox="1"/>
          <p:nvPr/>
        </p:nvSpPr>
        <p:spPr>
          <a:xfrm>
            <a:off x="6269584" y="3666744"/>
            <a:ext cx="1682496" cy="8668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1-3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LE VRAI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JEU NES</a:t>
            </a:r>
            <a:endParaRPr lang="en-US" sz="1300" dirty="0"/>
          </a:p>
        </p:txBody>
      </p:sp>
      <p:pic>
        <p:nvPicPr>
          <p:cNvPr id="14" name="bloc_jaune" descr="/home/user/MarioRL_FinalWork/docs/oral/fabrication/assets/sprites/yellow_box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6400" y="3611880"/>
            <a:ext cx="1828800" cy="994867"/>
          </a:xfrm>
          <a:prstGeom prst="rect">
            <a:avLst/>
          </a:prstGeom>
        </p:spPr>
      </p:pic>
      <p:sp>
        <p:nvSpPr>
          <p:cNvPr id="15" name="Text 5"/>
          <p:cNvSpPr txBox="1"/>
          <p:nvPr/>
        </p:nvSpPr>
        <p:spPr>
          <a:xfrm>
            <a:off x="8299552" y="3666744"/>
            <a:ext cx="1682496" cy="8668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1-4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LE RECUL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ranha" descr="/home/user/MarioRL_FinalWork/docs/oral/fabrication/assets/sprites/piran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5704" y="3831153"/>
            <a:ext cx="1413937" cy="2171700"/>
          </a:xfrm>
          <a:prstGeom prst="rect">
            <a:avLst/>
          </a:prstGeom>
        </p:spPr>
      </p:pic>
      <p:pic>
        <p:nvPicPr>
          <p:cNvPr id="3" name="pipe_short2" descr="/home/user/MarioRL_FinalWork/docs/oral/fabrication/assets/sprites/pipe_short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943" y="4550786"/>
            <a:ext cx="795894" cy="1452067"/>
          </a:xfrm>
          <a:prstGeom prst="rect">
            <a:avLst/>
          </a:prstGeom>
        </p:spPr>
      </p:pic>
      <p:pic>
        <p:nvPicPr>
          <p:cNvPr id="4" name="pipe_tall2" descr="/home/user/MarioRL_FinalWork/docs/oral/fabrication/assets/sprites/pipe_tall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9890" y="3839657"/>
            <a:ext cx="901690" cy="2163196"/>
          </a:xfrm>
          <a:prstGeom prst="rect">
            <a:avLst/>
          </a:prstGeom>
        </p:spPr>
      </p:pic>
      <p:pic>
        <p:nvPicPr>
          <p:cNvPr id="5" name="star_brick" descr="/home/user/MarioRL_FinalWork/docs/oral/fabrication/assets/sprites/star_bri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29900" y="1943100"/>
            <a:ext cx="901690" cy="1739920"/>
          </a:xfrm>
          <a:prstGeom prst="rect">
            <a:avLst/>
          </a:prstGeom>
        </p:spPr>
      </p:pic>
      <p:pic>
        <p:nvPicPr>
          <p:cNvPr id="6" name="coin" descr="/home/user/MarioRL_FinalWork/docs/oral/fabrication/assets/sprites/co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2097" y="4411066"/>
            <a:ext cx="673090" cy="673090"/>
          </a:xfrm>
          <a:prstGeom prst="rect">
            <a:avLst/>
          </a:prstGeom>
        </p:spPr>
      </p:pic>
      <p:pic>
        <p:nvPicPr>
          <p:cNvPr id="7" name="coin" descr="/home/user/MarioRL_FinalWork/docs/oral/fabrication/assets/sprites/coi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6030" y="4411066"/>
            <a:ext cx="673090" cy="673090"/>
          </a:xfrm>
          <a:prstGeom prst="rect">
            <a:avLst/>
          </a:prstGeom>
        </p:spPr>
      </p:pic>
      <p:pic>
        <p:nvPicPr>
          <p:cNvPr id="8" name="coin" descr="/home/user/MarioRL_FinalWork/docs/oral/fabrication/assets/sprites/coi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04534" y="4411066"/>
            <a:ext cx="673090" cy="673090"/>
          </a:xfrm>
          <a:prstGeom prst="rect">
            <a:avLst/>
          </a:prstGeom>
        </p:spPr>
      </p:pic>
      <p:pic>
        <p:nvPicPr>
          <p:cNvPr id="9" name="coin" descr="/home/user/MarioRL_FinalWork/docs/oral/fabrication/assets/sprites/coi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8467" y="4411066"/>
            <a:ext cx="673090" cy="673090"/>
          </a:xfrm>
          <a:prstGeom prst="rect">
            <a:avLst/>
          </a:prstGeom>
        </p:spPr>
      </p:pic>
      <p:pic>
        <p:nvPicPr>
          <p:cNvPr id="10" name="ground" descr="/home/user/MarioRL_FinalWork/docs/oral/fabrication/assets/sprites/groun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5977433"/>
            <a:ext cx="12191970" cy="880567"/>
          </a:xfrm>
          <a:prstGeom prst="rect">
            <a:avLst/>
          </a:prstGeom>
        </p:spPr>
      </p:pic>
      <p:sp>
        <p:nvSpPr>
          <p:cNvPr id="11" name="grand_titre"/>
          <p:cNvSpPr txBox="1"/>
          <p:nvPr/>
        </p:nvSpPr>
        <p:spPr>
          <a:xfrm>
            <a:off x="2011680" y="1234440"/>
            <a:ext cx="8168335" cy="8686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429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1-1</a:t>
            </a:r>
            <a:endParaRPr lang="en-US" sz="5400" dirty="0"/>
          </a:p>
        </p:txBody>
      </p:sp>
      <p:sp>
        <p:nvSpPr>
          <p:cNvPr id="12" name="grand_titre"/>
          <p:cNvSpPr txBox="1"/>
          <p:nvPr/>
        </p:nvSpPr>
        <p:spPr>
          <a:xfrm>
            <a:off x="2011680" y="2121408"/>
            <a:ext cx="8168335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2540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LA VEILLE</a:t>
            </a:r>
            <a:endParaRPr lang="en-US" sz="3200" dirty="0"/>
          </a:p>
        </p:txBody>
      </p:sp>
      <p:sp>
        <p:nvSpPr>
          <p:cNvPr id="13" name="Text 2"/>
          <p:cNvSpPr txBox="1"/>
          <p:nvPr/>
        </p:nvSpPr>
        <p:spPr>
          <a:xfrm>
            <a:off x="2743200" y="2852928"/>
            <a:ext cx="6705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L'article, ses résultats, notre regard critique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1-1  -  LA VEILLE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niveau 1-1 est-il une vraie leçon 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100" dirty="0"/>
          </a:p>
        </p:txBody>
      </p:sp>
      <p:sp>
        <p:nvSpPr>
          <p:cNvPr id="6" name="carte"/>
          <p:cNvSpPr/>
          <p:nvPr/>
        </p:nvSpPr>
        <p:spPr>
          <a:xfrm>
            <a:off x="548640" y="1645920"/>
            <a:ext cx="566928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etiquette"/>
          <p:cNvSpPr txBox="1"/>
          <p:nvPr/>
        </p:nvSpPr>
        <p:spPr>
          <a:xfrm>
            <a:off x="822960" y="1847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PRÉPUBLICATION ARXIV · JUIN 2026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14884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i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Reinforcement Learning in Super Mario Bros: Curriculum, Pedagogy, and Optimal Level Design in World 1-1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886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J. Ponnock &amp; L. Ho · Johns Hopkins University</a:t>
            </a:r>
            <a:endParaRPr lang="en-US" sz="1500" dirty="0"/>
          </a:p>
        </p:txBody>
      </p:sp>
      <p:sp>
        <p:nvSpPr>
          <p:cNvPr id="10" name="carte"/>
          <p:cNvSpPr/>
          <p:nvPr/>
        </p:nvSpPr>
        <p:spPr>
          <a:xfrm>
            <a:off x="6492240" y="1645920"/>
            <a:ext cx="5148072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1" name="etiquette"/>
          <p:cNvSpPr txBox="1"/>
          <p:nvPr/>
        </p:nvSpPr>
        <p:spPr>
          <a:xfrm>
            <a:off x="6766560" y="1847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2F6F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QUESTION 1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21488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Quel algorithme apprend le mieux le niveau ?</a:t>
            </a:r>
            <a:endParaRPr lang="en-US" sz="1900" dirty="0"/>
          </a:p>
        </p:txBody>
      </p:sp>
      <p:sp>
        <p:nvSpPr>
          <p:cNvPr id="13" name="carte"/>
          <p:cNvSpPr/>
          <p:nvPr/>
        </p:nvSpPr>
        <p:spPr>
          <a:xfrm>
            <a:off x="6492240" y="3218688"/>
            <a:ext cx="5148072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4" name="etiquette"/>
          <p:cNvSpPr txBox="1"/>
          <p:nvPr/>
        </p:nvSpPr>
        <p:spPr>
          <a:xfrm>
            <a:off x="6766560" y="34198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2F6F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QUESTION 2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3721608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L'ordre d'origine du niveau accélère-t-il l'apprentissage ?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983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</a:t>
            </a:r>
            <a:r>
              <a:rPr lang="en-US" sz="17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algorithmes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4983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</a:t>
            </a:r>
            <a:r>
              <a:rPr lang="en-US" sz="17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versions du niveau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046720" y="4983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120 </a:t>
            </a:r>
            <a:r>
              <a:rPr lang="en-US" sz="17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entraînements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1-1  -  LA VEILLE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D'où vient l'article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280160" y="3566160"/>
            <a:ext cx="964692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161288" y="3465576"/>
            <a:ext cx="246888" cy="24688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82880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1992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182880" y="3931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Q-Learning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8288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Watkins &amp; Dayan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73018" y="3465576"/>
            <a:ext cx="246888" cy="24688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594610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2009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2594610" y="3931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Curriculum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259461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Bengio et al.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84748" y="3465576"/>
            <a:ext cx="246888" cy="24688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06340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2015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5006340" y="3931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DQN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00634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Mnih et al., Nature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396478" y="3465576"/>
            <a:ext cx="246888" cy="24688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418070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2017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7418070" y="3931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PPO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41807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Schulman et al.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808208" y="3465576"/>
            <a:ext cx="246888" cy="246888"/>
          </a:xfrm>
          <a:prstGeom prst="ellipse">
            <a:avLst/>
          </a:prstGeom>
          <a:solidFill>
            <a:srgbClr val="FFC70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29800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70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2026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9829800" y="3931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L'article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982980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Ponnock &amp; Ho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Première tentative de mesurer la « pédagogie » d'un niveau avec des IA.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1-1  -  LA VEILLE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terrain et les 4 algorithmes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100" dirty="0"/>
          </a:p>
        </p:txBody>
      </p:sp>
      <p:sp>
        <p:nvSpPr>
          <p:cNvPr id="6" name="carte"/>
          <p:cNvSpPr/>
          <p:nvPr/>
        </p:nvSpPr>
        <p:spPr>
          <a:xfrm>
            <a:off x="548640" y="1645920"/>
            <a:ext cx="11091672" cy="1398471"/>
          </a:xfrm>
          <a:prstGeom prst="roundRect">
            <a:avLst>
              <a:gd name="adj" fmla="val 5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pic>
        <p:nvPicPr>
          <p:cNvPr id="7" name="niveau_v3" descr="/home/user/MarioRL_FinalWork/docs/oral/fabrication/assets/level_v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11091672" cy="57551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2386023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Grille 212 × 14  ·  3 boutons : rien, droite, saut  ·  +100 au drapeau, -50 à la mort</a:t>
            </a:r>
            <a:endParaRPr lang="en-US" sz="1500" dirty="0"/>
          </a:p>
        </p:txBody>
      </p:sp>
      <p:sp>
        <p:nvSpPr>
          <p:cNvPr id="9" name="carte"/>
          <p:cNvSpPr/>
          <p:nvPr/>
        </p:nvSpPr>
        <p:spPr>
          <a:xfrm>
            <a:off x="548640" y="3429000"/>
            <a:ext cx="264261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22960" y="36393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F6F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Q-Learning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20624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Apprend à chaque pas</a:t>
            </a:r>
            <a:endParaRPr lang="en-US" sz="1600" dirty="0"/>
          </a:p>
        </p:txBody>
      </p:sp>
      <p:sp>
        <p:nvSpPr>
          <p:cNvPr id="12" name="carte"/>
          <p:cNvSpPr/>
          <p:nvPr/>
        </p:nvSpPr>
        <p:spPr>
          <a:xfrm>
            <a:off x="3364992" y="3429000"/>
            <a:ext cx="264261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639312" y="36393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591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SARSA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3639312" y="420624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À chaque pas, plus prudent</a:t>
            </a:r>
            <a:endParaRPr lang="en-US" sz="1600" dirty="0"/>
          </a:p>
        </p:txBody>
      </p:sp>
      <p:sp>
        <p:nvSpPr>
          <p:cNvPr id="15" name="carte"/>
          <p:cNvSpPr/>
          <p:nvPr/>
        </p:nvSpPr>
        <p:spPr>
          <a:xfrm>
            <a:off x="6181344" y="3429000"/>
            <a:ext cx="264261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455664" y="36393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790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Monte Carlo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6455664" y="420624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Apprend en fin de partie</a:t>
            </a:r>
            <a:endParaRPr lang="en-US" sz="1600" dirty="0"/>
          </a:p>
        </p:txBody>
      </p:sp>
      <p:sp>
        <p:nvSpPr>
          <p:cNvPr id="18" name="carte"/>
          <p:cNvSpPr/>
          <p:nvPr/>
        </p:nvSpPr>
        <p:spPr>
          <a:xfrm>
            <a:off x="8997696" y="3429000"/>
            <a:ext cx="264261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9272016" y="36393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628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DQN</a:t>
            </a:r>
            <a:endParaRPr lang="en-US" sz="2100" dirty="0"/>
          </a:p>
        </p:txBody>
      </p:sp>
      <p:sp>
        <p:nvSpPr>
          <p:cNvPr id="20" name="Text 17"/>
          <p:cNvSpPr txBox="1"/>
          <p:nvPr/>
        </p:nvSpPr>
        <p:spPr>
          <a:xfrm>
            <a:off x="9272016" y="420624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réseau de neurones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623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 3 premiers remplissent un tableau de notes ; DQN généralise.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1-1  -  LA VEILLE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trouve l'article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1100" dirty="0"/>
          </a:p>
        </p:txBody>
      </p:sp>
      <p:sp>
        <p:nvSpPr>
          <p:cNvPr id="6" name="carte"/>
          <p:cNvSpPr/>
          <p:nvPr/>
        </p:nvSpPr>
        <p:spPr>
          <a:xfrm>
            <a:off x="548640" y="1645920"/>
            <a:ext cx="566928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etiquette"/>
          <p:cNvSpPr txBox="1"/>
          <p:nvPr/>
        </p:nvSpPr>
        <p:spPr>
          <a:xfrm>
            <a:off x="822960" y="1847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QUI APPREND LE MIEUX ? (VICTOIRES SUR V3)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24028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Monte Carlo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60320" y="2434590"/>
            <a:ext cx="2473132" cy="388620"/>
          </a:xfrm>
          <a:prstGeom prst="rect">
            <a:avLst/>
          </a:prstGeom>
          <a:solidFill>
            <a:srgbClr val="E8790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143180" y="224028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94,9 %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01752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Q-Learning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560320" y="3211830"/>
            <a:ext cx="2254225" cy="388620"/>
          </a:xfrm>
          <a:prstGeom prst="rect">
            <a:avLst/>
          </a:prstGeom>
          <a:solidFill>
            <a:srgbClr val="2F6FE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924273" y="301752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86,5 %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947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SARSA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560320" y="3989070"/>
            <a:ext cx="2199498" cy="388620"/>
          </a:xfrm>
          <a:prstGeom prst="rect">
            <a:avLst/>
          </a:prstGeom>
          <a:solidFill>
            <a:srgbClr val="15911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69546" y="37947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84,4 %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57200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DQN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560320" y="4766310"/>
            <a:ext cx="1991015" cy="388620"/>
          </a:xfrm>
          <a:prstGeom prst="rect">
            <a:avLst/>
          </a:prstGeom>
          <a:solidFill>
            <a:srgbClr val="D6283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661063" y="45720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76,4 %</a:t>
            </a:r>
            <a:endParaRPr lang="en-US" sz="1500" dirty="0"/>
          </a:p>
        </p:txBody>
      </p:sp>
      <p:sp>
        <p:nvSpPr>
          <p:cNvPr id="20" name="carte"/>
          <p:cNvSpPr/>
          <p:nvPr/>
        </p:nvSpPr>
        <p:spPr>
          <a:xfrm>
            <a:off x="6492240" y="1645920"/>
            <a:ext cx="5148072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21" name="etiquette"/>
          <p:cNvSpPr txBox="1"/>
          <p:nvPr/>
        </p:nvSpPr>
        <p:spPr>
          <a:xfrm>
            <a:off x="6766560" y="1847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L'ORDRE DU NIVEAU COMPTE-T-IL ?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2402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Ordre d'origine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9235440" y="22402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1591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94,7 %</a:t>
            </a:r>
            <a:endParaRPr lang="en-US" sz="34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3264408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Ordres au hasard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235440" y="3264408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E8790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89,0 %</a:t>
            </a:r>
            <a:endParaRPr lang="en-US" sz="34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4288536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Ordre inversé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235440" y="4288536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D628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48,5 %</a:t>
            </a:r>
            <a:endParaRPr lang="en-US" sz="34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8521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Leur conclusion : le 1-1 a une vraie structure pédagogique.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1-1  -  LA VEILLE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Notre lecture critique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</a:t>
            </a:r>
            <a:endParaRPr lang="en-US" sz="1100" dirty="0"/>
          </a:p>
        </p:txBody>
      </p:sp>
      <p:sp>
        <p:nvSpPr>
          <p:cNvPr id="6" name="carte"/>
          <p:cNvSpPr/>
          <p:nvPr/>
        </p:nvSpPr>
        <p:spPr>
          <a:xfrm>
            <a:off x="548640" y="1645920"/>
            <a:ext cx="3520440" cy="37490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etiquette"/>
          <p:cNvSpPr txBox="1"/>
          <p:nvPr/>
        </p:nvSpPr>
        <p:spPr>
          <a:xfrm>
            <a:off x="822960" y="1847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591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FORCES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24028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Question originale</a:t>
            </a:r>
            <a:endParaRPr lang="en-US" sz="1700" dirty="0"/>
          </a:p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Environnement codé de zéro</a:t>
            </a:r>
            <a:endParaRPr lang="en-US" sz="1700" dirty="0"/>
          </a:p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Contrôle avec DQN bien pensé</a:t>
            </a:r>
            <a:endParaRPr lang="en-US" sz="1700" dirty="0"/>
          </a:p>
        </p:txBody>
      </p:sp>
      <p:sp>
        <p:nvSpPr>
          <p:cNvPr id="9" name="carte"/>
          <p:cNvSpPr/>
          <p:nvPr/>
        </p:nvSpPr>
        <p:spPr>
          <a:xfrm>
            <a:off x="4334256" y="1645920"/>
            <a:ext cx="3520440" cy="37490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0" name="etiquette"/>
          <p:cNvSpPr txBox="1"/>
          <p:nvPr/>
        </p:nvSpPr>
        <p:spPr>
          <a:xfrm>
            <a:off x="4608576" y="1847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D628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ERREURS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08576" y="224028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Ordre inversé : 94,7 % écrit au lieu de 48,5 %</a:t>
            </a:r>
            <a:endParaRPr lang="en-US" sz="1700" dirty="0"/>
          </a:p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 Seul ordre sans échec » : faux</a:t>
            </a:r>
            <a:endParaRPr lang="en-US" sz="1700" dirty="0"/>
          </a:p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 du score maximal faux</a:t>
            </a:r>
            <a:endParaRPr lang="en-US" sz="1700" dirty="0"/>
          </a:p>
        </p:txBody>
      </p:sp>
      <p:sp>
        <p:nvSpPr>
          <p:cNvPr id="12" name="carte"/>
          <p:cNvSpPr/>
          <p:nvPr/>
        </p:nvSpPr>
        <p:spPr>
          <a:xfrm>
            <a:off x="8119872" y="1645920"/>
            <a:ext cx="3520440" cy="37490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3" name="etiquette"/>
          <p:cNvSpPr txBox="1"/>
          <p:nvPr/>
        </p:nvSpPr>
        <p:spPr>
          <a:xfrm>
            <a:off x="8394192" y="1847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90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FAIBLESSES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394192" y="224028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ordres testés sur 720</a:t>
            </a:r>
            <a:endParaRPr lang="en-US" sz="1700" dirty="0"/>
          </a:p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Effet géant (d = 7) sur 5 graines</a:t>
            </a:r>
            <a:endParaRPr lang="en-US" sz="1700" dirty="0"/>
          </a:p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Aucun code publié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Surtout : une IA qui apprend vite ne prouve pas qu'un humain apprend mieux.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in_brick" descr="/home/user/MarioRL_FinalWork/docs/oral/fabrication/assets/sprites/coin_bri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0853" y="2408804"/>
            <a:ext cx="901690" cy="1659453"/>
          </a:xfrm>
          <a:prstGeom prst="rect">
            <a:avLst/>
          </a:prstGeom>
        </p:spPr>
      </p:pic>
      <p:pic>
        <p:nvPicPr>
          <p:cNvPr id="3" name="brick" descr="/home/user/MarioRL_FinalWork/docs/oral/fabrication/assets/sprites/bri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816" y="4229100"/>
            <a:ext cx="901690" cy="901690"/>
          </a:xfrm>
          <a:prstGeom prst="rect">
            <a:avLst/>
          </a:prstGeom>
        </p:spPr>
      </p:pic>
      <p:pic>
        <p:nvPicPr>
          <p:cNvPr id="4" name="qblock_bricks" descr="/home/user/MarioRL_FinalWork/docs/oral/fabrication/assets/sprites/qblock_brick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7739" y="2595067"/>
            <a:ext cx="2620396" cy="1663659"/>
          </a:xfrm>
          <a:prstGeom prst="rect">
            <a:avLst/>
          </a:prstGeom>
        </p:spPr>
      </p:pic>
      <p:pic>
        <p:nvPicPr>
          <p:cNvPr id="5" name="mario" descr="/home/user/MarioRL_FinalWork/docs/oral/fabrication/assets/sprites/mari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5241066"/>
            <a:ext cx="596920" cy="761970"/>
          </a:xfrm>
          <a:prstGeom prst="rect">
            <a:avLst/>
          </a:prstGeom>
        </p:spPr>
      </p:pic>
      <p:pic>
        <p:nvPicPr>
          <p:cNvPr id="6" name="goomba" descr="/home/user/MarioRL_FinalWork/docs/oral/fabrication/assets/sprites/goomb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5359573"/>
            <a:ext cx="664677" cy="643463"/>
          </a:xfrm>
          <a:prstGeom prst="rect">
            <a:avLst/>
          </a:prstGeom>
        </p:spPr>
      </p:pic>
      <p:pic>
        <p:nvPicPr>
          <p:cNvPr id="7" name="ground" descr="/home/user/MarioRL_FinalWork/docs/oral/fabrication/assets/sprites/groun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977433"/>
            <a:ext cx="12191970" cy="880567"/>
          </a:xfrm>
          <a:prstGeom prst="rect">
            <a:avLst/>
          </a:prstGeom>
        </p:spPr>
      </p:pic>
      <p:sp>
        <p:nvSpPr>
          <p:cNvPr id="8" name="grand_titre"/>
          <p:cNvSpPr txBox="1"/>
          <p:nvPr/>
        </p:nvSpPr>
        <p:spPr>
          <a:xfrm>
            <a:off x="2011680" y="1234440"/>
            <a:ext cx="8168335" cy="8686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429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1-2</a:t>
            </a:r>
            <a:endParaRPr lang="en-US" sz="5400" dirty="0"/>
          </a:p>
        </p:txBody>
      </p:sp>
      <p:sp>
        <p:nvSpPr>
          <p:cNvPr id="9" name="grand_titre"/>
          <p:cNvSpPr txBox="1"/>
          <p:nvPr/>
        </p:nvSpPr>
        <p:spPr>
          <a:xfrm>
            <a:off x="2011680" y="2121408"/>
            <a:ext cx="8168335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2540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LE DUEL SUR V3</a:t>
            </a:r>
            <a:endParaRPr lang="en-US" sz="3200" dirty="0"/>
          </a:p>
        </p:txBody>
      </p:sp>
      <p:sp>
        <p:nvSpPr>
          <p:cNvPr id="10" name="Text 2"/>
          <p:cNvSpPr txBox="1"/>
          <p:nvPr/>
        </p:nvSpPr>
        <p:spPr>
          <a:xfrm>
            <a:off x="2743200" y="2852928"/>
            <a:ext cx="6705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Q-Learning, SARSA, Monte Carlo et DQN, à égalité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1-2  -  LE DUEL SUR V3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même protocole pour tous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carte"/>
          <p:cNvSpPr/>
          <p:nvPr/>
        </p:nvSpPr>
        <p:spPr>
          <a:xfrm>
            <a:off x="548640" y="1645920"/>
            <a:ext cx="4572000" cy="461772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pic>
        <p:nvPicPr>
          <p:cNvPr id="7" name="ecran_titre" descr="/home/user/MarioRL_FinalWork/docs/oral/fabrication/assets/ecran_tit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74520"/>
            <a:ext cx="4023360" cy="37719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5715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Notre copie du niveau 1-1, physique NES</a:t>
            </a:r>
            <a:endParaRPr lang="en-US" sz="1300" dirty="0"/>
          </a:p>
        </p:txBody>
      </p:sp>
      <p:sp>
        <p:nvSpPr>
          <p:cNvPr id="9" name="carte"/>
          <p:cNvSpPr/>
          <p:nvPr/>
        </p:nvSpPr>
        <p:spPr>
          <a:xfrm>
            <a:off x="5440680" y="1691640"/>
            <a:ext cx="6199632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669280" y="1691640"/>
            <a:ext cx="1463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6F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v3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7178040" y="1691640"/>
            <a:ext cx="42976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niveau avec ses 17 ennemis</a:t>
            </a:r>
            <a:endParaRPr lang="en-US" sz="1700" dirty="0"/>
          </a:p>
        </p:txBody>
      </p:sp>
      <p:sp>
        <p:nvSpPr>
          <p:cNvPr id="12" name="carte"/>
          <p:cNvSpPr/>
          <p:nvPr/>
        </p:nvSpPr>
        <p:spPr>
          <a:xfrm>
            <a:off x="5440680" y="2807208"/>
            <a:ext cx="6199632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669280" y="2807208"/>
            <a:ext cx="1463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6F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6000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7178040" y="2807208"/>
            <a:ext cx="42976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épisodes par entraînement</a:t>
            </a:r>
            <a:endParaRPr lang="en-US" sz="1700" dirty="0"/>
          </a:p>
        </p:txBody>
      </p:sp>
      <p:sp>
        <p:nvSpPr>
          <p:cNvPr id="15" name="carte"/>
          <p:cNvSpPr/>
          <p:nvPr/>
        </p:nvSpPr>
        <p:spPr>
          <a:xfrm>
            <a:off x="5440680" y="3922776"/>
            <a:ext cx="6199632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669280" y="3922776"/>
            <a:ext cx="1463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6F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7178040" y="3922776"/>
            <a:ext cx="42976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graines (42 à 46), même machine</a:t>
            </a:r>
            <a:endParaRPr lang="en-US" sz="1700" dirty="0"/>
          </a:p>
        </p:txBody>
      </p:sp>
      <p:sp>
        <p:nvSpPr>
          <p:cNvPr id="18" name="carte"/>
          <p:cNvSpPr/>
          <p:nvPr/>
        </p:nvSpPr>
        <p:spPr>
          <a:xfrm>
            <a:off x="5440680" y="5038344"/>
            <a:ext cx="6199632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669280" y="5038344"/>
            <a:ext cx="1463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6F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</a:t>
            </a:r>
            <a:endParaRPr lang="en-US" sz="3200" dirty="0"/>
          </a:p>
        </p:txBody>
      </p:sp>
      <p:sp>
        <p:nvSpPr>
          <p:cNvPr id="20" name="Text 17"/>
          <p:cNvSpPr txBox="1"/>
          <p:nvPr/>
        </p:nvSpPr>
        <p:spPr>
          <a:xfrm>
            <a:off x="7178040" y="5038344"/>
            <a:ext cx="42976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parties de test avec 2 % de hasard : la robustesse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1-2  -  LE DUEL SUR V3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 méthodes à tableau apprennent vite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</a:t>
            </a:r>
            <a:endParaRPr lang="en-US" sz="1100" dirty="0"/>
          </a:p>
        </p:txBody>
      </p:sp>
      <p:pic>
        <p:nvPicPr>
          <p:cNvPr id="6" name="remplacement_01_qlearning_progression" descr="/home/user/MarioRL_FinalWork/docs/oral/fabrication/assets/fallback_01_qlearning_progre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955280" cy="2759488"/>
          </a:xfrm>
          <a:prstGeom prst="rect">
            <a:avLst/>
          </a:prstGeom>
        </p:spPr>
      </p:pic>
      <p:pic>
        <p:nvPicPr>
          <p:cNvPr id="4" name="video_01_qlearning_progression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45920"/>
            <a:ext cx="7955280" cy="2759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449684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Q-Learning aux épisodes 100, 1000, 2200 et 6000</a:t>
            </a:r>
            <a:endParaRPr lang="en-US" sz="1300" dirty="0"/>
          </a:p>
        </p:txBody>
      </p:sp>
      <p:sp>
        <p:nvSpPr>
          <p:cNvPr id="9" name="kpi"/>
          <p:cNvSpPr/>
          <p:nvPr/>
        </p:nvSpPr>
        <p:spPr>
          <a:xfrm>
            <a:off x="8778240" y="1645920"/>
            <a:ext cx="28620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9006840" y="1755648"/>
            <a:ext cx="2496312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6F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94,5 %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9006840" y="2167128"/>
            <a:ext cx="2496312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Q-Learning · victoires</a:t>
            </a:r>
            <a:endParaRPr lang="en-US" sz="1200" dirty="0"/>
          </a:p>
        </p:txBody>
      </p:sp>
      <p:sp>
        <p:nvSpPr>
          <p:cNvPr id="12" name="kpi"/>
          <p:cNvSpPr/>
          <p:nvPr/>
        </p:nvSpPr>
        <p:spPr>
          <a:xfrm>
            <a:off x="8778240" y="2633472"/>
            <a:ext cx="28620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9006840" y="2743200"/>
            <a:ext cx="2496312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91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96,2 %</a:t>
            </a:r>
            <a:endParaRPr lang="en-US" sz="2600" dirty="0"/>
          </a:p>
        </p:txBody>
      </p:sp>
      <p:sp>
        <p:nvSpPr>
          <p:cNvPr id="14" name="Text 10"/>
          <p:cNvSpPr txBox="1"/>
          <p:nvPr/>
        </p:nvSpPr>
        <p:spPr>
          <a:xfrm>
            <a:off x="9006840" y="3154680"/>
            <a:ext cx="2496312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SARSA · victoires</a:t>
            </a:r>
            <a:endParaRPr lang="en-US" sz="1200" dirty="0"/>
          </a:p>
        </p:txBody>
      </p:sp>
      <p:sp>
        <p:nvSpPr>
          <p:cNvPr id="15" name="kpi"/>
          <p:cNvSpPr/>
          <p:nvPr/>
        </p:nvSpPr>
        <p:spPr>
          <a:xfrm>
            <a:off x="8778240" y="3621024"/>
            <a:ext cx="28620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9006840" y="3730752"/>
            <a:ext cx="2496312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790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96,2 %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9006840" y="4142232"/>
            <a:ext cx="2496312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Monte Carlo · victoires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Monte Carlo attend les Goombas : 2× plus de pas, 2× plus d'ennemis écrasés.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1-2  -  LE DUEL SUR V3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DQN : de 40 % à 94 % de victoires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1100" dirty="0"/>
          </a:p>
        </p:txBody>
      </p:sp>
      <p:pic>
        <p:nvPicPr>
          <p:cNvPr id="6" name="remplacement_02_dqn_article_vs_notre" descr="/home/user/MarioRL_FinalWork/docs/oral/fabrication/assets/fallback_02_dqn_article_vs_not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11091672" cy="1952596"/>
          </a:xfrm>
          <a:prstGeom prst="rect">
            <a:avLst/>
          </a:prstGeom>
        </p:spPr>
      </p:pic>
      <p:pic>
        <p:nvPicPr>
          <p:cNvPr id="4" name="video_02_dqn_article_vs_notre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45920"/>
            <a:ext cx="11091672" cy="1952596"/>
          </a:xfrm>
          <a:prstGeom prst="rect">
            <a:avLst/>
          </a:prstGeom>
        </p:spPr>
      </p:pic>
      <p:sp>
        <p:nvSpPr>
          <p:cNvPr id="8" name="carte"/>
          <p:cNvSpPr/>
          <p:nvPr/>
        </p:nvSpPr>
        <p:spPr>
          <a:xfrm>
            <a:off x="548640" y="3886200"/>
            <a:ext cx="694944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22960" y="4023360"/>
            <a:ext cx="2606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DQN de l'article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566160" y="4130802"/>
            <a:ext cx="1212494" cy="214884"/>
          </a:xfrm>
          <a:prstGeom prst="rect">
            <a:avLst/>
          </a:prstGeom>
          <a:solidFill>
            <a:srgbClr val="D62839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4888382" y="4023360"/>
            <a:ext cx="1188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44 %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4453128"/>
            <a:ext cx="2606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 vue complète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3566160" y="4560570"/>
            <a:ext cx="2243938" cy="214884"/>
          </a:xfrm>
          <a:prstGeom prst="rect">
            <a:avLst/>
          </a:prstGeom>
          <a:solidFill>
            <a:srgbClr val="7B3FE4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919826" y="4453128"/>
            <a:ext cx="1188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82 %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822960" y="4882896"/>
            <a:ext cx="2606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 Double DQN, 3 pas…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3566160" y="4990338"/>
            <a:ext cx="2145182" cy="214884"/>
          </a:xfrm>
          <a:prstGeom prst="rect">
            <a:avLst/>
          </a:prstGeom>
          <a:solidFill>
            <a:srgbClr val="B9AED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821070" y="4882896"/>
            <a:ext cx="1188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78 %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822960" y="5312664"/>
            <a:ext cx="2606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 réseau convolutif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3566160" y="5420106"/>
            <a:ext cx="2101291" cy="214884"/>
          </a:xfrm>
          <a:prstGeom prst="rect">
            <a:avLst/>
          </a:prstGeom>
          <a:solidFill>
            <a:srgbClr val="B9AED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777179" y="5312664"/>
            <a:ext cx="1188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77 %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822960" y="5742432"/>
            <a:ext cx="2606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 réglages fins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3566160" y="5849874"/>
            <a:ext cx="2592324" cy="214884"/>
          </a:xfrm>
          <a:prstGeom prst="rect">
            <a:avLst/>
          </a:prstGeom>
          <a:solidFill>
            <a:srgbClr val="7B3FE4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268212" y="5742432"/>
            <a:ext cx="1188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94,5 %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7863840" y="3977640"/>
            <a:ext cx="3776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+38 points</a:t>
            </a:r>
            <a:endParaRPr lang="en-US" sz="3800" dirty="0"/>
          </a:p>
        </p:txBody>
      </p:sp>
      <p:sp>
        <p:nvSpPr>
          <p:cNvPr id="25" name="Text 21"/>
          <p:cNvSpPr txBox="1"/>
          <p:nvPr/>
        </p:nvSpPr>
        <p:spPr>
          <a:xfrm>
            <a:off x="7863840" y="4709160"/>
            <a:ext cx="3776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grâce à la vue complète : c'est ce que voit l'IA qui compte.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7863840" y="5669280"/>
            <a:ext cx="3776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Optimisé avec Claude, vérifié étape par étape.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1-2  -  LE DUEL SUR V3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tableau final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ableau_fond"/>
          <p:cNvSpPr/>
          <p:nvPr/>
        </p:nvSpPr>
        <p:spPr>
          <a:xfrm>
            <a:off x="548640" y="1645920"/>
            <a:ext cx="1109167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entete"/>
          <p:cNvSpPr txBox="1"/>
          <p:nvPr/>
        </p:nvSpPr>
        <p:spPr>
          <a:xfrm>
            <a:off x="548640" y="1645920"/>
            <a:ext cx="265176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Algorithme</a:t>
            </a:r>
            <a:endParaRPr lang="en-US" sz="1200" dirty="0"/>
          </a:p>
        </p:txBody>
      </p:sp>
      <p:sp>
        <p:nvSpPr>
          <p:cNvPr id="8" name="entete"/>
          <p:cNvSpPr txBox="1"/>
          <p:nvPr/>
        </p:nvSpPr>
        <p:spPr>
          <a:xfrm>
            <a:off x="3200400" y="1645920"/>
            <a:ext cx="173736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Victoires</a:t>
            </a:r>
            <a:endParaRPr lang="en-US" sz="1200" dirty="0"/>
          </a:p>
        </p:txBody>
      </p:sp>
      <p:sp>
        <p:nvSpPr>
          <p:cNvPr id="9" name="entete"/>
          <p:cNvSpPr txBox="1"/>
          <p:nvPr/>
        </p:nvSpPr>
        <p:spPr>
          <a:xfrm>
            <a:off x="4937760" y="1645920"/>
            <a:ext cx="182880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Robustesse*</a:t>
            </a:r>
            <a:endParaRPr lang="en-US" sz="1200" dirty="0"/>
          </a:p>
        </p:txBody>
      </p:sp>
      <p:sp>
        <p:nvSpPr>
          <p:cNvPr id="10" name="entete"/>
          <p:cNvSpPr txBox="1"/>
          <p:nvPr/>
        </p:nvSpPr>
        <p:spPr>
          <a:xfrm>
            <a:off x="6766560" y="1645920"/>
            <a:ext cx="164592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Retour moyen</a:t>
            </a:r>
            <a:endParaRPr lang="en-US" sz="1200" dirty="0"/>
          </a:p>
        </p:txBody>
      </p:sp>
      <p:sp>
        <p:nvSpPr>
          <p:cNvPr id="11" name="entete"/>
          <p:cNvSpPr txBox="1"/>
          <p:nvPr/>
        </p:nvSpPr>
        <p:spPr>
          <a:xfrm>
            <a:off x="8412480" y="1645920"/>
            <a:ext cx="182880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Parties pour 80 %</a:t>
            </a:r>
            <a:endParaRPr lang="en-US" sz="1200" dirty="0"/>
          </a:p>
        </p:txBody>
      </p:sp>
      <p:sp>
        <p:nvSpPr>
          <p:cNvPr id="12" name="entete"/>
          <p:cNvSpPr txBox="1"/>
          <p:nvPr/>
        </p:nvSpPr>
        <p:spPr>
          <a:xfrm>
            <a:off x="10241280" y="1645920"/>
            <a:ext cx="1399032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Morts</a:t>
            </a:r>
            <a:endParaRPr lang="en-US" sz="1200" dirty="0"/>
          </a:p>
        </p:txBody>
      </p:sp>
      <p:sp>
        <p:nvSpPr>
          <p:cNvPr id="13" name="cellule"/>
          <p:cNvSpPr txBox="1"/>
          <p:nvPr/>
        </p:nvSpPr>
        <p:spPr>
          <a:xfrm>
            <a:off x="548640" y="2194560"/>
            <a:ext cx="265176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Q-Learning</a:t>
            </a:r>
            <a:endParaRPr lang="en-US" sz="1500" dirty="0"/>
          </a:p>
        </p:txBody>
      </p:sp>
      <p:sp>
        <p:nvSpPr>
          <p:cNvPr id="14" name="cellule"/>
          <p:cNvSpPr txBox="1"/>
          <p:nvPr/>
        </p:nvSpPr>
        <p:spPr>
          <a:xfrm>
            <a:off x="3200400" y="2194560"/>
            <a:ext cx="173736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94,5 ± 1,5 %</a:t>
            </a:r>
            <a:endParaRPr lang="en-US" sz="1500" dirty="0"/>
          </a:p>
        </p:txBody>
      </p:sp>
      <p:sp>
        <p:nvSpPr>
          <p:cNvPr id="15" name="cellule"/>
          <p:cNvSpPr txBox="1"/>
          <p:nvPr/>
        </p:nvSpPr>
        <p:spPr>
          <a:xfrm>
            <a:off x="4937760" y="2194560"/>
            <a:ext cx="182880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88,8 ± 2,7 %</a:t>
            </a:r>
            <a:endParaRPr lang="en-US" sz="1500" dirty="0"/>
          </a:p>
        </p:txBody>
      </p:sp>
      <p:sp>
        <p:nvSpPr>
          <p:cNvPr id="16" name="cellule"/>
          <p:cNvSpPr txBox="1"/>
          <p:nvPr/>
        </p:nvSpPr>
        <p:spPr>
          <a:xfrm>
            <a:off x="6766560" y="2194560"/>
            <a:ext cx="164592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231 ± 12</a:t>
            </a:r>
            <a:endParaRPr lang="en-US" sz="1500" dirty="0"/>
          </a:p>
        </p:txBody>
      </p:sp>
      <p:sp>
        <p:nvSpPr>
          <p:cNvPr id="17" name="cellule"/>
          <p:cNvSpPr txBox="1"/>
          <p:nvPr/>
        </p:nvSpPr>
        <p:spPr>
          <a:xfrm>
            <a:off x="8412480" y="2194560"/>
            <a:ext cx="182880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3522</a:t>
            </a:r>
            <a:endParaRPr lang="en-US" sz="1500" dirty="0"/>
          </a:p>
        </p:txBody>
      </p:sp>
      <p:sp>
        <p:nvSpPr>
          <p:cNvPr id="18" name="cellule"/>
          <p:cNvSpPr txBox="1"/>
          <p:nvPr/>
        </p:nvSpPr>
        <p:spPr>
          <a:xfrm>
            <a:off x="10241280" y="2194560"/>
            <a:ext cx="1399032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5,5 %</a:t>
            </a:r>
            <a:endParaRPr lang="en-US" sz="1500" dirty="0"/>
          </a:p>
        </p:txBody>
      </p:sp>
      <p:sp>
        <p:nvSpPr>
          <p:cNvPr id="19" name="cellule"/>
          <p:cNvSpPr txBox="1"/>
          <p:nvPr/>
        </p:nvSpPr>
        <p:spPr>
          <a:xfrm>
            <a:off x="548640" y="2761488"/>
            <a:ext cx="2651760" cy="566928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SARSA</a:t>
            </a:r>
            <a:endParaRPr lang="en-US" sz="1500" dirty="0"/>
          </a:p>
        </p:txBody>
      </p:sp>
      <p:sp>
        <p:nvSpPr>
          <p:cNvPr id="20" name="cellule"/>
          <p:cNvSpPr txBox="1"/>
          <p:nvPr/>
        </p:nvSpPr>
        <p:spPr>
          <a:xfrm>
            <a:off x="3200400" y="2761488"/>
            <a:ext cx="1737360" cy="566928"/>
          </a:xfrm>
          <a:prstGeom prst="rect">
            <a:avLst/>
          </a:prstGeom>
          <a:solidFill>
            <a:srgbClr val="FFF0B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96,2 ± 1,2 %</a:t>
            </a:r>
            <a:endParaRPr lang="en-US" sz="1500" dirty="0"/>
          </a:p>
        </p:txBody>
      </p:sp>
      <p:sp>
        <p:nvSpPr>
          <p:cNvPr id="21" name="cellule"/>
          <p:cNvSpPr txBox="1"/>
          <p:nvPr/>
        </p:nvSpPr>
        <p:spPr>
          <a:xfrm>
            <a:off x="4937760" y="2761488"/>
            <a:ext cx="1828800" cy="566928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88,8 ± 3,0 %</a:t>
            </a:r>
            <a:endParaRPr lang="en-US" sz="1500" dirty="0"/>
          </a:p>
        </p:txBody>
      </p:sp>
      <p:sp>
        <p:nvSpPr>
          <p:cNvPr id="22" name="cellule"/>
          <p:cNvSpPr txBox="1"/>
          <p:nvPr/>
        </p:nvSpPr>
        <p:spPr>
          <a:xfrm>
            <a:off x="6766560" y="2761488"/>
            <a:ext cx="1645920" cy="566928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241 ± 5</a:t>
            </a:r>
            <a:endParaRPr lang="en-US" sz="1500" dirty="0"/>
          </a:p>
        </p:txBody>
      </p:sp>
      <p:sp>
        <p:nvSpPr>
          <p:cNvPr id="23" name="cellule"/>
          <p:cNvSpPr txBox="1"/>
          <p:nvPr/>
        </p:nvSpPr>
        <p:spPr>
          <a:xfrm>
            <a:off x="8412480" y="2761488"/>
            <a:ext cx="1828800" cy="566928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3354</a:t>
            </a:r>
            <a:endParaRPr lang="en-US" sz="1500" dirty="0"/>
          </a:p>
        </p:txBody>
      </p:sp>
      <p:sp>
        <p:nvSpPr>
          <p:cNvPr id="24" name="cellule"/>
          <p:cNvSpPr txBox="1"/>
          <p:nvPr/>
        </p:nvSpPr>
        <p:spPr>
          <a:xfrm>
            <a:off x="10241280" y="2761488"/>
            <a:ext cx="1399032" cy="566928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3,8 %</a:t>
            </a:r>
            <a:endParaRPr lang="en-US" sz="1500" dirty="0"/>
          </a:p>
        </p:txBody>
      </p:sp>
      <p:sp>
        <p:nvSpPr>
          <p:cNvPr id="25" name="cellule"/>
          <p:cNvSpPr txBox="1"/>
          <p:nvPr/>
        </p:nvSpPr>
        <p:spPr>
          <a:xfrm>
            <a:off x="548640" y="3328416"/>
            <a:ext cx="265176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Monte Carlo</a:t>
            </a:r>
            <a:endParaRPr lang="en-US" sz="1500" dirty="0"/>
          </a:p>
        </p:txBody>
      </p:sp>
      <p:sp>
        <p:nvSpPr>
          <p:cNvPr id="26" name="cellule"/>
          <p:cNvSpPr txBox="1"/>
          <p:nvPr/>
        </p:nvSpPr>
        <p:spPr>
          <a:xfrm>
            <a:off x="3200400" y="3328416"/>
            <a:ext cx="1737360" cy="566928"/>
          </a:xfrm>
          <a:prstGeom prst="rect">
            <a:avLst/>
          </a:prstGeom>
          <a:solidFill>
            <a:srgbClr val="FFF0B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96,2 ± 0,7 %</a:t>
            </a:r>
            <a:endParaRPr lang="en-US" sz="1500" dirty="0"/>
          </a:p>
        </p:txBody>
      </p:sp>
      <p:sp>
        <p:nvSpPr>
          <p:cNvPr id="27" name="cellule"/>
          <p:cNvSpPr txBox="1"/>
          <p:nvPr/>
        </p:nvSpPr>
        <p:spPr>
          <a:xfrm>
            <a:off x="4937760" y="3328416"/>
            <a:ext cx="182880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88,8 ± 2,3 %</a:t>
            </a:r>
            <a:endParaRPr lang="en-US" sz="1500" dirty="0"/>
          </a:p>
        </p:txBody>
      </p:sp>
      <p:sp>
        <p:nvSpPr>
          <p:cNvPr id="28" name="cellule"/>
          <p:cNvSpPr txBox="1"/>
          <p:nvPr/>
        </p:nvSpPr>
        <p:spPr>
          <a:xfrm>
            <a:off x="6766560" y="3328416"/>
            <a:ext cx="164592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258 ± 13</a:t>
            </a:r>
            <a:endParaRPr lang="en-US" sz="1500" dirty="0"/>
          </a:p>
        </p:txBody>
      </p:sp>
      <p:sp>
        <p:nvSpPr>
          <p:cNvPr id="29" name="cellule"/>
          <p:cNvSpPr txBox="1"/>
          <p:nvPr/>
        </p:nvSpPr>
        <p:spPr>
          <a:xfrm>
            <a:off x="8412480" y="3328416"/>
            <a:ext cx="182880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3450</a:t>
            </a:r>
            <a:endParaRPr lang="en-US" sz="1500" dirty="0"/>
          </a:p>
        </p:txBody>
      </p:sp>
      <p:sp>
        <p:nvSpPr>
          <p:cNvPr id="30" name="cellule"/>
          <p:cNvSpPr txBox="1"/>
          <p:nvPr/>
        </p:nvSpPr>
        <p:spPr>
          <a:xfrm>
            <a:off x="10241280" y="3328416"/>
            <a:ext cx="1399032" cy="566928"/>
          </a:xfrm>
          <a:prstGeom prst="rect">
            <a:avLst/>
          </a:prstGeom>
          <a:solidFill>
            <a:srgbClr val="FFF0B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3,7 %</a:t>
            </a:r>
            <a:endParaRPr lang="en-US" sz="1500" dirty="0"/>
          </a:p>
        </p:txBody>
      </p:sp>
      <p:sp>
        <p:nvSpPr>
          <p:cNvPr id="31" name="cellule"/>
          <p:cNvSpPr txBox="1"/>
          <p:nvPr/>
        </p:nvSpPr>
        <p:spPr>
          <a:xfrm>
            <a:off x="548640" y="3895344"/>
            <a:ext cx="2651760" cy="566928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DQN de l'article</a:t>
            </a:r>
            <a:endParaRPr lang="en-US" sz="1500" dirty="0"/>
          </a:p>
        </p:txBody>
      </p:sp>
      <p:sp>
        <p:nvSpPr>
          <p:cNvPr id="32" name="cellule"/>
          <p:cNvSpPr txBox="1"/>
          <p:nvPr/>
        </p:nvSpPr>
        <p:spPr>
          <a:xfrm>
            <a:off x="3200400" y="3895344"/>
            <a:ext cx="1737360" cy="566928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39,7 ± 6,7 %</a:t>
            </a:r>
            <a:endParaRPr lang="en-US" sz="1500" dirty="0"/>
          </a:p>
        </p:txBody>
      </p:sp>
      <p:sp>
        <p:nvSpPr>
          <p:cNvPr id="33" name="cellule"/>
          <p:cNvSpPr txBox="1"/>
          <p:nvPr/>
        </p:nvSpPr>
        <p:spPr>
          <a:xfrm>
            <a:off x="4937760" y="3895344"/>
            <a:ext cx="1828800" cy="566928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58,4 ± 33,3 %</a:t>
            </a:r>
            <a:endParaRPr lang="en-US" sz="1500" dirty="0"/>
          </a:p>
        </p:txBody>
      </p:sp>
      <p:sp>
        <p:nvSpPr>
          <p:cNvPr id="34" name="cellule"/>
          <p:cNvSpPr txBox="1"/>
          <p:nvPr/>
        </p:nvSpPr>
        <p:spPr>
          <a:xfrm>
            <a:off x="6766560" y="3895344"/>
            <a:ext cx="1645920" cy="566928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121 ± 18</a:t>
            </a:r>
            <a:endParaRPr lang="en-US" sz="1500" dirty="0"/>
          </a:p>
        </p:txBody>
      </p:sp>
      <p:sp>
        <p:nvSpPr>
          <p:cNvPr id="35" name="cellule"/>
          <p:cNvSpPr txBox="1"/>
          <p:nvPr/>
        </p:nvSpPr>
        <p:spPr>
          <a:xfrm>
            <a:off x="8412480" y="3895344"/>
            <a:ext cx="1828800" cy="566928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jamais</a:t>
            </a:r>
            <a:endParaRPr lang="en-US" sz="1500" dirty="0"/>
          </a:p>
        </p:txBody>
      </p:sp>
      <p:sp>
        <p:nvSpPr>
          <p:cNvPr id="36" name="cellule"/>
          <p:cNvSpPr txBox="1"/>
          <p:nvPr/>
        </p:nvSpPr>
        <p:spPr>
          <a:xfrm>
            <a:off x="10241280" y="3895344"/>
            <a:ext cx="1399032" cy="566928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59,9 %</a:t>
            </a:r>
            <a:endParaRPr lang="en-US" sz="1500" dirty="0"/>
          </a:p>
        </p:txBody>
      </p:sp>
      <p:sp>
        <p:nvSpPr>
          <p:cNvPr id="37" name="cellule"/>
          <p:cNvSpPr txBox="1"/>
          <p:nvPr/>
        </p:nvSpPr>
        <p:spPr>
          <a:xfrm>
            <a:off x="548640" y="4462272"/>
            <a:ext cx="265176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Notre DQN</a:t>
            </a:r>
            <a:endParaRPr lang="en-US" sz="1500" dirty="0"/>
          </a:p>
        </p:txBody>
      </p:sp>
      <p:sp>
        <p:nvSpPr>
          <p:cNvPr id="38" name="cellule"/>
          <p:cNvSpPr txBox="1"/>
          <p:nvPr/>
        </p:nvSpPr>
        <p:spPr>
          <a:xfrm>
            <a:off x="3200400" y="4462272"/>
            <a:ext cx="173736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93,7 ± 1,4 %</a:t>
            </a:r>
            <a:endParaRPr lang="en-US" sz="1500" dirty="0"/>
          </a:p>
        </p:txBody>
      </p:sp>
      <p:sp>
        <p:nvSpPr>
          <p:cNvPr id="39" name="cellule"/>
          <p:cNvSpPr txBox="1"/>
          <p:nvPr/>
        </p:nvSpPr>
        <p:spPr>
          <a:xfrm>
            <a:off x="4937760" y="4462272"/>
            <a:ext cx="1828800" cy="566928"/>
          </a:xfrm>
          <a:prstGeom prst="rect">
            <a:avLst/>
          </a:prstGeom>
          <a:solidFill>
            <a:srgbClr val="FFF0B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94,4 ± 3,0 %</a:t>
            </a:r>
            <a:endParaRPr lang="en-US" sz="1500" dirty="0"/>
          </a:p>
        </p:txBody>
      </p:sp>
      <p:sp>
        <p:nvSpPr>
          <p:cNvPr id="40" name="cellule"/>
          <p:cNvSpPr txBox="1"/>
          <p:nvPr/>
        </p:nvSpPr>
        <p:spPr>
          <a:xfrm>
            <a:off x="6766560" y="4462272"/>
            <a:ext cx="1645920" cy="566928"/>
          </a:xfrm>
          <a:prstGeom prst="rect">
            <a:avLst/>
          </a:prstGeom>
          <a:solidFill>
            <a:srgbClr val="FFF0B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274 ± 4</a:t>
            </a:r>
            <a:endParaRPr lang="en-US" sz="1500" dirty="0"/>
          </a:p>
        </p:txBody>
      </p:sp>
      <p:sp>
        <p:nvSpPr>
          <p:cNvPr id="41" name="cellule"/>
          <p:cNvSpPr txBox="1"/>
          <p:nvPr/>
        </p:nvSpPr>
        <p:spPr>
          <a:xfrm>
            <a:off x="8412480" y="4462272"/>
            <a:ext cx="1828800" cy="566928"/>
          </a:xfrm>
          <a:prstGeom prst="rect">
            <a:avLst/>
          </a:prstGeom>
          <a:solidFill>
            <a:srgbClr val="FFF0B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2955</a:t>
            </a:r>
            <a:endParaRPr lang="en-US" sz="1500" dirty="0"/>
          </a:p>
        </p:txBody>
      </p:sp>
      <p:sp>
        <p:nvSpPr>
          <p:cNvPr id="42" name="cellule"/>
          <p:cNvSpPr txBox="1"/>
          <p:nvPr/>
        </p:nvSpPr>
        <p:spPr>
          <a:xfrm>
            <a:off x="10241280" y="4462272"/>
            <a:ext cx="1399032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6,3 %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51389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* 50 parties avec 2 % de hasard : le même test pour tous, c'est la colonne à comparer.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Notre DQN est le plus robuste. Article : MC 94,9 % · QL 86,5 % · SARSA 84,4 % · DQN 76,4 %.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in_pipe" descr="/home/user/MarioRL_FinalWork/docs/oral/fabrication/assets/sprites/coin_pi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853" y="3039557"/>
            <a:ext cx="901690" cy="2959090"/>
          </a:xfrm>
          <a:prstGeom prst="rect">
            <a:avLst/>
          </a:prstGeom>
        </p:spPr>
      </p:pic>
      <p:pic>
        <p:nvPicPr>
          <p:cNvPr id="3" name="pipe_short" descr="/home/user/MarioRL_FinalWork/docs/oral/fabrication/assets/sprites/pipe_sh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4538167"/>
            <a:ext cx="795894" cy="1460480"/>
          </a:xfrm>
          <a:prstGeom prst="rect">
            <a:avLst/>
          </a:prstGeom>
        </p:spPr>
      </p:pic>
      <p:pic>
        <p:nvPicPr>
          <p:cNvPr id="4" name="goomba" descr="/home/user/MarioRL_FinalWork/docs/oral/fabrication/assets/sprites/goomb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3757" y="5359390"/>
            <a:ext cx="664677" cy="643463"/>
          </a:xfrm>
          <a:prstGeom prst="rect">
            <a:avLst/>
          </a:prstGeom>
        </p:spPr>
      </p:pic>
      <p:pic>
        <p:nvPicPr>
          <p:cNvPr id="5" name="mario" descr="/home/user/MarioRL_FinalWork/docs/oral/fabrication/assets/sprites/mari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9657" y="5240884"/>
            <a:ext cx="596920" cy="761970"/>
          </a:xfrm>
          <a:prstGeom prst="rect">
            <a:avLst/>
          </a:prstGeom>
        </p:spPr>
      </p:pic>
      <p:pic>
        <p:nvPicPr>
          <p:cNvPr id="6" name="tree" descr="/home/user/MarioRL_FinalWork/docs/oral/fabrication/assets/sprites/tre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8766" y="4102090"/>
            <a:ext cx="1515527" cy="1900763"/>
          </a:xfrm>
          <a:prstGeom prst="rect">
            <a:avLst/>
          </a:prstGeom>
        </p:spPr>
      </p:pic>
      <p:pic>
        <p:nvPicPr>
          <p:cNvPr id="7" name="ground" descr="/home/user/MarioRL_FinalWork/docs/oral/fabrication/assets/sprites/groun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977433"/>
            <a:ext cx="12191970" cy="880567"/>
          </a:xfrm>
          <a:prstGeom prst="rect">
            <a:avLst/>
          </a:prstGeom>
        </p:spPr>
      </p:pic>
      <p:sp>
        <p:nvSpPr>
          <p:cNvPr id="8" name="grand_titre"/>
          <p:cNvSpPr txBox="1"/>
          <p:nvPr/>
        </p:nvSpPr>
        <p:spPr>
          <a:xfrm>
            <a:off x="2011680" y="1234440"/>
            <a:ext cx="8168335" cy="8686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429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1-3</a:t>
            </a:r>
            <a:endParaRPr lang="en-US" sz="5400" dirty="0"/>
          </a:p>
        </p:txBody>
      </p:sp>
      <p:sp>
        <p:nvSpPr>
          <p:cNvPr id="9" name="grand_titre"/>
          <p:cNvSpPr txBox="1"/>
          <p:nvPr/>
        </p:nvSpPr>
        <p:spPr>
          <a:xfrm>
            <a:off x="2011680" y="2121408"/>
            <a:ext cx="8168335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2540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LE VRAI JEU NES</a:t>
            </a:r>
            <a:endParaRPr lang="en-US" sz="3200" dirty="0"/>
          </a:p>
        </p:txBody>
      </p:sp>
      <p:sp>
        <p:nvSpPr>
          <p:cNvPr id="10" name="Text 2"/>
          <p:cNvSpPr txBox="1"/>
          <p:nvPr/>
        </p:nvSpPr>
        <p:spPr>
          <a:xfrm>
            <a:off x="2743200" y="2852928"/>
            <a:ext cx="6705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PPO sur la vraie physique, puis la Route A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1-3  -  LE VRAI JEU NES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Passer au vrai jeu : PPO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carte"/>
          <p:cNvSpPr/>
          <p:nvPr/>
        </p:nvSpPr>
        <p:spPr>
          <a:xfrm>
            <a:off x="548640" y="1645920"/>
            <a:ext cx="539496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etiquette"/>
          <p:cNvSpPr txBox="1"/>
          <p:nvPr/>
        </p:nvSpPr>
        <p:spPr>
          <a:xfrm>
            <a:off x="822960" y="1847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GRILLE DE L'ARTICLE  VS  VRAI JEU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2860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Mouvement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468880" y="228600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case par pas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114800" y="22860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33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élan, course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2461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Saut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32461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toujours le même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324612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33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selon la vitesse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2062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Vue de l'IA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468880" y="420624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 case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0" y="42062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33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62 nombres</a:t>
            </a:r>
            <a:endParaRPr lang="en-US" sz="1500" dirty="0"/>
          </a:p>
        </p:txBody>
      </p:sp>
      <p:sp>
        <p:nvSpPr>
          <p:cNvPr id="17" name="carte"/>
          <p:cNvSpPr/>
          <p:nvPr/>
        </p:nvSpPr>
        <p:spPr>
          <a:xfrm>
            <a:off x="6245352" y="1645920"/>
            <a:ext cx="539496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8" name="etiquette"/>
          <p:cNvSpPr txBox="1"/>
          <p:nvPr/>
        </p:nvSpPr>
        <p:spPr>
          <a:xfrm>
            <a:off x="6519672" y="1847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233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PPO · OPENAI, 2017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228600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acteur </a:t>
            </a:r>
            <a:r>
              <a:rPr lang="en-US" sz="18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choisit le bouton</a:t>
            </a:r>
            <a:endParaRPr lang="en-US" sz="1800" dirty="0"/>
          </a:p>
          <a:p>
            <a:pPr marL="203200" indent="-203200">
              <a:lnSpc>
                <a:spcPct val="105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critique </a:t>
            </a:r>
            <a:r>
              <a:rPr lang="en-US" sz="18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juge la situation</a:t>
            </a:r>
            <a:endParaRPr lang="en-US" sz="1800" dirty="0"/>
          </a:p>
          <a:p>
            <a:pPr marL="203200" indent="-203200">
              <a:lnSpc>
                <a:spcPct val="105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 petits pas, </a:t>
            </a:r>
            <a:r>
              <a:rPr lang="en-US" sz="18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~17 000 poids</a:t>
            </a:r>
            <a:endParaRPr lang="en-US" sz="1800" dirty="0"/>
          </a:p>
          <a:p>
            <a:pPr marL="203200" indent="-203200">
              <a:lnSpc>
                <a:spcPct val="105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Réglé avec Claude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Une Q-table plafonne vers 35 % sur le vrai jeu : il faut une IA qui généralise.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1-3  -  LE VRAI JEU NES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PPO gagne 81 % des parties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1100" dirty="0"/>
          </a:p>
        </p:txBody>
      </p:sp>
      <p:pic>
        <p:nvPicPr>
          <p:cNvPr id="6" name="remplacement_03_ppo_nes_v3" descr="/home/user/MarioRL_FinalWork/docs/oral/fabrication/assets/fallback_03_ppo_nes_v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4572000" cy="4286250"/>
          </a:xfrm>
          <a:prstGeom prst="rect">
            <a:avLst/>
          </a:prstGeom>
        </p:spPr>
      </p:pic>
      <p:pic>
        <p:nvPicPr>
          <p:cNvPr id="4" name="video_03_ppo_nes_v3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45920"/>
            <a:ext cx="4572000" cy="4286250"/>
          </a:xfrm>
          <a:prstGeom prst="rect">
            <a:avLst/>
          </a:prstGeom>
        </p:spPr>
      </p:pic>
      <p:sp>
        <p:nvSpPr>
          <p:cNvPr id="8" name="kpi"/>
          <p:cNvSpPr/>
          <p:nvPr/>
        </p:nvSpPr>
        <p:spPr>
          <a:xfrm>
            <a:off x="5486400" y="1645920"/>
            <a:ext cx="2971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5715000" y="1755648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81,4 %</a:t>
            </a:r>
            <a:endParaRPr lang="en-US" sz="3400" dirty="0"/>
          </a:p>
        </p:txBody>
      </p:sp>
      <p:sp>
        <p:nvSpPr>
          <p:cNvPr id="10" name="Text 6"/>
          <p:cNvSpPr txBox="1"/>
          <p:nvPr/>
        </p:nvSpPr>
        <p:spPr>
          <a:xfrm>
            <a:off x="5715000" y="2468880"/>
            <a:ext cx="2606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victoires</a:t>
            </a:r>
            <a:endParaRPr lang="en-US" sz="1300" dirty="0"/>
          </a:p>
        </p:txBody>
      </p:sp>
      <p:sp>
        <p:nvSpPr>
          <p:cNvPr id="11" name="kpi"/>
          <p:cNvSpPr/>
          <p:nvPr/>
        </p:nvSpPr>
        <p:spPr>
          <a:xfrm>
            <a:off x="8668512" y="1645920"/>
            <a:ext cx="2971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897112" y="1755648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5</a:t>
            </a:r>
            <a:endParaRPr lang="en-US" sz="3400" dirty="0"/>
          </a:p>
        </p:txBody>
      </p:sp>
      <p:sp>
        <p:nvSpPr>
          <p:cNvPr id="13" name="Text 9"/>
          <p:cNvSpPr txBox="1"/>
          <p:nvPr/>
        </p:nvSpPr>
        <p:spPr>
          <a:xfrm>
            <a:off x="8897112" y="2468880"/>
            <a:ext cx="2606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parties sans hasard gagnées</a:t>
            </a:r>
            <a:endParaRPr lang="en-US" sz="1300" dirty="0"/>
          </a:p>
        </p:txBody>
      </p:sp>
      <p:sp>
        <p:nvSpPr>
          <p:cNvPr id="14" name="kpi"/>
          <p:cNvSpPr/>
          <p:nvPr/>
        </p:nvSpPr>
        <p:spPr>
          <a:xfrm>
            <a:off x="5486400" y="3200400"/>
            <a:ext cx="2971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5715000" y="3310128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59,6 %</a:t>
            </a:r>
            <a:endParaRPr lang="en-US" sz="3400" dirty="0"/>
          </a:p>
        </p:txBody>
      </p:sp>
      <p:sp>
        <p:nvSpPr>
          <p:cNvPr id="16" name="Text 12"/>
          <p:cNvSpPr txBox="1"/>
          <p:nvPr/>
        </p:nvSpPr>
        <p:spPr>
          <a:xfrm>
            <a:off x="5715000" y="4023360"/>
            <a:ext cx="2606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robustesse</a:t>
            </a:r>
            <a:endParaRPr lang="en-US" sz="1300" dirty="0"/>
          </a:p>
        </p:txBody>
      </p:sp>
      <p:sp>
        <p:nvSpPr>
          <p:cNvPr id="17" name="kpi"/>
          <p:cNvSpPr/>
          <p:nvPr/>
        </p:nvSpPr>
        <p:spPr>
          <a:xfrm>
            <a:off x="8668512" y="3200400"/>
            <a:ext cx="2971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8897112" y="3310128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 min</a:t>
            </a:r>
            <a:endParaRPr lang="en-US" sz="3400" dirty="0"/>
          </a:p>
        </p:txBody>
      </p:sp>
      <p:sp>
        <p:nvSpPr>
          <p:cNvPr id="19" name="Text 15"/>
          <p:cNvSpPr txBox="1"/>
          <p:nvPr/>
        </p:nvSpPr>
        <p:spPr>
          <a:xfrm>
            <a:off x="8897112" y="4023360"/>
            <a:ext cx="2606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 graine (3 M de pas)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0" y="4892040"/>
            <a:ext cx="6153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Point faible : il rattrape mal un bouton perturbé.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1-3  -  LE VRAI JEU NES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 A : jouer comme un humain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</a:t>
            </a:r>
            <a:endParaRPr lang="en-US" sz="1100" dirty="0"/>
          </a:p>
        </p:txBody>
      </p:sp>
      <p:pic>
        <p:nvPicPr>
          <p:cNvPr id="6" name="remplacement_04_ppo_route_a" descr="/home/user/MarioRL_FinalWork/docs/oral/fabrication/assets/fallback_04_ppo_route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4572000" cy="4286250"/>
          </a:xfrm>
          <a:prstGeom prst="rect">
            <a:avLst/>
          </a:prstGeom>
        </p:spPr>
      </p:pic>
      <p:pic>
        <p:nvPicPr>
          <p:cNvPr id="4" name="video_04_ppo_route_a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45920"/>
            <a:ext cx="4572000" cy="4286250"/>
          </a:xfrm>
          <a:prstGeom prst="rect">
            <a:avLst/>
          </a:prstGeom>
        </p:spPr>
      </p:pic>
      <p:sp>
        <p:nvSpPr>
          <p:cNvPr id="8" name="kpi"/>
          <p:cNvSpPr/>
          <p:nvPr/>
        </p:nvSpPr>
        <p:spPr>
          <a:xfrm>
            <a:off x="5486400" y="1645920"/>
            <a:ext cx="1463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5715000" y="175564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91 %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5715000" y="2331720"/>
            <a:ext cx="10972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victoires</a:t>
            </a:r>
            <a:endParaRPr lang="en-US" sz="1200" dirty="0"/>
          </a:p>
        </p:txBody>
      </p:sp>
      <p:sp>
        <p:nvSpPr>
          <p:cNvPr id="11" name="kpi"/>
          <p:cNvSpPr/>
          <p:nvPr/>
        </p:nvSpPr>
        <p:spPr>
          <a:xfrm>
            <a:off x="7059168" y="1645920"/>
            <a:ext cx="1463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7287768" y="175564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94 %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7287768" y="2331720"/>
            <a:ext cx="10972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salle bonus</a:t>
            </a:r>
            <a:endParaRPr lang="en-US" sz="1200" dirty="0"/>
          </a:p>
        </p:txBody>
      </p:sp>
      <p:sp>
        <p:nvSpPr>
          <p:cNvPr id="14" name="kpi"/>
          <p:cNvSpPr/>
          <p:nvPr/>
        </p:nvSpPr>
        <p:spPr>
          <a:xfrm>
            <a:off x="8631936" y="1645920"/>
            <a:ext cx="1463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860536" y="175564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97 %</a:t>
            </a:r>
            <a:endParaRPr lang="en-US" sz="2400" dirty="0"/>
          </a:p>
        </p:txBody>
      </p:sp>
      <p:sp>
        <p:nvSpPr>
          <p:cNvPr id="16" name="Text 12"/>
          <p:cNvSpPr txBox="1"/>
          <p:nvPr/>
        </p:nvSpPr>
        <p:spPr>
          <a:xfrm>
            <a:off x="8860536" y="2331720"/>
            <a:ext cx="10972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champignon</a:t>
            </a:r>
            <a:endParaRPr lang="en-US" sz="1200" dirty="0"/>
          </a:p>
        </p:txBody>
      </p:sp>
      <p:sp>
        <p:nvSpPr>
          <p:cNvPr id="17" name="kpi"/>
          <p:cNvSpPr/>
          <p:nvPr/>
        </p:nvSpPr>
        <p:spPr>
          <a:xfrm>
            <a:off x="10204704" y="1645920"/>
            <a:ext cx="1463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10433304" y="175564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93 %</a:t>
            </a:r>
            <a:endParaRPr lang="en-US" sz="2400" dirty="0"/>
          </a:p>
        </p:txBody>
      </p:sp>
      <p:sp>
        <p:nvSpPr>
          <p:cNvPr id="19" name="Text 15"/>
          <p:cNvSpPr txBox="1"/>
          <p:nvPr/>
        </p:nvSpPr>
        <p:spPr>
          <a:xfrm>
            <a:off x="10433304" y="2331720"/>
            <a:ext cx="10972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fleur</a:t>
            </a:r>
            <a:endParaRPr lang="en-US" sz="1200" dirty="0"/>
          </a:p>
        </p:txBody>
      </p:sp>
      <p:sp>
        <p:nvSpPr>
          <p:cNvPr id="20" name="carte"/>
          <p:cNvSpPr/>
          <p:nvPr/>
        </p:nvSpPr>
        <p:spPr>
          <a:xfrm>
            <a:off x="5486400" y="3017520"/>
            <a:ext cx="6153912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21" name="etiquette"/>
          <p:cNvSpPr txBox="1"/>
          <p:nvPr/>
        </p:nvSpPr>
        <p:spPr>
          <a:xfrm>
            <a:off x="5760720" y="32186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D628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L'IA FAIT CE QU'ON RÉCOMPENSE, PAS CE QU'ON VEUT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5760720" y="35661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Restait dans la salle bonus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905256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91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pénalité de temps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5760720" y="4114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Collée contre un tuyau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9052560" y="41148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91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règle du blocage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5760720" y="4663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 trouvait pas la fleur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9052560" y="46634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91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bouton gauche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r_brick" descr="/home/user/MarioRL_FinalWork/docs/oral/fabrication/assets/sprites/star_bri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03380"/>
            <a:ext cx="901690" cy="1739920"/>
          </a:xfrm>
          <a:prstGeom prst="rect">
            <a:avLst/>
          </a:prstGeom>
        </p:spPr>
      </p:pic>
      <p:pic>
        <p:nvPicPr>
          <p:cNvPr id="3" name="coin_pipe2" descr="/home/user/MarioRL_FinalWork/docs/oral/fabrication/assets/sprites/coin_pip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49" y="3784610"/>
            <a:ext cx="812810" cy="2218243"/>
          </a:xfrm>
          <a:prstGeom prst="rect">
            <a:avLst/>
          </a:prstGeom>
        </p:spPr>
      </p:pic>
      <p:pic>
        <p:nvPicPr>
          <p:cNvPr id="4" name="pipe_tall" descr="/home/user/MarioRL_FinalWork/docs/oral/fabrication/assets/sprites/pipe_t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8129" y="3031053"/>
            <a:ext cx="897484" cy="2971800"/>
          </a:xfrm>
          <a:prstGeom prst="rect">
            <a:avLst/>
          </a:prstGeom>
        </p:spPr>
      </p:pic>
      <p:pic>
        <p:nvPicPr>
          <p:cNvPr id="5" name="ground" descr="/home/user/MarioRL_FinalWork/docs/oral/fabrication/assets/sprites/grou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977433"/>
            <a:ext cx="12191970" cy="880567"/>
          </a:xfrm>
          <a:prstGeom prst="rect">
            <a:avLst/>
          </a:prstGeom>
        </p:spPr>
      </p:pic>
      <p:sp>
        <p:nvSpPr>
          <p:cNvPr id="6" name="grand_titre"/>
          <p:cNvSpPr txBox="1"/>
          <p:nvPr/>
        </p:nvSpPr>
        <p:spPr>
          <a:xfrm>
            <a:off x="2011680" y="1234440"/>
            <a:ext cx="8168335" cy="8686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429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1-4</a:t>
            </a:r>
            <a:endParaRPr lang="en-US" sz="5400" dirty="0"/>
          </a:p>
        </p:txBody>
      </p:sp>
      <p:sp>
        <p:nvSpPr>
          <p:cNvPr id="7" name="grand_titre"/>
          <p:cNvSpPr txBox="1"/>
          <p:nvPr/>
        </p:nvSpPr>
        <p:spPr>
          <a:xfrm>
            <a:off x="2011680" y="2121408"/>
            <a:ext cx="8168335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2540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LE RECUL</a:t>
            </a:r>
            <a:endParaRPr lang="en-US" sz="3200" dirty="0"/>
          </a:p>
        </p:txBody>
      </p:sp>
      <p:sp>
        <p:nvSpPr>
          <p:cNvPr id="8" name="Text 2"/>
          <p:cNvSpPr txBox="1"/>
          <p:nvPr/>
        </p:nvSpPr>
        <p:spPr>
          <a:xfrm>
            <a:off x="2743200" y="2852928"/>
            <a:ext cx="6705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Énergie, auto-critique et ce qu'on retient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1-4  -  LE RECUL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L'énergie consommée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ableau_fond"/>
          <p:cNvSpPr/>
          <p:nvPr/>
        </p:nvSpPr>
        <p:spPr>
          <a:xfrm>
            <a:off x="548640" y="1645920"/>
            <a:ext cx="6675120" cy="421538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entete"/>
          <p:cNvSpPr txBox="1"/>
          <p:nvPr/>
        </p:nvSpPr>
        <p:spPr>
          <a:xfrm>
            <a:off x="548640" y="1645920"/>
            <a:ext cx="2468880" cy="50292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 graine</a:t>
            </a:r>
            <a:endParaRPr lang="en-US" sz="1200" dirty="0"/>
          </a:p>
        </p:txBody>
      </p:sp>
      <p:sp>
        <p:nvSpPr>
          <p:cNvPr id="8" name="entete"/>
          <p:cNvSpPr txBox="1"/>
          <p:nvPr/>
        </p:nvSpPr>
        <p:spPr>
          <a:xfrm>
            <a:off x="3017520" y="1645920"/>
            <a:ext cx="1371600" cy="50292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Durée</a:t>
            </a:r>
            <a:endParaRPr lang="en-US" sz="1200" dirty="0"/>
          </a:p>
        </p:txBody>
      </p:sp>
      <p:sp>
        <p:nvSpPr>
          <p:cNvPr id="9" name="entete"/>
          <p:cNvSpPr txBox="1"/>
          <p:nvPr/>
        </p:nvSpPr>
        <p:spPr>
          <a:xfrm>
            <a:off x="4389120" y="1645920"/>
            <a:ext cx="1463040" cy="50292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Énergie</a:t>
            </a:r>
            <a:endParaRPr lang="en-US" sz="1200" dirty="0"/>
          </a:p>
        </p:txBody>
      </p:sp>
      <p:sp>
        <p:nvSpPr>
          <p:cNvPr id="10" name="entete"/>
          <p:cNvSpPr txBox="1"/>
          <p:nvPr/>
        </p:nvSpPr>
        <p:spPr>
          <a:xfrm>
            <a:off x="5852160" y="1645920"/>
            <a:ext cx="1371600" cy="50292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vs Q-L</a:t>
            </a:r>
            <a:endParaRPr lang="en-US" sz="1200" dirty="0"/>
          </a:p>
        </p:txBody>
      </p:sp>
      <p:sp>
        <p:nvSpPr>
          <p:cNvPr id="11" name="cellule"/>
          <p:cNvSpPr txBox="1"/>
          <p:nvPr/>
        </p:nvSpPr>
        <p:spPr>
          <a:xfrm>
            <a:off x="548640" y="2148840"/>
            <a:ext cx="246888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Q-Learning</a:t>
            </a:r>
            <a:endParaRPr lang="en-US" sz="1500" dirty="0"/>
          </a:p>
        </p:txBody>
      </p:sp>
      <p:sp>
        <p:nvSpPr>
          <p:cNvPr id="12" name="cellule"/>
          <p:cNvSpPr txBox="1"/>
          <p:nvPr/>
        </p:nvSpPr>
        <p:spPr>
          <a:xfrm>
            <a:off x="3017520" y="2148840"/>
            <a:ext cx="137160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 s</a:t>
            </a:r>
            <a:endParaRPr lang="en-US" sz="1500" dirty="0"/>
          </a:p>
        </p:txBody>
      </p:sp>
      <p:sp>
        <p:nvSpPr>
          <p:cNvPr id="13" name="cellule"/>
          <p:cNvSpPr txBox="1"/>
          <p:nvPr/>
        </p:nvSpPr>
        <p:spPr>
          <a:xfrm>
            <a:off x="4389120" y="2148840"/>
            <a:ext cx="146304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0,028 Wh</a:t>
            </a:r>
            <a:endParaRPr lang="en-US" sz="1500" dirty="0"/>
          </a:p>
        </p:txBody>
      </p:sp>
      <p:sp>
        <p:nvSpPr>
          <p:cNvPr id="14" name="cellule"/>
          <p:cNvSpPr txBox="1"/>
          <p:nvPr/>
        </p:nvSpPr>
        <p:spPr>
          <a:xfrm>
            <a:off x="5852160" y="2148840"/>
            <a:ext cx="137160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</a:t>
            </a:r>
            <a:endParaRPr lang="en-US" sz="1500" dirty="0"/>
          </a:p>
        </p:txBody>
      </p:sp>
      <p:sp>
        <p:nvSpPr>
          <p:cNvPr id="15" name="cellule"/>
          <p:cNvSpPr txBox="1"/>
          <p:nvPr/>
        </p:nvSpPr>
        <p:spPr>
          <a:xfrm>
            <a:off x="548640" y="2679192"/>
            <a:ext cx="246888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SARSA</a:t>
            </a:r>
            <a:endParaRPr lang="en-US" sz="1500" dirty="0"/>
          </a:p>
        </p:txBody>
      </p:sp>
      <p:sp>
        <p:nvSpPr>
          <p:cNvPr id="16" name="cellule"/>
          <p:cNvSpPr txBox="1"/>
          <p:nvPr/>
        </p:nvSpPr>
        <p:spPr>
          <a:xfrm>
            <a:off x="3017520" y="2679192"/>
            <a:ext cx="137160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 s</a:t>
            </a:r>
            <a:endParaRPr lang="en-US" sz="1500" dirty="0"/>
          </a:p>
        </p:txBody>
      </p:sp>
      <p:sp>
        <p:nvSpPr>
          <p:cNvPr id="17" name="cellule"/>
          <p:cNvSpPr txBox="1"/>
          <p:nvPr/>
        </p:nvSpPr>
        <p:spPr>
          <a:xfrm>
            <a:off x="4389120" y="2679192"/>
            <a:ext cx="1463040" cy="530352"/>
          </a:xfrm>
          <a:prstGeom prst="rect">
            <a:avLst/>
          </a:prstGeom>
          <a:solidFill>
            <a:srgbClr val="FFF0B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0,026 Wh</a:t>
            </a:r>
            <a:endParaRPr lang="en-US" sz="1500" dirty="0"/>
          </a:p>
        </p:txBody>
      </p:sp>
      <p:sp>
        <p:nvSpPr>
          <p:cNvPr id="18" name="cellule"/>
          <p:cNvSpPr txBox="1"/>
          <p:nvPr/>
        </p:nvSpPr>
        <p:spPr>
          <a:xfrm>
            <a:off x="5852160" y="2679192"/>
            <a:ext cx="137160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×0,9</a:t>
            </a:r>
            <a:endParaRPr lang="en-US" sz="1500" dirty="0"/>
          </a:p>
        </p:txBody>
      </p:sp>
      <p:sp>
        <p:nvSpPr>
          <p:cNvPr id="19" name="cellule"/>
          <p:cNvSpPr txBox="1"/>
          <p:nvPr/>
        </p:nvSpPr>
        <p:spPr>
          <a:xfrm>
            <a:off x="548640" y="3209544"/>
            <a:ext cx="246888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Monte Carlo</a:t>
            </a:r>
            <a:endParaRPr lang="en-US" sz="1500" dirty="0"/>
          </a:p>
        </p:txBody>
      </p:sp>
      <p:sp>
        <p:nvSpPr>
          <p:cNvPr id="20" name="cellule"/>
          <p:cNvSpPr txBox="1"/>
          <p:nvPr/>
        </p:nvSpPr>
        <p:spPr>
          <a:xfrm>
            <a:off x="3017520" y="3209544"/>
            <a:ext cx="137160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 s</a:t>
            </a:r>
            <a:endParaRPr lang="en-US" sz="1500" dirty="0"/>
          </a:p>
        </p:txBody>
      </p:sp>
      <p:sp>
        <p:nvSpPr>
          <p:cNvPr id="21" name="cellule"/>
          <p:cNvSpPr txBox="1"/>
          <p:nvPr/>
        </p:nvSpPr>
        <p:spPr>
          <a:xfrm>
            <a:off x="4389120" y="3209544"/>
            <a:ext cx="146304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0,047 Wh</a:t>
            </a:r>
            <a:endParaRPr lang="en-US" sz="1500" dirty="0"/>
          </a:p>
        </p:txBody>
      </p:sp>
      <p:sp>
        <p:nvSpPr>
          <p:cNvPr id="22" name="cellule"/>
          <p:cNvSpPr txBox="1"/>
          <p:nvPr/>
        </p:nvSpPr>
        <p:spPr>
          <a:xfrm>
            <a:off x="5852160" y="3209544"/>
            <a:ext cx="137160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×1,7</a:t>
            </a:r>
            <a:endParaRPr lang="en-US" sz="1500" dirty="0"/>
          </a:p>
        </p:txBody>
      </p:sp>
      <p:sp>
        <p:nvSpPr>
          <p:cNvPr id="23" name="cellule"/>
          <p:cNvSpPr txBox="1"/>
          <p:nvPr/>
        </p:nvSpPr>
        <p:spPr>
          <a:xfrm>
            <a:off x="548640" y="3739896"/>
            <a:ext cx="246888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DQN de l'article</a:t>
            </a:r>
            <a:endParaRPr lang="en-US" sz="1500" dirty="0"/>
          </a:p>
        </p:txBody>
      </p:sp>
      <p:sp>
        <p:nvSpPr>
          <p:cNvPr id="24" name="cellule"/>
          <p:cNvSpPr txBox="1"/>
          <p:nvPr/>
        </p:nvSpPr>
        <p:spPr>
          <a:xfrm>
            <a:off x="3017520" y="3739896"/>
            <a:ext cx="137160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2,6 min</a:t>
            </a:r>
            <a:endParaRPr lang="en-US" sz="1500" dirty="0"/>
          </a:p>
        </p:txBody>
      </p:sp>
      <p:sp>
        <p:nvSpPr>
          <p:cNvPr id="25" name="cellule"/>
          <p:cNvSpPr txBox="1"/>
          <p:nvPr/>
        </p:nvSpPr>
        <p:spPr>
          <a:xfrm>
            <a:off x="4389120" y="3739896"/>
            <a:ext cx="146304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0,24 Wh</a:t>
            </a:r>
            <a:endParaRPr lang="en-US" sz="1500" dirty="0"/>
          </a:p>
        </p:txBody>
      </p:sp>
      <p:sp>
        <p:nvSpPr>
          <p:cNvPr id="26" name="cellule"/>
          <p:cNvSpPr txBox="1"/>
          <p:nvPr/>
        </p:nvSpPr>
        <p:spPr>
          <a:xfrm>
            <a:off x="5852160" y="3739896"/>
            <a:ext cx="137160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×9</a:t>
            </a:r>
            <a:endParaRPr lang="en-US" sz="1500" dirty="0"/>
          </a:p>
        </p:txBody>
      </p:sp>
      <p:sp>
        <p:nvSpPr>
          <p:cNvPr id="27" name="cellule"/>
          <p:cNvSpPr txBox="1"/>
          <p:nvPr/>
        </p:nvSpPr>
        <p:spPr>
          <a:xfrm>
            <a:off x="548640" y="4270248"/>
            <a:ext cx="246888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Notre DQN</a:t>
            </a:r>
            <a:endParaRPr lang="en-US" sz="1500" dirty="0"/>
          </a:p>
        </p:txBody>
      </p:sp>
      <p:sp>
        <p:nvSpPr>
          <p:cNvPr id="28" name="cellule"/>
          <p:cNvSpPr txBox="1"/>
          <p:nvPr/>
        </p:nvSpPr>
        <p:spPr>
          <a:xfrm>
            <a:off x="3017520" y="4270248"/>
            <a:ext cx="137160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 min</a:t>
            </a:r>
            <a:endParaRPr lang="en-US" sz="1500" dirty="0"/>
          </a:p>
        </p:txBody>
      </p:sp>
      <p:sp>
        <p:nvSpPr>
          <p:cNvPr id="29" name="cellule"/>
          <p:cNvSpPr txBox="1"/>
          <p:nvPr/>
        </p:nvSpPr>
        <p:spPr>
          <a:xfrm>
            <a:off x="4389120" y="4270248"/>
            <a:ext cx="146304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2,4 Wh</a:t>
            </a:r>
            <a:endParaRPr lang="en-US" sz="1500" dirty="0"/>
          </a:p>
        </p:txBody>
      </p:sp>
      <p:sp>
        <p:nvSpPr>
          <p:cNvPr id="30" name="cellule"/>
          <p:cNvSpPr txBox="1"/>
          <p:nvPr/>
        </p:nvSpPr>
        <p:spPr>
          <a:xfrm>
            <a:off x="5852160" y="4270248"/>
            <a:ext cx="137160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×88</a:t>
            </a:r>
            <a:endParaRPr lang="en-US" sz="1500" dirty="0"/>
          </a:p>
        </p:txBody>
      </p:sp>
      <p:sp>
        <p:nvSpPr>
          <p:cNvPr id="31" name="cellule"/>
          <p:cNvSpPr txBox="1"/>
          <p:nvPr/>
        </p:nvSpPr>
        <p:spPr>
          <a:xfrm>
            <a:off x="548640" y="4800600"/>
            <a:ext cx="246888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PPO, vrai jeu</a:t>
            </a:r>
            <a:endParaRPr lang="en-US" sz="1500" dirty="0"/>
          </a:p>
        </p:txBody>
      </p:sp>
      <p:sp>
        <p:nvSpPr>
          <p:cNvPr id="32" name="cellule"/>
          <p:cNvSpPr txBox="1"/>
          <p:nvPr/>
        </p:nvSpPr>
        <p:spPr>
          <a:xfrm>
            <a:off x="3017520" y="4800600"/>
            <a:ext cx="137160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10,7 min</a:t>
            </a:r>
            <a:endParaRPr lang="en-US" sz="1500" dirty="0"/>
          </a:p>
        </p:txBody>
      </p:sp>
      <p:sp>
        <p:nvSpPr>
          <p:cNvPr id="33" name="cellule"/>
          <p:cNvSpPr txBox="1"/>
          <p:nvPr/>
        </p:nvSpPr>
        <p:spPr>
          <a:xfrm>
            <a:off x="4389120" y="4800600"/>
            <a:ext cx="146304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0,90 Wh</a:t>
            </a:r>
            <a:endParaRPr lang="en-US" sz="1500" dirty="0"/>
          </a:p>
        </p:txBody>
      </p:sp>
      <p:sp>
        <p:nvSpPr>
          <p:cNvPr id="34" name="cellule"/>
          <p:cNvSpPr txBox="1"/>
          <p:nvPr/>
        </p:nvSpPr>
        <p:spPr>
          <a:xfrm>
            <a:off x="5852160" y="4800600"/>
            <a:ext cx="137160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×32</a:t>
            </a:r>
            <a:endParaRPr lang="en-US" sz="1500" dirty="0"/>
          </a:p>
        </p:txBody>
      </p:sp>
      <p:sp>
        <p:nvSpPr>
          <p:cNvPr id="35" name="cellule"/>
          <p:cNvSpPr txBox="1"/>
          <p:nvPr/>
        </p:nvSpPr>
        <p:spPr>
          <a:xfrm>
            <a:off x="548640" y="5330952"/>
            <a:ext cx="246888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PPO, Route A</a:t>
            </a:r>
            <a:endParaRPr lang="en-US" sz="1500" dirty="0"/>
          </a:p>
        </p:txBody>
      </p:sp>
      <p:sp>
        <p:nvSpPr>
          <p:cNvPr id="36" name="cellule"/>
          <p:cNvSpPr txBox="1"/>
          <p:nvPr/>
        </p:nvSpPr>
        <p:spPr>
          <a:xfrm>
            <a:off x="3017520" y="5330952"/>
            <a:ext cx="137160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12,5 min</a:t>
            </a:r>
            <a:endParaRPr lang="en-US" sz="1500" dirty="0"/>
          </a:p>
        </p:txBody>
      </p:sp>
      <p:sp>
        <p:nvSpPr>
          <p:cNvPr id="37" name="cellule"/>
          <p:cNvSpPr txBox="1"/>
          <p:nvPr/>
        </p:nvSpPr>
        <p:spPr>
          <a:xfrm>
            <a:off x="4389120" y="5330952"/>
            <a:ext cx="146304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1,1 Wh</a:t>
            </a:r>
            <a:endParaRPr lang="en-US" sz="1500" dirty="0"/>
          </a:p>
        </p:txBody>
      </p:sp>
      <p:sp>
        <p:nvSpPr>
          <p:cNvPr id="38" name="cellule"/>
          <p:cNvSpPr txBox="1"/>
          <p:nvPr/>
        </p:nvSpPr>
        <p:spPr>
          <a:xfrm>
            <a:off x="5852160" y="5330952"/>
            <a:ext cx="137160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×40</a:t>
            </a:r>
            <a:endParaRPr lang="en-US" sz="1500" dirty="0"/>
          </a:p>
        </p:txBody>
      </p:sp>
      <p:sp>
        <p:nvSpPr>
          <p:cNvPr id="39" name="kpi"/>
          <p:cNvSpPr/>
          <p:nvPr/>
        </p:nvSpPr>
        <p:spPr>
          <a:xfrm>
            <a:off x="7589520" y="1645920"/>
            <a:ext cx="405079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7818120" y="1755648"/>
            <a:ext cx="368503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113 Wh</a:t>
            </a:r>
            <a:endParaRPr lang="en-US" sz="3400" dirty="0"/>
          </a:p>
        </p:txBody>
      </p:sp>
      <p:sp>
        <p:nvSpPr>
          <p:cNvPr id="41" name="Text 39"/>
          <p:cNvSpPr txBox="1"/>
          <p:nvPr/>
        </p:nvSpPr>
        <p:spPr>
          <a:xfrm>
            <a:off x="7818120" y="2496312"/>
            <a:ext cx="3685032" cy="48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tous nos entraînements ≈ 1 L d'eau bouillie</a:t>
            </a:r>
            <a:endParaRPr lang="en-US" sz="1300" dirty="0"/>
          </a:p>
        </p:txBody>
      </p:sp>
      <p:sp>
        <p:nvSpPr>
          <p:cNvPr id="42" name="kpi"/>
          <p:cNvSpPr/>
          <p:nvPr/>
        </p:nvSpPr>
        <p:spPr>
          <a:xfrm>
            <a:off x="7589520" y="3246120"/>
            <a:ext cx="405079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7818120" y="3355848"/>
            <a:ext cx="368503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628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75 %</a:t>
            </a:r>
            <a:endParaRPr lang="en-US" sz="3400" dirty="0"/>
          </a:p>
        </p:txBody>
      </p:sp>
      <p:sp>
        <p:nvSpPr>
          <p:cNvPr id="44" name="Text 42"/>
          <p:cNvSpPr txBox="1"/>
          <p:nvPr/>
        </p:nvSpPr>
        <p:spPr>
          <a:xfrm>
            <a:off x="7818120" y="4096512"/>
            <a:ext cx="3685032" cy="48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pour le seul réseau convolutif, moins bon</a:t>
            </a:r>
            <a:endParaRPr lang="en-US" sz="1300" dirty="0"/>
          </a:p>
        </p:txBody>
      </p:sp>
      <p:sp>
        <p:nvSpPr>
          <p:cNvPr id="45" name="kpi"/>
          <p:cNvSpPr/>
          <p:nvPr/>
        </p:nvSpPr>
        <p:spPr>
          <a:xfrm>
            <a:off x="7589520" y="4846320"/>
            <a:ext cx="405079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7818120" y="4956048"/>
            <a:ext cx="368503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B3F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×88</a:t>
            </a:r>
            <a:endParaRPr lang="en-US" sz="3400" dirty="0"/>
          </a:p>
        </p:txBody>
      </p:sp>
      <p:sp>
        <p:nvSpPr>
          <p:cNvPr id="47" name="Text 45"/>
          <p:cNvSpPr txBox="1"/>
          <p:nvPr/>
        </p:nvSpPr>
        <p:spPr>
          <a:xfrm>
            <a:off x="7818120" y="5696712"/>
            <a:ext cx="3685032" cy="48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notre DQN face à Q-Learning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1-4  -  LE RECUL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Notre auto-critique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carte"/>
          <p:cNvSpPr/>
          <p:nvPr/>
        </p:nvSpPr>
        <p:spPr>
          <a:xfrm>
            <a:off x="548640" y="1645920"/>
            <a:ext cx="603504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etiquette"/>
          <p:cNvSpPr txBox="1"/>
          <p:nvPr/>
        </p:nvSpPr>
        <p:spPr>
          <a:xfrm>
            <a:off x="822960" y="1847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D628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NOS LIMITES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240280"/>
            <a:ext cx="5577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6000 épisodes au lieu de 10 000</a:t>
            </a:r>
            <a:endParaRPr lang="en-US" sz="1700" dirty="0"/>
          </a:p>
          <a:p>
            <a:pPr marL="203200" indent="-203200">
              <a:lnSpc>
                <a:spcPct val="105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Expérience sur l'ordre du niveau non refaite</a:t>
            </a:r>
            <a:endParaRPr lang="en-US" sz="1700" dirty="0"/>
          </a:p>
          <a:p>
            <a:pPr marL="203200" indent="-203200">
              <a:lnSpc>
                <a:spcPct val="105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Règles des ennemis devinées</a:t>
            </a:r>
            <a:endParaRPr lang="en-US" sz="1700" dirty="0"/>
          </a:p>
          <a:p>
            <a:pPr marL="203200" indent="-203200">
              <a:lnSpc>
                <a:spcPct val="105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DQN réglé et évalué sur les mêmes graines</a:t>
            </a:r>
            <a:endParaRPr lang="en-US" sz="1700" dirty="0"/>
          </a:p>
          <a:p>
            <a:pPr marL="203200" indent="-203200">
              <a:lnSpc>
                <a:spcPct val="105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Énergie estimée, sans capteur</a:t>
            </a:r>
            <a:endParaRPr lang="en-US" sz="1700" dirty="0"/>
          </a:p>
        </p:txBody>
      </p:sp>
      <p:sp>
        <p:nvSpPr>
          <p:cNvPr id="9" name="carte"/>
          <p:cNvSpPr/>
          <p:nvPr/>
        </p:nvSpPr>
        <p:spPr>
          <a:xfrm>
            <a:off x="6858000" y="1645920"/>
            <a:ext cx="4782312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0" name="etiquette"/>
          <p:cNvSpPr txBox="1"/>
          <p:nvPr/>
        </p:nvSpPr>
        <p:spPr>
          <a:xfrm>
            <a:off x="7132320" y="1847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2F6F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L'IA COMME OUTIL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219456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Claude a optimisé DQN et PPO : un gain de temps, mais chaque choix a été vérifié.</a:t>
            </a:r>
            <a:endParaRPr lang="en-US" sz="1600" dirty="0"/>
          </a:p>
        </p:txBody>
      </p:sp>
      <p:sp>
        <p:nvSpPr>
          <p:cNvPr id="12" name="carte"/>
          <p:cNvSpPr/>
          <p:nvPr/>
        </p:nvSpPr>
        <p:spPr>
          <a:xfrm>
            <a:off x="6858000" y="4069080"/>
            <a:ext cx="4782312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3" name="etiquette"/>
          <p:cNvSpPr txBox="1"/>
          <p:nvPr/>
        </p:nvSpPr>
        <p:spPr>
          <a:xfrm>
            <a:off x="7132320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591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AVEC PLUS DE TEMPS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4617720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Refaire l'ordre du niveau avec Q-Learning et SARSA</a:t>
            </a:r>
            <a:endParaRPr lang="en-US" sz="1600" dirty="0"/>
          </a:p>
          <a:p>
            <a:pPr marL="203200" indent="-2032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Tester avec de vrais joueurs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1-4  -  LE RECUL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qu'on retient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carte"/>
          <p:cNvSpPr/>
          <p:nvPr/>
        </p:nvSpPr>
        <p:spPr>
          <a:xfrm>
            <a:off x="548640" y="1645920"/>
            <a:ext cx="3520440" cy="36576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8288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6F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974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Niveau simple : les tableaux suffisent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3434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95 % en 16 secondes</a:t>
            </a:r>
            <a:endParaRPr lang="en-US" sz="1700" dirty="0"/>
          </a:p>
        </p:txBody>
      </p:sp>
      <p:sp>
        <p:nvSpPr>
          <p:cNvPr id="10" name="carte"/>
          <p:cNvSpPr/>
          <p:nvPr/>
        </p:nvSpPr>
        <p:spPr>
          <a:xfrm>
            <a:off x="4334256" y="1645920"/>
            <a:ext cx="3520440" cy="36576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08576" y="18288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6F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608576" y="26974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voit l'IA compte plus que la taille du réseau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43434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DQN : 40 % → 94 %</a:t>
            </a:r>
            <a:endParaRPr lang="en-US" sz="1700" dirty="0"/>
          </a:p>
        </p:txBody>
      </p:sp>
      <p:sp>
        <p:nvSpPr>
          <p:cNvPr id="14" name="carte"/>
          <p:cNvSpPr/>
          <p:nvPr/>
        </p:nvSpPr>
        <p:spPr>
          <a:xfrm>
            <a:off x="8119872" y="1645920"/>
            <a:ext cx="3520440" cy="36576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94192" y="18288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6F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8394192" y="26974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Sur le vrai jeu, le deep RL prend le relais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394192" y="43434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PPO : 81 %, Route A : 91 %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623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L'article : tendances confirmées, mais ses chiffres dépendent de détails non publiés.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astle" descr="/home/user/MarioRL_FinalWork/docs/oral/fabrication/assets/sprites/cas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73727" y="1020196"/>
            <a:ext cx="2146280" cy="4982657"/>
          </a:xfrm>
          <a:prstGeom prst="rect">
            <a:avLst/>
          </a:prstGeom>
        </p:spPr>
      </p:pic>
      <p:pic>
        <p:nvPicPr>
          <p:cNvPr id="3" name="flag_mario" descr="/home/user/MarioRL_FinalWork/docs/oral/fabrication/assets/sprites/flag_mar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859" y="1938894"/>
            <a:ext cx="1138794" cy="4063959"/>
          </a:xfrm>
          <a:prstGeom prst="rect">
            <a:avLst/>
          </a:prstGeom>
        </p:spPr>
      </p:pic>
      <p:pic>
        <p:nvPicPr>
          <p:cNvPr id="4" name="ground" descr="/home/user/MarioRL_FinalWork/docs/oral/fabrication/assets/sprites/grou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77433"/>
            <a:ext cx="12191970" cy="880567"/>
          </a:xfrm>
          <a:prstGeom prst="rect">
            <a:avLst/>
          </a:prstGeom>
        </p:spPr>
      </p:pic>
      <p:sp>
        <p:nvSpPr>
          <p:cNvPr id="5" name="grand_titre"/>
          <p:cNvSpPr txBox="1"/>
          <p:nvPr/>
        </p:nvSpPr>
        <p:spPr>
          <a:xfrm>
            <a:off x="731520" y="2148840"/>
            <a:ext cx="6309360" cy="146304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2775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370" dirty="0">
                <a:solidFill>
                  <a:srgbClr val="FFFFFF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MERCI POUR</a:t>
            </a:r>
            <a:endParaRPr lang="en-US" sz="437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4370" dirty="0">
                <a:solidFill>
                  <a:srgbClr val="FFFFFF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VOTRE ÉCOUTE</a:t>
            </a:r>
            <a:endParaRPr lang="en-US" sz="437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uo" descr="/home/user/MarioRL_FinalWork/docs/oral/fabrication/assets/sprites/du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8894" y="4872563"/>
            <a:ext cx="1159916" cy="1130290"/>
          </a:xfrm>
          <a:prstGeom prst="rect">
            <a:avLst/>
          </a:prstGeom>
        </p:spPr>
      </p:pic>
      <p:pic>
        <p:nvPicPr>
          <p:cNvPr id="3" name="bowser" descr="/home/user/MarioRL_FinalWork/docs/oral/fabrication/assets/sprites/bow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3063" y="3996294"/>
            <a:ext cx="2992923" cy="2006559"/>
          </a:xfrm>
          <a:prstGeom prst="rect">
            <a:avLst/>
          </a:prstGeom>
        </p:spPr>
      </p:pic>
      <p:pic>
        <p:nvPicPr>
          <p:cNvPr id="4" name="ground" descr="/home/user/MarioRL_FinalWork/docs/oral/fabrication/assets/sprites/grou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77433"/>
            <a:ext cx="12191970" cy="880567"/>
          </a:xfrm>
          <a:prstGeom prst="rect">
            <a:avLst/>
          </a:prstGeom>
        </p:spPr>
      </p:pic>
      <p:sp>
        <p:nvSpPr>
          <p:cNvPr id="5" name="grand_titre"/>
          <p:cNvSpPr txBox="1"/>
          <p:nvPr/>
        </p:nvSpPr>
        <p:spPr>
          <a:xfrm>
            <a:off x="2377440" y="1188720"/>
            <a:ext cx="7436815" cy="146304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2775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370" dirty="0">
                <a:solidFill>
                  <a:srgbClr val="FFFFFF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AVEZ-VOUS DES</a:t>
            </a:r>
            <a:endParaRPr lang="en-US" sz="437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4370" dirty="0">
                <a:solidFill>
                  <a:srgbClr val="FFFFFF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QUESTIONS ?</a:t>
            </a:r>
            <a:endParaRPr lang="en-US" sz="437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ANNEXE A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Comportement en jeu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ableau_fond"/>
          <p:cNvSpPr/>
          <p:nvPr/>
        </p:nvSpPr>
        <p:spPr>
          <a:xfrm>
            <a:off x="548640" y="1783080"/>
            <a:ext cx="11091672" cy="321868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entete"/>
          <p:cNvSpPr txBox="1"/>
          <p:nvPr/>
        </p:nvSpPr>
        <p:spPr>
          <a:xfrm>
            <a:off x="548640" y="1783080"/>
            <a:ext cx="2514600" cy="566928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Algorithme</a:t>
            </a:r>
            <a:endParaRPr lang="en-US" sz="1200" dirty="0"/>
          </a:p>
        </p:txBody>
      </p:sp>
      <p:sp>
        <p:nvSpPr>
          <p:cNvPr id="8" name="entete"/>
          <p:cNvSpPr txBox="1"/>
          <p:nvPr/>
        </p:nvSpPr>
        <p:spPr>
          <a:xfrm>
            <a:off x="3063240" y="1783080"/>
            <a:ext cx="1737360" cy="566928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Ennemis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écrasés</a:t>
            </a:r>
            <a:endParaRPr lang="en-US" sz="1200" dirty="0"/>
          </a:p>
        </p:txBody>
      </p:sp>
      <p:sp>
        <p:nvSpPr>
          <p:cNvPr id="9" name="entete"/>
          <p:cNvSpPr txBox="1"/>
          <p:nvPr/>
        </p:nvSpPr>
        <p:spPr>
          <a:xfrm>
            <a:off x="4800600" y="1783080"/>
            <a:ext cx="1737360" cy="566928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Briques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cassées</a:t>
            </a:r>
            <a:endParaRPr lang="en-US" sz="1200" dirty="0"/>
          </a:p>
        </p:txBody>
      </p:sp>
      <p:sp>
        <p:nvSpPr>
          <p:cNvPr id="10" name="entete"/>
          <p:cNvSpPr txBox="1"/>
          <p:nvPr/>
        </p:nvSpPr>
        <p:spPr>
          <a:xfrm>
            <a:off x="6537960" y="1783080"/>
            <a:ext cx="1737360" cy="566928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Blocs ?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frappés</a:t>
            </a:r>
            <a:endParaRPr lang="en-US" sz="1200" dirty="0"/>
          </a:p>
        </p:txBody>
      </p:sp>
      <p:sp>
        <p:nvSpPr>
          <p:cNvPr id="11" name="entete"/>
          <p:cNvSpPr txBox="1"/>
          <p:nvPr/>
        </p:nvSpPr>
        <p:spPr>
          <a:xfrm>
            <a:off x="8275320" y="1783080"/>
            <a:ext cx="1719072" cy="566928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Pas par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partie</a:t>
            </a:r>
            <a:endParaRPr lang="en-US" sz="1200" dirty="0"/>
          </a:p>
        </p:txBody>
      </p:sp>
      <p:sp>
        <p:nvSpPr>
          <p:cNvPr id="12" name="entete"/>
          <p:cNvSpPr txBox="1"/>
          <p:nvPr/>
        </p:nvSpPr>
        <p:spPr>
          <a:xfrm>
            <a:off x="9994392" y="1783080"/>
            <a:ext cx="1645920" cy="566928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1re victoire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(épisode)</a:t>
            </a:r>
            <a:endParaRPr lang="en-US" sz="1200" dirty="0"/>
          </a:p>
        </p:txBody>
      </p:sp>
      <p:sp>
        <p:nvSpPr>
          <p:cNvPr id="13" name="cellule"/>
          <p:cNvSpPr txBox="1"/>
          <p:nvPr/>
        </p:nvSpPr>
        <p:spPr>
          <a:xfrm>
            <a:off x="548640" y="2350008"/>
            <a:ext cx="251460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Q-Learning</a:t>
            </a:r>
            <a:endParaRPr lang="en-US" sz="1350" dirty="0"/>
          </a:p>
        </p:txBody>
      </p:sp>
      <p:sp>
        <p:nvSpPr>
          <p:cNvPr id="14" name="cellule"/>
          <p:cNvSpPr txBox="1"/>
          <p:nvPr/>
        </p:nvSpPr>
        <p:spPr>
          <a:xfrm>
            <a:off x="3063240" y="2350008"/>
            <a:ext cx="173736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6,1</a:t>
            </a:r>
            <a:endParaRPr lang="en-US" sz="1350" dirty="0"/>
          </a:p>
        </p:txBody>
      </p:sp>
      <p:sp>
        <p:nvSpPr>
          <p:cNvPr id="15" name="cellule"/>
          <p:cNvSpPr txBox="1"/>
          <p:nvPr/>
        </p:nvSpPr>
        <p:spPr>
          <a:xfrm>
            <a:off x="4800600" y="2350008"/>
            <a:ext cx="173736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2,9</a:t>
            </a:r>
            <a:endParaRPr lang="en-US" sz="1350" dirty="0"/>
          </a:p>
        </p:txBody>
      </p:sp>
      <p:sp>
        <p:nvSpPr>
          <p:cNvPr id="16" name="cellule"/>
          <p:cNvSpPr txBox="1"/>
          <p:nvPr/>
        </p:nvSpPr>
        <p:spPr>
          <a:xfrm>
            <a:off x="6537960" y="2350008"/>
            <a:ext cx="173736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4,3</a:t>
            </a:r>
            <a:endParaRPr lang="en-US" sz="1350" dirty="0"/>
          </a:p>
        </p:txBody>
      </p:sp>
      <p:sp>
        <p:nvSpPr>
          <p:cNvPr id="17" name="cellule"/>
          <p:cNvSpPr txBox="1"/>
          <p:nvPr/>
        </p:nvSpPr>
        <p:spPr>
          <a:xfrm>
            <a:off x="8275320" y="2350008"/>
            <a:ext cx="1719072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268</a:t>
            </a:r>
            <a:endParaRPr lang="en-US" sz="1350" dirty="0"/>
          </a:p>
        </p:txBody>
      </p:sp>
      <p:sp>
        <p:nvSpPr>
          <p:cNvPr id="18" name="cellule"/>
          <p:cNvSpPr txBox="1"/>
          <p:nvPr/>
        </p:nvSpPr>
        <p:spPr>
          <a:xfrm>
            <a:off x="9994392" y="2350008"/>
            <a:ext cx="164592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1322 ± 356</a:t>
            </a:r>
            <a:endParaRPr lang="en-US" sz="1350" dirty="0"/>
          </a:p>
        </p:txBody>
      </p:sp>
      <p:sp>
        <p:nvSpPr>
          <p:cNvPr id="19" name="cellule"/>
          <p:cNvSpPr txBox="1"/>
          <p:nvPr/>
        </p:nvSpPr>
        <p:spPr>
          <a:xfrm>
            <a:off x="548640" y="2880360"/>
            <a:ext cx="251460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SARSA</a:t>
            </a:r>
            <a:endParaRPr lang="en-US" sz="1350" dirty="0"/>
          </a:p>
        </p:txBody>
      </p:sp>
      <p:sp>
        <p:nvSpPr>
          <p:cNvPr id="20" name="cellule"/>
          <p:cNvSpPr txBox="1"/>
          <p:nvPr/>
        </p:nvSpPr>
        <p:spPr>
          <a:xfrm>
            <a:off x="3063240" y="2880360"/>
            <a:ext cx="173736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6,9</a:t>
            </a:r>
            <a:endParaRPr lang="en-US" sz="1350" dirty="0"/>
          </a:p>
        </p:txBody>
      </p:sp>
      <p:sp>
        <p:nvSpPr>
          <p:cNvPr id="21" name="cellule"/>
          <p:cNvSpPr txBox="1"/>
          <p:nvPr/>
        </p:nvSpPr>
        <p:spPr>
          <a:xfrm>
            <a:off x="4800600" y="2880360"/>
            <a:ext cx="173736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3,6</a:t>
            </a:r>
            <a:endParaRPr lang="en-US" sz="1350" dirty="0"/>
          </a:p>
        </p:txBody>
      </p:sp>
      <p:sp>
        <p:nvSpPr>
          <p:cNvPr id="22" name="cellule"/>
          <p:cNvSpPr txBox="1"/>
          <p:nvPr/>
        </p:nvSpPr>
        <p:spPr>
          <a:xfrm>
            <a:off x="6537960" y="2880360"/>
            <a:ext cx="173736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4,7</a:t>
            </a:r>
            <a:endParaRPr lang="en-US" sz="1350" dirty="0"/>
          </a:p>
        </p:txBody>
      </p:sp>
      <p:sp>
        <p:nvSpPr>
          <p:cNvPr id="23" name="cellule"/>
          <p:cNvSpPr txBox="1"/>
          <p:nvPr/>
        </p:nvSpPr>
        <p:spPr>
          <a:xfrm>
            <a:off x="8275320" y="2880360"/>
            <a:ext cx="1719072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266</a:t>
            </a:r>
            <a:endParaRPr lang="en-US" sz="1350" dirty="0"/>
          </a:p>
        </p:txBody>
      </p:sp>
      <p:sp>
        <p:nvSpPr>
          <p:cNvPr id="24" name="cellule"/>
          <p:cNvSpPr txBox="1"/>
          <p:nvPr/>
        </p:nvSpPr>
        <p:spPr>
          <a:xfrm>
            <a:off x="9994392" y="2880360"/>
            <a:ext cx="164592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1178 ± 293</a:t>
            </a:r>
            <a:endParaRPr lang="en-US" sz="1350" dirty="0"/>
          </a:p>
        </p:txBody>
      </p:sp>
      <p:sp>
        <p:nvSpPr>
          <p:cNvPr id="25" name="cellule"/>
          <p:cNvSpPr txBox="1"/>
          <p:nvPr/>
        </p:nvSpPr>
        <p:spPr>
          <a:xfrm>
            <a:off x="548640" y="3410712"/>
            <a:ext cx="251460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Monte Carlo</a:t>
            </a:r>
            <a:endParaRPr lang="en-US" sz="1350" dirty="0"/>
          </a:p>
        </p:txBody>
      </p:sp>
      <p:sp>
        <p:nvSpPr>
          <p:cNvPr id="26" name="cellule"/>
          <p:cNvSpPr txBox="1"/>
          <p:nvPr/>
        </p:nvSpPr>
        <p:spPr>
          <a:xfrm>
            <a:off x="3063240" y="3410712"/>
            <a:ext cx="173736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12,1</a:t>
            </a:r>
            <a:endParaRPr lang="en-US" sz="1350" dirty="0"/>
          </a:p>
        </p:txBody>
      </p:sp>
      <p:sp>
        <p:nvSpPr>
          <p:cNvPr id="27" name="cellule"/>
          <p:cNvSpPr txBox="1"/>
          <p:nvPr/>
        </p:nvSpPr>
        <p:spPr>
          <a:xfrm>
            <a:off x="4800600" y="3410712"/>
            <a:ext cx="173736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4,9</a:t>
            </a:r>
            <a:endParaRPr lang="en-US" sz="1350" dirty="0"/>
          </a:p>
        </p:txBody>
      </p:sp>
      <p:sp>
        <p:nvSpPr>
          <p:cNvPr id="28" name="cellule"/>
          <p:cNvSpPr txBox="1"/>
          <p:nvPr/>
        </p:nvSpPr>
        <p:spPr>
          <a:xfrm>
            <a:off x="6537960" y="3410712"/>
            <a:ext cx="173736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5,3</a:t>
            </a:r>
            <a:endParaRPr lang="en-US" sz="1350" dirty="0"/>
          </a:p>
        </p:txBody>
      </p:sp>
      <p:sp>
        <p:nvSpPr>
          <p:cNvPr id="29" name="cellule"/>
          <p:cNvSpPr txBox="1"/>
          <p:nvPr/>
        </p:nvSpPr>
        <p:spPr>
          <a:xfrm>
            <a:off x="8275320" y="3410712"/>
            <a:ext cx="1719072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</a:t>
            </a:r>
            <a:endParaRPr lang="en-US" sz="1350" dirty="0"/>
          </a:p>
        </p:txBody>
      </p:sp>
      <p:sp>
        <p:nvSpPr>
          <p:cNvPr id="30" name="cellule"/>
          <p:cNvSpPr txBox="1"/>
          <p:nvPr/>
        </p:nvSpPr>
        <p:spPr>
          <a:xfrm>
            <a:off x="9994392" y="3410712"/>
            <a:ext cx="164592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1108 ± 443</a:t>
            </a:r>
            <a:endParaRPr lang="en-US" sz="1350" dirty="0"/>
          </a:p>
        </p:txBody>
      </p:sp>
      <p:sp>
        <p:nvSpPr>
          <p:cNvPr id="31" name="cellule"/>
          <p:cNvSpPr txBox="1"/>
          <p:nvPr/>
        </p:nvSpPr>
        <p:spPr>
          <a:xfrm>
            <a:off x="548640" y="3941064"/>
            <a:ext cx="251460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DQN de l'article</a:t>
            </a:r>
            <a:endParaRPr lang="en-US" sz="1350" dirty="0"/>
          </a:p>
        </p:txBody>
      </p:sp>
      <p:sp>
        <p:nvSpPr>
          <p:cNvPr id="32" name="cellule"/>
          <p:cNvSpPr txBox="1"/>
          <p:nvPr/>
        </p:nvSpPr>
        <p:spPr>
          <a:xfrm>
            <a:off x="3063240" y="3941064"/>
            <a:ext cx="173736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6,0</a:t>
            </a:r>
            <a:endParaRPr lang="en-US" sz="1350" dirty="0"/>
          </a:p>
        </p:txBody>
      </p:sp>
      <p:sp>
        <p:nvSpPr>
          <p:cNvPr id="33" name="cellule"/>
          <p:cNvSpPr txBox="1"/>
          <p:nvPr/>
        </p:nvSpPr>
        <p:spPr>
          <a:xfrm>
            <a:off x="4800600" y="3941064"/>
            <a:ext cx="173736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2,2</a:t>
            </a:r>
            <a:endParaRPr lang="en-US" sz="1350" dirty="0"/>
          </a:p>
        </p:txBody>
      </p:sp>
      <p:sp>
        <p:nvSpPr>
          <p:cNvPr id="34" name="cellule"/>
          <p:cNvSpPr txBox="1"/>
          <p:nvPr/>
        </p:nvSpPr>
        <p:spPr>
          <a:xfrm>
            <a:off x="6537960" y="3941064"/>
            <a:ext cx="173736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5,1</a:t>
            </a:r>
            <a:endParaRPr lang="en-US" sz="1350" dirty="0"/>
          </a:p>
        </p:txBody>
      </p:sp>
      <p:sp>
        <p:nvSpPr>
          <p:cNvPr id="35" name="cellule"/>
          <p:cNvSpPr txBox="1"/>
          <p:nvPr/>
        </p:nvSpPr>
        <p:spPr>
          <a:xfrm>
            <a:off x="8275320" y="3941064"/>
            <a:ext cx="1719072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205</a:t>
            </a:r>
            <a:endParaRPr lang="en-US" sz="1350" dirty="0"/>
          </a:p>
        </p:txBody>
      </p:sp>
      <p:sp>
        <p:nvSpPr>
          <p:cNvPr id="36" name="cellule"/>
          <p:cNvSpPr txBox="1"/>
          <p:nvPr/>
        </p:nvSpPr>
        <p:spPr>
          <a:xfrm>
            <a:off x="9994392" y="3941064"/>
            <a:ext cx="164592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628 ± 194</a:t>
            </a:r>
            <a:endParaRPr lang="en-US" sz="1350" dirty="0"/>
          </a:p>
        </p:txBody>
      </p:sp>
      <p:sp>
        <p:nvSpPr>
          <p:cNvPr id="37" name="cellule"/>
          <p:cNvSpPr txBox="1"/>
          <p:nvPr/>
        </p:nvSpPr>
        <p:spPr>
          <a:xfrm>
            <a:off x="548640" y="4471416"/>
            <a:ext cx="251460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Notre DQN</a:t>
            </a:r>
            <a:endParaRPr lang="en-US" sz="1350" dirty="0"/>
          </a:p>
        </p:txBody>
      </p:sp>
      <p:sp>
        <p:nvSpPr>
          <p:cNvPr id="38" name="cellule"/>
          <p:cNvSpPr txBox="1"/>
          <p:nvPr/>
        </p:nvSpPr>
        <p:spPr>
          <a:xfrm>
            <a:off x="3063240" y="4471416"/>
            <a:ext cx="1737360" cy="530352"/>
          </a:xfrm>
          <a:prstGeom prst="rect">
            <a:avLst/>
          </a:prstGeom>
          <a:solidFill>
            <a:srgbClr val="FFF0B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12,6</a:t>
            </a:r>
            <a:endParaRPr lang="en-US" sz="1350" dirty="0"/>
          </a:p>
        </p:txBody>
      </p:sp>
      <p:sp>
        <p:nvSpPr>
          <p:cNvPr id="39" name="cellule"/>
          <p:cNvSpPr txBox="1"/>
          <p:nvPr/>
        </p:nvSpPr>
        <p:spPr>
          <a:xfrm>
            <a:off x="4800600" y="4471416"/>
            <a:ext cx="1737360" cy="530352"/>
          </a:xfrm>
          <a:prstGeom prst="rect">
            <a:avLst/>
          </a:prstGeom>
          <a:solidFill>
            <a:srgbClr val="FFF0B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5,0</a:t>
            </a:r>
            <a:endParaRPr lang="en-US" sz="1350" dirty="0"/>
          </a:p>
        </p:txBody>
      </p:sp>
      <p:sp>
        <p:nvSpPr>
          <p:cNvPr id="40" name="cellule"/>
          <p:cNvSpPr txBox="1"/>
          <p:nvPr/>
        </p:nvSpPr>
        <p:spPr>
          <a:xfrm>
            <a:off x="6537960" y="4471416"/>
            <a:ext cx="1737360" cy="530352"/>
          </a:xfrm>
          <a:prstGeom prst="rect">
            <a:avLst/>
          </a:prstGeom>
          <a:solidFill>
            <a:srgbClr val="FFF0B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7,1</a:t>
            </a:r>
            <a:endParaRPr lang="en-US" sz="1350" dirty="0"/>
          </a:p>
        </p:txBody>
      </p:sp>
      <p:sp>
        <p:nvSpPr>
          <p:cNvPr id="41" name="cellule"/>
          <p:cNvSpPr txBox="1"/>
          <p:nvPr/>
        </p:nvSpPr>
        <p:spPr>
          <a:xfrm>
            <a:off x="8275320" y="4471416"/>
            <a:ext cx="1719072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246</a:t>
            </a:r>
            <a:endParaRPr lang="en-US" sz="1350" dirty="0"/>
          </a:p>
        </p:txBody>
      </p:sp>
      <p:sp>
        <p:nvSpPr>
          <p:cNvPr id="42" name="cellule"/>
          <p:cNvSpPr txBox="1"/>
          <p:nvPr/>
        </p:nvSpPr>
        <p:spPr>
          <a:xfrm>
            <a:off x="9994392" y="4471416"/>
            <a:ext cx="164592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632 ± 117</a:t>
            </a:r>
            <a:endParaRPr lang="en-US" sz="1350" dirty="0"/>
          </a:p>
        </p:txBody>
      </p:sp>
      <p:sp>
        <p:nvSpPr>
          <p:cNvPr id="43" name="carte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rgbClr val="FFF4C2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777240" y="521208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Article : 3,3 à 3,8 ennemis par partie pour les tableaux, 1,4 pour DQN. Nos agents en écrasent 2 à 4 fois plus : l'article ne précise pas les règles des ennemis (activation, rebond, chute), nos choix les rendent sans doute plus faciles à écraser.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ANNEXE B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 réglages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ableau_fond"/>
          <p:cNvSpPr/>
          <p:nvPr/>
        </p:nvSpPr>
        <p:spPr>
          <a:xfrm>
            <a:off x="548640" y="1783080"/>
            <a:ext cx="11091672" cy="4572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entete"/>
          <p:cNvSpPr txBox="1"/>
          <p:nvPr/>
        </p:nvSpPr>
        <p:spPr>
          <a:xfrm>
            <a:off x="548640" y="1783080"/>
            <a:ext cx="2743200" cy="45720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Réglage</a:t>
            </a:r>
            <a:endParaRPr lang="en-US" sz="1200" dirty="0"/>
          </a:p>
        </p:txBody>
      </p:sp>
      <p:sp>
        <p:nvSpPr>
          <p:cNvPr id="8" name="entete"/>
          <p:cNvSpPr txBox="1"/>
          <p:nvPr/>
        </p:nvSpPr>
        <p:spPr>
          <a:xfrm>
            <a:off x="3291840" y="1783080"/>
            <a:ext cx="4023360" cy="45720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Article (et nos tableaux)</a:t>
            </a:r>
            <a:endParaRPr lang="en-US" sz="1200" dirty="0"/>
          </a:p>
        </p:txBody>
      </p:sp>
      <p:sp>
        <p:nvSpPr>
          <p:cNvPr id="9" name="entete"/>
          <p:cNvSpPr txBox="1"/>
          <p:nvPr/>
        </p:nvSpPr>
        <p:spPr>
          <a:xfrm>
            <a:off x="7315200" y="1783080"/>
            <a:ext cx="4325112" cy="45720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Notre DQN (étape 4)</a:t>
            </a:r>
            <a:endParaRPr lang="en-US" sz="1200" dirty="0"/>
          </a:p>
        </p:txBody>
      </p:sp>
      <p:sp>
        <p:nvSpPr>
          <p:cNvPr id="10" name="cellule"/>
          <p:cNvSpPr txBox="1"/>
          <p:nvPr/>
        </p:nvSpPr>
        <p:spPr>
          <a:xfrm>
            <a:off x="548640" y="22402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Épisodes</a:t>
            </a:r>
            <a:endParaRPr lang="en-US" sz="1300" dirty="0"/>
          </a:p>
        </p:txBody>
      </p:sp>
      <p:sp>
        <p:nvSpPr>
          <p:cNvPr id="11" name="cellule"/>
          <p:cNvSpPr txBox="1"/>
          <p:nvPr/>
        </p:nvSpPr>
        <p:spPr>
          <a:xfrm>
            <a:off x="3291840" y="2240280"/>
            <a:ext cx="402336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10 000 (nous : 6000 pour tous)</a:t>
            </a:r>
            <a:endParaRPr lang="en-US" sz="1300" dirty="0"/>
          </a:p>
        </p:txBody>
      </p:sp>
      <p:sp>
        <p:nvSpPr>
          <p:cNvPr id="12" name="cellule"/>
          <p:cNvSpPr txBox="1"/>
          <p:nvPr/>
        </p:nvSpPr>
        <p:spPr>
          <a:xfrm>
            <a:off x="7315200" y="2240280"/>
            <a:ext cx="4325112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6000</a:t>
            </a:r>
            <a:endParaRPr lang="en-US" sz="1300" dirty="0"/>
          </a:p>
        </p:txBody>
      </p:sp>
      <p:sp>
        <p:nvSpPr>
          <p:cNvPr id="13" name="cellule"/>
          <p:cNvSpPr txBox="1"/>
          <p:nvPr/>
        </p:nvSpPr>
        <p:spPr>
          <a:xfrm>
            <a:off x="548640" y="2697480"/>
            <a:ext cx="274320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Graines</a:t>
            </a:r>
            <a:endParaRPr lang="en-US" sz="1300" dirty="0"/>
          </a:p>
        </p:txBody>
      </p:sp>
      <p:sp>
        <p:nvSpPr>
          <p:cNvPr id="14" name="cellule"/>
          <p:cNvSpPr txBox="1"/>
          <p:nvPr/>
        </p:nvSpPr>
        <p:spPr>
          <a:xfrm>
            <a:off x="3291840" y="2697480"/>
            <a:ext cx="402336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(42 à 46)</a:t>
            </a:r>
            <a:endParaRPr lang="en-US" sz="1300" dirty="0"/>
          </a:p>
        </p:txBody>
      </p:sp>
      <p:sp>
        <p:nvSpPr>
          <p:cNvPr id="15" name="cellule"/>
          <p:cNvSpPr txBox="1"/>
          <p:nvPr/>
        </p:nvSpPr>
        <p:spPr>
          <a:xfrm>
            <a:off x="7315200" y="2697480"/>
            <a:ext cx="4325112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(42 à 46)</a:t>
            </a:r>
            <a:endParaRPr lang="en-US" sz="1300" dirty="0"/>
          </a:p>
        </p:txBody>
      </p:sp>
      <p:sp>
        <p:nvSpPr>
          <p:cNvPr id="16" name="cellule"/>
          <p:cNvSpPr txBox="1"/>
          <p:nvPr/>
        </p:nvSpPr>
        <p:spPr>
          <a:xfrm>
            <a:off x="548640" y="31546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Exploration ε</a:t>
            </a:r>
            <a:endParaRPr lang="en-US" sz="1300" dirty="0"/>
          </a:p>
        </p:txBody>
      </p:sp>
      <p:sp>
        <p:nvSpPr>
          <p:cNvPr id="17" name="cellule"/>
          <p:cNvSpPr txBox="1"/>
          <p:nvPr/>
        </p:nvSpPr>
        <p:spPr>
          <a:xfrm>
            <a:off x="3291840" y="3154680"/>
            <a:ext cx="402336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×0,999 par épisode → 0,01 (DQN : 0,05)</a:t>
            </a:r>
            <a:endParaRPr lang="en-US" sz="1300" dirty="0"/>
          </a:p>
        </p:txBody>
      </p:sp>
      <p:sp>
        <p:nvSpPr>
          <p:cNvPr id="18" name="cellule"/>
          <p:cNvSpPr txBox="1"/>
          <p:nvPr/>
        </p:nvSpPr>
        <p:spPr>
          <a:xfrm>
            <a:off x="7315200" y="3154680"/>
            <a:ext cx="4325112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plancher 0,02</a:t>
            </a:r>
            <a:endParaRPr lang="en-US" sz="1300" dirty="0"/>
          </a:p>
        </p:txBody>
      </p:sp>
      <p:sp>
        <p:nvSpPr>
          <p:cNvPr id="19" name="cellule"/>
          <p:cNvSpPr txBox="1"/>
          <p:nvPr/>
        </p:nvSpPr>
        <p:spPr>
          <a:xfrm>
            <a:off x="548640" y="3611880"/>
            <a:ext cx="274320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γ (actualisation)</a:t>
            </a:r>
            <a:endParaRPr lang="en-US" sz="1300" dirty="0"/>
          </a:p>
        </p:txBody>
      </p:sp>
      <p:sp>
        <p:nvSpPr>
          <p:cNvPr id="20" name="cellule"/>
          <p:cNvSpPr txBox="1"/>
          <p:nvPr/>
        </p:nvSpPr>
        <p:spPr>
          <a:xfrm>
            <a:off x="3291840" y="3611880"/>
            <a:ext cx="402336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0,99</a:t>
            </a:r>
            <a:endParaRPr lang="en-US" sz="1300" dirty="0"/>
          </a:p>
        </p:txBody>
      </p:sp>
      <p:sp>
        <p:nvSpPr>
          <p:cNvPr id="21" name="cellule"/>
          <p:cNvSpPr txBox="1"/>
          <p:nvPr/>
        </p:nvSpPr>
        <p:spPr>
          <a:xfrm>
            <a:off x="7315200" y="3611880"/>
            <a:ext cx="4325112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0,99</a:t>
            </a:r>
            <a:endParaRPr lang="en-US" sz="1300" dirty="0"/>
          </a:p>
        </p:txBody>
      </p:sp>
      <p:sp>
        <p:nvSpPr>
          <p:cNvPr id="22" name="cellule"/>
          <p:cNvSpPr txBox="1"/>
          <p:nvPr/>
        </p:nvSpPr>
        <p:spPr>
          <a:xfrm>
            <a:off x="548640" y="40690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α (tableaux)</a:t>
            </a:r>
            <a:endParaRPr lang="en-US" sz="1300" dirty="0"/>
          </a:p>
        </p:txBody>
      </p:sp>
      <p:sp>
        <p:nvSpPr>
          <p:cNvPr id="23" name="cellule"/>
          <p:cNvSpPr txBox="1"/>
          <p:nvPr/>
        </p:nvSpPr>
        <p:spPr>
          <a:xfrm>
            <a:off x="3291840" y="4069080"/>
            <a:ext cx="402336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0,1</a:t>
            </a:r>
            <a:endParaRPr lang="en-US" sz="1300" dirty="0"/>
          </a:p>
        </p:txBody>
      </p:sp>
      <p:sp>
        <p:nvSpPr>
          <p:cNvPr id="24" name="cellule"/>
          <p:cNvSpPr txBox="1"/>
          <p:nvPr/>
        </p:nvSpPr>
        <p:spPr>
          <a:xfrm>
            <a:off x="7315200" y="4069080"/>
            <a:ext cx="4325112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</a:t>
            </a:r>
            <a:endParaRPr lang="en-US" sz="1300" dirty="0"/>
          </a:p>
        </p:txBody>
      </p:sp>
      <p:sp>
        <p:nvSpPr>
          <p:cNvPr id="25" name="cellule"/>
          <p:cNvSpPr txBox="1"/>
          <p:nvPr/>
        </p:nvSpPr>
        <p:spPr>
          <a:xfrm>
            <a:off x="548640" y="4526280"/>
            <a:ext cx="274320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voit l'IA</a:t>
            </a:r>
            <a:endParaRPr lang="en-US" sz="1300" dirty="0"/>
          </a:p>
        </p:txBody>
      </p:sp>
      <p:sp>
        <p:nvSpPr>
          <p:cNvPr id="26" name="cellule"/>
          <p:cNvSpPr txBox="1"/>
          <p:nvPr/>
        </p:nvSpPr>
        <p:spPr>
          <a:xfrm>
            <a:off x="3291840" y="4526280"/>
            <a:ext cx="402336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115 nombres (case + 4 lignes)</a:t>
            </a:r>
            <a:endParaRPr lang="en-US" sz="1300" dirty="0"/>
          </a:p>
        </p:txBody>
      </p:sp>
      <p:sp>
        <p:nvSpPr>
          <p:cNvPr id="27" name="cellule"/>
          <p:cNvSpPr txBox="1"/>
          <p:nvPr/>
        </p:nvSpPr>
        <p:spPr>
          <a:xfrm>
            <a:off x="7315200" y="4526280"/>
            <a:ext cx="4325112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vue complète 14 × 28 en 6 calques</a:t>
            </a:r>
            <a:endParaRPr lang="en-US" sz="1300" dirty="0"/>
          </a:p>
        </p:txBody>
      </p:sp>
      <p:sp>
        <p:nvSpPr>
          <p:cNvPr id="28" name="cellule"/>
          <p:cNvSpPr txBox="1"/>
          <p:nvPr/>
        </p:nvSpPr>
        <p:spPr>
          <a:xfrm>
            <a:off x="548640" y="49834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Réseau DQN</a:t>
            </a:r>
            <a:endParaRPr lang="en-US" sz="1300" dirty="0"/>
          </a:p>
        </p:txBody>
      </p:sp>
      <p:sp>
        <p:nvSpPr>
          <p:cNvPr id="29" name="cellule"/>
          <p:cNvSpPr txBox="1"/>
          <p:nvPr/>
        </p:nvSpPr>
        <p:spPr>
          <a:xfrm>
            <a:off x="3291840" y="4983480"/>
            <a:ext cx="402336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115 → 128 → 128 → 3</a:t>
            </a:r>
            <a:endParaRPr lang="en-US" sz="1300" dirty="0"/>
          </a:p>
        </p:txBody>
      </p:sp>
      <p:sp>
        <p:nvSpPr>
          <p:cNvPr id="30" name="cellule"/>
          <p:cNvSpPr txBox="1"/>
          <p:nvPr/>
        </p:nvSpPr>
        <p:spPr>
          <a:xfrm>
            <a:off x="7315200" y="4983480"/>
            <a:ext cx="4325112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~2 400 → 128 → 128 → 3 (319 363 poids)</a:t>
            </a:r>
            <a:endParaRPr lang="en-US" sz="1300" dirty="0"/>
          </a:p>
        </p:txBody>
      </p:sp>
      <p:sp>
        <p:nvSpPr>
          <p:cNvPr id="31" name="cellule"/>
          <p:cNvSpPr txBox="1"/>
          <p:nvPr/>
        </p:nvSpPr>
        <p:spPr>
          <a:xfrm>
            <a:off x="548640" y="5440680"/>
            <a:ext cx="274320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Mémoire de rejeu</a:t>
            </a:r>
            <a:endParaRPr lang="en-US" sz="1300" dirty="0"/>
          </a:p>
        </p:txBody>
      </p:sp>
      <p:sp>
        <p:nvSpPr>
          <p:cNvPr id="32" name="cellule"/>
          <p:cNvSpPr txBox="1"/>
          <p:nvPr/>
        </p:nvSpPr>
        <p:spPr>
          <a:xfrm>
            <a:off x="3291840" y="5440680"/>
            <a:ext cx="402336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50 000 coups, paquets de 64</a:t>
            </a:r>
            <a:endParaRPr lang="en-US" sz="1300" dirty="0"/>
          </a:p>
        </p:txBody>
      </p:sp>
      <p:sp>
        <p:nvSpPr>
          <p:cNvPr id="33" name="cellule"/>
          <p:cNvSpPr txBox="1"/>
          <p:nvPr/>
        </p:nvSpPr>
        <p:spPr>
          <a:xfrm>
            <a:off x="7315200" y="5440680"/>
            <a:ext cx="4325112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100 000 coups, paquets de 64</a:t>
            </a:r>
            <a:endParaRPr lang="en-US" sz="1300" dirty="0"/>
          </a:p>
        </p:txBody>
      </p:sp>
      <p:sp>
        <p:nvSpPr>
          <p:cNvPr id="34" name="cellule"/>
          <p:cNvSpPr txBox="1"/>
          <p:nvPr/>
        </p:nvSpPr>
        <p:spPr>
          <a:xfrm>
            <a:off x="548640" y="58978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Apprentissage</a:t>
            </a:r>
            <a:endParaRPr lang="en-US" sz="1300" dirty="0"/>
          </a:p>
        </p:txBody>
      </p:sp>
      <p:sp>
        <p:nvSpPr>
          <p:cNvPr id="35" name="cellule"/>
          <p:cNvSpPr txBox="1"/>
          <p:nvPr/>
        </p:nvSpPr>
        <p:spPr>
          <a:xfrm>
            <a:off x="3291840" y="5897880"/>
            <a:ext cx="402336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lr 0,0001, cible copiée tous les 500 pas</a:t>
            </a:r>
            <a:endParaRPr lang="en-US" sz="1300" dirty="0"/>
          </a:p>
        </p:txBody>
      </p:sp>
      <p:sp>
        <p:nvSpPr>
          <p:cNvPr id="36" name="cellule"/>
          <p:cNvSpPr txBox="1"/>
          <p:nvPr/>
        </p:nvSpPr>
        <p:spPr>
          <a:xfrm>
            <a:off x="7315200" y="5897880"/>
            <a:ext cx="4325112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idem, corrections limitées, meilleure version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ANNEXE C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voit le DQN de l'article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carte"/>
          <p:cNvSpPr/>
          <p:nvPr/>
        </p:nvSpPr>
        <p:spPr>
          <a:xfrm>
            <a:off x="2575408" y="1709928"/>
            <a:ext cx="7040880" cy="4718304"/>
          </a:xfrm>
          <a:prstGeom prst="roundRect">
            <a:avLst>
              <a:gd name="adj" fmla="val 15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pic>
        <p:nvPicPr>
          <p:cNvPr id="7" name="observation_v3" descr="/home/user/MarioRL_FinalWork/docs/oral/fabrication/assets/observation_v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66848" y="1783080"/>
            <a:ext cx="6858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ANNEXE D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Notre DQN, étape par étape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ableau_fond"/>
          <p:cNvSpPr/>
          <p:nvPr/>
        </p:nvSpPr>
        <p:spPr>
          <a:xfrm>
            <a:off x="548640" y="1783080"/>
            <a:ext cx="11091672" cy="33101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entete"/>
          <p:cNvSpPr txBox="1"/>
          <p:nvPr/>
        </p:nvSpPr>
        <p:spPr>
          <a:xfrm>
            <a:off x="548640" y="1783080"/>
            <a:ext cx="731520" cy="566928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Étape</a:t>
            </a:r>
            <a:endParaRPr lang="en-US" sz="1200" dirty="0"/>
          </a:p>
        </p:txBody>
      </p:sp>
      <p:sp>
        <p:nvSpPr>
          <p:cNvPr id="8" name="entete"/>
          <p:cNvSpPr txBox="1"/>
          <p:nvPr/>
        </p:nvSpPr>
        <p:spPr>
          <a:xfrm>
            <a:off x="1280160" y="1783080"/>
            <a:ext cx="4754880" cy="566928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Changement</a:t>
            </a:r>
            <a:endParaRPr lang="en-US" sz="1200" dirty="0"/>
          </a:p>
        </p:txBody>
      </p:sp>
      <p:sp>
        <p:nvSpPr>
          <p:cNvPr id="9" name="entete"/>
          <p:cNvSpPr txBox="1"/>
          <p:nvPr/>
        </p:nvSpPr>
        <p:spPr>
          <a:xfrm>
            <a:off x="6035040" y="1783080"/>
            <a:ext cx="1463040" cy="566928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Victoires</a:t>
            </a:r>
            <a:endParaRPr lang="en-US" sz="1200" dirty="0"/>
          </a:p>
        </p:txBody>
      </p:sp>
      <p:sp>
        <p:nvSpPr>
          <p:cNvPr id="10" name="entete"/>
          <p:cNvSpPr txBox="1"/>
          <p:nvPr/>
        </p:nvSpPr>
        <p:spPr>
          <a:xfrm>
            <a:off x="7498080" y="1783080"/>
            <a:ext cx="1600200" cy="566928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Robustesse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(42 / 43)</a:t>
            </a:r>
            <a:endParaRPr lang="en-US" sz="1200" dirty="0"/>
          </a:p>
        </p:txBody>
      </p:sp>
      <p:sp>
        <p:nvSpPr>
          <p:cNvPr id="11" name="entete"/>
          <p:cNvSpPr txBox="1"/>
          <p:nvPr/>
        </p:nvSpPr>
        <p:spPr>
          <a:xfrm>
            <a:off x="9098280" y="1783080"/>
            <a:ext cx="1234440" cy="566928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Parties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pour 50 %</a:t>
            </a:r>
            <a:endParaRPr lang="en-US" sz="1200" dirty="0"/>
          </a:p>
        </p:txBody>
      </p:sp>
      <p:sp>
        <p:nvSpPr>
          <p:cNvPr id="12" name="entete"/>
          <p:cNvSpPr txBox="1"/>
          <p:nvPr/>
        </p:nvSpPr>
        <p:spPr>
          <a:xfrm>
            <a:off x="10332720" y="1783080"/>
            <a:ext cx="1307592" cy="566928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Parties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pour 80 %</a:t>
            </a:r>
            <a:endParaRPr lang="en-US" sz="1200" dirty="0"/>
          </a:p>
        </p:txBody>
      </p:sp>
      <p:sp>
        <p:nvSpPr>
          <p:cNvPr id="13" name="cellule"/>
          <p:cNvSpPr txBox="1"/>
          <p:nvPr/>
        </p:nvSpPr>
        <p:spPr>
          <a:xfrm>
            <a:off x="548640" y="2350008"/>
            <a:ext cx="73152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</a:t>
            </a:r>
            <a:endParaRPr lang="en-US" sz="1300" dirty="0"/>
          </a:p>
        </p:txBody>
      </p:sp>
      <p:sp>
        <p:nvSpPr>
          <p:cNvPr id="14" name="cellule"/>
          <p:cNvSpPr txBox="1"/>
          <p:nvPr/>
        </p:nvSpPr>
        <p:spPr>
          <a:xfrm>
            <a:off x="1280160" y="2350008"/>
            <a:ext cx="47548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DQN de l'article (sa vue)</a:t>
            </a:r>
            <a:endParaRPr lang="en-US" sz="1300" dirty="0"/>
          </a:p>
        </p:txBody>
      </p:sp>
      <p:sp>
        <p:nvSpPr>
          <p:cNvPr id="15" name="cellule"/>
          <p:cNvSpPr txBox="1"/>
          <p:nvPr/>
        </p:nvSpPr>
        <p:spPr>
          <a:xfrm>
            <a:off x="6035040" y="2350008"/>
            <a:ext cx="14630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44,2 ± 6,8 %</a:t>
            </a:r>
            <a:endParaRPr lang="en-US" sz="1300" dirty="0"/>
          </a:p>
        </p:txBody>
      </p:sp>
      <p:sp>
        <p:nvSpPr>
          <p:cNvPr id="16" name="cellule"/>
          <p:cNvSpPr txBox="1"/>
          <p:nvPr/>
        </p:nvSpPr>
        <p:spPr>
          <a:xfrm>
            <a:off x="7498080" y="2350008"/>
            <a:ext cx="160020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62 / 74 %</a:t>
            </a:r>
            <a:endParaRPr lang="en-US" sz="1300" dirty="0"/>
          </a:p>
        </p:txBody>
      </p:sp>
      <p:sp>
        <p:nvSpPr>
          <p:cNvPr id="17" name="cellule"/>
          <p:cNvSpPr txBox="1"/>
          <p:nvPr/>
        </p:nvSpPr>
        <p:spPr>
          <a:xfrm>
            <a:off x="9098280" y="2350008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5047</a:t>
            </a:r>
            <a:endParaRPr lang="en-US" sz="1300" dirty="0"/>
          </a:p>
        </p:txBody>
      </p:sp>
      <p:sp>
        <p:nvSpPr>
          <p:cNvPr id="18" name="cellule"/>
          <p:cNvSpPr txBox="1"/>
          <p:nvPr/>
        </p:nvSpPr>
        <p:spPr>
          <a:xfrm>
            <a:off x="10332720" y="2350008"/>
            <a:ext cx="1307592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jamais</a:t>
            </a:r>
            <a:endParaRPr lang="en-US" sz="1300" dirty="0"/>
          </a:p>
        </p:txBody>
      </p:sp>
      <p:sp>
        <p:nvSpPr>
          <p:cNvPr id="19" name="cellule"/>
          <p:cNvSpPr txBox="1"/>
          <p:nvPr/>
        </p:nvSpPr>
        <p:spPr>
          <a:xfrm>
            <a:off x="548640" y="2898648"/>
            <a:ext cx="731520" cy="54864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cellule"/>
          <p:cNvSpPr txBox="1"/>
          <p:nvPr/>
        </p:nvSpPr>
        <p:spPr>
          <a:xfrm>
            <a:off x="1280160" y="2898648"/>
            <a:ext cx="4754880" cy="54864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 vue complète (14 × 28 cases, 6 calques)</a:t>
            </a:r>
            <a:endParaRPr lang="en-US" sz="1300" dirty="0"/>
          </a:p>
        </p:txBody>
      </p:sp>
      <p:sp>
        <p:nvSpPr>
          <p:cNvPr id="21" name="cellule"/>
          <p:cNvSpPr txBox="1"/>
          <p:nvPr/>
        </p:nvSpPr>
        <p:spPr>
          <a:xfrm>
            <a:off x="6035040" y="2898648"/>
            <a:ext cx="1463040" cy="54864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81,8 ± 0,0 %</a:t>
            </a:r>
            <a:endParaRPr lang="en-US" sz="1300" dirty="0"/>
          </a:p>
        </p:txBody>
      </p:sp>
      <p:sp>
        <p:nvSpPr>
          <p:cNvPr id="22" name="cellule"/>
          <p:cNvSpPr txBox="1"/>
          <p:nvPr/>
        </p:nvSpPr>
        <p:spPr>
          <a:xfrm>
            <a:off x="7498080" y="2898648"/>
            <a:ext cx="1600200" cy="54864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96 / 78 %</a:t>
            </a:r>
            <a:endParaRPr lang="en-US" sz="1300" dirty="0"/>
          </a:p>
        </p:txBody>
      </p:sp>
      <p:sp>
        <p:nvSpPr>
          <p:cNvPr id="23" name="cellule"/>
          <p:cNvSpPr txBox="1"/>
          <p:nvPr/>
        </p:nvSpPr>
        <p:spPr>
          <a:xfrm>
            <a:off x="9098280" y="2898648"/>
            <a:ext cx="1234440" cy="54864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1999</a:t>
            </a:r>
            <a:endParaRPr lang="en-US" sz="1300" dirty="0"/>
          </a:p>
        </p:txBody>
      </p:sp>
      <p:sp>
        <p:nvSpPr>
          <p:cNvPr id="24" name="cellule"/>
          <p:cNvSpPr txBox="1"/>
          <p:nvPr/>
        </p:nvSpPr>
        <p:spPr>
          <a:xfrm>
            <a:off x="10332720" y="2898648"/>
            <a:ext cx="1307592" cy="54864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2900</a:t>
            </a:r>
            <a:endParaRPr lang="en-US" sz="1300" dirty="0"/>
          </a:p>
        </p:txBody>
      </p:sp>
      <p:sp>
        <p:nvSpPr>
          <p:cNvPr id="25" name="cellule"/>
          <p:cNvSpPr txBox="1"/>
          <p:nvPr/>
        </p:nvSpPr>
        <p:spPr>
          <a:xfrm>
            <a:off x="548640" y="3447288"/>
            <a:ext cx="73152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300" dirty="0"/>
          </a:p>
        </p:txBody>
      </p:sp>
      <p:sp>
        <p:nvSpPr>
          <p:cNvPr id="26" name="cellule"/>
          <p:cNvSpPr txBox="1"/>
          <p:nvPr/>
        </p:nvSpPr>
        <p:spPr>
          <a:xfrm>
            <a:off x="1280160" y="3447288"/>
            <a:ext cx="47548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+ Double DQN, 3 pas, cible douce, corrections limitées, meilleure version</a:t>
            </a:r>
            <a:endParaRPr lang="en-US" sz="1300" dirty="0"/>
          </a:p>
        </p:txBody>
      </p:sp>
      <p:sp>
        <p:nvSpPr>
          <p:cNvPr id="27" name="cellule"/>
          <p:cNvSpPr txBox="1"/>
          <p:nvPr/>
        </p:nvSpPr>
        <p:spPr>
          <a:xfrm>
            <a:off x="6035040" y="3447288"/>
            <a:ext cx="14630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78,2 ± 9,6 %</a:t>
            </a:r>
            <a:endParaRPr lang="en-US" sz="1300" dirty="0"/>
          </a:p>
        </p:txBody>
      </p:sp>
      <p:sp>
        <p:nvSpPr>
          <p:cNvPr id="28" name="cellule"/>
          <p:cNvSpPr txBox="1"/>
          <p:nvPr/>
        </p:nvSpPr>
        <p:spPr>
          <a:xfrm>
            <a:off x="7498080" y="3447288"/>
            <a:ext cx="160020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80 / 90 %</a:t>
            </a:r>
            <a:endParaRPr lang="en-US" sz="1300" dirty="0"/>
          </a:p>
        </p:txBody>
      </p:sp>
      <p:sp>
        <p:nvSpPr>
          <p:cNvPr id="29" name="cellule"/>
          <p:cNvSpPr txBox="1"/>
          <p:nvPr/>
        </p:nvSpPr>
        <p:spPr>
          <a:xfrm>
            <a:off x="9098280" y="3447288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2730</a:t>
            </a:r>
            <a:endParaRPr lang="en-US" sz="1300" dirty="0"/>
          </a:p>
        </p:txBody>
      </p:sp>
      <p:sp>
        <p:nvSpPr>
          <p:cNvPr id="30" name="cellule"/>
          <p:cNvSpPr txBox="1"/>
          <p:nvPr/>
        </p:nvSpPr>
        <p:spPr>
          <a:xfrm>
            <a:off x="10332720" y="3447288"/>
            <a:ext cx="1307592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4330</a:t>
            </a:r>
            <a:endParaRPr lang="en-US" sz="1300" dirty="0"/>
          </a:p>
        </p:txBody>
      </p:sp>
      <p:sp>
        <p:nvSpPr>
          <p:cNvPr id="31" name="cellule"/>
          <p:cNvSpPr txBox="1"/>
          <p:nvPr/>
        </p:nvSpPr>
        <p:spPr>
          <a:xfrm>
            <a:off x="548640" y="3995928"/>
            <a:ext cx="731520" cy="54864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300" dirty="0"/>
          </a:p>
        </p:txBody>
      </p:sp>
      <p:sp>
        <p:nvSpPr>
          <p:cNvPr id="32" name="cellule"/>
          <p:cNvSpPr txBox="1"/>
          <p:nvPr/>
        </p:nvSpPr>
        <p:spPr>
          <a:xfrm>
            <a:off x="1280160" y="3995928"/>
            <a:ext cx="4754880" cy="54864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+ réseau convolutif (CNN), carte graphique</a:t>
            </a:r>
            <a:endParaRPr lang="en-US" sz="1300" dirty="0"/>
          </a:p>
        </p:txBody>
      </p:sp>
      <p:sp>
        <p:nvSpPr>
          <p:cNvPr id="33" name="cellule"/>
          <p:cNvSpPr txBox="1"/>
          <p:nvPr/>
        </p:nvSpPr>
        <p:spPr>
          <a:xfrm>
            <a:off x="6035040" y="3995928"/>
            <a:ext cx="1463040" cy="54864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76,6 ± 8,5 %</a:t>
            </a:r>
            <a:endParaRPr lang="en-US" sz="1300" dirty="0"/>
          </a:p>
        </p:txBody>
      </p:sp>
      <p:sp>
        <p:nvSpPr>
          <p:cNvPr id="34" name="cellule"/>
          <p:cNvSpPr txBox="1"/>
          <p:nvPr/>
        </p:nvSpPr>
        <p:spPr>
          <a:xfrm>
            <a:off x="7498080" y="3995928"/>
            <a:ext cx="1600200" cy="54864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 (poids perdus)</a:t>
            </a:r>
            <a:endParaRPr lang="en-US" sz="1300" dirty="0"/>
          </a:p>
        </p:txBody>
      </p:sp>
      <p:sp>
        <p:nvSpPr>
          <p:cNvPr id="35" name="cellule"/>
          <p:cNvSpPr txBox="1"/>
          <p:nvPr/>
        </p:nvSpPr>
        <p:spPr>
          <a:xfrm>
            <a:off x="9098280" y="3995928"/>
            <a:ext cx="1234440" cy="54864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2210</a:t>
            </a:r>
            <a:endParaRPr lang="en-US" sz="1300" dirty="0"/>
          </a:p>
        </p:txBody>
      </p:sp>
      <p:sp>
        <p:nvSpPr>
          <p:cNvPr id="36" name="cellule"/>
          <p:cNvSpPr txBox="1"/>
          <p:nvPr/>
        </p:nvSpPr>
        <p:spPr>
          <a:xfrm>
            <a:off x="10332720" y="3995928"/>
            <a:ext cx="1307592" cy="54864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3351</a:t>
            </a:r>
            <a:endParaRPr lang="en-US" sz="1300" dirty="0"/>
          </a:p>
        </p:txBody>
      </p:sp>
      <p:sp>
        <p:nvSpPr>
          <p:cNvPr id="37" name="cellule"/>
          <p:cNvSpPr txBox="1"/>
          <p:nvPr/>
        </p:nvSpPr>
        <p:spPr>
          <a:xfrm>
            <a:off x="548640" y="4544568"/>
            <a:ext cx="73152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300" dirty="0"/>
          </a:p>
        </p:txBody>
      </p:sp>
      <p:sp>
        <p:nvSpPr>
          <p:cNvPr id="38" name="cellule"/>
          <p:cNvSpPr txBox="1"/>
          <p:nvPr/>
        </p:nvSpPr>
        <p:spPr>
          <a:xfrm>
            <a:off x="1280160" y="4544568"/>
            <a:ext cx="47548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+ ε plancher 0,02, mémoire 100 000, corrections limitées, meilleure version</a:t>
            </a:r>
            <a:endParaRPr lang="en-US" sz="1300" dirty="0"/>
          </a:p>
        </p:txBody>
      </p:sp>
      <p:sp>
        <p:nvSpPr>
          <p:cNvPr id="39" name="cellule"/>
          <p:cNvSpPr txBox="1"/>
          <p:nvPr/>
        </p:nvSpPr>
        <p:spPr>
          <a:xfrm>
            <a:off x="6035040" y="4544568"/>
            <a:ext cx="1463040" cy="548640"/>
          </a:xfrm>
          <a:prstGeom prst="rect">
            <a:avLst/>
          </a:prstGeom>
          <a:solidFill>
            <a:srgbClr val="FFF0B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94,5 ± 1,8 %</a:t>
            </a:r>
            <a:endParaRPr lang="en-US" sz="1300" dirty="0"/>
          </a:p>
        </p:txBody>
      </p:sp>
      <p:sp>
        <p:nvSpPr>
          <p:cNvPr id="40" name="cellule"/>
          <p:cNvSpPr txBox="1"/>
          <p:nvPr/>
        </p:nvSpPr>
        <p:spPr>
          <a:xfrm>
            <a:off x="7498080" y="4544568"/>
            <a:ext cx="1600200" cy="548640"/>
          </a:xfrm>
          <a:prstGeom prst="rect">
            <a:avLst/>
          </a:prstGeom>
          <a:solidFill>
            <a:srgbClr val="FFF0B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94 / 94 %</a:t>
            </a:r>
            <a:endParaRPr lang="en-US" sz="1300" dirty="0"/>
          </a:p>
        </p:txBody>
      </p:sp>
      <p:sp>
        <p:nvSpPr>
          <p:cNvPr id="41" name="cellule"/>
          <p:cNvSpPr txBox="1"/>
          <p:nvPr/>
        </p:nvSpPr>
        <p:spPr>
          <a:xfrm>
            <a:off x="9098280" y="4544568"/>
            <a:ext cx="1234440" cy="548640"/>
          </a:xfrm>
          <a:prstGeom prst="rect">
            <a:avLst/>
          </a:prstGeom>
          <a:solidFill>
            <a:srgbClr val="FFF0B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1959</a:t>
            </a:r>
            <a:endParaRPr lang="en-US" sz="1300" dirty="0"/>
          </a:p>
        </p:txBody>
      </p:sp>
      <p:sp>
        <p:nvSpPr>
          <p:cNvPr id="42" name="cellule"/>
          <p:cNvSpPr txBox="1"/>
          <p:nvPr/>
        </p:nvSpPr>
        <p:spPr>
          <a:xfrm>
            <a:off x="10332720" y="4544568"/>
            <a:ext cx="1307592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3022</a:t>
            </a:r>
            <a:endParaRPr lang="en-US" sz="1300" dirty="0"/>
          </a:p>
        </p:txBody>
      </p:sp>
      <p:sp>
        <p:nvSpPr>
          <p:cNvPr id="43" name="carte"/>
          <p:cNvSpPr/>
          <p:nvPr/>
        </p:nvSpPr>
        <p:spPr>
          <a:xfrm>
            <a:off x="548640" y="534924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FFF4C2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777240" y="53949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qui compte : la vue complète (+38 points). Les améliorations connues de DQN et le CNN n'apportent rien ici ; l'étape 4 apporte la stabilité. Sur les 5 graines : 93,7 % de victoires, 94,4 % de robustesse.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ANNEXE E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PPO par graine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ableau_fond"/>
          <p:cNvSpPr/>
          <p:nvPr/>
        </p:nvSpPr>
        <p:spPr>
          <a:xfrm>
            <a:off x="548640" y="1783080"/>
            <a:ext cx="53949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entete"/>
          <p:cNvSpPr txBox="1"/>
          <p:nvPr/>
        </p:nvSpPr>
        <p:spPr>
          <a:xfrm>
            <a:off x="548640" y="1783080"/>
            <a:ext cx="109728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Graine</a:t>
            </a:r>
            <a:endParaRPr lang="en-US" sz="1200" dirty="0"/>
          </a:p>
        </p:txBody>
      </p:sp>
      <p:sp>
        <p:nvSpPr>
          <p:cNvPr id="8" name="entete"/>
          <p:cNvSpPr txBox="1"/>
          <p:nvPr/>
        </p:nvSpPr>
        <p:spPr>
          <a:xfrm>
            <a:off x="1645920" y="1783080"/>
            <a:ext cx="141732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Victoires</a:t>
            </a:r>
            <a:endParaRPr lang="en-US" sz="1200" dirty="0"/>
          </a:p>
        </p:txBody>
      </p:sp>
      <p:sp>
        <p:nvSpPr>
          <p:cNvPr id="9" name="entete"/>
          <p:cNvSpPr txBox="1"/>
          <p:nvPr/>
        </p:nvSpPr>
        <p:spPr>
          <a:xfrm>
            <a:off x="3063240" y="1783080"/>
            <a:ext cx="141732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Robustesse</a:t>
            </a:r>
            <a:endParaRPr lang="en-US" sz="1200" dirty="0"/>
          </a:p>
        </p:txBody>
      </p:sp>
      <p:sp>
        <p:nvSpPr>
          <p:cNvPr id="10" name="entete"/>
          <p:cNvSpPr txBox="1"/>
          <p:nvPr/>
        </p:nvSpPr>
        <p:spPr>
          <a:xfrm>
            <a:off x="4480560" y="1783080"/>
            <a:ext cx="146304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Sans hasard</a:t>
            </a:r>
            <a:endParaRPr lang="en-US" sz="1200" dirty="0"/>
          </a:p>
        </p:txBody>
      </p:sp>
      <p:sp>
        <p:nvSpPr>
          <p:cNvPr id="11" name="cellule"/>
          <p:cNvSpPr txBox="1"/>
          <p:nvPr/>
        </p:nvSpPr>
        <p:spPr>
          <a:xfrm>
            <a:off x="548640" y="2331720"/>
            <a:ext cx="10972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</a:t>
            </a:r>
            <a:endParaRPr lang="en-US" sz="1300" dirty="0"/>
          </a:p>
        </p:txBody>
      </p:sp>
      <p:sp>
        <p:nvSpPr>
          <p:cNvPr id="12" name="cellule"/>
          <p:cNvSpPr txBox="1"/>
          <p:nvPr/>
        </p:nvSpPr>
        <p:spPr>
          <a:xfrm>
            <a:off x="1645920" y="2331720"/>
            <a:ext cx="141732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87,6 %</a:t>
            </a:r>
            <a:endParaRPr lang="en-US" sz="1300" dirty="0"/>
          </a:p>
        </p:txBody>
      </p:sp>
      <p:sp>
        <p:nvSpPr>
          <p:cNvPr id="13" name="cellule"/>
          <p:cNvSpPr txBox="1"/>
          <p:nvPr/>
        </p:nvSpPr>
        <p:spPr>
          <a:xfrm>
            <a:off x="3063240" y="2331720"/>
            <a:ext cx="141732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54 %</a:t>
            </a:r>
            <a:endParaRPr lang="en-US" sz="1300" dirty="0"/>
          </a:p>
        </p:txBody>
      </p:sp>
      <p:sp>
        <p:nvSpPr>
          <p:cNvPr id="14" name="cellule"/>
          <p:cNvSpPr txBox="1"/>
          <p:nvPr/>
        </p:nvSpPr>
        <p:spPr>
          <a:xfrm>
            <a:off x="4480560" y="2331720"/>
            <a:ext cx="14630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336 pas</a:t>
            </a:r>
            <a:endParaRPr lang="en-US" sz="1300" dirty="0"/>
          </a:p>
        </p:txBody>
      </p:sp>
      <p:sp>
        <p:nvSpPr>
          <p:cNvPr id="15" name="cellule"/>
          <p:cNvSpPr txBox="1"/>
          <p:nvPr/>
        </p:nvSpPr>
        <p:spPr>
          <a:xfrm>
            <a:off x="548640" y="2788920"/>
            <a:ext cx="109728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43</a:t>
            </a:r>
            <a:endParaRPr lang="en-US" sz="1300" dirty="0"/>
          </a:p>
        </p:txBody>
      </p:sp>
      <p:sp>
        <p:nvSpPr>
          <p:cNvPr id="16" name="cellule"/>
          <p:cNvSpPr txBox="1"/>
          <p:nvPr/>
        </p:nvSpPr>
        <p:spPr>
          <a:xfrm>
            <a:off x="1645920" y="2788920"/>
            <a:ext cx="141732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74,8 %</a:t>
            </a:r>
            <a:endParaRPr lang="en-US" sz="1300" dirty="0"/>
          </a:p>
        </p:txBody>
      </p:sp>
      <p:sp>
        <p:nvSpPr>
          <p:cNvPr id="17" name="cellule"/>
          <p:cNvSpPr txBox="1"/>
          <p:nvPr/>
        </p:nvSpPr>
        <p:spPr>
          <a:xfrm>
            <a:off x="3063240" y="2788920"/>
            <a:ext cx="141732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64 %</a:t>
            </a:r>
            <a:endParaRPr lang="en-US" sz="1300" dirty="0"/>
          </a:p>
        </p:txBody>
      </p:sp>
      <p:sp>
        <p:nvSpPr>
          <p:cNvPr id="18" name="cellule"/>
          <p:cNvSpPr txBox="1"/>
          <p:nvPr/>
        </p:nvSpPr>
        <p:spPr>
          <a:xfrm>
            <a:off x="4480560" y="2788920"/>
            <a:ext cx="14630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326 pas</a:t>
            </a:r>
            <a:endParaRPr lang="en-US" sz="1300" dirty="0"/>
          </a:p>
        </p:txBody>
      </p:sp>
      <p:sp>
        <p:nvSpPr>
          <p:cNvPr id="19" name="cellule"/>
          <p:cNvSpPr txBox="1"/>
          <p:nvPr/>
        </p:nvSpPr>
        <p:spPr>
          <a:xfrm>
            <a:off x="548640" y="3246120"/>
            <a:ext cx="10972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44</a:t>
            </a:r>
            <a:endParaRPr lang="en-US" sz="1300" dirty="0"/>
          </a:p>
        </p:txBody>
      </p:sp>
      <p:sp>
        <p:nvSpPr>
          <p:cNvPr id="20" name="cellule"/>
          <p:cNvSpPr txBox="1"/>
          <p:nvPr/>
        </p:nvSpPr>
        <p:spPr>
          <a:xfrm>
            <a:off x="1645920" y="3246120"/>
            <a:ext cx="141732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77,0 %</a:t>
            </a:r>
            <a:endParaRPr lang="en-US" sz="1300" dirty="0"/>
          </a:p>
        </p:txBody>
      </p:sp>
      <p:sp>
        <p:nvSpPr>
          <p:cNvPr id="21" name="cellule"/>
          <p:cNvSpPr txBox="1"/>
          <p:nvPr/>
        </p:nvSpPr>
        <p:spPr>
          <a:xfrm>
            <a:off x="3063240" y="3246120"/>
            <a:ext cx="141732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52 %</a:t>
            </a:r>
            <a:endParaRPr lang="en-US" sz="1300" dirty="0"/>
          </a:p>
        </p:txBody>
      </p:sp>
      <p:sp>
        <p:nvSpPr>
          <p:cNvPr id="22" name="cellule"/>
          <p:cNvSpPr txBox="1"/>
          <p:nvPr/>
        </p:nvSpPr>
        <p:spPr>
          <a:xfrm>
            <a:off x="4480560" y="3246120"/>
            <a:ext cx="14630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347 pas</a:t>
            </a:r>
            <a:endParaRPr lang="en-US" sz="1300" dirty="0"/>
          </a:p>
        </p:txBody>
      </p:sp>
      <p:sp>
        <p:nvSpPr>
          <p:cNvPr id="23" name="cellule"/>
          <p:cNvSpPr txBox="1"/>
          <p:nvPr/>
        </p:nvSpPr>
        <p:spPr>
          <a:xfrm>
            <a:off x="548640" y="3703320"/>
            <a:ext cx="109728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</a:t>
            </a:r>
            <a:endParaRPr lang="en-US" sz="1300" dirty="0"/>
          </a:p>
        </p:txBody>
      </p:sp>
      <p:sp>
        <p:nvSpPr>
          <p:cNvPr id="24" name="cellule"/>
          <p:cNvSpPr txBox="1"/>
          <p:nvPr/>
        </p:nvSpPr>
        <p:spPr>
          <a:xfrm>
            <a:off x="1645920" y="3703320"/>
            <a:ext cx="141732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86,4 %</a:t>
            </a:r>
            <a:endParaRPr lang="en-US" sz="1300" dirty="0"/>
          </a:p>
        </p:txBody>
      </p:sp>
      <p:sp>
        <p:nvSpPr>
          <p:cNvPr id="25" name="cellule"/>
          <p:cNvSpPr txBox="1"/>
          <p:nvPr/>
        </p:nvSpPr>
        <p:spPr>
          <a:xfrm>
            <a:off x="3063240" y="3703320"/>
            <a:ext cx="141732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46 %</a:t>
            </a:r>
            <a:endParaRPr lang="en-US" sz="1300" dirty="0"/>
          </a:p>
        </p:txBody>
      </p:sp>
      <p:sp>
        <p:nvSpPr>
          <p:cNvPr id="26" name="cellule"/>
          <p:cNvSpPr txBox="1"/>
          <p:nvPr/>
        </p:nvSpPr>
        <p:spPr>
          <a:xfrm>
            <a:off x="4480560" y="3703320"/>
            <a:ext cx="14630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361 pas</a:t>
            </a:r>
            <a:endParaRPr lang="en-US" sz="1300" dirty="0"/>
          </a:p>
        </p:txBody>
      </p:sp>
      <p:sp>
        <p:nvSpPr>
          <p:cNvPr id="27" name="cellule"/>
          <p:cNvSpPr txBox="1"/>
          <p:nvPr/>
        </p:nvSpPr>
        <p:spPr>
          <a:xfrm>
            <a:off x="548640" y="4160520"/>
            <a:ext cx="10972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46</a:t>
            </a:r>
            <a:endParaRPr lang="en-US" sz="1300" dirty="0"/>
          </a:p>
        </p:txBody>
      </p:sp>
      <p:sp>
        <p:nvSpPr>
          <p:cNvPr id="28" name="cellule"/>
          <p:cNvSpPr txBox="1"/>
          <p:nvPr/>
        </p:nvSpPr>
        <p:spPr>
          <a:xfrm>
            <a:off x="1645920" y="4160520"/>
            <a:ext cx="141732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81,2 %</a:t>
            </a:r>
            <a:endParaRPr lang="en-US" sz="1300" dirty="0"/>
          </a:p>
        </p:txBody>
      </p:sp>
      <p:sp>
        <p:nvSpPr>
          <p:cNvPr id="29" name="cellule"/>
          <p:cNvSpPr txBox="1"/>
          <p:nvPr/>
        </p:nvSpPr>
        <p:spPr>
          <a:xfrm>
            <a:off x="3063240" y="4160520"/>
            <a:ext cx="141732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82 %</a:t>
            </a:r>
            <a:endParaRPr lang="en-US" sz="1300" dirty="0"/>
          </a:p>
        </p:txBody>
      </p:sp>
      <p:sp>
        <p:nvSpPr>
          <p:cNvPr id="30" name="cellule"/>
          <p:cNvSpPr txBox="1"/>
          <p:nvPr/>
        </p:nvSpPr>
        <p:spPr>
          <a:xfrm>
            <a:off x="4480560" y="4160520"/>
            <a:ext cx="14630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375 pas</a:t>
            </a:r>
            <a:endParaRPr lang="en-US" sz="1300" dirty="0"/>
          </a:p>
        </p:txBody>
      </p:sp>
      <p:sp>
        <p:nvSpPr>
          <p:cNvPr id="31" name="cellule"/>
          <p:cNvSpPr txBox="1"/>
          <p:nvPr/>
        </p:nvSpPr>
        <p:spPr>
          <a:xfrm>
            <a:off x="548640" y="4617720"/>
            <a:ext cx="109728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Moy.</a:t>
            </a:r>
            <a:endParaRPr lang="en-US" sz="1300" dirty="0"/>
          </a:p>
        </p:txBody>
      </p:sp>
      <p:sp>
        <p:nvSpPr>
          <p:cNvPr id="32" name="cellule"/>
          <p:cNvSpPr txBox="1"/>
          <p:nvPr/>
        </p:nvSpPr>
        <p:spPr>
          <a:xfrm>
            <a:off x="1645920" y="4617720"/>
            <a:ext cx="141732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81,4 %</a:t>
            </a:r>
            <a:endParaRPr lang="en-US" sz="1300" dirty="0"/>
          </a:p>
        </p:txBody>
      </p:sp>
      <p:sp>
        <p:nvSpPr>
          <p:cNvPr id="33" name="cellule"/>
          <p:cNvSpPr txBox="1"/>
          <p:nvPr/>
        </p:nvSpPr>
        <p:spPr>
          <a:xfrm>
            <a:off x="3063240" y="4617720"/>
            <a:ext cx="141732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59,6 %</a:t>
            </a:r>
            <a:endParaRPr lang="en-US" sz="1300" dirty="0"/>
          </a:p>
        </p:txBody>
      </p:sp>
      <p:sp>
        <p:nvSpPr>
          <p:cNvPr id="34" name="cellule"/>
          <p:cNvSpPr txBox="1"/>
          <p:nvPr/>
        </p:nvSpPr>
        <p:spPr>
          <a:xfrm>
            <a:off x="4480560" y="4617720"/>
            <a:ext cx="14630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5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1663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PPO sur le niveau v3 du vrai jeu</a:t>
            </a:r>
            <a:endParaRPr lang="en-US" sz="1300" dirty="0"/>
          </a:p>
        </p:txBody>
      </p:sp>
      <p:sp>
        <p:nvSpPr>
          <p:cNvPr id="36" name="tableau_fond"/>
          <p:cNvSpPr/>
          <p:nvPr/>
        </p:nvSpPr>
        <p:spPr>
          <a:xfrm>
            <a:off x="6263640" y="1783080"/>
            <a:ext cx="5376672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37" name="entete"/>
          <p:cNvSpPr txBox="1"/>
          <p:nvPr/>
        </p:nvSpPr>
        <p:spPr>
          <a:xfrm>
            <a:off x="6263640" y="1783080"/>
            <a:ext cx="77724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Graine</a:t>
            </a:r>
            <a:endParaRPr lang="en-US" sz="1100" dirty="0"/>
          </a:p>
        </p:txBody>
      </p:sp>
      <p:sp>
        <p:nvSpPr>
          <p:cNvPr id="38" name="entete"/>
          <p:cNvSpPr txBox="1"/>
          <p:nvPr/>
        </p:nvSpPr>
        <p:spPr>
          <a:xfrm>
            <a:off x="7040880" y="1783080"/>
            <a:ext cx="100584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Victoires</a:t>
            </a:r>
            <a:endParaRPr lang="en-US" sz="1100" dirty="0"/>
          </a:p>
        </p:txBody>
      </p:sp>
      <p:sp>
        <p:nvSpPr>
          <p:cNvPr id="39" name="entete"/>
          <p:cNvSpPr txBox="1"/>
          <p:nvPr/>
        </p:nvSpPr>
        <p:spPr>
          <a:xfrm>
            <a:off x="8046720" y="1783080"/>
            <a:ext cx="100584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Salle bonus</a:t>
            </a:r>
            <a:endParaRPr lang="en-US" sz="1100" dirty="0"/>
          </a:p>
        </p:txBody>
      </p:sp>
      <p:sp>
        <p:nvSpPr>
          <p:cNvPr id="40" name="entete"/>
          <p:cNvSpPr txBox="1"/>
          <p:nvPr/>
        </p:nvSpPr>
        <p:spPr>
          <a:xfrm>
            <a:off x="9052560" y="1783080"/>
            <a:ext cx="100584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Champi-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gnon</a:t>
            </a:r>
            <a:endParaRPr lang="en-US" sz="1100" dirty="0"/>
          </a:p>
        </p:txBody>
      </p:sp>
      <p:sp>
        <p:nvSpPr>
          <p:cNvPr id="41" name="entete"/>
          <p:cNvSpPr txBox="1"/>
          <p:nvPr/>
        </p:nvSpPr>
        <p:spPr>
          <a:xfrm>
            <a:off x="10058400" y="1783080"/>
            <a:ext cx="86868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Fleur</a:t>
            </a:r>
            <a:endParaRPr lang="en-US" sz="1100" dirty="0"/>
          </a:p>
        </p:txBody>
      </p:sp>
      <p:sp>
        <p:nvSpPr>
          <p:cNvPr id="42" name="entete"/>
          <p:cNvSpPr txBox="1"/>
          <p:nvPr/>
        </p:nvSpPr>
        <p:spPr>
          <a:xfrm>
            <a:off x="10927080" y="1783080"/>
            <a:ext cx="713232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tesse</a:t>
            </a:r>
            <a:endParaRPr lang="en-US" sz="1100" dirty="0"/>
          </a:p>
        </p:txBody>
      </p:sp>
      <p:sp>
        <p:nvSpPr>
          <p:cNvPr id="43" name="cellule"/>
          <p:cNvSpPr txBox="1"/>
          <p:nvPr/>
        </p:nvSpPr>
        <p:spPr>
          <a:xfrm>
            <a:off x="6263640" y="2331720"/>
            <a:ext cx="7772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</a:t>
            </a:r>
            <a:endParaRPr lang="en-US" sz="1250" dirty="0"/>
          </a:p>
        </p:txBody>
      </p:sp>
      <p:sp>
        <p:nvSpPr>
          <p:cNvPr id="44" name="cellule"/>
          <p:cNvSpPr txBox="1"/>
          <p:nvPr/>
        </p:nvSpPr>
        <p:spPr>
          <a:xfrm>
            <a:off x="7040880" y="2331720"/>
            <a:ext cx="10058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87,4 %</a:t>
            </a:r>
            <a:endParaRPr lang="en-US" sz="1250" dirty="0"/>
          </a:p>
        </p:txBody>
      </p:sp>
      <p:sp>
        <p:nvSpPr>
          <p:cNvPr id="45" name="cellule"/>
          <p:cNvSpPr txBox="1"/>
          <p:nvPr/>
        </p:nvSpPr>
        <p:spPr>
          <a:xfrm>
            <a:off x="8046720" y="2331720"/>
            <a:ext cx="10058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90,4 %</a:t>
            </a:r>
            <a:endParaRPr lang="en-US" sz="1250" dirty="0"/>
          </a:p>
        </p:txBody>
      </p:sp>
      <p:sp>
        <p:nvSpPr>
          <p:cNvPr id="46" name="cellule"/>
          <p:cNvSpPr txBox="1"/>
          <p:nvPr/>
        </p:nvSpPr>
        <p:spPr>
          <a:xfrm>
            <a:off x="9052560" y="2331720"/>
            <a:ext cx="10058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97,6 %</a:t>
            </a:r>
            <a:endParaRPr lang="en-US" sz="1250" dirty="0"/>
          </a:p>
        </p:txBody>
      </p:sp>
      <p:sp>
        <p:nvSpPr>
          <p:cNvPr id="47" name="cellule"/>
          <p:cNvSpPr txBox="1"/>
          <p:nvPr/>
        </p:nvSpPr>
        <p:spPr>
          <a:xfrm>
            <a:off x="10058400" y="2331720"/>
            <a:ext cx="8686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91,4 %</a:t>
            </a:r>
            <a:endParaRPr lang="en-US" sz="1250" dirty="0"/>
          </a:p>
        </p:txBody>
      </p:sp>
      <p:sp>
        <p:nvSpPr>
          <p:cNvPr id="48" name="cellule"/>
          <p:cNvSpPr txBox="1"/>
          <p:nvPr/>
        </p:nvSpPr>
        <p:spPr>
          <a:xfrm>
            <a:off x="10927080" y="2331720"/>
            <a:ext cx="713232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66 %</a:t>
            </a:r>
            <a:endParaRPr lang="en-US" sz="1250" dirty="0"/>
          </a:p>
        </p:txBody>
      </p:sp>
      <p:sp>
        <p:nvSpPr>
          <p:cNvPr id="49" name="cellule"/>
          <p:cNvSpPr txBox="1"/>
          <p:nvPr/>
        </p:nvSpPr>
        <p:spPr>
          <a:xfrm>
            <a:off x="6263640" y="2788920"/>
            <a:ext cx="7772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43</a:t>
            </a:r>
            <a:endParaRPr lang="en-US" sz="1250" dirty="0"/>
          </a:p>
        </p:txBody>
      </p:sp>
      <p:sp>
        <p:nvSpPr>
          <p:cNvPr id="50" name="cellule"/>
          <p:cNvSpPr txBox="1"/>
          <p:nvPr/>
        </p:nvSpPr>
        <p:spPr>
          <a:xfrm>
            <a:off x="7040880" y="2788920"/>
            <a:ext cx="10058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89,8 %</a:t>
            </a:r>
            <a:endParaRPr lang="en-US" sz="1250" dirty="0"/>
          </a:p>
        </p:txBody>
      </p:sp>
      <p:sp>
        <p:nvSpPr>
          <p:cNvPr id="51" name="cellule"/>
          <p:cNvSpPr txBox="1"/>
          <p:nvPr/>
        </p:nvSpPr>
        <p:spPr>
          <a:xfrm>
            <a:off x="8046720" y="2788920"/>
            <a:ext cx="10058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92,0 %</a:t>
            </a:r>
            <a:endParaRPr lang="en-US" sz="1250" dirty="0"/>
          </a:p>
        </p:txBody>
      </p:sp>
      <p:sp>
        <p:nvSpPr>
          <p:cNvPr id="52" name="cellule"/>
          <p:cNvSpPr txBox="1"/>
          <p:nvPr/>
        </p:nvSpPr>
        <p:spPr>
          <a:xfrm>
            <a:off x="9052560" y="2788920"/>
            <a:ext cx="10058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95,6 %</a:t>
            </a:r>
            <a:endParaRPr lang="en-US" sz="1250" dirty="0"/>
          </a:p>
        </p:txBody>
      </p:sp>
      <p:sp>
        <p:nvSpPr>
          <p:cNvPr id="53" name="cellule"/>
          <p:cNvSpPr txBox="1"/>
          <p:nvPr/>
        </p:nvSpPr>
        <p:spPr>
          <a:xfrm>
            <a:off x="10058400" y="2788920"/>
            <a:ext cx="86868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93,6 %</a:t>
            </a:r>
            <a:endParaRPr lang="en-US" sz="1250" dirty="0"/>
          </a:p>
        </p:txBody>
      </p:sp>
      <p:sp>
        <p:nvSpPr>
          <p:cNvPr id="54" name="cellule"/>
          <p:cNvSpPr txBox="1"/>
          <p:nvPr/>
        </p:nvSpPr>
        <p:spPr>
          <a:xfrm>
            <a:off x="10927080" y="2788920"/>
            <a:ext cx="713232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78 %</a:t>
            </a:r>
            <a:endParaRPr lang="en-US" sz="1250" dirty="0"/>
          </a:p>
        </p:txBody>
      </p:sp>
      <p:sp>
        <p:nvSpPr>
          <p:cNvPr id="55" name="cellule"/>
          <p:cNvSpPr txBox="1"/>
          <p:nvPr/>
        </p:nvSpPr>
        <p:spPr>
          <a:xfrm>
            <a:off x="6263640" y="3246120"/>
            <a:ext cx="7772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44</a:t>
            </a:r>
            <a:endParaRPr lang="en-US" sz="1250" dirty="0"/>
          </a:p>
        </p:txBody>
      </p:sp>
      <p:sp>
        <p:nvSpPr>
          <p:cNvPr id="56" name="cellule"/>
          <p:cNvSpPr txBox="1"/>
          <p:nvPr/>
        </p:nvSpPr>
        <p:spPr>
          <a:xfrm>
            <a:off x="7040880" y="3246120"/>
            <a:ext cx="10058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95,8 %</a:t>
            </a:r>
            <a:endParaRPr lang="en-US" sz="1250" dirty="0"/>
          </a:p>
        </p:txBody>
      </p:sp>
      <p:sp>
        <p:nvSpPr>
          <p:cNvPr id="57" name="cellule"/>
          <p:cNvSpPr txBox="1"/>
          <p:nvPr/>
        </p:nvSpPr>
        <p:spPr>
          <a:xfrm>
            <a:off x="8046720" y="3246120"/>
            <a:ext cx="10058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96,2 %</a:t>
            </a:r>
            <a:endParaRPr lang="en-US" sz="1250" dirty="0"/>
          </a:p>
        </p:txBody>
      </p:sp>
      <p:sp>
        <p:nvSpPr>
          <p:cNvPr id="58" name="cellule"/>
          <p:cNvSpPr txBox="1"/>
          <p:nvPr/>
        </p:nvSpPr>
        <p:spPr>
          <a:xfrm>
            <a:off x="9052560" y="3246120"/>
            <a:ext cx="10058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98,2 %</a:t>
            </a:r>
            <a:endParaRPr lang="en-US" sz="1250" dirty="0"/>
          </a:p>
        </p:txBody>
      </p:sp>
      <p:sp>
        <p:nvSpPr>
          <p:cNvPr id="59" name="cellule"/>
          <p:cNvSpPr txBox="1"/>
          <p:nvPr/>
        </p:nvSpPr>
        <p:spPr>
          <a:xfrm>
            <a:off x="10058400" y="3246120"/>
            <a:ext cx="8686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97,8 %</a:t>
            </a:r>
            <a:endParaRPr lang="en-US" sz="1250" dirty="0"/>
          </a:p>
        </p:txBody>
      </p:sp>
      <p:sp>
        <p:nvSpPr>
          <p:cNvPr id="60" name="cellule"/>
          <p:cNvSpPr txBox="1"/>
          <p:nvPr/>
        </p:nvSpPr>
        <p:spPr>
          <a:xfrm>
            <a:off x="10927080" y="3246120"/>
            <a:ext cx="713232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78 %</a:t>
            </a:r>
            <a:endParaRPr lang="en-US" sz="1250" dirty="0"/>
          </a:p>
        </p:txBody>
      </p:sp>
      <p:sp>
        <p:nvSpPr>
          <p:cNvPr id="61" name="cellule"/>
          <p:cNvSpPr txBox="1"/>
          <p:nvPr/>
        </p:nvSpPr>
        <p:spPr>
          <a:xfrm>
            <a:off x="6263640" y="3703320"/>
            <a:ext cx="7772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</a:t>
            </a:r>
            <a:endParaRPr lang="en-US" sz="1250" dirty="0"/>
          </a:p>
        </p:txBody>
      </p:sp>
      <p:sp>
        <p:nvSpPr>
          <p:cNvPr id="62" name="cellule"/>
          <p:cNvSpPr txBox="1"/>
          <p:nvPr/>
        </p:nvSpPr>
        <p:spPr>
          <a:xfrm>
            <a:off x="7040880" y="3703320"/>
            <a:ext cx="10058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93,6 %</a:t>
            </a:r>
            <a:endParaRPr lang="en-US" sz="1250" dirty="0"/>
          </a:p>
        </p:txBody>
      </p:sp>
      <p:sp>
        <p:nvSpPr>
          <p:cNvPr id="63" name="cellule"/>
          <p:cNvSpPr txBox="1"/>
          <p:nvPr/>
        </p:nvSpPr>
        <p:spPr>
          <a:xfrm>
            <a:off x="8046720" y="3703320"/>
            <a:ext cx="10058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95,6 %</a:t>
            </a:r>
            <a:endParaRPr lang="en-US" sz="1250" dirty="0"/>
          </a:p>
        </p:txBody>
      </p:sp>
      <p:sp>
        <p:nvSpPr>
          <p:cNvPr id="64" name="cellule"/>
          <p:cNvSpPr txBox="1"/>
          <p:nvPr/>
        </p:nvSpPr>
        <p:spPr>
          <a:xfrm>
            <a:off x="9052560" y="3703320"/>
            <a:ext cx="10058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99,2 %</a:t>
            </a:r>
            <a:endParaRPr lang="en-US" sz="1250" dirty="0"/>
          </a:p>
        </p:txBody>
      </p:sp>
      <p:sp>
        <p:nvSpPr>
          <p:cNvPr id="65" name="cellule"/>
          <p:cNvSpPr txBox="1"/>
          <p:nvPr/>
        </p:nvSpPr>
        <p:spPr>
          <a:xfrm>
            <a:off x="10058400" y="3703320"/>
            <a:ext cx="86868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96,6 %</a:t>
            </a:r>
            <a:endParaRPr lang="en-US" sz="1250" dirty="0"/>
          </a:p>
        </p:txBody>
      </p:sp>
      <p:sp>
        <p:nvSpPr>
          <p:cNvPr id="66" name="cellule"/>
          <p:cNvSpPr txBox="1"/>
          <p:nvPr/>
        </p:nvSpPr>
        <p:spPr>
          <a:xfrm>
            <a:off x="10927080" y="3703320"/>
            <a:ext cx="713232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92 %</a:t>
            </a:r>
            <a:endParaRPr lang="en-US" sz="1250" dirty="0"/>
          </a:p>
        </p:txBody>
      </p:sp>
      <p:sp>
        <p:nvSpPr>
          <p:cNvPr id="67" name="cellule"/>
          <p:cNvSpPr txBox="1"/>
          <p:nvPr/>
        </p:nvSpPr>
        <p:spPr>
          <a:xfrm>
            <a:off x="6263640" y="4160520"/>
            <a:ext cx="7772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46</a:t>
            </a:r>
            <a:endParaRPr lang="en-US" sz="1250" dirty="0"/>
          </a:p>
        </p:txBody>
      </p:sp>
      <p:sp>
        <p:nvSpPr>
          <p:cNvPr id="68" name="cellule"/>
          <p:cNvSpPr txBox="1"/>
          <p:nvPr/>
        </p:nvSpPr>
        <p:spPr>
          <a:xfrm>
            <a:off x="7040880" y="4160520"/>
            <a:ext cx="10058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89,4 %</a:t>
            </a:r>
            <a:endParaRPr lang="en-US" sz="1250" dirty="0"/>
          </a:p>
        </p:txBody>
      </p:sp>
      <p:sp>
        <p:nvSpPr>
          <p:cNvPr id="69" name="cellule"/>
          <p:cNvSpPr txBox="1"/>
          <p:nvPr/>
        </p:nvSpPr>
        <p:spPr>
          <a:xfrm>
            <a:off x="8046720" y="4160520"/>
            <a:ext cx="10058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95,0 %</a:t>
            </a:r>
            <a:endParaRPr lang="en-US" sz="1250" dirty="0"/>
          </a:p>
        </p:txBody>
      </p:sp>
      <p:sp>
        <p:nvSpPr>
          <p:cNvPr id="70" name="cellule"/>
          <p:cNvSpPr txBox="1"/>
          <p:nvPr/>
        </p:nvSpPr>
        <p:spPr>
          <a:xfrm>
            <a:off x="9052560" y="4160520"/>
            <a:ext cx="10058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95,8 %</a:t>
            </a:r>
            <a:endParaRPr lang="en-US" sz="1250" dirty="0"/>
          </a:p>
        </p:txBody>
      </p:sp>
      <p:sp>
        <p:nvSpPr>
          <p:cNvPr id="71" name="cellule"/>
          <p:cNvSpPr txBox="1"/>
          <p:nvPr/>
        </p:nvSpPr>
        <p:spPr>
          <a:xfrm>
            <a:off x="10058400" y="4160520"/>
            <a:ext cx="8686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85,8 %</a:t>
            </a:r>
            <a:endParaRPr lang="en-US" sz="1250" dirty="0"/>
          </a:p>
        </p:txBody>
      </p:sp>
      <p:sp>
        <p:nvSpPr>
          <p:cNvPr id="72" name="cellule"/>
          <p:cNvSpPr txBox="1"/>
          <p:nvPr/>
        </p:nvSpPr>
        <p:spPr>
          <a:xfrm>
            <a:off x="10927080" y="4160520"/>
            <a:ext cx="713232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88 %</a:t>
            </a:r>
            <a:endParaRPr lang="en-US" sz="1250" dirty="0"/>
          </a:p>
        </p:txBody>
      </p:sp>
      <p:sp>
        <p:nvSpPr>
          <p:cNvPr id="73" name="cellule"/>
          <p:cNvSpPr txBox="1"/>
          <p:nvPr/>
        </p:nvSpPr>
        <p:spPr>
          <a:xfrm>
            <a:off x="6263640" y="4617720"/>
            <a:ext cx="7772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Moy.</a:t>
            </a:r>
            <a:endParaRPr lang="en-US" sz="1250" dirty="0"/>
          </a:p>
        </p:txBody>
      </p:sp>
      <p:sp>
        <p:nvSpPr>
          <p:cNvPr id="74" name="cellule"/>
          <p:cNvSpPr txBox="1"/>
          <p:nvPr/>
        </p:nvSpPr>
        <p:spPr>
          <a:xfrm>
            <a:off x="7040880" y="4617720"/>
            <a:ext cx="10058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91,2 %</a:t>
            </a:r>
            <a:endParaRPr lang="en-US" sz="1250" dirty="0"/>
          </a:p>
        </p:txBody>
      </p:sp>
      <p:sp>
        <p:nvSpPr>
          <p:cNvPr id="75" name="cellule"/>
          <p:cNvSpPr txBox="1"/>
          <p:nvPr/>
        </p:nvSpPr>
        <p:spPr>
          <a:xfrm>
            <a:off x="8046720" y="4617720"/>
            <a:ext cx="10058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93,8 %</a:t>
            </a:r>
            <a:endParaRPr lang="en-US" sz="1250" dirty="0"/>
          </a:p>
        </p:txBody>
      </p:sp>
      <p:sp>
        <p:nvSpPr>
          <p:cNvPr id="76" name="cellule"/>
          <p:cNvSpPr txBox="1"/>
          <p:nvPr/>
        </p:nvSpPr>
        <p:spPr>
          <a:xfrm>
            <a:off x="9052560" y="4617720"/>
            <a:ext cx="10058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97,3 %</a:t>
            </a:r>
            <a:endParaRPr lang="en-US" sz="1250" dirty="0"/>
          </a:p>
        </p:txBody>
      </p:sp>
      <p:sp>
        <p:nvSpPr>
          <p:cNvPr id="77" name="cellule"/>
          <p:cNvSpPr txBox="1"/>
          <p:nvPr/>
        </p:nvSpPr>
        <p:spPr>
          <a:xfrm>
            <a:off x="10058400" y="4617720"/>
            <a:ext cx="86868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93,0 %</a:t>
            </a:r>
            <a:endParaRPr lang="en-US" sz="1250" dirty="0"/>
          </a:p>
        </p:txBody>
      </p:sp>
      <p:sp>
        <p:nvSpPr>
          <p:cNvPr id="78" name="cellule"/>
          <p:cNvSpPr txBox="1"/>
          <p:nvPr/>
        </p:nvSpPr>
        <p:spPr>
          <a:xfrm>
            <a:off x="10927080" y="4617720"/>
            <a:ext cx="713232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80,4 %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6263640" y="51663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PPO Route A (tuyau, champignon, fleur) : 5 / 5 sans hasard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ANNEXE F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 A : les réglages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</a:t>
            </a:r>
            <a:endParaRPr lang="en-US" sz="1100" dirty="0"/>
          </a:p>
        </p:txBody>
      </p:sp>
      <p:sp>
        <p:nvSpPr>
          <p:cNvPr id="6" name="carte"/>
          <p:cNvSpPr/>
          <p:nvPr/>
        </p:nvSpPr>
        <p:spPr>
          <a:xfrm>
            <a:off x="548640" y="178308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etiquette"/>
          <p:cNvSpPr txBox="1"/>
          <p:nvPr/>
        </p:nvSpPr>
        <p:spPr>
          <a:xfrm>
            <a:off x="822960" y="1984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CONFIGURATION FINALE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28600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Niveau : </a:t>
            </a: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complet, avec salle bonus ; bloc champignon (col. 34) et bloc fleur pour Mario grand (col. 36) ajoutés</a:t>
            </a:r>
            <a:endParaRPr lang="en-US" sz="13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Vue : </a:t>
            </a: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91 nombres (objets, pièces, tuyaux, boutons du pas précédent)</a:t>
            </a:r>
            <a:endParaRPr lang="en-US" sz="13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boutons : </a:t>
            </a: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rien, droite, droite + saut, droite + course, droite + saut + course, bas, gauche, gauche + saut</a:t>
            </a:r>
            <a:endParaRPr lang="en-US" sz="13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Règle du blocage : </a:t>
            </a: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pas sans rien de neuf = partie perdue</a:t>
            </a:r>
            <a:endParaRPr lang="en-US" sz="1300" dirty="0"/>
          </a:p>
        </p:txBody>
      </p:sp>
      <p:sp>
        <p:nvSpPr>
          <p:cNvPr id="9" name="tableau_fond"/>
          <p:cNvSpPr/>
          <p:nvPr/>
        </p:nvSpPr>
        <p:spPr>
          <a:xfrm>
            <a:off x="6263640" y="1783080"/>
            <a:ext cx="5376672" cy="38221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0" name="entete"/>
          <p:cNvSpPr txBox="1"/>
          <p:nvPr/>
        </p:nvSpPr>
        <p:spPr>
          <a:xfrm>
            <a:off x="6263640" y="1783080"/>
            <a:ext cx="3520440" cy="45720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Événement</a:t>
            </a:r>
            <a:endParaRPr lang="en-US" sz="1200" dirty="0"/>
          </a:p>
        </p:txBody>
      </p:sp>
      <p:sp>
        <p:nvSpPr>
          <p:cNvPr id="11" name="entete"/>
          <p:cNvSpPr txBox="1"/>
          <p:nvPr/>
        </p:nvSpPr>
        <p:spPr>
          <a:xfrm>
            <a:off x="9784080" y="1783080"/>
            <a:ext cx="1856232" cy="45720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Récompense</a:t>
            </a:r>
            <a:endParaRPr lang="en-US" sz="1200" dirty="0"/>
          </a:p>
        </p:txBody>
      </p:sp>
      <p:sp>
        <p:nvSpPr>
          <p:cNvPr id="12" name="cellule"/>
          <p:cNvSpPr txBox="1"/>
          <p:nvPr/>
        </p:nvSpPr>
        <p:spPr>
          <a:xfrm>
            <a:off x="6263640" y="2240280"/>
            <a:ext cx="352044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Pièce</a:t>
            </a:r>
            <a:endParaRPr lang="en-US" sz="1300" dirty="0"/>
          </a:p>
        </p:txBody>
      </p:sp>
      <p:sp>
        <p:nvSpPr>
          <p:cNvPr id="13" name="cellule"/>
          <p:cNvSpPr txBox="1"/>
          <p:nvPr/>
        </p:nvSpPr>
        <p:spPr>
          <a:xfrm>
            <a:off x="9784080" y="2240280"/>
            <a:ext cx="1856232" cy="4206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+10</a:t>
            </a:r>
            <a:endParaRPr lang="en-US" sz="1300" dirty="0"/>
          </a:p>
        </p:txBody>
      </p:sp>
      <p:sp>
        <p:nvSpPr>
          <p:cNvPr id="14" name="cellule"/>
          <p:cNvSpPr txBox="1"/>
          <p:nvPr/>
        </p:nvSpPr>
        <p:spPr>
          <a:xfrm>
            <a:off x="6263640" y="2660904"/>
            <a:ext cx="3520440" cy="420624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Entrer dans la salle bonus</a:t>
            </a:r>
            <a:endParaRPr lang="en-US" sz="1300" dirty="0"/>
          </a:p>
        </p:txBody>
      </p:sp>
      <p:sp>
        <p:nvSpPr>
          <p:cNvPr id="15" name="cellule"/>
          <p:cNvSpPr txBox="1"/>
          <p:nvPr/>
        </p:nvSpPr>
        <p:spPr>
          <a:xfrm>
            <a:off x="9784080" y="2660904"/>
            <a:ext cx="1856232" cy="420624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+200</a:t>
            </a:r>
            <a:endParaRPr lang="en-US" sz="1300" dirty="0"/>
          </a:p>
        </p:txBody>
      </p:sp>
      <p:sp>
        <p:nvSpPr>
          <p:cNvPr id="16" name="cellule"/>
          <p:cNvSpPr txBox="1"/>
          <p:nvPr/>
        </p:nvSpPr>
        <p:spPr>
          <a:xfrm>
            <a:off x="6263640" y="3081528"/>
            <a:ext cx="352044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Champignon ou fleur</a:t>
            </a:r>
            <a:endParaRPr lang="en-US" sz="1300" dirty="0"/>
          </a:p>
        </p:txBody>
      </p:sp>
      <p:sp>
        <p:nvSpPr>
          <p:cNvPr id="17" name="cellule"/>
          <p:cNvSpPr txBox="1"/>
          <p:nvPr/>
        </p:nvSpPr>
        <p:spPr>
          <a:xfrm>
            <a:off x="9784080" y="3081528"/>
            <a:ext cx="1856232" cy="4206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+150</a:t>
            </a:r>
            <a:endParaRPr lang="en-US" sz="1300" dirty="0"/>
          </a:p>
        </p:txBody>
      </p:sp>
      <p:sp>
        <p:nvSpPr>
          <p:cNvPr id="18" name="cellule"/>
          <p:cNvSpPr txBox="1"/>
          <p:nvPr/>
        </p:nvSpPr>
        <p:spPr>
          <a:xfrm>
            <a:off x="6263640" y="3502152"/>
            <a:ext cx="3520440" cy="420624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Bloc power-up frappé</a:t>
            </a:r>
            <a:endParaRPr lang="en-US" sz="1300" dirty="0"/>
          </a:p>
        </p:txBody>
      </p:sp>
      <p:sp>
        <p:nvSpPr>
          <p:cNvPr id="19" name="cellule"/>
          <p:cNvSpPr txBox="1"/>
          <p:nvPr/>
        </p:nvSpPr>
        <p:spPr>
          <a:xfrm>
            <a:off x="9784080" y="3502152"/>
            <a:ext cx="1856232" cy="420624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+25</a:t>
            </a:r>
            <a:endParaRPr lang="en-US" sz="1300" dirty="0"/>
          </a:p>
        </p:txBody>
      </p:sp>
      <p:sp>
        <p:nvSpPr>
          <p:cNvPr id="20" name="cellule"/>
          <p:cNvSpPr txBox="1"/>
          <p:nvPr/>
        </p:nvSpPr>
        <p:spPr>
          <a:xfrm>
            <a:off x="6263640" y="3922776"/>
            <a:ext cx="352044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rapprocher d'un objet visible</a:t>
            </a:r>
            <a:endParaRPr lang="en-US" sz="1300" dirty="0"/>
          </a:p>
        </p:txBody>
      </p:sp>
      <p:sp>
        <p:nvSpPr>
          <p:cNvPr id="21" name="cellule"/>
          <p:cNvSpPr txBox="1"/>
          <p:nvPr/>
        </p:nvSpPr>
        <p:spPr>
          <a:xfrm>
            <a:off x="9784080" y="3922776"/>
            <a:ext cx="1856232" cy="4206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+2 par case</a:t>
            </a:r>
            <a:endParaRPr lang="en-US" sz="1300" dirty="0"/>
          </a:p>
        </p:txBody>
      </p:sp>
      <p:sp>
        <p:nvSpPr>
          <p:cNvPr id="22" name="cellule"/>
          <p:cNvSpPr txBox="1"/>
          <p:nvPr/>
        </p:nvSpPr>
        <p:spPr>
          <a:xfrm>
            <a:off x="6263640" y="4343400"/>
            <a:ext cx="3520440" cy="420624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Chaque seconde du chrono</a:t>
            </a:r>
            <a:endParaRPr lang="en-US" sz="1300" dirty="0"/>
          </a:p>
        </p:txBody>
      </p:sp>
      <p:sp>
        <p:nvSpPr>
          <p:cNvPr id="23" name="cellule"/>
          <p:cNvSpPr txBox="1"/>
          <p:nvPr/>
        </p:nvSpPr>
        <p:spPr>
          <a:xfrm>
            <a:off x="9784080" y="4343400"/>
            <a:ext cx="1856232" cy="420624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-0,5</a:t>
            </a:r>
            <a:endParaRPr lang="en-US" sz="1300" dirty="0"/>
          </a:p>
        </p:txBody>
      </p:sp>
      <p:sp>
        <p:nvSpPr>
          <p:cNvPr id="24" name="cellule"/>
          <p:cNvSpPr txBox="1"/>
          <p:nvPr/>
        </p:nvSpPr>
        <p:spPr>
          <a:xfrm>
            <a:off x="6263640" y="4764024"/>
            <a:ext cx="352044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Mort ou blocage</a:t>
            </a:r>
            <a:endParaRPr lang="en-US" sz="1300" dirty="0"/>
          </a:p>
        </p:txBody>
      </p:sp>
      <p:sp>
        <p:nvSpPr>
          <p:cNvPr id="25" name="cellule"/>
          <p:cNvSpPr txBox="1"/>
          <p:nvPr/>
        </p:nvSpPr>
        <p:spPr>
          <a:xfrm>
            <a:off x="9784080" y="4764024"/>
            <a:ext cx="1856232" cy="4206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-50</a:t>
            </a:r>
            <a:endParaRPr lang="en-US" sz="1300" dirty="0"/>
          </a:p>
        </p:txBody>
      </p:sp>
      <p:sp>
        <p:nvSpPr>
          <p:cNvPr id="26" name="cellule"/>
          <p:cNvSpPr txBox="1"/>
          <p:nvPr/>
        </p:nvSpPr>
        <p:spPr>
          <a:xfrm>
            <a:off x="6263640" y="5184648"/>
            <a:ext cx="3520440" cy="420624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Drapeau</a:t>
            </a:r>
            <a:endParaRPr lang="en-US" sz="1300" dirty="0"/>
          </a:p>
        </p:txBody>
      </p:sp>
      <p:sp>
        <p:nvSpPr>
          <p:cNvPr id="27" name="cellule"/>
          <p:cNvSpPr txBox="1"/>
          <p:nvPr/>
        </p:nvSpPr>
        <p:spPr>
          <a:xfrm>
            <a:off x="9784080" y="5184648"/>
            <a:ext cx="1856232" cy="420624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+100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ANNEXE G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Références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carte"/>
          <p:cNvSpPr/>
          <p:nvPr/>
        </p:nvSpPr>
        <p:spPr>
          <a:xfrm>
            <a:off x="548640" y="1371600"/>
            <a:ext cx="11091672" cy="4919472"/>
          </a:xfrm>
          <a:prstGeom prst="roundRect">
            <a:avLst>
              <a:gd name="adj" fmla="val 14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554480"/>
            <a:ext cx="1069848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J. Ponnock, L. Ho. Reinforcement Learning in Super Mario Bros: Curriculum, Pedagogy, and Optimal Level Design in World 1-1. arXiv:2606.29511, 2026.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R. S. Sutton, A. G. Barto. Reinforcement Learning: An Introduction, 2e éd. MIT Press, 2018.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C. J. C. H. Watkins, P. Dayan. Q-learning. Machine Learning 8(3-4), 1992.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G. A. Rummery, M. Niranjan. On-line Q-learning using connectionist systems. Cambridge, 1994.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Y. Bengio, J. Louradour, R. Collobert, J. Weston. Curriculum learning. ICML, 2009.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V. Mnih et al. Human-level control through deep reinforcement learning. Nature 518, 2015.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H. van Hasselt, A. Guez, D. Silver. Deep reinforcement learning with double Q-learning. AAAI, 2016.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J. Schulman et al. Proximal Policy Optimization Algorithms. arXiv:1707.06347, 2017.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D. Pathak et al. Curiosity-driven exploration by self-supervised prediction. ICML, 2017 (agent testé sur Super Mario Bros).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C. Kautenja. gym-super-mario-bros. GitHub, 2018.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S. Dahlskog, J. Togelius. Patterns and procedural content generation: revisiting Mario in World 1 Level 1. DPG, 2012.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E. Strubell, A. Ganesh, A. McCallum. Energy and policy considerations for deep learning in NLP. ACL, 2019.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CodeCarbon : outil de mesure de l'empreinte carbone du calcul (codecarbon.io).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cade Gam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HPDA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Reinforcement Learning in Super Mario Bros - oral final</dc:title>
  <dc:subject>Veille scientifique : Ponnock et Ho (2026)</dc:subject>
  <dc:creator>Chris, Ewen, Chloé</dc:creator>
  <cp:lastModifiedBy>Chris, Ewen, Chloé</cp:lastModifiedBy>
  <cp:revision>1</cp:revision>
  <dcterms:created xsi:type="dcterms:W3CDTF">2026-10-14T15:23:57Z</dcterms:created>
  <dcterms:modified xsi:type="dcterms:W3CDTF">2026-10-14T15:23:57Z</dcterms:modified>
</cp:coreProperties>
</file>