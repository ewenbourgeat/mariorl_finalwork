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31d43e6-3cef-6aca-f485-126edaca565f}">
          <p14:sldIdLst>
            <p14:sldId id="256"/>
            <p14:sldId id="257"/>
          </p14:sldIdLst>
        </p14:section>
        <p14:section name="1-1 La veille" id="{aeff98dd-c8b1-6a88-9555-65bf4ed15eb6}">
          <p14:sldIdLst>
            <p14:sldId id="258"/>
            <p14:sldId id="259"/>
            <p14:sldId id="260"/>
            <p14:sldId id="261"/>
            <p14:sldId id="262"/>
          </p14:sldIdLst>
        </p14:section>
        <p14:section name="1-2 Le duel sur v3" id="{fdfb790f-e755-92ae-0b70-65ff326dae82}">
          <p14:sldIdLst>
            <p14:sldId id="263"/>
            <p14:sldId id="264"/>
            <p14:sldId id="265"/>
            <p14:sldId id="266"/>
            <p14:sldId id="267"/>
          </p14:sldIdLst>
        </p14:section>
        <p14:section name="1-3 Le vrai jeu NES" id="{a33ff429-1e50-1b0f-3a3b-eff129b65d30}">
          <p14:sldIdLst>
            <p14:sldId id="268"/>
            <p14:sldId id="269"/>
            <p14:sldId id="270"/>
            <p14:sldId id="271"/>
          </p14:sldIdLst>
        </p14:section>
        <p14:section name="1-4 Le recul" id="{d411eb11-0ebc-5455-7d92-d12c9028b6eb}">
          <p14:sldIdLst>
            <p14:sldId id="272"/>
            <p14:sldId id="273"/>
            <p14:sldId id="274"/>
            <p14:sldId id="275"/>
          </p14:sldIdLst>
        </p14:section>
        <p14:section name="Fin" id="{39980677-54ea-7460-a1cc-ab38d616e324}">
          <p14:sldIdLst>
            <p14:sldId id="276"/>
            <p14:sldId id="277"/>
          </p14:sldIdLst>
        </p14:section>
        <p14:section name="Annexes" id="{c403396b-a616-3232-e7c1-ce4985808168}">
          <p14:sldIdLst>
            <p14:sldId id="278"/>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Bonjour à tous. Nous sommes Chris, Ewen et Chloé. Notre veille porte sur un article publié en juin 2026 : « Reinforcement Learning in Super Mario Bros », de Ponnock et Ho. On ne s'est pas contentés de le lire : on a recréé le niveau 1-1, on a refait leurs expériences, puis on est allés plus loin, jusqu'au vrai jeu 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Notre parcours suit quatre mondes, comme dans le jeu.
Monde 1-1 : la veille, c'est-à-dire l'article, ses résultats et notre lecture critique.
Monde 1-2 : le duel des algorithmes sur le niveau v3, avec notre tableau final.
Monde 1-3 : le vrai jeu NES, où nos meilleurs modèles jouent avec la vraie physique.
Monde 1-4 : le recul, avec l'énergie consommée, notre auto-critique et la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Commençons par la veille : l'article.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L'article part d'une idée connue des game designers : le niveau 1-1 serait une leçon cachée. Il commence par un sol plat et un seul ennemi, introduit ensuite les tuyaux et les trous, et garde les groupes d'ennemis pour la fin.
Les auteurs, de Johns Hopkins, se demandent si on peut le mesurer avec des IA. Deux questions : quel algorithme apprend le mieux ce niveau, et est-ce que ça dépend de sa difficulté ? Et est-ce que l'ordre d'origine des morceaux du niveau accélère l'apprentissage ? En tout, 120 entraînements.
Pour situer l'article (frise en bas) : il s'appuie sur des méthodes classiques, Q-Learning, SARSA, DQN, et sur le curriculum learning de Bengio en 2009, l'idée qu'on apprend mieux du plus simple au plus difficile. Attention : c'est une prépublication arXiv, pas encore relue par des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Le terrain : le niveau est une grille de 212 colonnes sur 14 lignes, en trois versions : v1 avec le terrain seul, v2 avec les blocs, v3 avec 17 ennemis. C'est la v3 qui nous intéresse.
Mario n'a que trois boutons : rien, avancer, sauter. Les récompenses : +100 au drapeau, -50 à la mort, +0,5 par pas vers la droite, plus des bonus pour les blocs et les Goombas.
Quatre joueurs s'affrontent. Q-Learning et SARSA corrigent leur tableau de notes à chaque pas ; SARSA tient compte du coup qu'il va vraiment jouer, hasard compris, donc il est plus prudent. Monte Carlo attend la fin de la partie pour tout corriger d'un coup. DQN remplace le tableau par un réseau de neurones, avec une mémoire des 50 000 derniers coups.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Sur la v3, Monte Carlo gagne : près de 95 % de victoires, devant Q-Learning, SARSA, et DQN à 76 %. DQN s'effondre en v1 (10 %) puis remonte à 93 % en v2 : sans blocs à frapper, il ne reçoit presque que des morts. Les auteurs parlent de densité de récompense.
Deuxième question : l'ordre. Ils découpent la v3 en 6 morceaux et les mélangent. Avec l'ordre d'origine, Monte Carlo atteint 94,7 % ; avec l'ordre inversé, 48,5 %, et 4 entraînements sur 10 échouent complètement. Pour DQN, l'ordre ne change rien : sa mémoire mélange toutes les parties.
Leur conclusion : le 1-1 a une vraie structure pédagogique.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Notre lecture critique. De vraies forces : une question originale, un environnement codé de zéro, et une expérience de contrôle avec DQN qui isole bien le rôle de la mémoire.
Mais on a relevé cinq erreurs factuelles. Exemple : le texte donne 94,7 % pour l'ordre inversé, alors que leur propre tableau dit 48,5 %.
Et des faiblesses de méthode : 10 ordres testés sur 720 possibles, des effectifs inégaux, un effet géant (d = 7) calculé sur 5 graines, aucun code publié.
Surtout : une IA qui apprend plus vite ne prouve pas qu'un humain apprend mieux. C'est pour ça qu'on a voulu vérifier par nous-mêmes.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Place au duel sur la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Pour vérifier, il fallait le jeu. On a recréé le niveau 1-1 en Python, avec la physique NES au sous-pixel près ; la carte et les ennemis sont vérifiés case par case contre les données du jeu d'origine. Deux environnements : la grille de l'article et le vrai jeu. Un menu permet de regarder jouer nos IA.
Ensuite le protocole : pour une comparaison juste, tous les algorithmes ont eu les mêmes conditions : v3, 6000 épisodes, 5 graines, la même machine, l'énergie mesurée avec CodeCarbon.
On a ajouté deux tests absents de l'article : une partie sans aucun hasard, et un test de robustesse, 50 parties avec 2 % de boutons au hasard. Le même pour tout le monde.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(Lancer la vidéo.) Voici la même IA, Q-Learning, à quatre moments de son entraînement. Épisode 100 : elle tombe dans le premier trou. Épisode 1000 : dans le deuxième. Épisode 2200 : elle meurt presque au bout. Épisode 6000 : drapeau.
Les trois méthodes à tableau gagnent 94 à 96 % des parties, et réussissent toutes la partie sans hasard.
Elles n'ont pas le même style : Monte Carlo met presque deux fois plus de pas, parce qu'il attend que les Goombas arrivent pour leur sauter dessus. C'est sa logique : dans une partie gagnée, tous les coups sont récompensés, même les attentes inutiles. Et c'est une stratégie sûre : il meurt peu.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(Lancer la vidéo.) Le DQN de l'article, lui, échoue chez nous : 40 % de victoires au lieu de 76. Sur la même graine, il meurt colonne 154, le nôtre atteint le drapeau.
Pourquoi ? Le DQN de l'article ne voit que 4 lignes de l'écran et son numéro de colonne : ni les trous, ni le sens des ennemis. Il doit apprendre le niveau par cœur.
On a donc amélioré DQN étape par étape, avec l'aide de Claude, un assistant d'IA, en mesurant chaque étape. Ce qui change tout, c'est la vue complète : +38 points. Les améliorations connues de DQN ou un réseau convolutif n'apportent rien de plus. Les derniers réglages apportent la stabilité : 94,5 %.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Le tableau final, sur 5 graines. Attention à la 1re colonne : les victoires sont mesurées pendant l'entraînement, avec une part de hasard différente selon l'algorithme. La colonne à comparer, c'est la robustesse, le même test pour tous.
Les trois tableaux sont à 88,8 %, notre DQN à 94,4 % : le plus robuste, le plus rapide à atteindre 80 %, celui qui marque le plus de points. Le DQN de l'article est loin derrière et très instable d'une graine à l'autre.
Face à l'article : les tendances tiennent (Monte Carlo au moins aussi bon que les autres, leur DQN sous les tableaux), mais nos victoires sont plus hautes : l'article ne précise pas les règles des ennemis, et nos agents en écrasent 2 à 4 fois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Et maintenant, le vrai jeu.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La grille de l'article simplifie énormément : un pas égale une case, le saut est toujours le même. Dans le vrai jeu, Mario a de l'élan, il accélère, il peut courir, et son saut dépend de sa vitesse. Un tableau ne peut plus tout retenir case par case : un Q-Learning de l'article plafonne vers 35 %.
Il faut une IA qui généralise. On a choisi PPO, publié par OpenAI en 2017 : un acteur donne la probabilité de chaque bouton, un critique juge si la situation est bonne, et il s'améliore par petits pas, d'où « proximal ». Comme pour DQN, ses réglages ont été optimisés avec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(Lancer la vidéo.) Sur le vrai niveau, PPO gagne 81 % des parties, et la partie sans hasard est gagnée par les 5 graines. Il apprend en 3 millions de pas, environ 9 500 parties, en 11 minutes par graine.
La courbe plafonne vers 80 % dès 2 millions de pas : pendant l'entraînement, il tire ses boutons au sort. Son point faible, c'est la robustesse, 60 % : quand on perturbe un bouton, il rattrape mal l'erreur.
Ces chiffres ne se comparent pas directement à la grille : le vrai jeu est beaucoup plus difficile.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(Lancer la vidéo.) Pour finir, on a voulu que l'IA joue comme un humain qui connaît le jeu : champignon, fleur, tuyau secret et pièces de la salle bonus.
Leçon la plus importante du projet : l'IA fait ce qu'on récompense, pas ce qu'on veut. Elle restait dans la salle bonus jusqu'à la fin du temps. Elle appuyait 866 fois sur « bas » devant la sortie. Elle restait collée à un tuyau en tenant droite et saut. À chaque fois, il a fallu corriger la récompense ou ce qu'elle voit : une dizaine de variantes en tout.
Résultat : 91 % de victoires, la salle bonus dans 94 % des parties, le champignon et la fleur dans plus de 93 %. Dans la vidéo, sans aucun hasard, elle fait tout le parcours.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Dernier monde : prendre du recul.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Combien tout cela coûte-t-il ? Mesuré avec CodeCarbon, une graine de Q-Learning, c'est 16 secondes et 0,03 Wh, une ampoule LED allumée 10 secondes. Notre DQN consomme 88 fois plus, pour 5 points de robustesse en plus.
Au total, tous nos entraînements finaux font 113 Wh : l'énergie pour faire bouillir un litre d'eau, environ 7 charges de smartphone, 6 grammes de CO2 avec l'électricité française.
C'est peu. Mais une seule expérience, le réseau convolutif sur carte graphique, représente 75 % de ce total, pour un moins bon résultat. Plus gros n'est pas mieux.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Notre auto-critique. Nos limites : 6000 épisodes au lieu de 10 000, pour tout faire tourner sur un portable. Nous n'avons pas refait l'expérience sur l'ordre du niveau. Les règles des ennemis sont devinées, ce qui gonfle nos scores. Notre DQN a été réglé sur les graines 42 et 43, gardées ensuite pour l'évaluer, et on garde sa meilleure version, ce qui l'avantage au test de robustesse. L'énergie est estimée, pas mesurée par un capteur. La Route A est façonnée à la main.
L'IA comme outil : Claude nous a fait gagner énormément de temps sur DQN et PPO, mais il fallait comprendre et vérifier chaque choix ; c'est pour ça qu'on a avancé étape par étape.
Avec plus de temps : refaire l'expérience de l'ordre avec Q-Learning et SARSA, et tester avec de vrais joueurs.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Trois choses à retenir. Un : sur un niveau discret, les méthodes à tableau suffisent, 95 % en 16 secondes, reproductible à l'identique. Deux : ce que voit l'IA compte plus que la taille du réseau, notre DQN passe de 40 à 94 % grâce à la vue complète. Trois : sur le vrai jeu, le deep learning prend le relais, et c'est la récompense qui décide du comportement.
Et pour l'article : ses grandes tendances tiennent, mais ses chiffres dépendent de détails qu'il ne publie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Merci pour votre écoute.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probables (réponses courtes) :
- Pourquoi DQN échoue en v1 ? Récompenses rares : sa mémoire se remplit de morts (-50), il ne voit presque jamais de coups positifs.
- Pourquoi Monte Carlo prend plus de blocs et attend les Goombas ? Il crédite tous les coups d'une partie gagnée avec le score final, y compris les détours et les attentes.
- Pourquoi la mémoire de rejeu efface l'effet de l'ordre ? DQN apprend sur des souvenirs tirés au hasard parmi 50 000 : une partie de l'épisode 1 et une de l'épisode 5000 se ressemblent pour lui.
- Notre travail change-t-il la conclusion de l'article ? Les tendances tiennent, mais « DQN est moins bon » dépend surtout de ce qu'on lui montre (vue complète : 94 %).
- Pourquoi nos chiffres diffèrent ? 6000 épisodes au lieu de 10 000, règles des ennemis non précisées, détails du DQN absents.
- Pourquoi la robustesse plutôt que les victoires ? Les victoires sont mesurées avec des parts de hasard différentes (1 %, 2 %, 5 %) ; la robustesse est le même test pour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à montrer si le jury demande pourquoi nos retours sont plus élevés que ceux de l'article.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réglages de l'article et de notre DQN.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pourquoi le DQN de l'article apprend le niveau par cœur.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détail de l'étude étape par étape de notre DQN.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détail de PPO par graine.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réglages de la Route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références citées.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5.png"/><Relationship Id="rId7" Type="http://schemas.openxmlformats.org/officeDocument/2006/relationships/image" Target="../media/image-2-5.png"/><Relationship Id="rId8" Type="http://schemas.openxmlformats.org/officeDocument/2006/relationships/image" Target="../media/image-2-5.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5.png"/><Relationship Id="rId7" Type="http://schemas.openxmlformats.org/officeDocument/2006/relationships/image" Target="../media/image-3-5.png"/><Relationship Id="rId8" Type="http://schemas.openxmlformats.org/officeDocument/2006/relationships/image" Target="../media/image-3-5.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video" Target="../media/media-10-2.mp4"/><Relationship Id="rId3" Type="http://schemas.microsoft.com/office/2007/relationships/media" Target="../media/media-10-2.mp4"/><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video" Target="../media/media-11-2.mp4"/><Relationship Id="rId3" Type="http://schemas.microsoft.com/office/2007/relationships/media" Target="../media/media-11-2.mp4"/><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video" Target="../media/media-15-2.mp4"/><Relationship Id="rId3" Type="http://schemas.microsoft.com/office/2007/relationships/media" Target="../media/media-15-2.mp4"/><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video" Target="../media/media-16-2.mp4"/><Relationship Id="rId3" Type="http://schemas.microsoft.com/office/2007/relationships/media" Target="../media/media-16-2.mp4"/><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99ED"/>
        </a:solidFill>
      </p:bgPr>
    </p:bg>
    <p:spTree>
      <p:nvGrpSpPr>
        <p:cNvPr id="1" name=""/>
        <p:cNvGrpSpPr/>
        <p:nvPr/>
      </p:nvGrpSpPr>
      <p:grpSpPr>
        <a:xfrm>
          <a:off x="0" y="0"/>
          <a:ext cx="0" cy="0"/>
          <a:chOff x="0" y="0"/>
          <a:chExt cx="0" cy="0"/>
        </a:xfrm>
      </p:grpSpPr>
      <p:pic>
        <p:nvPicPr>
          <p:cNvPr id="2" name="hearts" descr="/home/user/MarioRL_FinalWork/docs/oral/fabrication/assets/sprites/hearts.png">    </p:cNvPr>
          <p:cNvPicPr>
            <a:picLocks noChangeAspect="1"/>
          </p:cNvPicPr>
          <p:nvPr/>
        </p:nvPicPr>
        <p:blipFill>
          <a:blip r:embed="rId1"/>
          <a:stretch>
            <a:fillRect/>
          </a:stretch>
        </p:blipFill>
        <p:spPr>
          <a:xfrm>
            <a:off x="110094" y="177759"/>
            <a:ext cx="1363096" cy="423367"/>
          </a:xfrm>
          <a:prstGeom prst="rect">
            <a:avLst/>
          </a:prstGeom>
        </p:spPr>
      </p:pic>
      <p:pic>
        <p:nvPicPr>
          <p:cNvPr id="3" name="coin_pipe" descr="/home/user/MarioRL_FinalWork/docs/oral/fabrication/assets/sprites/coin_pipe.png">    </p:cNvPr>
          <p:cNvPicPr>
            <a:picLocks noChangeAspect="1"/>
          </p:cNvPicPr>
          <p:nvPr/>
        </p:nvPicPr>
        <p:blipFill>
          <a:blip r:embed="rId2"/>
          <a:stretch>
            <a:fillRect/>
          </a:stretch>
        </p:blipFill>
        <p:spPr>
          <a:xfrm>
            <a:off x="287853" y="3039557"/>
            <a:ext cx="901690" cy="2959090"/>
          </a:xfrm>
          <a:prstGeom prst="rect">
            <a:avLst/>
          </a:prstGeom>
        </p:spPr>
      </p:pic>
      <p:pic>
        <p:nvPicPr>
          <p:cNvPr id="4" name="pipe_short" descr="/home/user/MarioRL_FinalWork/docs/oral/fabrication/assets/sprites/pipe_short.png">    </p:cNvPr>
          <p:cNvPicPr>
            <a:picLocks noChangeAspect="1"/>
          </p:cNvPicPr>
          <p:nvPr/>
        </p:nvPicPr>
        <p:blipFill>
          <a:blip r:embed="rId3"/>
          <a:stretch>
            <a:fillRect/>
          </a:stretch>
        </p:blipFill>
        <p:spPr>
          <a:xfrm>
            <a:off x="1371600" y="4538167"/>
            <a:ext cx="795894" cy="1460480"/>
          </a:xfrm>
          <a:prstGeom prst="rect">
            <a:avLst/>
          </a:prstGeom>
        </p:spPr>
      </p:pic>
      <p:pic>
        <p:nvPicPr>
          <p:cNvPr id="5" name="goomba" descr="/home/user/MarioRL_FinalWork/docs/oral/fabrication/assets/sprites/goomba.png">    </p:cNvPr>
          <p:cNvPicPr>
            <a:picLocks noChangeAspect="1"/>
          </p:cNvPicPr>
          <p:nvPr/>
        </p:nvPicPr>
        <p:blipFill>
          <a:blip r:embed="rId4"/>
          <a:stretch>
            <a:fillRect/>
          </a:stretch>
        </p:blipFill>
        <p:spPr>
          <a:xfrm>
            <a:off x="2353757" y="5359390"/>
            <a:ext cx="664677" cy="643463"/>
          </a:xfrm>
          <a:prstGeom prst="rect">
            <a:avLst/>
          </a:prstGeom>
        </p:spPr>
      </p:pic>
      <p:pic>
        <p:nvPicPr>
          <p:cNvPr id="6" name="mario" descr="/home/user/MarioRL_FinalWork/docs/oral/fabrication/assets/sprites/mario.png">    </p:cNvPr>
          <p:cNvPicPr>
            <a:picLocks noChangeAspect="1"/>
          </p:cNvPicPr>
          <p:nvPr/>
        </p:nvPicPr>
        <p:blipFill>
          <a:blip r:embed="rId5"/>
          <a:stretch>
            <a:fillRect/>
          </a:stretch>
        </p:blipFill>
        <p:spPr>
          <a:xfrm>
            <a:off x="3839657" y="5240884"/>
            <a:ext cx="596920" cy="761970"/>
          </a:xfrm>
          <a:prstGeom prst="rect">
            <a:avLst/>
          </a:prstGeom>
        </p:spPr>
      </p:pic>
      <p:pic>
        <p:nvPicPr>
          <p:cNvPr id="7" name="tree" descr="/home/user/MarioRL_FinalWork/docs/oral/fabrication/assets/sprites/tree.png">    </p:cNvPr>
          <p:cNvPicPr>
            <a:picLocks noChangeAspect="1"/>
          </p:cNvPicPr>
          <p:nvPr/>
        </p:nvPicPr>
        <p:blipFill>
          <a:blip r:embed="rId6"/>
          <a:stretch>
            <a:fillRect/>
          </a:stretch>
        </p:blipFill>
        <p:spPr>
          <a:xfrm>
            <a:off x="8868766" y="4102090"/>
            <a:ext cx="1515527" cy="1900763"/>
          </a:xfrm>
          <a:prstGeom prst="rect">
            <a:avLst/>
          </a:prstGeom>
        </p:spPr>
      </p:pic>
      <p:pic>
        <p:nvPicPr>
          <p:cNvPr id="8" name="castle_peach" descr="/home/user/MarioRL_FinalWork/docs/oral/fabrication/assets/sprites/castle_peach.png">    </p:cNvPr>
          <p:cNvPicPr>
            <a:picLocks noChangeAspect="1"/>
          </p:cNvPicPr>
          <p:nvPr/>
        </p:nvPicPr>
        <p:blipFill>
          <a:blip r:embed="rId7"/>
          <a:stretch>
            <a:fillRect/>
          </a:stretch>
        </p:blipFill>
        <p:spPr>
          <a:xfrm>
            <a:off x="10083820" y="1011784"/>
            <a:ext cx="2108149" cy="4991070"/>
          </a:xfrm>
          <a:prstGeom prst="rect">
            <a:avLst/>
          </a:prstGeom>
        </p:spPr>
      </p:pic>
      <p:pic>
        <p:nvPicPr>
          <p:cNvPr id="9" name="pill" descr="/home/user/MarioRL_FinalWork/docs/oral/fabrication/assets/sprites/pill.png">    </p:cNvPr>
          <p:cNvPicPr>
            <a:picLocks noChangeAspect="1"/>
          </p:cNvPicPr>
          <p:nvPr/>
        </p:nvPicPr>
        <p:blipFill>
          <a:blip r:embed="rId8"/>
          <a:stretch>
            <a:fillRect/>
          </a:stretch>
        </p:blipFill>
        <p:spPr>
          <a:xfrm>
            <a:off x="4533870" y="3793023"/>
            <a:ext cx="2772827" cy="639257"/>
          </a:xfrm>
          <a:prstGeom prst="rect">
            <a:avLst/>
          </a:prstGeom>
        </p:spPr>
      </p:pic>
      <p:pic>
        <p:nvPicPr>
          <p:cNvPr id="10" name="ground" descr="/home/user/MarioRL_FinalWork/docs/oral/fabrication/assets/sprites/ground.png">    </p:cNvPr>
          <p:cNvPicPr>
            <a:picLocks noChangeAspect="1"/>
          </p:cNvPicPr>
          <p:nvPr/>
        </p:nvPicPr>
        <p:blipFill>
          <a:blip r:embed="rId9"/>
          <a:stretch>
            <a:fillRect/>
          </a:stretch>
        </p:blipFill>
        <p:spPr>
          <a:xfrm>
            <a:off x="0" y="5977433"/>
            <a:ext cx="12191970" cy="880567"/>
          </a:xfrm>
          <a:prstGeom prst="rect">
            <a:avLst/>
          </a:prstGeom>
        </p:spPr>
      </p:pic>
      <p:sp>
        <p:nvSpPr>
          <p:cNvPr id="11" name="grand_titre"/>
          <p:cNvSpPr txBox="1"/>
          <p:nvPr/>
        </p:nvSpPr>
        <p:spPr>
          <a:xfrm>
            <a:off x="457200" y="822960"/>
            <a:ext cx="11277295" cy="1737360"/>
          </a:xfrm>
          <a:prstGeom prst="rect">
            <a:avLst/>
          </a:prstGeom>
          <a:noFill/>
          <a:ln/>
          <a:effectLst>
            <a:outerShdw sx="100000" sy="100000" kx="0" ky="0" algn="bl" rotWithShape="0" blurRad="101600" dist="34290" dir="2700000">
              <a:srgbClr val="2E1B5B">
                <a:alpha val="100000"/>
              </a:srgbClr>
            </a:outerShdw>
          </a:effectLst>
        </p:spPr>
        <p:txBody>
          <a:bodyPr wrap="square" lIns="0" tIns="0" rIns="0" bIns="0" rtlCol="0" anchor="ctr"/>
          <a:lstStyle/>
          <a:p>
            <a:pPr algn="ctr" indent="0" marL="0">
              <a:lnSpc>
                <a:spcPct val="100000"/>
              </a:lnSpc>
              <a:buNone/>
            </a:pPr>
            <a:r>
              <a:rPr lang="en-US" sz="5400" dirty="0">
                <a:solidFill>
                  <a:srgbClr val="FFFFFF"/>
                </a:solidFill>
                <a:latin typeface="Arcade Gamer" pitchFamily="34" charset="0"/>
                <a:ea typeface="Arcade Gamer" pitchFamily="34" charset="-122"/>
                <a:cs typeface="Arcade Gamer" pitchFamily="34" charset="-120"/>
              </a:rPr>
              <a:t>REINFORCEMENT</a:t>
            </a:r>
            <a:endParaRPr lang="en-US" sz="5400" dirty="0"/>
          </a:p>
          <a:p>
            <a:pPr algn="ctr" indent="0" marL="0">
              <a:lnSpc>
                <a:spcPct val="100000"/>
              </a:lnSpc>
              <a:buNone/>
            </a:pPr>
            <a:r>
              <a:rPr lang="en-US" sz="5400" dirty="0">
                <a:solidFill>
                  <a:srgbClr val="FFFFFF"/>
                </a:solidFill>
                <a:latin typeface="Arcade Gamer" pitchFamily="34" charset="0"/>
                <a:ea typeface="Arcade Gamer" pitchFamily="34" charset="-122"/>
                <a:cs typeface="Arcade Gamer" pitchFamily="34" charset="-120"/>
              </a:rPr>
              <a:t>LEARNING</a:t>
            </a:r>
            <a:endParaRPr lang="en-US" sz="5400" dirty="0"/>
          </a:p>
        </p:txBody>
      </p:sp>
      <p:sp>
        <p:nvSpPr>
          <p:cNvPr id="12" name="sous_titre"/>
          <p:cNvSpPr txBox="1"/>
          <p:nvPr/>
        </p:nvSpPr>
        <p:spPr>
          <a:xfrm>
            <a:off x="914400" y="2697480"/>
            <a:ext cx="10362895" cy="566928"/>
          </a:xfrm>
          <a:prstGeom prst="rect">
            <a:avLst/>
          </a:prstGeom>
          <a:noFill/>
          <a:ln/>
          <a:effectLst>
            <a:outerShdw sx="100000" sy="100000" kx="0" ky="0" algn="bl" rotWithShape="0" blurRad="101600" dist="15240" dir="2700000">
              <a:srgbClr val="2E1B5B">
                <a:alpha val="100000"/>
              </a:srgbClr>
            </a:outerShdw>
          </a:effectLst>
        </p:spPr>
        <p:txBody>
          <a:bodyPr wrap="square" lIns="0" tIns="0" rIns="0" bIns="0" rtlCol="0" anchor="ctr"/>
          <a:lstStyle/>
          <a:p>
            <a:pPr algn="ctr" indent="0" marL="0">
              <a:buNone/>
            </a:pPr>
            <a:r>
              <a:rPr lang="en-US" sz="1580" dirty="0">
                <a:solidFill>
                  <a:srgbClr val="FFFFFF"/>
                </a:solidFill>
                <a:latin typeface="Disket Mono" pitchFamily="34" charset="0"/>
                <a:ea typeface="Disket Mono" pitchFamily="34" charset="-122"/>
                <a:cs typeface="Disket Mono" pitchFamily="34" charset="-120"/>
              </a:rPr>
              <a:t>IN SUPER MARIO BROS : CURRICULUM, PEDAGOGY, AND OPTIMAL</a:t>
            </a:r>
            <a:endParaRPr lang="en-US" sz="1580" dirty="0"/>
          </a:p>
          <a:p>
            <a:pPr algn="ctr" indent="0" marL="0">
              <a:buNone/>
            </a:pPr>
            <a:r>
              <a:rPr lang="en-US" sz="1580" dirty="0">
                <a:solidFill>
                  <a:srgbClr val="FFFFFF"/>
                </a:solidFill>
                <a:latin typeface="Disket Mono" pitchFamily="34" charset="0"/>
                <a:ea typeface="Disket Mono" pitchFamily="34" charset="-122"/>
                <a:cs typeface="Disket Mono" pitchFamily="34" charset="-120"/>
              </a:rPr>
              <a:t>LEVEL DESIGN IN WORLD 1-1</a:t>
            </a:r>
            <a:endParaRPr lang="en-US" sz="1580" dirty="0"/>
          </a:p>
        </p:txBody>
      </p:sp>
      <p:sp>
        <p:nvSpPr>
          <p:cNvPr id="13" name="Text 2"/>
          <p:cNvSpPr txBox="1"/>
          <p:nvPr/>
        </p:nvSpPr>
        <p:spPr>
          <a:xfrm>
            <a:off x="3200400" y="3310128"/>
            <a:ext cx="5790895" cy="310896"/>
          </a:xfrm>
          <a:prstGeom prst="rect">
            <a:avLst/>
          </a:prstGeom>
          <a:noFill/>
          <a:ln/>
        </p:spPr>
        <p:txBody>
          <a:bodyPr wrap="square" lIns="0" tIns="0" rIns="0" bIns="0" rtlCol="0" anchor="ctr"/>
          <a:lstStyle/>
          <a:p>
            <a:pPr algn="ctr" indent="0" marL="0">
              <a:buNone/>
            </a:pPr>
            <a:r>
              <a:rPr lang="en-US" sz="1300" b="1" dirty="0">
                <a:solidFill>
                  <a:srgbClr val="14183D"/>
                </a:solidFill>
                <a:latin typeface="Montserrat" pitchFamily="34" charset="0"/>
                <a:ea typeface="Montserrat" pitchFamily="34" charset="-122"/>
                <a:cs typeface="Montserrat" pitchFamily="34" charset="-120"/>
              </a:rPr>
              <a:t>Veille scientifique · Ponnock &amp; Ho (2026)</a:t>
            </a:r>
            <a:endParaRPr lang="en-US" sz="1300" dirty="0"/>
          </a:p>
        </p:txBody>
      </p:sp>
      <p:sp>
        <p:nvSpPr>
          <p:cNvPr id="14" name="noms"/>
          <p:cNvSpPr txBox="1"/>
          <p:nvPr/>
        </p:nvSpPr>
        <p:spPr>
          <a:xfrm>
            <a:off x="4533870" y="3793023"/>
            <a:ext cx="2772827" cy="639257"/>
          </a:xfrm>
          <a:prstGeom prst="rect">
            <a:avLst/>
          </a:prstGeom>
          <a:noFill/>
          <a:ln/>
        </p:spPr>
        <p:txBody>
          <a:bodyPr wrap="square" lIns="0" tIns="0" rIns="0" bIns="0" rtlCol="0" anchor="ctr"/>
          <a:lstStyle/>
          <a:p>
            <a:pPr algn="ctr" indent="0" marL="0">
              <a:buNone/>
            </a:pPr>
            <a:r>
              <a:rPr lang="en-US" sz="1250" dirty="0">
                <a:solidFill>
                  <a:srgbClr val="000000"/>
                </a:solidFill>
                <a:latin typeface="Arcade Gamer" pitchFamily="34" charset="0"/>
                <a:ea typeface="Arcade Gamer" pitchFamily="34" charset="-122"/>
                <a:cs typeface="Arcade Gamer" pitchFamily="34" charset="-120"/>
              </a:rPr>
              <a:t>CHRIS, EWEN, CHLOÉ</a:t>
            </a:r>
            <a:endParaRPr lang="en-US" sz="1250" dirty="0"/>
          </a:p>
        </p:txBody>
      </p:sp>
      <p:sp>
        <p:nvSpPr>
          <p:cNvPr id="15" name="Text 4"/>
          <p:cNvSpPr txBox="1"/>
          <p:nvPr/>
        </p:nvSpPr>
        <p:spPr>
          <a:xfrm>
            <a:off x="4754880" y="6464808"/>
            <a:ext cx="2679192" cy="292608"/>
          </a:xfrm>
          <a:prstGeom prst="rect">
            <a:avLst/>
          </a:prstGeom>
          <a:noFill/>
          <a:ln/>
        </p:spPr>
        <p:txBody>
          <a:bodyPr wrap="square" lIns="0" tIns="0" rIns="0" bIns="0" rtlCol="0" anchor="ctr"/>
          <a:lstStyle/>
          <a:p>
            <a:pPr algn="ctr" indent="0" marL="0">
              <a:buNone/>
            </a:pPr>
            <a:r>
              <a:rPr lang="en-US" sz="1350" dirty="0">
                <a:solidFill>
                  <a:srgbClr val="FFFFFF"/>
                </a:solidFill>
                <a:latin typeface="Arcade Gamer" pitchFamily="34" charset="0"/>
                <a:ea typeface="Arcade Gamer" pitchFamily="34" charset="-122"/>
                <a:cs typeface="Arcade Gamer" pitchFamily="34" charset="-120"/>
              </a:rPr>
              <a:t>HPDA 2026</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5A99ED"/>
        </a:solidFill>
      </p:bgPr>
    </p:bg>
    <p:spTree>
      <p:nvGrpSpPr>
        <p:cNvPr id="1" name=""/>
        <p:cNvGrpSpPr/>
        <p:nvPr/>
      </p:nvGrpSpPr>
      <p:grpSpPr>
        <a:xfrm>
          <a:off x="0" y="0"/>
          <a:ext cx="0" cy="0"/>
          <a:chOff x="0" y="0"/>
          <a:chExt cx="0" cy="0"/>
        </a:xfrm>
      </p:grpSpPr>
      <p:pic>
        <p:nvPicPr>
          <p:cNvPr id="2" name="star_brick" descr="/home/user/MarioRL_FinalWork/docs/oral/fabrication/assets/sprites/star_brick.png">    </p:cNvPr>
          <p:cNvPicPr>
            <a:picLocks noChangeAspect="1"/>
          </p:cNvPicPr>
          <p:nvPr/>
        </p:nvPicPr>
        <p:blipFill>
          <a:blip r:embed="rId1"/>
          <a:stretch>
            <a:fillRect/>
          </a:stretch>
        </p:blipFill>
        <p:spPr>
          <a:xfrm>
            <a:off x="914400" y="1803380"/>
            <a:ext cx="901690" cy="1739920"/>
          </a:xfrm>
          <a:prstGeom prst="rect">
            <a:avLst/>
          </a:prstGeom>
        </p:spPr>
      </p:pic>
      <p:pic>
        <p:nvPicPr>
          <p:cNvPr id="3" name="coin_pipe2" descr="/home/user/MarioRL_FinalWork/docs/oral/fabrication/assets/sprites/coin_pipe2.png">    </p:cNvPr>
          <p:cNvPicPr>
            <a:picLocks noChangeAspect="1"/>
          </p:cNvPicPr>
          <p:nvPr/>
        </p:nvPicPr>
        <p:blipFill>
          <a:blip r:embed="rId2"/>
          <a:stretch>
            <a:fillRect/>
          </a:stretch>
        </p:blipFill>
        <p:spPr>
          <a:xfrm>
            <a:off x="10109149" y="3784610"/>
            <a:ext cx="812810" cy="2218243"/>
          </a:xfrm>
          <a:prstGeom prst="rect">
            <a:avLst/>
          </a:prstGeom>
        </p:spPr>
      </p:pic>
      <p:pic>
        <p:nvPicPr>
          <p:cNvPr id="4" name="pipe_tall" descr="/home/user/MarioRL_FinalWork/docs/oral/fabrication/assets/sprites/pipe_tall.png">    </p:cNvPr>
          <p:cNvPicPr>
            <a:picLocks noChangeAspect="1"/>
          </p:cNvPicPr>
          <p:nvPr/>
        </p:nvPicPr>
        <p:blipFill>
          <a:blip r:embed="rId3"/>
          <a:stretch>
            <a:fillRect/>
          </a:stretch>
        </p:blipFill>
        <p:spPr>
          <a:xfrm>
            <a:off x="10998129" y="3031053"/>
            <a:ext cx="897484" cy="2971800"/>
          </a:xfrm>
          <a:prstGeom prst="rect">
            <a:avLst/>
          </a:prstGeom>
        </p:spPr>
      </p:pic>
      <p:pic>
        <p:nvPicPr>
          <p:cNvPr id="5" name="ground" descr="/home/user/MarioRL_FinalWork/docs/oral/fabrication/assets/sprites/ground.png">    </p:cNvPr>
          <p:cNvPicPr>
            <a:picLocks noChangeAspect="1"/>
          </p:cNvPicPr>
          <p:nvPr/>
        </p:nvPicPr>
        <p:blipFill>
          <a:blip r:embed="rId4"/>
          <a:stretch>
            <a:fillRect/>
          </a:stretch>
        </p:blipFill>
        <p:spPr>
          <a:xfrm>
            <a:off x="0" y="5977433"/>
            <a:ext cx="12191970" cy="880567"/>
          </a:xfrm>
          <a:prstGeom prst="rect">
            <a:avLst/>
          </a:prstGeom>
        </p:spPr>
      </p:pic>
      <p:sp>
        <p:nvSpPr>
          <p:cNvPr id="6" name="grand_titre"/>
          <p:cNvSpPr txBox="1"/>
          <p:nvPr/>
        </p:nvSpPr>
        <p:spPr>
          <a:xfrm>
            <a:off x="1828800" y="1691640"/>
            <a:ext cx="8534095" cy="713232"/>
          </a:xfrm>
          <a:prstGeom prst="rect">
            <a:avLst/>
          </a:prstGeom>
          <a:noFill/>
          <a:ln/>
          <a:effectLst>
            <a:outerShdw sx="100000" sy="100000" kx="0" ky="0" algn="bl" rotWithShape="0" blurRad="101600" dist="29210" dir="2700000">
              <a:srgbClr val="2E1B5B">
                <a:alpha val="100000"/>
              </a:srgbClr>
            </a:outerShdw>
          </a:effectLst>
        </p:spPr>
        <p:txBody>
          <a:bodyPr wrap="square" lIns="0" tIns="0" rIns="0" bIns="0" rtlCol="0" anchor="ctr"/>
          <a:lstStyle/>
          <a:p>
            <a:pPr algn="ctr" indent="0" marL="0">
              <a:lnSpc>
                <a:spcPct val="100000"/>
              </a:lnSpc>
              <a:buNone/>
            </a:pPr>
            <a:r>
              <a:rPr lang="en-US" sz="4600" dirty="0">
                <a:solidFill>
                  <a:srgbClr val="FFFFFF"/>
                </a:solidFill>
                <a:latin typeface="Arcade Gamer" pitchFamily="34" charset="0"/>
                <a:ea typeface="Arcade Gamer" pitchFamily="34" charset="-122"/>
                <a:cs typeface="Arcade Gamer" pitchFamily="34" charset="-120"/>
              </a:rPr>
              <a:t>LE PARCOURS</a:t>
            </a:r>
            <a:endParaRPr lang="en-US" sz="4600" dirty="0"/>
          </a:p>
        </p:txBody>
      </p:sp>
      <p:sp>
        <p:nvSpPr>
          <p:cNvPr id="7" name="Text 1"/>
          <p:cNvSpPr txBox="1"/>
          <p:nvPr/>
        </p:nvSpPr>
        <p:spPr>
          <a:xfrm>
            <a:off x="2286000" y="2487168"/>
            <a:ext cx="7619695" cy="384048"/>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algn="ctr" indent="0" marL="0">
              <a:buNone/>
            </a:pPr>
            <a:r>
              <a:rPr lang="en-US" sz="1700" dirty="0">
                <a:solidFill>
                  <a:srgbClr val="FFFFFF"/>
                </a:solidFill>
                <a:latin typeface="Arcade Gamer" pitchFamily="34" charset="0"/>
                <a:ea typeface="Arcade Gamer" pitchFamily="34" charset="-122"/>
                <a:cs typeface="Arcade Gamer" pitchFamily="34" charset="-120"/>
              </a:rPr>
              <a:t>4 MONDES  -  20 MINUTES</a:t>
            </a:r>
            <a:endParaRPr lang="en-US" sz="1700" dirty="0"/>
          </a:p>
        </p:txBody>
      </p:sp>
      <p:pic>
        <p:nvPicPr>
          <p:cNvPr id="8" name="bloc_jaune" descr="/home/user/MarioRL_FinalWork/docs/oral/fabrication/assets/sprites/yellow_box.png">    </p:cNvPr>
          <p:cNvPicPr>
            <a:picLocks noChangeAspect="1"/>
          </p:cNvPicPr>
          <p:nvPr/>
        </p:nvPicPr>
        <p:blipFill>
          <a:blip r:embed="rId5"/>
          <a:stretch>
            <a:fillRect/>
          </a:stretch>
        </p:blipFill>
        <p:spPr>
          <a:xfrm>
            <a:off x="2136496" y="3611880"/>
            <a:ext cx="1828800" cy="994867"/>
          </a:xfrm>
          <a:prstGeom prst="rect">
            <a:avLst/>
          </a:prstGeom>
        </p:spPr>
      </p:pic>
      <p:sp>
        <p:nvSpPr>
          <p:cNvPr id="9" name="Text 2"/>
          <p:cNvSpPr txBox="1"/>
          <p:nvPr/>
        </p:nvSpPr>
        <p:spPr>
          <a:xfrm>
            <a:off x="2209648" y="3666744"/>
            <a:ext cx="1682496" cy="866851"/>
          </a:xfrm>
          <a:prstGeom prst="rect">
            <a:avLst/>
          </a:prstGeom>
          <a:noFill/>
          <a:ln/>
        </p:spPr>
        <p:txBody>
          <a:bodyPr wrap="square" lIns="0" tIns="0" rIns="0" bIns="0" rtlCol="0" anchor="ctr"/>
          <a:lstStyle/>
          <a:p>
            <a:pPr algn="ctr" indent="0" marL="0">
              <a:lnSpc>
                <a:spcPct val="110000"/>
              </a:lnSpc>
              <a:buNone/>
            </a:pPr>
            <a:r>
              <a:rPr lang="en-US" sz="1300" dirty="0">
                <a:solidFill>
                  <a:srgbClr val="000000"/>
                </a:solidFill>
                <a:latin typeface="Arcade Gamer" pitchFamily="34" charset="0"/>
                <a:ea typeface="Arcade Gamer" pitchFamily="34" charset="-122"/>
                <a:cs typeface="Arcade Gamer" pitchFamily="34" charset="-120"/>
              </a:rPr>
              <a:t>WORLD 1-1</a:t>
            </a:r>
            <a:endParaRPr lang="en-US" sz="1300" dirty="0"/>
          </a:p>
          <a:p>
            <a:pPr algn="ctr" indent="0" marL="0">
              <a:lnSpc>
                <a:spcPct val="110000"/>
              </a:lnSpc>
              <a:buNone/>
            </a:pPr>
            <a:r>
              <a:rPr lang="en-US" sz="1300" dirty="0">
                <a:solidFill>
                  <a:srgbClr val="000000"/>
                </a:solidFill>
                <a:latin typeface="Arcade Gamer" pitchFamily="34" charset="0"/>
                <a:ea typeface="Arcade Gamer" pitchFamily="34" charset="-122"/>
                <a:cs typeface="Arcade Gamer" pitchFamily="34" charset="-120"/>
              </a:rPr>
              <a:t>LA VEILLE</a:t>
            </a:r>
            <a:endParaRPr lang="en-US" sz="1300" dirty="0"/>
          </a:p>
        </p:txBody>
      </p:sp>
      <p:pic>
        <p:nvPicPr>
          <p:cNvPr id="10" name="bloc_jaune" descr="/home/user/MarioRL_FinalWork/docs/oral/fabrication/assets/sprites/yellow_box.png">    </p:cNvPr>
          <p:cNvPicPr>
            <a:picLocks noChangeAspect="1"/>
          </p:cNvPicPr>
          <p:nvPr/>
        </p:nvPicPr>
        <p:blipFill>
          <a:blip r:embed="rId6"/>
          <a:stretch>
            <a:fillRect/>
          </a:stretch>
        </p:blipFill>
        <p:spPr>
          <a:xfrm>
            <a:off x="4166464" y="3611880"/>
            <a:ext cx="1828800" cy="994867"/>
          </a:xfrm>
          <a:prstGeom prst="rect">
            <a:avLst/>
          </a:prstGeom>
        </p:spPr>
      </p:pic>
      <p:sp>
        <p:nvSpPr>
          <p:cNvPr id="11" name="Text 3"/>
          <p:cNvSpPr txBox="1"/>
          <p:nvPr/>
        </p:nvSpPr>
        <p:spPr>
          <a:xfrm>
            <a:off x="4239616" y="3666744"/>
            <a:ext cx="1682496" cy="866851"/>
          </a:xfrm>
          <a:prstGeom prst="rect">
            <a:avLst/>
          </a:prstGeom>
          <a:noFill/>
          <a:ln/>
        </p:spPr>
        <p:txBody>
          <a:bodyPr wrap="square" lIns="0" tIns="0" rIns="0" bIns="0" rtlCol="0" anchor="ctr"/>
          <a:lstStyle/>
          <a:p>
            <a:pPr algn="ctr" indent="0" marL="0">
              <a:lnSpc>
                <a:spcPct val="110000"/>
              </a:lnSpc>
              <a:buNone/>
            </a:pPr>
            <a:r>
              <a:rPr lang="en-US" sz="1300" dirty="0">
                <a:solidFill>
                  <a:srgbClr val="000000"/>
                </a:solidFill>
                <a:latin typeface="Arcade Gamer" pitchFamily="34" charset="0"/>
                <a:ea typeface="Arcade Gamer" pitchFamily="34" charset="-122"/>
                <a:cs typeface="Arcade Gamer" pitchFamily="34" charset="-120"/>
              </a:rPr>
              <a:t>WORLD 1-2</a:t>
            </a:r>
            <a:endParaRPr lang="en-US" sz="1300" dirty="0"/>
          </a:p>
          <a:p>
            <a:pPr algn="ctr" indent="0" marL="0">
              <a:lnSpc>
                <a:spcPct val="110000"/>
              </a:lnSpc>
              <a:buNone/>
            </a:pPr>
            <a:r>
              <a:rPr lang="en-US" sz="1300" dirty="0">
                <a:solidFill>
                  <a:srgbClr val="000000"/>
                </a:solidFill>
                <a:latin typeface="Arcade Gamer" pitchFamily="34" charset="0"/>
                <a:ea typeface="Arcade Gamer" pitchFamily="34" charset="-122"/>
                <a:cs typeface="Arcade Gamer" pitchFamily="34" charset="-120"/>
              </a:rPr>
              <a:t>LE DUEL</a:t>
            </a:r>
            <a:endParaRPr lang="en-US" sz="1300" dirty="0"/>
          </a:p>
          <a:p>
            <a:pPr algn="ctr" indent="0" marL="0">
              <a:lnSpc>
                <a:spcPct val="110000"/>
              </a:lnSpc>
              <a:buNone/>
            </a:pPr>
            <a:r>
              <a:rPr lang="en-US" sz="1300" dirty="0">
                <a:solidFill>
                  <a:srgbClr val="000000"/>
                </a:solidFill>
                <a:latin typeface="Arcade Gamer" pitchFamily="34" charset="0"/>
                <a:ea typeface="Arcade Gamer" pitchFamily="34" charset="-122"/>
                <a:cs typeface="Arcade Gamer" pitchFamily="34" charset="-120"/>
              </a:rPr>
              <a:t>SUR V3</a:t>
            </a:r>
            <a:endParaRPr lang="en-US" sz="1300" dirty="0"/>
          </a:p>
        </p:txBody>
      </p:sp>
      <p:pic>
        <p:nvPicPr>
          <p:cNvPr id="12" name="bloc_jaune" descr="/home/user/MarioRL_FinalWork/docs/oral/fabrication/assets/sprites/yellow_box.png">    </p:cNvPr>
          <p:cNvPicPr>
            <a:picLocks noChangeAspect="1"/>
          </p:cNvPicPr>
          <p:nvPr/>
        </p:nvPicPr>
        <p:blipFill>
          <a:blip r:embed="rId7"/>
          <a:stretch>
            <a:fillRect/>
          </a:stretch>
        </p:blipFill>
        <p:spPr>
          <a:xfrm>
            <a:off x="6196432" y="3611880"/>
            <a:ext cx="1828800" cy="994867"/>
          </a:xfrm>
          <a:prstGeom prst="rect">
            <a:avLst/>
          </a:prstGeom>
        </p:spPr>
      </p:pic>
      <p:sp>
        <p:nvSpPr>
          <p:cNvPr id="13" name="Text 4"/>
          <p:cNvSpPr txBox="1"/>
          <p:nvPr/>
        </p:nvSpPr>
        <p:spPr>
          <a:xfrm>
            <a:off x="6269584" y="3666744"/>
            <a:ext cx="1682496" cy="866851"/>
          </a:xfrm>
          <a:prstGeom prst="rect">
            <a:avLst/>
          </a:prstGeom>
          <a:noFill/>
          <a:ln/>
        </p:spPr>
        <p:txBody>
          <a:bodyPr wrap="square" lIns="0" tIns="0" rIns="0" bIns="0" rtlCol="0" anchor="ctr"/>
          <a:lstStyle/>
          <a:p>
            <a:pPr algn="ctr" indent="0" marL="0">
              <a:lnSpc>
                <a:spcPct val="110000"/>
              </a:lnSpc>
              <a:buNone/>
            </a:pPr>
            <a:r>
              <a:rPr lang="en-US" sz="1300" dirty="0">
                <a:solidFill>
                  <a:srgbClr val="000000"/>
                </a:solidFill>
                <a:latin typeface="Arcade Gamer" pitchFamily="34" charset="0"/>
                <a:ea typeface="Arcade Gamer" pitchFamily="34" charset="-122"/>
                <a:cs typeface="Arcade Gamer" pitchFamily="34" charset="-120"/>
              </a:rPr>
              <a:t>WORLD 1-3</a:t>
            </a:r>
            <a:endParaRPr lang="en-US" sz="1300" dirty="0"/>
          </a:p>
          <a:p>
            <a:pPr algn="ctr" indent="0" marL="0">
              <a:lnSpc>
                <a:spcPct val="110000"/>
              </a:lnSpc>
              <a:buNone/>
            </a:pPr>
            <a:r>
              <a:rPr lang="en-US" sz="1300" dirty="0">
                <a:solidFill>
                  <a:srgbClr val="000000"/>
                </a:solidFill>
                <a:latin typeface="Arcade Gamer" pitchFamily="34" charset="0"/>
                <a:ea typeface="Arcade Gamer" pitchFamily="34" charset="-122"/>
                <a:cs typeface="Arcade Gamer" pitchFamily="34" charset="-120"/>
              </a:rPr>
              <a:t>LE VRAI</a:t>
            </a:r>
            <a:endParaRPr lang="en-US" sz="1300" dirty="0"/>
          </a:p>
          <a:p>
            <a:pPr algn="ctr" indent="0" marL="0">
              <a:lnSpc>
                <a:spcPct val="110000"/>
              </a:lnSpc>
              <a:buNone/>
            </a:pPr>
            <a:r>
              <a:rPr lang="en-US" sz="1300" dirty="0">
                <a:solidFill>
                  <a:srgbClr val="000000"/>
                </a:solidFill>
                <a:latin typeface="Arcade Gamer" pitchFamily="34" charset="0"/>
                <a:ea typeface="Arcade Gamer" pitchFamily="34" charset="-122"/>
                <a:cs typeface="Arcade Gamer" pitchFamily="34" charset="-120"/>
              </a:rPr>
              <a:t>JEU NES</a:t>
            </a:r>
            <a:endParaRPr lang="en-US" sz="1300" dirty="0"/>
          </a:p>
        </p:txBody>
      </p:sp>
      <p:pic>
        <p:nvPicPr>
          <p:cNvPr id="14" name="bloc_jaune" descr="/home/user/MarioRL_FinalWork/docs/oral/fabrication/assets/sprites/yellow_box.png">    </p:cNvPr>
          <p:cNvPicPr>
            <a:picLocks noChangeAspect="1"/>
          </p:cNvPicPr>
          <p:nvPr/>
        </p:nvPicPr>
        <p:blipFill>
          <a:blip r:embed="rId8"/>
          <a:stretch>
            <a:fillRect/>
          </a:stretch>
        </p:blipFill>
        <p:spPr>
          <a:xfrm>
            <a:off x="8226400" y="3611880"/>
            <a:ext cx="1828800" cy="994867"/>
          </a:xfrm>
          <a:prstGeom prst="rect">
            <a:avLst/>
          </a:prstGeom>
        </p:spPr>
      </p:pic>
      <p:sp>
        <p:nvSpPr>
          <p:cNvPr id="15" name="Text 5"/>
          <p:cNvSpPr txBox="1"/>
          <p:nvPr/>
        </p:nvSpPr>
        <p:spPr>
          <a:xfrm>
            <a:off x="8299552" y="3666744"/>
            <a:ext cx="1682496" cy="866851"/>
          </a:xfrm>
          <a:prstGeom prst="rect">
            <a:avLst/>
          </a:prstGeom>
          <a:noFill/>
          <a:ln/>
        </p:spPr>
        <p:txBody>
          <a:bodyPr wrap="square" lIns="0" tIns="0" rIns="0" bIns="0" rtlCol="0" anchor="ctr"/>
          <a:lstStyle/>
          <a:p>
            <a:pPr algn="ctr" indent="0" marL="0">
              <a:lnSpc>
                <a:spcPct val="110000"/>
              </a:lnSpc>
              <a:buNone/>
            </a:pPr>
            <a:r>
              <a:rPr lang="en-US" sz="1300" dirty="0">
                <a:solidFill>
                  <a:srgbClr val="000000"/>
                </a:solidFill>
                <a:latin typeface="Arcade Gamer" pitchFamily="34" charset="0"/>
                <a:ea typeface="Arcade Gamer" pitchFamily="34" charset="-122"/>
                <a:cs typeface="Arcade Gamer" pitchFamily="34" charset="-120"/>
              </a:rPr>
              <a:t>WORLD 1-4</a:t>
            </a:r>
            <a:endParaRPr lang="en-US" sz="1300" dirty="0"/>
          </a:p>
          <a:p>
            <a:pPr algn="ctr" indent="0" marL="0">
              <a:lnSpc>
                <a:spcPct val="110000"/>
              </a:lnSpc>
              <a:buNone/>
            </a:pPr>
            <a:r>
              <a:rPr lang="en-US" sz="1300" dirty="0">
                <a:solidFill>
                  <a:srgbClr val="000000"/>
                </a:solidFill>
                <a:latin typeface="Arcade Gamer" pitchFamily="34" charset="0"/>
                <a:ea typeface="Arcade Gamer" pitchFamily="34" charset="-122"/>
                <a:cs typeface="Arcade Gamer" pitchFamily="34" charset="-120"/>
              </a:rPr>
              <a:t>LE RECUL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A99ED"/>
        </a:solidFill>
      </p:bgPr>
    </p:bg>
    <p:spTree>
      <p:nvGrpSpPr>
        <p:cNvPr id="1" name=""/>
        <p:cNvGrpSpPr/>
        <p:nvPr/>
      </p:nvGrpSpPr>
      <p:grpSpPr>
        <a:xfrm>
          <a:off x="0" y="0"/>
          <a:ext cx="0" cy="0"/>
          <a:chOff x="0" y="0"/>
          <a:chExt cx="0" cy="0"/>
        </a:xfrm>
      </p:grpSpPr>
      <p:pic>
        <p:nvPicPr>
          <p:cNvPr id="2" name="piranha" descr="/home/user/MarioRL_FinalWork/docs/oral/fabrication/assets/sprites/piranha.png">    </p:cNvPr>
          <p:cNvPicPr>
            <a:picLocks noChangeAspect="1"/>
          </p:cNvPicPr>
          <p:nvPr/>
        </p:nvPicPr>
        <p:blipFill>
          <a:blip r:embed="rId1"/>
          <a:stretch>
            <a:fillRect/>
          </a:stretch>
        </p:blipFill>
        <p:spPr>
          <a:xfrm>
            <a:off x="465704" y="3831153"/>
            <a:ext cx="1413937" cy="2171700"/>
          </a:xfrm>
          <a:prstGeom prst="rect">
            <a:avLst/>
          </a:prstGeom>
        </p:spPr>
      </p:pic>
      <p:pic>
        <p:nvPicPr>
          <p:cNvPr id="3" name="pipe_short2" descr="/home/user/MarioRL_FinalWork/docs/oral/fabrication/assets/sprites/pipe_short2.png">    </p:cNvPr>
          <p:cNvPicPr>
            <a:picLocks noChangeAspect="1"/>
          </p:cNvPicPr>
          <p:nvPr/>
        </p:nvPicPr>
        <p:blipFill>
          <a:blip r:embed="rId2"/>
          <a:stretch>
            <a:fillRect/>
          </a:stretch>
        </p:blipFill>
        <p:spPr>
          <a:xfrm>
            <a:off x="2103943" y="4550786"/>
            <a:ext cx="795894" cy="1452067"/>
          </a:xfrm>
          <a:prstGeom prst="rect">
            <a:avLst/>
          </a:prstGeom>
        </p:spPr>
      </p:pic>
      <p:pic>
        <p:nvPicPr>
          <p:cNvPr id="4" name="pipe_tall2" descr="/home/user/MarioRL_FinalWork/docs/oral/fabrication/assets/sprites/pipe_tall2.png">    </p:cNvPr>
          <p:cNvPicPr>
            <a:picLocks noChangeAspect="1"/>
          </p:cNvPicPr>
          <p:nvPr/>
        </p:nvPicPr>
        <p:blipFill>
          <a:blip r:embed="rId3"/>
          <a:stretch>
            <a:fillRect/>
          </a:stretch>
        </p:blipFill>
        <p:spPr>
          <a:xfrm>
            <a:off x="9359890" y="3839657"/>
            <a:ext cx="901690" cy="2163196"/>
          </a:xfrm>
          <a:prstGeom prst="rect">
            <a:avLst/>
          </a:prstGeom>
        </p:spPr>
      </p:pic>
      <p:pic>
        <p:nvPicPr>
          <p:cNvPr id="5" name="star_brick" descr="/home/user/MarioRL_FinalWork/docs/oral/fabrication/assets/sprites/star_brick.png">    </p:cNvPr>
          <p:cNvPicPr>
            <a:picLocks noChangeAspect="1"/>
          </p:cNvPicPr>
          <p:nvPr/>
        </p:nvPicPr>
        <p:blipFill>
          <a:blip r:embed="rId4"/>
          <a:stretch>
            <a:fillRect/>
          </a:stretch>
        </p:blipFill>
        <p:spPr>
          <a:xfrm>
            <a:off x="10629900" y="1943100"/>
            <a:ext cx="901690" cy="1739920"/>
          </a:xfrm>
          <a:prstGeom prst="rect">
            <a:avLst/>
          </a:prstGeom>
        </p:spPr>
      </p:pic>
      <p:pic>
        <p:nvPicPr>
          <p:cNvPr id="6" name="coin" descr="/home/user/MarioRL_FinalWork/docs/oral/fabrication/assets/sprites/coin.png">    </p:cNvPr>
          <p:cNvPicPr>
            <a:picLocks noChangeAspect="1"/>
          </p:cNvPicPr>
          <p:nvPr/>
        </p:nvPicPr>
        <p:blipFill>
          <a:blip r:embed="rId5"/>
          <a:stretch>
            <a:fillRect/>
          </a:stretch>
        </p:blipFill>
        <p:spPr>
          <a:xfrm>
            <a:off x="4432097" y="4411066"/>
            <a:ext cx="673090" cy="673090"/>
          </a:xfrm>
          <a:prstGeom prst="rect">
            <a:avLst/>
          </a:prstGeom>
        </p:spPr>
      </p:pic>
      <p:pic>
        <p:nvPicPr>
          <p:cNvPr id="7" name="coin" descr="/home/user/MarioRL_FinalWork/docs/oral/fabrication/assets/sprites/coin.png">    </p:cNvPr>
          <p:cNvPicPr>
            <a:picLocks noChangeAspect="1"/>
          </p:cNvPicPr>
          <p:nvPr/>
        </p:nvPicPr>
        <p:blipFill>
          <a:blip r:embed="rId6"/>
          <a:stretch>
            <a:fillRect/>
          </a:stretch>
        </p:blipFill>
        <p:spPr>
          <a:xfrm>
            <a:off x="5266030" y="4411066"/>
            <a:ext cx="673090" cy="673090"/>
          </a:xfrm>
          <a:prstGeom prst="rect">
            <a:avLst/>
          </a:prstGeom>
        </p:spPr>
      </p:pic>
      <p:pic>
        <p:nvPicPr>
          <p:cNvPr id="8" name="coin" descr="/home/user/MarioRL_FinalWork/docs/oral/fabrication/assets/sprites/coin.png">    </p:cNvPr>
          <p:cNvPicPr>
            <a:picLocks noChangeAspect="1"/>
          </p:cNvPicPr>
          <p:nvPr/>
        </p:nvPicPr>
        <p:blipFill>
          <a:blip r:embed="rId7"/>
          <a:stretch>
            <a:fillRect/>
          </a:stretch>
        </p:blipFill>
        <p:spPr>
          <a:xfrm>
            <a:off x="6104534" y="4411066"/>
            <a:ext cx="673090" cy="673090"/>
          </a:xfrm>
          <a:prstGeom prst="rect">
            <a:avLst/>
          </a:prstGeom>
        </p:spPr>
      </p:pic>
      <p:pic>
        <p:nvPicPr>
          <p:cNvPr id="9" name="coin" descr="/home/user/MarioRL_FinalWork/docs/oral/fabrication/assets/sprites/coin.png">    </p:cNvPr>
          <p:cNvPicPr>
            <a:picLocks noChangeAspect="1"/>
          </p:cNvPicPr>
          <p:nvPr/>
        </p:nvPicPr>
        <p:blipFill>
          <a:blip r:embed="rId8"/>
          <a:stretch>
            <a:fillRect/>
          </a:stretch>
        </p:blipFill>
        <p:spPr>
          <a:xfrm>
            <a:off x="6938467" y="4411066"/>
            <a:ext cx="673090" cy="673090"/>
          </a:xfrm>
          <a:prstGeom prst="rect">
            <a:avLst/>
          </a:prstGeom>
        </p:spPr>
      </p:pic>
      <p:pic>
        <p:nvPicPr>
          <p:cNvPr id="10" name="ground" descr="/home/user/MarioRL_FinalWork/docs/oral/fabrication/assets/sprites/ground.png">    </p:cNvPr>
          <p:cNvPicPr>
            <a:picLocks noChangeAspect="1"/>
          </p:cNvPicPr>
          <p:nvPr/>
        </p:nvPicPr>
        <p:blipFill>
          <a:blip r:embed="rId9"/>
          <a:stretch>
            <a:fillRect/>
          </a:stretch>
        </p:blipFill>
        <p:spPr>
          <a:xfrm>
            <a:off x="0" y="5977433"/>
            <a:ext cx="12191970" cy="880567"/>
          </a:xfrm>
          <a:prstGeom prst="rect">
            <a:avLst/>
          </a:prstGeom>
        </p:spPr>
      </p:pic>
      <p:sp>
        <p:nvSpPr>
          <p:cNvPr id="11" name="grand_titre"/>
          <p:cNvSpPr txBox="1"/>
          <p:nvPr/>
        </p:nvSpPr>
        <p:spPr>
          <a:xfrm>
            <a:off x="2011680" y="1234440"/>
            <a:ext cx="8168335" cy="868680"/>
          </a:xfrm>
          <a:prstGeom prst="rect">
            <a:avLst/>
          </a:prstGeom>
          <a:noFill/>
          <a:ln/>
          <a:effectLst>
            <a:outerShdw sx="100000" sy="100000" kx="0" ky="0" algn="bl" rotWithShape="0" blurRad="101600" dist="34290" dir="2700000">
              <a:srgbClr val="2E1B5B">
                <a:alpha val="100000"/>
              </a:srgbClr>
            </a:outerShdw>
          </a:effectLst>
        </p:spPr>
        <p:txBody>
          <a:bodyPr wrap="square" lIns="0" tIns="0" rIns="0" bIns="0" rtlCol="0" anchor="ctr"/>
          <a:lstStyle/>
          <a:p>
            <a:pPr algn="ctr" indent="0" marL="0">
              <a:lnSpc>
                <a:spcPct val="100000"/>
              </a:lnSpc>
              <a:buNone/>
            </a:pPr>
            <a:r>
              <a:rPr lang="en-US" sz="5400" dirty="0">
                <a:solidFill>
                  <a:srgbClr val="FFFFFF"/>
                </a:solidFill>
                <a:latin typeface="Arcade Gamer" pitchFamily="34" charset="0"/>
                <a:ea typeface="Arcade Gamer" pitchFamily="34" charset="-122"/>
                <a:cs typeface="Arcade Gamer" pitchFamily="34" charset="-120"/>
              </a:rPr>
              <a:t>WORLD 1-1</a:t>
            </a:r>
            <a:endParaRPr lang="en-US" sz="5400" dirty="0"/>
          </a:p>
        </p:txBody>
      </p:sp>
      <p:sp>
        <p:nvSpPr>
          <p:cNvPr id="12" name="grand_titre"/>
          <p:cNvSpPr txBox="1"/>
          <p:nvPr/>
        </p:nvSpPr>
        <p:spPr>
          <a:xfrm>
            <a:off x="2011680" y="2121408"/>
            <a:ext cx="8168335" cy="640080"/>
          </a:xfrm>
          <a:prstGeom prst="rect">
            <a:avLst/>
          </a:prstGeom>
          <a:noFill/>
          <a:ln/>
          <a:effectLst>
            <a:outerShdw sx="100000" sy="100000" kx="0" ky="0" algn="bl" rotWithShape="0" blurRad="101600" dist="25400" dir="2700000">
              <a:srgbClr val="2E1B5B">
                <a:alpha val="100000"/>
              </a:srgbClr>
            </a:outerShdw>
          </a:effectLst>
        </p:spPr>
        <p:txBody>
          <a:bodyPr wrap="square" lIns="0" tIns="0" rIns="0" bIns="0" rtlCol="0" anchor="ctr"/>
          <a:lstStyle/>
          <a:p>
            <a:pPr algn="ctr" indent="0" marL="0">
              <a:lnSpc>
                <a:spcPct val="100000"/>
              </a:lnSpc>
              <a:buNone/>
            </a:pPr>
            <a:r>
              <a:rPr lang="en-US" sz="3200" dirty="0">
                <a:solidFill>
                  <a:srgbClr val="FFC703"/>
                </a:solidFill>
                <a:latin typeface="Arcade Gamer" pitchFamily="34" charset="0"/>
                <a:ea typeface="Arcade Gamer" pitchFamily="34" charset="-122"/>
                <a:cs typeface="Arcade Gamer" pitchFamily="34" charset="-120"/>
              </a:rPr>
              <a:t>LA VEILLE</a:t>
            </a:r>
            <a:endParaRPr lang="en-US" sz="3200" dirty="0"/>
          </a:p>
        </p:txBody>
      </p:sp>
      <p:sp>
        <p:nvSpPr>
          <p:cNvPr id="13" name="Text 2"/>
          <p:cNvSpPr txBox="1"/>
          <p:nvPr/>
        </p:nvSpPr>
        <p:spPr>
          <a:xfrm>
            <a:off x="2743200" y="2852928"/>
            <a:ext cx="6705295" cy="384048"/>
          </a:xfrm>
          <a:prstGeom prst="rect">
            <a:avLst/>
          </a:prstGeom>
          <a:noFill/>
          <a:ln/>
        </p:spPr>
        <p:txBody>
          <a:bodyPr wrap="square" lIns="0" tIns="0" rIns="0" bIns="0" rtlCol="0" anchor="ctr"/>
          <a:lstStyle/>
          <a:p>
            <a:pPr algn="ctr" indent="0" marL="0">
              <a:buNone/>
            </a:pPr>
            <a:r>
              <a:rPr lang="en-US" sz="1600" b="1" dirty="0">
                <a:solidFill>
                  <a:srgbClr val="14183D"/>
                </a:solidFill>
                <a:latin typeface="Montserrat" pitchFamily="34" charset="0"/>
                <a:ea typeface="Montserrat" pitchFamily="34" charset="-122"/>
                <a:cs typeface="Montserrat" pitchFamily="34" charset="-120"/>
              </a:rPr>
              <a:t>L'article, ses résultats, notre regard critique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WORLD 1-1 - LA VEILLE</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L'ARTICLE</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Le niveau 1-1 est-il vraiment une leçon de game design ? Les auteurs le testent avec des IA.</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4</a:t>
            </a:r>
            <a:endParaRPr lang="en-US" sz="1000" dirty="0"/>
          </a:p>
        </p:txBody>
      </p:sp>
      <p:sp>
        <p:nvSpPr>
          <p:cNvPr id="8" name="carte"/>
          <p:cNvSpPr/>
          <p:nvPr/>
        </p:nvSpPr>
        <p:spPr>
          <a:xfrm>
            <a:off x="548640" y="1737360"/>
            <a:ext cx="5486400" cy="2788920"/>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9" name="etiquette"/>
          <p:cNvSpPr txBox="1"/>
          <p:nvPr/>
        </p:nvSpPr>
        <p:spPr>
          <a:xfrm>
            <a:off x="548640" y="1737360"/>
            <a:ext cx="2057400" cy="329184"/>
          </a:xfrm>
          <a:prstGeom prst="rect">
            <a:avLst/>
          </a:prstGeom>
          <a:solidFill>
            <a:srgbClr val="14183D"/>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L'ARTICLE ÉTUDIÉ</a:t>
            </a:r>
            <a:endParaRPr lang="en-US" sz="1200" dirty="0"/>
          </a:p>
        </p:txBody>
      </p:sp>
      <p:sp>
        <p:nvSpPr>
          <p:cNvPr id="10" name="Text 8"/>
          <p:cNvSpPr txBox="1"/>
          <p:nvPr/>
        </p:nvSpPr>
        <p:spPr>
          <a:xfrm>
            <a:off x="777240" y="2212848"/>
            <a:ext cx="5029200" cy="777240"/>
          </a:xfrm>
          <a:prstGeom prst="rect">
            <a:avLst/>
          </a:prstGeom>
          <a:noFill/>
          <a:ln/>
        </p:spPr>
        <p:txBody>
          <a:bodyPr wrap="square" lIns="0" tIns="0" rIns="0" bIns="0" rtlCol="0" anchor="t"/>
          <a:lstStyle/>
          <a:p>
            <a:pPr indent="0" marL="0">
              <a:buNone/>
            </a:pPr>
            <a:r>
              <a:rPr lang="en-US" sz="1500" b="1" i="1" dirty="0">
                <a:solidFill>
                  <a:srgbClr val="14183D"/>
                </a:solidFill>
                <a:latin typeface="Montserrat" pitchFamily="34" charset="0"/>
                <a:ea typeface="Montserrat" pitchFamily="34" charset="-122"/>
                <a:cs typeface="Montserrat" pitchFamily="34" charset="-120"/>
              </a:rPr>
              <a:t>Reinforcement Learning in Super Mario Bros: Curriculum, Pedagogy, and Optimal Level Design in World 1-1</a:t>
            </a:r>
            <a:endParaRPr lang="en-US" sz="1500" dirty="0"/>
          </a:p>
        </p:txBody>
      </p:sp>
      <p:sp>
        <p:nvSpPr>
          <p:cNvPr id="11" name="Text 9"/>
          <p:cNvSpPr txBox="1"/>
          <p:nvPr/>
        </p:nvSpPr>
        <p:spPr>
          <a:xfrm>
            <a:off x="777240" y="3017520"/>
            <a:ext cx="5029200" cy="274320"/>
          </a:xfrm>
          <a:prstGeom prst="rect">
            <a:avLst/>
          </a:prstGeom>
          <a:noFill/>
          <a:ln/>
        </p:spPr>
        <p:txBody>
          <a:bodyPr wrap="square" lIns="0" tIns="0" rIns="0" bIns="0" rtlCol="0" anchor="t"/>
          <a:lstStyle/>
          <a:p>
            <a:pPr indent="0" marL="0">
              <a:buNone/>
            </a:pPr>
            <a:r>
              <a:rPr lang="en-US" sz="1300" dirty="0">
                <a:solidFill>
                  <a:srgbClr val="14183D"/>
                </a:solidFill>
                <a:latin typeface="Montserrat" pitchFamily="34" charset="0"/>
                <a:ea typeface="Montserrat" pitchFamily="34" charset="-122"/>
                <a:cs typeface="Montserrat" pitchFamily="34" charset="-120"/>
              </a:rPr>
              <a:t>Jesse Ponnock &amp; Lucas Ho · Johns Hopkins University</a:t>
            </a:r>
            <a:endParaRPr lang="en-US" sz="1300" dirty="0"/>
          </a:p>
        </p:txBody>
      </p:sp>
      <p:sp>
        <p:nvSpPr>
          <p:cNvPr id="12" name="Text 10"/>
          <p:cNvSpPr txBox="1"/>
          <p:nvPr/>
        </p:nvSpPr>
        <p:spPr>
          <a:xfrm>
            <a:off x="777240" y="3291840"/>
            <a:ext cx="5029200" cy="457200"/>
          </a:xfrm>
          <a:prstGeom prst="rect">
            <a:avLst/>
          </a:prstGeom>
          <a:noFill/>
          <a:ln/>
        </p:spPr>
        <p:txBody>
          <a:bodyPr wrap="square" lIns="0" tIns="0" rIns="0" bIns="0" rtlCol="0" anchor="t"/>
          <a:lstStyle/>
          <a:p>
            <a:pPr indent="0" marL="0">
              <a:buNone/>
            </a:pPr>
            <a:r>
              <a:rPr lang="en-US" sz="1200" dirty="0">
                <a:solidFill>
                  <a:srgbClr val="4A5070"/>
                </a:solidFill>
                <a:latin typeface="Montserrat" pitchFamily="34" charset="0"/>
                <a:ea typeface="Montserrat" pitchFamily="34" charset="-122"/>
                <a:cs typeface="Montserrat" pitchFamily="34" charset="-120"/>
              </a:rPr>
              <a:t>arXiv:2606.29511 · 28 juin 2026 · prépublication, pas encore relue par des pairs</a:t>
            </a:r>
            <a:endParaRPr lang="en-US" sz="1200" dirty="0"/>
          </a:p>
        </p:txBody>
      </p:sp>
      <p:sp>
        <p:nvSpPr>
          <p:cNvPr id="13" name="Text 11"/>
          <p:cNvSpPr txBox="1"/>
          <p:nvPr/>
        </p:nvSpPr>
        <p:spPr>
          <a:xfrm>
            <a:off x="777240" y="3886200"/>
            <a:ext cx="1591056" cy="457200"/>
          </a:xfrm>
          <a:prstGeom prst="rect">
            <a:avLst/>
          </a:prstGeom>
          <a:solidFill>
            <a:srgbClr val="14183D"/>
          </a:solidFill>
          <a:ln/>
        </p:spPr>
        <p:txBody>
          <a:bodyPr wrap="square" lIns="25400" tIns="25400" rIns="25400" bIns="25400" rtlCol="0" anchor="ctr"/>
          <a:lstStyle/>
          <a:p>
            <a:pPr algn="ctr" indent="0" marL="0">
              <a:buNone/>
            </a:pPr>
            <a:r>
              <a:rPr lang="en-US" sz="1700" b="1" dirty="0">
                <a:solidFill>
                  <a:srgbClr val="FFFFFF"/>
                </a:solidFill>
                <a:latin typeface="Montserrat" pitchFamily="34" charset="0"/>
                <a:ea typeface="Montserrat" pitchFamily="34" charset="-122"/>
                <a:cs typeface="Montserrat" pitchFamily="34" charset="-120"/>
              </a:rPr>
              <a:t>4 </a:t>
            </a:r>
            <a:r>
              <a:rPr lang="en-US" sz="1150" dirty="0">
                <a:solidFill>
                  <a:srgbClr val="FFFFFF"/>
                </a:solidFill>
                <a:latin typeface="Montserrat" pitchFamily="34" charset="0"/>
                <a:ea typeface="Montserrat" pitchFamily="34" charset="-122"/>
                <a:cs typeface="Montserrat" pitchFamily="34" charset="-120"/>
              </a:rPr>
              <a:t>algorithmes</a:t>
            </a:r>
            <a:endParaRPr lang="en-US" sz="1700" dirty="0"/>
          </a:p>
        </p:txBody>
      </p:sp>
      <p:sp>
        <p:nvSpPr>
          <p:cNvPr id="14" name="Text 12"/>
          <p:cNvSpPr txBox="1"/>
          <p:nvPr/>
        </p:nvSpPr>
        <p:spPr>
          <a:xfrm>
            <a:off x="2478024" y="3886200"/>
            <a:ext cx="1591056" cy="457200"/>
          </a:xfrm>
          <a:prstGeom prst="rect">
            <a:avLst/>
          </a:prstGeom>
          <a:solidFill>
            <a:srgbClr val="14183D"/>
          </a:solidFill>
          <a:ln/>
        </p:spPr>
        <p:txBody>
          <a:bodyPr wrap="square" lIns="25400" tIns="25400" rIns="25400" bIns="25400" rtlCol="0" anchor="ctr"/>
          <a:lstStyle/>
          <a:p>
            <a:pPr algn="ctr" indent="0" marL="0">
              <a:buNone/>
            </a:pPr>
            <a:r>
              <a:rPr lang="en-US" sz="1700" b="1" dirty="0">
                <a:solidFill>
                  <a:srgbClr val="FFFFFF"/>
                </a:solidFill>
                <a:latin typeface="Montserrat" pitchFamily="34" charset="0"/>
                <a:ea typeface="Montserrat" pitchFamily="34" charset="-122"/>
                <a:cs typeface="Montserrat" pitchFamily="34" charset="-120"/>
              </a:rPr>
              <a:t>3 </a:t>
            </a:r>
            <a:r>
              <a:rPr lang="en-US" sz="1150" dirty="0">
                <a:solidFill>
                  <a:srgbClr val="FFFFFF"/>
                </a:solidFill>
                <a:latin typeface="Montserrat" pitchFamily="34" charset="0"/>
                <a:ea typeface="Montserrat" pitchFamily="34" charset="-122"/>
                <a:cs typeface="Montserrat" pitchFamily="34" charset="-120"/>
              </a:rPr>
              <a:t>niveaux (v1 à v3)</a:t>
            </a:r>
            <a:endParaRPr lang="en-US" sz="1700" dirty="0"/>
          </a:p>
        </p:txBody>
      </p:sp>
      <p:sp>
        <p:nvSpPr>
          <p:cNvPr id="15" name="Text 13"/>
          <p:cNvSpPr txBox="1"/>
          <p:nvPr/>
        </p:nvSpPr>
        <p:spPr>
          <a:xfrm>
            <a:off x="4178808" y="3886200"/>
            <a:ext cx="1591056" cy="457200"/>
          </a:xfrm>
          <a:prstGeom prst="rect">
            <a:avLst/>
          </a:prstGeom>
          <a:solidFill>
            <a:srgbClr val="14183D"/>
          </a:solidFill>
          <a:ln/>
        </p:spPr>
        <p:txBody>
          <a:bodyPr wrap="square" lIns="25400" tIns="25400" rIns="25400" bIns="25400" rtlCol="0" anchor="ctr"/>
          <a:lstStyle/>
          <a:p>
            <a:pPr algn="ctr" indent="0" marL="0">
              <a:buNone/>
            </a:pPr>
            <a:r>
              <a:rPr lang="en-US" sz="1700" b="1" dirty="0">
                <a:solidFill>
                  <a:srgbClr val="FFFFFF"/>
                </a:solidFill>
                <a:latin typeface="Montserrat" pitchFamily="34" charset="0"/>
                <a:ea typeface="Montserrat" pitchFamily="34" charset="-122"/>
                <a:cs typeface="Montserrat" pitchFamily="34" charset="-120"/>
              </a:rPr>
              <a:t>120 </a:t>
            </a:r>
            <a:r>
              <a:rPr lang="en-US" sz="1150" dirty="0">
                <a:solidFill>
                  <a:srgbClr val="FFFFFF"/>
                </a:solidFill>
                <a:latin typeface="Montserrat" pitchFamily="34" charset="0"/>
                <a:ea typeface="Montserrat" pitchFamily="34" charset="-122"/>
                <a:cs typeface="Montserrat" pitchFamily="34" charset="-120"/>
              </a:rPr>
              <a:t>entraînements</a:t>
            </a:r>
            <a:endParaRPr lang="en-US" sz="1700" dirty="0"/>
          </a:p>
        </p:txBody>
      </p:sp>
      <p:sp>
        <p:nvSpPr>
          <p:cNvPr id="16" name="carte"/>
          <p:cNvSpPr/>
          <p:nvPr/>
        </p:nvSpPr>
        <p:spPr>
          <a:xfrm>
            <a:off x="6355080" y="1737360"/>
            <a:ext cx="5285232" cy="1298448"/>
          </a:xfrm>
          <a:prstGeom prst="rect">
            <a:avLst/>
          </a:prstGeom>
          <a:solidFill>
            <a:srgbClr val="FFC703"/>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7" name="Text 15"/>
          <p:cNvSpPr txBox="1"/>
          <p:nvPr/>
        </p:nvSpPr>
        <p:spPr>
          <a:xfrm>
            <a:off x="6510528" y="1920240"/>
            <a:ext cx="822960" cy="914400"/>
          </a:xfrm>
          <a:prstGeom prst="rect">
            <a:avLst/>
          </a:prstGeom>
          <a:noFill/>
          <a:ln/>
        </p:spPr>
        <p:txBody>
          <a:bodyPr wrap="square" lIns="0" tIns="0" rIns="0" bIns="0" rtlCol="0" anchor="ctr"/>
          <a:lstStyle/>
          <a:p>
            <a:pPr indent="0" marL="0">
              <a:buNone/>
            </a:pPr>
            <a:r>
              <a:rPr lang="en-US" sz="2600" dirty="0">
                <a:solidFill>
                  <a:srgbClr val="14183D"/>
                </a:solidFill>
                <a:latin typeface="Arcade Gamer" pitchFamily="34" charset="0"/>
                <a:ea typeface="Arcade Gamer" pitchFamily="34" charset="-122"/>
                <a:cs typeface="Arcade Gamer" pitchFamily="34" charset="-120"/>
              </a:rPr>
              <a:t>Q1</a:t>
            </a:r>
            <a:endParaRPr lang="en-US" sz="2600" dirty="0"/>
          </a:p>
        </p:txBody>
      </p:sp>
      <p:sp>
        <p:nvSpPr>
          <p:cNvPr id="18" name="Text 16"/>
          <p:cNvSpPr txBox="1"/>
          <p:nvPr/>
        </p:nvSpPr>
        <p:spPr>
          <a:xfrm>
            <a:off x="7315200" y="1883664"/>
            <a:ext cx="4160520" cy="1005840"/>
          </a:xfrm>
          <a:prstGeom prst="rect">
            <a:avLst/>
          </a:prstGeom>
          <a:noFill/>
          <a:ln/>
        </p:spPr>
        <p:txBody>
          <a:bodyPr wrap="square" lIns="0" tIns="0" rIns="0" bIns="0" rtlCol="0" anchor="ctr"/>
          <a:lstStyle/>
          <a:p>
            <a:pPr indent="0" marL="0">
              <a:buNone/>
            </a:pPr>
            <a:r>
              <a:rPr lang="en-US" sz="1500" b="1" dirty="0">
                <a:solidFill>
                  <a:srgbClr val="14183D"/>
                </a:solidFill>
                <a:latin typeface="Montserrat" pitchFamily="34" charset="0"/>
                <a:ea typeface="Montserrat" pitchFamily="34" charset="-122"/>
                <a:cs typeface="Montserrat" pitchFamily="34" charset="-120"/>
              </a:rPr>
              <a:t>Quel algorithme apprend le mieux le niveau, et cela dépend-il de sa difficulté ?</a:t>
            </a:r>
            <a:endParaRPr lang="en-US" sz="1500" dirty="0"/>
          </a:p>
        </p:txBody>
      </p:sp>
      <p:sp>
        <p:nvSpPr>
          <p:cNvPr id="19" name="carte"/>
          <p:cNvSpPr/>
          <p:nvPr/>
        </p:nvSpPr>
        <p:spPr>
          <a:xfrm>
            <a:off x="6355080" y="3182112"/>
            <a:ext cx="5285232" cy="1298448"/>
          </a:xfrm>
          <a:prstGeom prst="rect">
            <a:avLst/>
          </a:prstGeom>
          <a:solidFill>
            <a:srgbClr val="FFC703"/>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20" name="Text 18"/>
          <p:cNvSpPr txBox="1"/>
          <p:nvPr/>
        </p:nvSpPr>
        <p:spPr>
          <a:xfrm>
            <a:off x="6510528" y="3364992"/>
            <a:ext cx="822960" cy="914400"/>
          </a:xfrm>
          <a:prstGeom prst="rect">
            <a:avLst/>
          </a:prstGeom>
          <a:noFill/>
          <a:ln/>
        </p:spPr>
        <p:txBody>
          <a:bodyPr wrap="square" lIns="0" tIns="0" rIns="0" bIns="0" rtlCol="0" anchor="ctr"/>
          <a:lstStyle/>
          <a:p>
            <a:pPr indent="0" marL="0">
              <a:buNone/>
            </a:pPr>
            <a:r>
              <a:rPr lang="en-US" sz="2600" dirty="0">
                <a:solidFill>
                  <a:srgbClr val="14183D"/>
                </a:solidFill>
                <a:latin typeface="Arcade Gamer" pitchFamily="34" charset="0"/>
                <a:ea typeface="Arcade Gamer" pitchFamily="34" charset="-122"/>
                <a:cs typeface="Arcade Gamer" pitchFamily="34" charset="-120"/>
              </a:rPr>
              <a:t>Q2</a:t>
            </a:r>
            <a:endParaRPr lang="en-US" sz="2600" dirty="0"/>
          </a:p>
        </p:txBody>
      </p:sp>
      <p:sp>
        <p:nvSpPr>
          <p:cNvPr id="21" name="Text 19"/>
          <p:cNvSpPr txBox="1"/>
          <p:nvPr/>
        </p:nvSpPr>
        <p:spPr>
          <a:xfrm>
            <a:off x="7315200" y="3328416"/>
            <a:ext cx="4160520" cy="1005840"/>
          </a:xfrm>
          <a:prstGeom prst="rect">
            <a:avLst/>
          </a:prstGeom>
          <a:noFill/>
          <a:ln/>
        </p:spPr>
        <p:txBody>
          <a:bodyPr wrap="square" lIns="0" tIns="0" rIns="0" bIns="0" rtlCol="0" anchor="ctr"/>
          <a:lstStyle/>
          <a:p>
            <a:pPr indent="0" marL="0">
              <a:buNone/>
            </a:pPr>
            <a:r>
              <a:rPr lang="en-US" sz="1500" b="1" dirty="0">
                <a:solidFill>
                  <a:srgbClr val="14183D"/>
                </a:solidFill>
                <a:latin typeface="Montserrat" pitchFamily="34" charset="0"/>
                <a:ea typeface="Montserrat" pitchFamily="34" charset="-122"/>
                <a:cs typeface="Montserrat" pitchFamily="34" charset="-120"/>
              </a:rPr>
              <a:t>L'ordre d'origine des 6 morceaux du niveau accélère-t-il l'apprentissage ?</a:t>
            </a:r>
            <a:endParaRPr lang="en-US" sz="1500" dirty="0"/>
          </a:p>
        </p:txBody>
      </p:sp>
      <p:sp>
        <p:nvSpPr>
          <p:cNvPr id="22" name="Text 20"/>
          <p:cNvSpPr txBox="1"/>
          <p:nvPr/>
        </p:nvSpPr>
        <p:spPr>
          <a:xfrm>
            <a:off x="548640" y="4736592"/>
            <a:ext cx="5486400" cy="274320"/>
          </a:xfrm>
          <a:prstGeom prst="rect">
            <a:avLst/>
          </a:prstGeom>
          <a:noFill/>
          <a:ln/>
          <a:effectLst>
            <a:outerShdw sx="100000" sy="100000" kx="0" ky="0" algn="bl" rotWithShape="0" blurRad="101600" dist="15240" dir="2700000">
              <a:srgbClr val="2E1B5B">
                <a:alpha val="100000"/>
              </a:srgbClr>
            </a:outerShdw>
          </a:effectLst>
        </p:spPr>
        <p:txBody>
          <a:bodyPr wrap="square" lIns="0" tIns="0" rIns="0" bIns="0" rtlCol="0" anchor="ctr"/>
          <a:lstStyle/>
          <a:p>
            <a:pPr indent="0" marL="0">
              <a:buNone/>
            </a:pPr>
            <a:r>
              <a:rPr lang="en-US" sz="1200" b="1" spc="100" kern="0" dirty="0">
                <a:solidFill>
                  <a:srgbClr val="FFC703"/>
                </a:solidFill>
                <a:latin typeface="Montserrat" pitchFamily="34" charset="0"/>
                <a:ea typeface="Montserrat" pitchFamily="34" charset="-122"/>
                <a:cs typeface="Montserrat" pitchFamily="34" charset="-120"/>
              </a:rPr>
              <a:t>VEILLE : D'OÙ VIENT L'ARTICLE</a:t>
            </a:r>
            <a:endParaRPr lang="en-US" sz="1200" dirty="0"/>
          </a:p>
        </p:txBody>
      </p:sp>
      <p:sp>
        <p:nvSpPr>
          <p:cNvPr id="23" name="Shape 21"/>
          <p:cNvSpPr/>
          <p:nvPr/>
        </p:nvSpPr>
        <p:spPr>
          <a:xfrm>
            <a:off x="1097280" y="5422392"/>
            <a:ext cx="10012680" cy="54864"/>
          </a:xfrm>
          <a:prstGeom prst="rect">
            <a:avLst/>
          </a:prstGeom>
          <a:solidFill>
            <a:srgbClr val="FFFFFF"/>
          </a:solidFill>
          <a:ln/>
        </p:spPr>
      </p:sp>
      <p:sp>
        <p:nvSpPr>
          <p:cNvPr id="24" name="Shape 22"/>
          <p:cNvSpPr/>
          <p:nvPr/>
        </p:nvSpPr>
        <p:spPr>
          <a:xfrm>
            <a:off x="1243584" y="5367528"/>
            <a:ext cx="164592" cy="164592"/>
          </a:xfrm>
          <a:prstGeom prst="rect">
            <a:avLst/>
          </a:prstGeom>
          <a:solidFill>
            <a:srgbClr val="FFFFFF"/>
          </a:solidFill>
          <a:ln w="12700">
            <a:solidFill>
              <a:srgbClr val="000000"/>
            </a:solidFill>
            <a:prstDash val="solid"/>
          </a:ln>
        </p:spPr>
      </p:sp>
      <p:sp>
        <p:nvSpPr>
          <p:cNvPr id="25" name="Text 23"/>
          <p:cNvSpPr txBox="1"/>
          <p:nvPr/>
        </p:nvSpPr>
        <p:spPr>
          <a:xfrm>
            <a:off x="594360" y="5029200"/>
            <a:ext cx="1463040" cy="292608"/>
          </a:xfrm>
          <a:prstGeom prst="rect">
            <a:avLst/>
          </a:prstGeom>
          <a:noFill/>
          <a:ln/>
          <a:effectLst>
            <a:outerShdw sx="100000" sy="100000" kx="0" ky="0" algn="bl" rotWithShape="0" blurRad="101600" dist="15240" dir="2700000">
              <a:srgbClr val="2E1B5B">
                <a:alpha val="100000"/>
              </a:srgbClr>
            </a:outerShdw>
          </a:effectLst>
        </p:spPr>
        <p:txBody>
          <a:bodyPr wrap="square" lIns="0" tIns="0" rIns="0" bIns="0" rtlCol="0" anchor="ctr"/>
          <a:lstStyle/>
          <a:p>
            <a:pPr algn="ctr" indent="0" marL="0">
              <a:buNone/>
            </a:pPr>
            <a:r>
              <a:rPr lang="en-US" sz="1200" dirty="0">
                <a:solidFill>
                  <a:srgbClr val="FFFFFF"/>
                </a:solidFill>
                <a:latin typeface="Arcade Gamer" pitchFamily="34" charset="0"/>
                <a:ea typeface="Arcade Gamer" pitchFamily="34" charset="-122"/>
                <a:cs typeface="Arcade Gamer" pitchFamily="34" charset="-120"/>
              </a:rPr>
              <a:t>1992</a:t>
            </a:r>
            <a:endParaRPr lang="en-US" sz="1200" dirty="0"/>
          </a:p>
        </p:txBody>
      </p:sp>
      <p:sp>
        <p:nvSpPr>
          <p:cNvPr id="26" name="Text 24"/>
          <p:cNvSpPr txBox="1"/>
          <p:nvPr/>
        </p:nvSpPr>
        <p:spPr>
          <a:xfrm>
            <a:off x="530352" y="5596128"/>
            <a:ext cx="1591056" cy="566928"/>
          </a:xfrm>
          <a:prstGeom prst="rect">
            <a:avLst/>
          </a:prstGeom>
          <a:noFill/>
          <a:ln/>
        </p:spPr>
        <p:txBody>
          <a:bodyPr wrap="square" lIns="0" tIns="0" rIns="0" bIns="0" rtlCol="0" anchor="t"/>
          <a:lstStyle/>
          <a:p>
            <a:pPr algn="ctr" indent="0" marL="0">
              <a:lnSpc>
                <a:spcPct val="95000"/>
              </a:lnSpc>
              <a:buNone/>
            </a:pPr>
            <a:r>
              <a:rPr lang="en-US" sz="1050" b="1" dirty="0">
                <a:solidFill>
                  <a:srgbClr val="14183D"/>
                </a:solidFill>
                <a:latin typeface="Montserrat" pitchFamily="34" charset="0"/>
                <a:ea typeface="Montserrat" pitchFamily="34" charset="-122"/>
                <a:cs typeface="Montserrat" pitchFamily="34" charset="-120"/>
              </a:rPr>
              <a:t>Q-Learning</a:t>
            </a:r>
            <a:endParaRPr lang="en-US" sz="1050" dirty="0"/>
          </a:p>
          <a:p>
            <a:pPr algn="ctr" indent="0" marL="0">
              <a:lnSpc>
                <a:spcPct val="95000"/>
              </a:lnSpc>
              <a:buNone/>
            </a:pPr>
            <a:r>
              <a:rPr lang="en-US" sz="1050" b="1" dirty="0">
                <a:solidFill>
                  <a:srgbClr val="14183D"/>
                </a:solidFill>
                <a:latin typeface="Montserrat" pitchFamily="34" charset="0"/>
                <a:ea typeface="Montserrat" pitchFamily="34" charset="-122"/>
                <a:cs typeface="Montserrat" pitchFamily="34" charset="-120"/>
              </a:rPr>
              <a:t>Watkins &amp; Dayan</a:t>
            </a:r>
            <a:endParaRPr lang="en-US" sz="1050" dirty="0"/>
          </a:p>
        </p:txBody>
      </p:sp>
      <p:sp>
        <p:nvSpPr>
          <p:cNvPr id="27" name="Shape 25"/>
          <p:cNvSpPr/>
          <p:nvPr/>
        </p:nvSpPr>
        <p:spPr>
          <a:xfrm>
            <a:off x="2836164" y="5367528"/>
            <a:ext cx="164592" cy="164592"/>
          </a:xfrm>
          <a:prstGeom prst="rect">
            <a:avLst/>
          </a:prstGeom>
          <a:solidFill>
            <a:srgbClr val="FFFFFF"/>
          </a:solidFill>
          <a:ln w="12700">
            <a:solidFill>
              <a:srgbClr val="000000"/>
            </a:solidFill>
            <a:prstDash val="solid"/>
          </a:ln>
        </p:spPr>
      </p:sp>
      <p:sp>
        <p:nvSpPr>
          <p:cNvPr id="28" name="Text 26"/>
          <p:cNvSpPr txBox="1"/>
          <p:nvPr/>
        </p:nvSpPr>
        <p:spPr>
          <a:xfrm>
            <a:off x="2186940" y="5029200"/>
            <a:ext cx="1463040" cy="292608"/>
          </a:xfrm>
          <a:prstGeom prst="rect">
            <a:avLst/>
          </a:prstGeom>
          <a:noFill/>
          <a:ln/>
          <a:effectLst>
            <a:outerShdw sx="100000" sy="100000" kx="0" ky="0" algn="bl" rotWithShape="0" blurRad="101600" dist="15240" dir="2700000">
              <a:srgbClr val="2E1B5B">
                <a:alpha val="100000"/>
              </a:srgbClr>
            </a:outerShdw>
          </a:effectLst>
        </p:spPr>
        <p:txBody>
          <a:bodyPr wrap="square" lIns="0" tIns="0" rIns="0" bIns="0" rtlCol="0" anchor="ctr"/>
          <a:lstStyle/>
          <a:p>
            <a:pPr algn="ctr" indent="0" marL="0">
              <a:buNone/>
            </a:pPr>
            <a:r>
              <a:rPr lang="en-US" sz="1200" dirty="0">
                <a:solidFill>
                  <a:srgbClr val="FFFFFF"/>
                </a:solidFill>
                <a:latin typeface="Arcade Gamer" pitchFamily="34" charset="0"/>
                <a:ea typeface="Arcade Gamer" pitchFamily="34" charset="-122"/>
                <a:cs typeface="Arcade Gamer" pitchFamily="34" charset="-120"/>
              </a:rPr>
              <a:t>1994</a:t>
            </a:r>
            <a:endParaRPr lang="en-US" sz="1200" dirty="0"/>
          </a:p>
        </p:txBody>
      </p:sp>
      <p:sp>
        <p:nvSpPr>
          <p:cNvPr id="29" name="Text 27"/>
          <p:cNvSpPr txBox="1"/>
          <p:nvPr/>
        </p:nvSpPr>
        <p:spPr>
          <a:xfrm>
            <a:off x="2122932" y="5596128"/>
            <a:ext cx="1591056" cy="566928"/>
          </a:xfrm>
          <a:prstGeom prst="rect">
            <a:avLst/>
          </a:prstGeom>
          <a:noFill/>
          <a:ln/>
        </p:spPr>
        <p:txBody>
          <a:bodyPr wrap="square" lIns="0" tIns="0" rIns="0" bIns="0" rtlCol="0" anchor="t"/>
          <a:lstStyle/>
          <a:p>
            <a:pPr algn="ctr" indent="0" marL="0">
              <a:lnSpc>
                <a:spcPct val="95000"/>
              </a:lnSpc>
              <a:buNone/>
            </a:pPr>
            <a:r>
              <a:rPr lang="en-US" sz="1050" b="1" dirty="0">
                <a:solidFill>
                  <a:srgbClr val="14183D"/>
                </a:solidFill>
                <a:latin typeface="Montserrat" pitchFamily="34" charset="0"/>
                <a:ea typeface="Montserrat" pitchFamily="34" charset="-122"/>
                <a:cs typeface="Montserrat" pitchFamily="34" charset="-120"/>
              </a:rPr>
              <a:t>SARSA</a:t>
            </a:r>
            <a:endParaRPr lang="en-US" sz="1050" dirty="0"/>
          </a:p>
          <a:p>
            <a:pPr algn="ctr" indent="0" marL="0">
              <a:lnSpc>
                <a:spcPct val="95000"/>
              </a:lnSpc>
              <a:buNone/>
            </a:pPr>
            <a:r>
              <a:rPr lang="en-US" sz="1050" b="1" dirty="0">
                <a:solidFill>
                  <a:srgbClr val="14183D"/>
                </a:solidFill>
                <a:latin typeface="Montserrat" pitchFamily="34" charset="0"/>
                <a:ea typeface="Montserrat" pitchFamily="34" charset="-122"/>
                <a:cs typeface="Montserrat" pitchFamily="34" charset="-120"/>
              </a:rPr>
              <a:t>Rummery &amp; Niranjan</a:t>
            </a:r>
            <a:endParaRPr lang="en-US" sz="1050" dirty="0"/>
          </a:p>
        </p:txBody>
      </p:sp>
      <p:sp>
        <p:nvSpPr>
          <p:cNvPr id="30" name="Shape 28"/>
          <p:cNvSpPr/>
          <p:nvPr/>
        </p:nvSpPr>
        <p:spPr>
          <a:xfrm>
            <a:off x="4428744" y="5367528"/>
            <a:ext cx="164592" cy="164592"/>
          </a:xfrm>
          <a:prstGeom prst="rect">
            <a:avLst/>
          </a:prstGeom>
          <a:solidFill>
            <a:srgbClr val="FFFFFF"/>
          </a:solidFill>
          <a:ln w="12700">
            <a:solidFill>
              <a:srgbClr val="000000"/>
            </a:solidFill>
            <a:prstDash val="solid"/>
          </a:ln>
        </p:spPr>
      </p:sp>
      <p:sp>
        <p:nvSpPr>
          <p:cNvPr id="31" name="Text 29"/>
          <p:cNvSpPr txBox="1"/>
          <p:nvPr/>
        </p:nvSpPr>
        <p:spPr>
          <a:xfrm>
            <a:off x="3779520" y="5029200"/>
            <a:ext cx="1463040" cy="292608"/>
          </a:xfrm>
          <a:prstGeom prst="rect">
            <a:avLst/>
          </a:prstGeom>
          <a:noFill/>
          <a:ln/>
          <a:effectLst>
            <a:outerShdw sx="100000" sy="100000" kx="0" ky="0" algn="bl" rotWithShape="0" blurRad="101600" dist="15240" dir="2700000">
              <a:srgbClr val="2E1B5B">
                <a:alpha val="100000"/>
              </a:srgbClr>
            </a:outerShdw>
          </a:effectLst>
        </p:spPr>
        <p:txBody>
          <a:bodyPr wrap="square" lIns="0" tIns="0" rIns="0" bIns="0" rtlCol="0" anchor="ctr"/>
          <a:lstStyle/>
          <a:p>
            <a:pPr algn="ctr" indent="0" marL="0">
              <a:buNone/>
            </a:pPr>
            <a:r>
              <a:rPr lang="en-US" sz="1200" dirty="0">
                <a:solidFill>
                  <a:srgbClr val="FFFFFF"/>
                </a:solidFill>
                <a:latin typeface="Arcade Gamer" pitchFamily="34" charset="0"/>
                <a:ea typeface="Arcade Gamer" pitchFamily="34" charset="-122"/>
                <a:cs typeface="Arcade Gamer" pitchFamily="34" charset="-120"/>
              </a:rPr>
              <a:t>2009</a:t>
            </a:r>
            <a:endParaRPr lang="en-US" sz="1200" dirty="0"/>
          </a:p>
        </p:txBody>
      </p:sp>
      <p:sp>
        <p:nvSpPr>
          <p:cNvPr id="32" name="Text 30"/>
          <p:cNvSpPr txBox="1"/>
          <p:nvPr/>
        </p:nvSpPr>
        <p:spPr>
          <a:xfrm>
            <a:off x="3715512" y="5596128"/>
            <a:ext cx="1591056" cy="566928"/>
          </a:xfrm>
          <a:prstGeom prst="rect">
            <a:avLst/>
          </a:prstGeom>
          <a:noFill/>
          <a:ln/>
        </p:spPr>
        <p:txBody>
          <a:bodyPr wrap="square" lIns="0" tIns="0" rIns="0" bIns="0" rtlCol="0" anchor="t"/>
          <a:lstStyle/>
          <a:p>
            <a:pPr algn="ctr" indent="0" marL="0">
              <a:lnSpc>
                <a:spcPct val="95000"/>
              </a:lnSpc>
              <a:buNone/>
            </a:pPr>
            <a:r>
              <a:rPr lang="en-US" sz="1050" b="1" dirty="0">
                <a:solidFill>
                  <a:srgbClr val="14183D"/>
                </a:solidFill>
                <a:latin typeface="Montserrat" pitchFamily="34" charset="0"/>
                <a:ea typeface="Montserrat" pitchFamily="34" charset="-122"/>
                <a:cs typeface="Montserrat" pitchFamily="34" charset="-120"/>
              </a:rPr>
              <a:t>Curriculum learning</a:t>
            </a:r>
            <a:endParaRPr lang="en-US" sz="1050" dirty="0"/>
          </a:p>
          <a:p>
            <a:pPr algn="ctr" indent="0" marL="0">
              <a:lnSpc>
                <a:spcPct val="95000"/>
              </a:lnSpc>
              <a:buNone/>
            </a:pPr>
            <a:r>
              <a:rPr lang="en-US" sz="1050" b="1" dirty="0">
                <a:solidFill>
                  <a:srgbClr val="14183D"/>
                </a:solidFill>
                <a:latin typeface="Montserrat" pitchFamily="34" charset="0"/>
                <a:ea typeface="Montserrat" pitchFamily="34" charset="-122"/>
                <a:cs typeface="Montserrat" pitchFamily="34" charset="-120"/>
              </a:rPr>
              <a:t>Bengio et al.</a:t>
            </a:r>
            <a:endParaRPr lang="en-US" sz="1050" dirty="0"/>
          </a:p>
        </p:txBody>
      </p:sp>
      <p:sp>
        <p:nvSpPr>
          <p:cNvPr id="33" name="Shape 31"/>
          <p:cNvSpPr/>
          <p:nvPr/>
        </p:nvSpPr>
        <p:spPr>
          <a:xfrm>
            <a:off x="6021324" y="5367528"/>
            <a:ext cx="164592" cy="164592"/>
          </a:xfrm>
          <a:prstGeom prst="rect">
            <a:avLst/>
          </a:prstGeom>
          <a:solidFill>
            <a:srgbClr val="FFFFFF"/>
          </a:solidFill>
          <a:ln w="12700">
            <a:solidFill>
              <a:srgbClr val="000000"/>
            </a:solidFill>
            <a:prstDash val="solid"/>
          </a:ln>
        </p:spPr>
      </p:sp>
      <p:sp>
        <p:nvSpPr>
          <p:cNvPr id="34" name="Text 32"/>
          <p:cNvSpPr txBox="1"/>
          <p:nvPr/>
        </p:nvSpPr>
        <p:spPr>
          <a:xfrm>
            <a:off x="5372100" y="5029200"/>
            <a:ext cx="1463040" cy="292608"/>
          </a:xfrm>
          <a:prstGeom prst="rect">
            <a:avLst/>
          </a:prstGeom>
          <a:noFill/>
          <a:ln/>
          <a:effectLst>
            <a:outerShdw sx="100000" sy="100000" kx="0" ky="0" algn="bl" rotWithShape="0" blurRad="101600" dist="15240" dir="2700000">
              <a:srgbClr val="2E1B5B">
                <a:alpha val="100000"/>
              </a:srgbClr>
            </a:outerShdw>
          </a:effectLst>
        </p:spPr>
        <p:txBody>
          <a:bodyPr wrap="square" lIns="0" tIns="0" rIns="0" bIns="0" rtlCol="0" anchor="ctr"/>
          <a:lstStyle/>
          <a:p>
            <a:pPr algn="ctr" indent="0" marL="0">
              <a:buNone/>
            </a:pPr>
            <a:r>
              <a:rPr lang="en-US" sz="1200" dirty="0">
                <a:solidFill>
                  <a:srgbClr val="FFFFFF"/>
                </a:solidFill>
                <a:latin typeface="Arcade Gamer" pitchFamily="34" charset="0"/>
                <a:ea typeface="Arcade Gamer" pitchFamily="34" charset="-122"/>
                <a:cs typeface="Arcade Gamer" pitchFamily="34" charset="-120"/>
              </a:rPr>
              <a:t>2015</a:t>
            </a:r>
            <a:endParaRPr lang="en-US" sz="1200" dirty="0"/>
          </a:p>
        </p:txBody>
      </p:sp>
      <p:sp>
        <p:nvSpPr>
          <p:cNvPr id="35" name="Text 33"/>
          <p:cNvSpPr txBox="1"/>
          <p:nvPr/>
        </p:nvSpPr>
        <p:spPr>
          <a:xfrm>
            <a:off x="5308092" y="5596128"/>
            <a:ext cx="1591056" cy="566928"/>
          </a:xfrm>
          <a:prstGeom prst="rect">
            <a:avLst/>
          </a:prstGeom>
          <a:noFill/>
          <a:ln/>
        </p:spPr>
        <p:txBody>
          <a:bodyPr wrap="square" lIns="0" tIns="0" rIns="0" bIns="0" rtlCol="0" anchor="t"/>
          <a:lstStyle/>
          <a:p>
            <a:pPr algn="ctr" indent="0" marL="0">
              <a:lnSpc>
                <a:spcPct val="95000"/>
              </a:lnSpc>
              <a:buNone/>
            </a:pPr>
            <a:r>
              <a:rPr lang="en-US" sz="1050" b="1" dirty="0">
                <a:solidFill>
                  <a:srgbClr val="14183D"/>
                </a:solidFill>
                <a:latin typeface="Montserrat" pitchFamily="34" charset="0"/>
                <a:ea typeface="Montserrat" pitchFamily="34" charset="-122"/>
                <a:cs typeface="Montserrat" pitchFamily="34" charset="-120"/>
              </a:rPr>
              <a:t>DQN</a:t>
            </a:r>
            <a:endParaRPr lang="en-US" sz="1050" dirty="0"/>
          </a:p>
          <a:p>
            <a:pPr algn="ctr" indent="0" marL="0">
              <a:lnSpc>
                <a:spcPct val="95000"/>
              </a:lnSpc>
              <a:buNone/>
            </a:pPr>
            <a:r>
              <a:rPr lang="en-US" sz="1050" b="1" dirty="0">
                <a:solidFill>
                  <a:srgbClr val="14183D"/>
                </a:solidFill>
                <a:latin typeface="Montserrat" pitchFamily="34" charset="0"/>
                <a:ea typeface="Montserrat" pitchFamily="34" charset="-122"/>
                <a:cs typeface="Montserrat" pitchFamily="34" charset="-120"/>
              </a:rPr>
              <a:t>Mnih et al., Nature</a:t>
            </a:r>
            <a:endParaRPr lang="en-US" sz="1050" dirty="0"/>
          </a:p>
        </p:txBody>
      </p:sp>
      <p:sp>
        <p:nvSpPr>
          <p:cNvPr id="36" name="Shape 34"/>
          <p:cNvSpPr/>
          <p:nvPr/>
        </p:nvSpPr>
        <p:spPr>
          <a:xfrm>
            <a:off x="7613904" y="5367528"/>
            <a:ext cx="164592" cy="164592"/>
          </a:xfrm>
          <a:prstGeom prst="rect">
            <a:avLst/>
          </a:prstGeom>
          <a:solidFill>
            <a:srgbClr val="FFFFFF"/>
          </a:solidFill>
          <a:ln w="12700">
            <a:solidFill>
              <a:srgbClr val="000000"/>
            </a:solidFill>
            <a:prstDash val="solid"/>
          </a:ln>
        </p:spPr>
      </p:sp>
      <p:sp>
        <p:nvSpPr>
          <p:cNvPr id="37" name="Text 35"/>
          <p:cNvSpPr txBox="1"/>
          <p:nvPr/>
        </p:nvSpPr>
        <p:spPr>
          <a:xfrm>
            <a:off x="6964680" y="5029200"/>
            <a:ext cx="1463040" cy="292608"/>
          </a:xfrm>
          <a:prstGeom prst="rect">
            <a:avLst/>
          </a:prstGeom>
          <a:noFill/>
          <a:ln/>
          <a:effectLst>
            <a:outerShdw sx="100000" sy="100000" kx="0" ky="0" algn="bl" rotWithShape="0" blurRad="101600" dist="15240" dir="2700000">
              <a:srgbClr val="2E1B5B">
                <a:alpha val="100000"/>
              </a:srgbClr>
            </a:outerShdw>
          </a:effectLst>
        </p:spPr>
        <p:txBody>
          <a:bodyPr wrap="square" lIns="0" tIns="0" rIns="0" bIns="0" rtlCol="0" anchor="ctr"/>
          <a:lstStyle/>
          <a:p>
            <a:pPr algn="ctr" indent="0" marL="0">
              <a:buNone/>
            </a:pPr>
            <a:r>
              <a:rPr lang="en-US" sz="1200" dirty="0">
                <a:solidFill>
                  <a:srgbClr val="FFFFFF"/>
                </a:solidFill>
                <a:latin typeface="Arcade Gamer" pitchFamily="34" charset="0"/>
                <a:ea typeface="Arcade Gamer" pitchFamily="34" charset="-122"/>
                <a:cs typeface="Arcade Gamer" pitchFamily="34" charset="-120"/>
              </a:rPr>
              <a:t>2017</a:t>
            </a:r>
            <a:endParaRPr lang="en-US" sz="1200" dirty="0"/>
          </a:p>
        </p:txBody>
      </p:sp>
      <p:sp>
        <p:nvSpPr>
          <p:cNvPr id="38" name="Text 36"/>
          <p:cNvSpPr txBox="1"/>
          <p:nvPr/>
        </p:nvSpPr>
        <p:spPr>
          <a:xfrm>
            <a:off x="6900672" y="5596128"/>
            <a:ext cx="1591056" cy="566928"/>
          </a:xfrm>
          <a:prstGeom prst="rect">
            <a:avLst/>
          </a:prstGeom>
          <a:noFill/>
          <a:ln/>
        </p:spPr>
        <p:txBody>
          <a:bodyPr wrap="square" lIns="0" tIns="0" rIns="0" bIns="0" rtlCol="0" anchor="t"/>
          <a:lstStyle/>
          <a:p>
            <a:pPr algn="ctr" indent="0" marL="0">
              <a:lnSpc>
                <a:spcPct val="95000"/>
              </a:lnSpc>
              <a:buNone/>
            </a:pPr>
            <a:r>
              <a:rPr lang="en-US" sz="1050" b="1" dirty="0">
                <a:solidFill>
                  <a:srgbClr val="14183D"/>
                </a:solidFill>
                <a:latin typeface="Montserrat" pitchFamily="34" charset="0"/>
                <a:ea typeface="Montserrat" pitchFamily="34" charset="-122"/>
                <a:cs typeface="Montserrat" pitchFamily="34" charset="-120"/>
              </a:rPr>
              <a:t>PPO</a:t>
            </a:r>
            <a:endParaRPr lang="en-US" sz="1050" dirty="0"/>
          </a:p>
          <a:p>
            <a:pPr algn="ctr" indent="0" marL="0">
              <a:lnSpc>
                <a:spcPct val="95000"/>
              </a:lnSpc>
              <a:buNone/>
            </a:pPr>
            <a:r>
              <a:rPr lang="en-US" sz="1050" b="1" dirty="0">
                <a:solidFill>
                  <a:srgbClr val="14183D"/>
                </a:solidFill>
                <a:latin typeface="Montserrat" pitchFamily="34" charset="0"/>
                <a:ea typeface="Montserrat" pitchFamily="34" charset="-122"/>
                <a:cs typeface="Montserrat" pitchFamily="34" charset="-120"/>
              </a:rPr>
              <a:t>Schulman et al.</a:t>
            </a:r>
            <a:endParaRPr lang="en-US" sz="1050" dirty="0"/>
          </a:p>
        </p:txBody>
      </p:sp>
      <p:sp>
        <p:nvSpPr>
          <p:cNvPr id="39" name="Shape 37"/>
          <p:cNvSpPr/>
          <p:nvPr/>
        </p:nvSpPr>
        <p:spPr>
          <a:xfrm>
            <a:off x="9206484" y="5367528"/>
            <a:ext cx="164592" cy="164592"/>
          </a:xfrm>
          <a:prstGeom prst="rect">
            <a:avLst/>
          </a:prstGeom>
          <a:solidFill>
            <a:srgbClr val="FFFFFF"/>
          </a:solidFill>
          <a:ln w="12700">
            <a:solidFill>
              <a:srgbClr val="000000"/>
            </a:solidFill>
            <a:prstDash val="solid"/>
          </a:ln>
        </p:spPr>
      </p:sp>
      <p:sp>
        <p:nvSpPr>
          <p:cNvPr id="40" name="Text 38"/>
          <p:cNvSpPr txBox="1"/>
          <p:nvPr/>
        </p:nvSpPr>
        <p:spPr>
          <a:xfrm>
            <a:off x="8557260" y="5029200"/>
            <a:ext cx="1463040" cy="292608"/>
          </a:xfrm>
          <a:prstGeom prst="rect">
            <a:avLst/>
          </a:prstGeom>
          <a:noFill/>
          <a:ln/>
          <a:effectLst>
            <a:outerShdw sx="100000" sy="100000" kx="0" ky="0" algn="bl" rotWithShape="0" blurRad="101600" dist="15240" dir="2700000">
              <a:srgbClr val="2E1B5B">
                <a:alpha val="100000"/>
              </a:srgbClr>
            </a:outerShdw>
          </a:effectLst>
        </p:spPr>
        <p:txBody>
          <a:bodyPr wrap="square" lIns="0" tIns="0" rIns="0" bIns="0" rtlCol="0" anchor="ctr"/>
          <a:lstStyle/>
          <a:p>
            <a:pPr algn="ctr" indent="0" marL="0">
              <a:buNone/>
            </a:pPr>
            <a:r>
              <a:rPr lang="en-US" sz="1200" dirty="0">
                <a:solidFill>
                  <a:srgbClr val="FFFFFF"/>
                </a:solidFill>
                <a:latin typeface="Arcade Gamer" pitchFamily="34" charset="0"/>
                <a:ea typeface="Arcade Gamer" pitchFamily="34" charset="-122"/>
                <a:cs typeface="Arcade Gamer" pitchFamily="34" charset="-120"/>
              </a:rPr>
              <a:t>2018</a:t>
            </a:r>
            <a:endParaRPr lang="en-US" sz="1200" dirty="0"/>
          </a:p>
        </p:txBody>
      </p:sp>
      <p:sp>
        <p:nvSpPr>
          <p:cNvPr id="41" name="Text 39"/>
          <p:cNvSpPr txBox="1"/>
          <p:nvPr/>
        </p:nvSpPr>
        <p:spPr>
          <a:xfrm>
            <a:off x="8493252" y="5596128"/>
            <a:ext cx="1591056" cy="566928"/>
          </a:xfrm>
          <a:prstGeom prst="rect">
            <a:avLst/>
          </a:prstGeom>
          <a:noFill/>
          <a:ln/>
        </p:spPr>
        <p:txBody>
          <a:bodyPr wrap="square" lIns="0" tIns="0" rIns="0" bIns="0" rtlCol="0" anchor="t"/>
          <a:lstStyle/>
          <a:p>
            <a:pPr algn="ctr" indent="0" marL="0">
              <a:lnSpc>
                <a:spcPct val="95000"/>
              </a:lnSpc>
              <a:buNone/>
            </a:pPr>
            <a:r>
              <a:rPr lang="en-US" sz="1050" b="1" dirty="0">
                <a:solidFill>
                  <a:srgbClr val="14183D"/>
                </a:solidFill>
                <a:latin typeface="Montserrat" pitchFamily="34" charset="0"/>
                <a:ea typeface="Montserrat" pitchFamily="34" charset="-122"/>
                <a:cs typeface="Montserrat" pitchFamily="34" charset="-120"/>
              </a:rPr>
              <a:t>gym-super-mario-bros</a:t>
            </a:r>
            <a:endParaRPr lang="en-US" sz="1050" dirty="0"/>
          </a:p>
          <a:p>
            <a:pPr algn="ctr" indent="0" marL="0">
              <a:lnSpc>
                <a:spcPct val="95000"/>
              </a:lnSpc>
              <a:buNone/>
            </a:pPr>
            <a:r>
              <a:rPr lang="en-US" sz="1050" b="1" dirty="0">
                <a:solidFill>
                  <a:srgbClr val="14183D"/>
                </a:solidFill>
                <a:latin typeface="Montserrat" pitchFamily="34" charset="0"/>
                <a:ea typeface="Montserrat" pitchFamily="34" charset="-122"/>
                <a:cs typeface="Montserrat" pitchFamily="34" charset="-120"/>
              </a:rPr>
              <a:t>Kautenja</a:t>
            </a:r>
            <a:endParaRPr lang="en-US" sz="1050" dirty="0"/>
          </a:p>
        </p:txBody>
      </p:sp>
      <p:sp>
        <p:nvSpPr>
          <p:cNvPr id="42" name="Shape 40"/>
          <p:cNvSpPr/>
          <p:nvPr/>
        </p:nvSpPr>
        <p:spPr>
          <a:xfrm>
            <a:off x="10799064" y="5367528"/>
            <a:ext cx="164592" cy="164592"/>
          </a:xfrm>
          <a:prstGeom prst="rect">
            <a:avLst/>
          </a:prstGeom>
          <a:solidFill>
            <a:srgbClr val="FFC703"/>
          </a:solidFill>
          <a:ln w="12700">
            <a:solidFill>
              <a:srgbClr val="000000"/>
            </a:solidFill>
            <a:prstDash val="solid"/>
          </a:ln>
        </p:spPr>
      </p:sp>
      <p:sp>
        <p:nvSpPr>
          <p:cNvPr id="43" name="Text 41"/>
          <p:cNvSpPr txBox="1"/>
          <p:nvPr/>
        </p:nvSpPr>
        <p:spPr>
          <a:xfrm>
            <a:off x="10149840" y="5029200"/>
            <a:ext cx="1463040" cy="292608"/>
          </a:xfrm>
          <a:prstGeom prst="rect">
            <a:avLst/>
          </a:prstGeom>
          <a:noFill/>
          <a:ln/>
          <a:effectLst>
            <a:outerShdw sx="100000" sy="100000" kx="0" ky="0" algn="bl" rotWithShape="0" blurRad="101600" dist="15240" dir="2700000">
              <a:srgbClr val="2E1B5B">
                <a:alpha val="100000"/>
              </a:srgbClr>
            </a:outerShdw>
          </a:effectLst>
        </p:spPr>
        <p:txBody>
          <a:bodyPr wrap="square" lIns="0" tIns="0" rIns="0" bIns="0" rtlCol="0" anchor="ctr"/>
          <a:lstStyle/>
          <a:p>
            <a:pPr algn="ctr" indent="0" marL="0">
              <a:buNone/>
            </a:pPr>
            <a:r>
              <a:rPr lang="en-US" sz="1200" dirty="0">
                <a:solidFill>
                  <a:srgbClr val="FFC703"/>
                </a:solidFill>
                <a:latin typeface="Arcade Gamer" pitchFamily="34" charset="0"/>
                <a:ea typeface="Arcade Gamer" pitchFamily="34" charset="-122"/>
                <a:cs typeface="Arcade Gamer" pitchFamily="34" charset="-120"/>
              </a:rPr>
              <a:t>2026</a:t>
            </a:r>
            <a:endParaRPr lang="en-US" sz="1200" dirty="0"/>
          </a:p>
        </p:txBody>
      </p:sp>
      <p:sp>
        <p:nvSpPr>
          <p:cNvPr id="44" name="Text 42"/>
          <p:cNvSpPr txBox="1"/>
          <p:nvPr/>
        </p:nvSpPr>
        <p:spPr>
          <a:xfrm>
            <a:off x="10085832" y="5596128"/>
            <a:ext cx="1591056" cy="566928"/>
          </a:xfrm>
          <a:prstGeom prst="rect">
            <a:avLst/>
          </a:prstGeom>
          <a:noFill/>
          <a:ln/>
        </p:spPr>
        <p:txBody>
          <a:bodyPr wrap="square" lIns="0" tIns="0" rIns="0" bIns="0" rtlCol="0" anchor="t"/>
          <a:lstStyle/>
          <a:p>
            <a:pPr algn="ctr" indent="0" marL="0">
              <a:lnSpc>
                <a:spcPct val="95000"/>
              </a:lnSpc>
              <a:buNone/>
            </a:pPr>
            <a:r>
              <a:rPr lang="en-US" sz="1050" b="1" dirty="0">
                <a:solidFill>
                  <a:srgbClr val="14183D"/>
                </a:solidFill>
                <a:latin typeface="Montserrat" pitchFamily="34" charset="0"/>
                <a:ea typeface="Montserrat" pitchFamily="34" charset="-122"/>
                <a:cs typeface="Montserrat" pitchFamily="34" charset="-120"/>
              </a:rPr>
              <a:t>L'article</a:t>
            </a:r>
            <a:endParaRPr lang="en-US" sz="1050" dirty="0"/>
          </a:p>
          <a:p>
            <a:pPr algn="ctr" indent="0" marL="0">
              <a:lnSpc>
                <a:spcPct val="95000"/>
              </a:lnSpc>
              <a:buNone/>
            </a:pPr>
            <a:r>
              <a:rPr lang="en-US" sz="1050" b="1" dirty="0">
                <a:solidFill>
                  <a:srgbClr val="14183D"/>
                </a:solidFill>
                <a:latin typeface="Montserrat" pitchFamily="34" charset="0"/>
                <a:ea typeface="Montserrat" pitchFamily="34" charset="-122"/>
                <a:cs typeface="Montserrat" pitchFamily="34" charset="-120"/>
              </a:rPr>
              <a:t>Ponnock &amp; Ho</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WORLD 1-1 - LA VEILLE</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LE TERRAIN ET LES JOUEURS</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Une grille de 212 × 14 cases, 3 boutons, et 4 algorithmes en compétition.</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5</a:t>
            </a:r>
            <a:endParaRPr lang="en-US" sz="1000" dirty="0"/>
          </a:p>
        </p:txBody>
      </p:sp>
      <p:pic>
        <p:nvPicPr>
          <p:cNvPr id="8" name="niveau_v3" descr="/home/user/MarioRL_FinalWork/docs/oral/fabrication/assets/level_v3.png">    </p:cNvPr>
          <p:cNvPicPr>
            <a:picLocks noChangeAspect="1"/>
          </p:cNvPicPr>
          <p:nvPr/>
        </p:nvPicPr>
        <p:blipFill>
          <a:blip r:embed="rId1"/>
          <a:stretch>
            <a:fillRect/>
          </a:stretch>
        </p:blipFill>
        <p:spPr>
          <a:xfrm>
            <a:off x="548640" y="1755648"/>
            <a:ext cx="11091672" cy="575511"/>
          </a:xfrm>
          <a:prstGeom prst="rect">
            <a:avLst/>
          </a:prstGeom>
        </p:spPr>
      </p:pic>
      <p:sp>
        <p:nvSpPr>
          <p:cNvPr id="9" name="Shape 6"/>
          <p:cNvSpPr/>
          <p:nvPr/>
        </p:nvSpPr>
        <p:spPr>
          <a:xfrm>
            <a:off x="530352" y="1737360"/>
            <a:ext cx="11128248" cy="612087"/>
          </a:xfrm>
          <a:prstGeom prst="rect">
            <a:avLst/>
          </a:prstGeom>
          <a:ln w="19050">
            <a:solidFill>
              <a:srgbClr val="000000"/>
            </a:solidFill>
            <a:prstDash val="solid"/>
          </a:ln>
        </p:spPr>
      </p:sp>
      <p:sp>
        <p:nvSpPr>
          <p:cNvPr id="10" name="Text 7"/>
          <p:cNvSpPr txBox="1"/>
          <p:nvPr/>
        </p:nvSpPr>
        <p:spPr>
          <a:xfrm>
            <a:off x="548640" y="2395728"/>
            <a:ext cx="11091672" cy="256032"/>
          </a:xfrm>
          <a:prstGeom prst="rect">
            <a:avLst/>
          </a:prstGeom>
          <a:noFill/>
          <a:ln/>
        </p:spPr>
        <p:txBody>
          <a:bodyPr wrap="square" lIns="0" tIns="0" rIns="0" bIns="0" rtlCol="0" anchor="t"/>
          <a:lstStyle/>
          <a:p>
            <a:pPr indent="0" marL="0">
              <a:buNone/>
            </a:pPr>
            <a:r>
              <a:rPr lang="en-US" sz="1200" b="1" dirty="0">
                <a:solidFill>
                  <a:srgbClr val="14183D"/>
                </a:solidFill>
                <a:latin typeface="Montserrat" pitchFamily="34" charset="0"/>
                <a:ea typeface="Montserrat" pitchFamily="34" charset="-122"/>
                <a:cs typeface="Montserrat" pitchFamily="34" charset="-120"/>
              </a:rPr>
              <a:t>Le niveau v3 en entier : terrain (v1) + briques et blocs ? (v2) + 17 ennemis (v3)</a:t>
            </a:r>
            <a:endParaRPr lang="en-US" sz="1200" dirty="0"/>
          </a:p>
        </p:txBody>
      </p:sp>
      <p:sp>
        <p:nvSpPr>
          <p:cNvPr id="11" name="carte"/>
          <p:cNvSpPr/>
          <p:nvPr/>
        </p:nvSpPr>
        <p:spPr>
          <a:xfrm>
            <a:off x="548640" y="2788920"/>
            <a:ext cx="4206240" cy="3520440"/>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2" name="etiquette"/>
          <p:cNvSpPr txBox="1"/>
          <p:nvPr/>
        </p:nvSpPr>
        <p:spPr>
          <a:xfrm>
            <a:off x="548640" y="2788920"/>
            <a:ext cx="1417320" cy="329184"/>
          </a:xfrm>
          <a:prstGeom prst="rect">
            <a:avLst/>
          </a:prstGeom>
          <a:solidFill>
            <a:srgbClr val="14183D"/>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LES RÈGLES</a:t>
            </a:r>
            <a:endParaRPr lang="en-US" sz="1200" dirty="0"/>
          </a:p>
        </p:txBody>
      </p:sp>
      <p:sp>
        <p:nvSpPr>
          <p:cNvPr id="13" name="Text 10"/>
          <p:cNvSpPr txBox="1"/>
          <p:nvPr/>
        </p:nvSpPr>
        <p:spPr>
          <a:xfrm>
            <a:off x="731520" y="3246120"/>
            <a:ext cx="1828800" cy="274320"/>
          </a:xfrm>
          <a:prstGeom prst="rect">
            <a:avLst/>
          </a:prstGeom>
          <a:noFill/>
          <a:ln/>
        </p:spPr>
        <p:txBody>
          <a:bodyPr wrap="square" lIns="0" tIns="0" rIns="0" bIns="0" rtlCol="0" anchor="t"/>
          <a:lstStyle/>
          <a:p>
            <a:pPr indent="0" marL="0">
              <a:buNone/>
            </a:pPr>
            <a:r>
              <a:rPr lang="en-US" sz="1300" b="1" dirty="0">
                <a:solidFill>
                  <a:srgbClr val="14183D"/>
                </a:solidFill>
                <a:latin typeface="Montserrat" pitchFamily="34" charset="0"/>
                <a:ea typeface="Montserrat" pitchFamily="34" charset="-122"/>
                <a:cs typeface="Montserrat" pitchFamily="34" charset="-120"/>
              </a:rPr>
              <a:t>3 boutons</a:t>
            </a:r>
            <a:endParaRPr lang="en-US" sz="1300" dirty="0"/>
          </a:p>
        </p:txBody>
      </p:sp>
      <p:sp>
        <p:nvSpPr>
          <p:cNvPr id="14" name="Text 11"/>
          <p:cNvSpPr txBox="1"/>
          <p:nvPr/>
        </p:nvSpPr>
        <p:spPr>
          <a:xfrm>
            <a:off x="731520" y="3547872"/>
            <a:ext cx="1143000" cy="347472"/>
          </a:xfrm>
          <a:prstGeom prst="rect">
            <a:avLst/>
          </a:prstGeom>
          <a:solidFill>
            <a:srgbClr val="14183D"/>
          </a:solidFill>
          <a:ln/>
        </p:spPr>
        <p:txBody>
          <a:bodyPr wrap="square" lIns="0" tIns="0" rIns="0" bIns="0" rtlCol="0" anchor="ctr"/>
          <a:lstStyle/>
          <a:p>
            <a:pPr algn="ctr" indent="0" marL="0">
              <a:buNone/>
            </a:pPr>
            <a:r>
              <a:rPr lang="en-US" sz="1100" dirty="0">
                <a:solidFill>
                  <a:srgbClr val="FFFFFF"/>
                </a:solidFill>
                <a:latin typeface="Arcade Gamer" pitchFamily="34" charset="0"/>
                <a:ea typeface="Arcade Gamer" pitchFamily="34" charset="-122"/>
                <a:cs typeface="Arcade Gamer" pitchFamily="34" charset="-120"/>
              </a:rPr>
              <a:t>RIEN</a:t>
            </a:r>
            <a:endParaRPr lang="en-US" sz="1100" dirty="0"/>
          </a:p>
        </p:txBody>
      </p:sp>
      <p:sp>
        <p:nvSpPr>
          <p:cNvPr id="15" name="Text 12"/>
          <p:cNvSpPr txBox="1"/>
          <p:nvPr/>
        </p:nvSpPr>
        <p:spPr>
          <a:xfrm>
            <a:off x="1993392" y="3547872"/>
            <a:ext cx="1143000" cy="347472"/>
          </a:xfrm>
          <a:prstGeom prst="rect">
            <a:avLst/>
          </a:prstGeom>
          <a:solidFill>
            <a:srgbClr val="14183D"/>
          </a:solidFill>
          <a:ln/>
        </p:spPr>
        <p:txBody>
          <a:bodyPr wrap="square" lIns="0" tIns="0" rIns="0" bIns="0" rtlCol="0" anchor="ctr"/>
          <a:lstStyle/>
          <a:p>
            <a:pPr algn="ctr" indent="0" marL="0">
              <a:buNone/>
            </a:pPr>
            <a:r>
              <a:rPr lang="en-US" sz="1100" dirty="0">
                <a:solidFill>
                  <a:srgbClr val="FFFFFF"/>
                </a:solidFill>
                <a:latin typeface="Arcade Gamer" pitchFamily="34" charset="0"/>
                <a:ea typeface="Arcade Gamer" pitchFamily="34" charset="-122"/>
                <a:cs typeface="Arcade Gamer" pitchFamily="34" charset="-120"/>
              </a:rPr>
              <a:t>DROITE</a:t>
            </a:r>
            <a:endParaRPr lang="en-US" sz="1100" dirty="0"/>
          </a:p>
        </p:txBody>
      </p:sp>
      <p:sp>
        <p:nvSpPr>
          <p:cNvPr id="16" name="Text 13"/>
          <p:cNvSpPr txBox="1"/>
          <p:nvPr/>
        </p:nvSpPr>
        <p:spPr>
          <a:xfrm>
            <a:off x="3255264" y="3547872"/>
            <a:ext cx="1143000" cy="347472"/>
          </a:xfrm>
          <a:prstGeom prst="rect">
            <a:avLst/>
          </a:prstGeom>
          <a:solidFill>
            <a:srgbClr val="14183D"/>
          </a:solidFill>
          <a:ln/>
        </p:spPr>
        <p:txBody>
          <a:bodyPr wrap="square" lIns="0" tIns="0" rIns="0" bIns="0" rtlCol="0" anchor="ctr"/>
          <a:lstStyle/>
          <a:p>
            <a:pPr algn="ctr" indent="0" marL="0">
              <a:buNone/>
            </a:pPr>
            <a:r>
              <a:rPr lang="en-US" sz="1100" dirty="0">
                <a:solidFill>
                  <a:srgbClr val="FFFFFF"/>
                </a:solidFill>
                <a:latin typeface="Arcade Gamer" pitchFamily="34" charset="0"/>
                <a:ea typeface="Arcade Gamer" pitchFamily="34" charset="-122"/>
                <a:cs typeface="Arcade Gamer" pitchFamily="34" charset="-120"/>
              </a:rPr>
              <a:t>SAUT</a:t>
            </a:r>
            <a:endParaRPr lang="en-US" sz="1100" dirty="0"/>
          </a:p>
        </p:txBody>
      </p:sp>
      <p:sp>
        <p:nvSpPr>
          <p:cNvPr id="17" name="Text 14"/>
          <p:cNvSpPr txBox="1"/>
          <p:nvPr/>
        </p:nvSpPr>
        <p:spPr>
          <a:xfrm>
            <a:off x="731520" y="4041648"/>
            <a:ext cx="1828800" cy="274320"/>
          </a:xfrm>
          <a:prstGeom prst="rect">
            <a:avLst/>
          </a:prstGeom>
          <a:noFill/>
          <a:ln/>
        </p:spPr>
        <p:txBody>
          <a:bodyPr wrap="square" lIns="0" tIns="0" rIns="0" bIns="0" rtlCol="0" anchor="t"/>
          <a:lstStyle/>
          <a:p>
            <a:pPr indent="0" marL="0">
              <a:buNone/>
            </a:pPr>
            <a:r>
              <a:rPr lang="en-US" sz="1300" b="1" dirty="0">
                <a:solidFill>
                  <a:srgbClr val="14183D"/>
                </a:solidFill>
                <a:latin typeface="Montserrat" pitchFamily="34" charset="0"/>
                <a:ea typeface="Montserrat" pitchFamily="34" charset="-122"/>
                <a:cs typeface="Montserrat" pitchFamily="34" charset="-120"/>
              </a:rPr>
              <a:t>Récompenses</a:t>
            </a:r>
            <a:endParaRPr lang="en-US" sz="1300" dirty="0"/>
          </a:p>
        </p:txBody>
      </p:sp>
      <p:sp>
        <p:nvSpPr>
          <p:cNvPr id="18" name="Text 15"/>
          <p:cNvSpPr txBox="1"/>
          <p:nvPr/>
        </p:nvSpPr>
        <p:spPr>
          <a:xfrm>
            <a:off x="731520" y="4343400"/>
            <a:ext cx="1965960" cy="310896"/>
          </a:xfrm>
          <a:prstGeom prst="rect">
            <a:avLst/>
          </a:prstGeom>
          <a:noFill/>
          <a:ln/>
        </p:spPr>
        <p:txBody>
          <a:bodyPr wrap="square" lIns="0" tIns="0" rIns="0" bIns="0" rtlCol="0" anchor="ctr"/>
          <a:lstStyle/>
          <a:p>
            <a:pPr indent="0" marL="0">
              <a:buNone/>
            </a:pPr>
            <a:r>
              <a:rPr lang="en-US" sz="1300" b="1" dirty="0">
                <a:solidFill>
                  <a:srgbClr val="15911F"/>
                </a:solidFill>
                <a:latin typeface="Montserrat" pitchFamily="34" charset="0"/>
                <a:ea typeface="Montserrat" pitchFamily="34" charset="-122"/>
                <a:cs typeface="Montserrat" pitchFamily="34" charset="-120"/>
              </a:rPr>
              <a:t>+100  </a:t>
            </a:r>
            <a:r>
              <a:rPr lang="en-US" sz="1300" dirty="0">
                <a:solidFill>
                  <a:srgbClr val="14183D"/>
                </a:solidFill>
                <a:latin typeface="Montserrat" pitchFamily="34" charset="0"/>
                <a:ea typeface="Montserrat" pitchFamily="34" charset="-122"/>
                <a:cs typeface="Montserrat" pitchFamily="34" charset="-120"/>
              </a:rPr>
              <a:t>drapeau</a:t>
            </a:r>
            <a:endParaRPr lang="en-US" sz="1300" dirty="0"/>
          </a:p>
        </p:txBody>
      </p:sp>
      <p:sp>
        <p:nvSpPr>
          <p:cNvPr id="19" name="Text 16"/>
          <p:cNvSpPr txBox="1"/>
          <p:nvPr/>
        </p:nvSpPr>
        <p:spPr>
          <a:xfrm>
            <a:off x="731520" y="4690872"/>
            <a:ext cx="1965960" cy="310896"/>
          </a:xfrm>
          <a:prstGeom prst="rect">
            <a:avLst/>
          </a:prstGeom>
          <a:noFill/>
          <a:ln/>
        </p:spPr>
        <p:txBody>
          <a:bodyPr wrap="square" lIns="0" tIns="0" rIns="0" bIns="0" rtlCol="0" anchor="ctr"/>
          <a:lstStyle/>
          <a:p>
            <a:pPr indent="0" marL="0">
              <a:buNone/>
            </a:pPr>
            <a:r>
              <a:rPr lang="en-US" sz="1300" b="1" dirty="0">
                <a:solidFill>
                  <a:srgbClr val="D62839"/>
                </a:solidFill>
                <a:latin typeface="Montserrat" pitchFamily="34" charset="0"/>
                <a:ea typeface="Montserrat" pitchFamily="34" charset="-122"/>
                <a:cs typeface="Montserrat" pitchFamily="34" charset="-120"/>
              </a:rPr>
              <a:t>-50  </a:t>
            </a:r>
            <a:r>
              <a:rPr lang="en-US" sz="1300" dirty="0">
                <a:solidFill>
                  <a:srgbClr val="14183D"/>
                </a:solidFill>
                <a:latin typeface="Montserrat" pitchFamily="34" charset="0"/>
                <a:ea typeface="Montserrat" pitchFamily="34" charset="-122"/>
                <a:cs typeface="Montserrat" pitchFamily="34" charset="-120"/>
              </a:rPr>
              <a:t>mort</a:t>
            </a:r>
            <a:endParaRPr lang="en-US" sz="1300" dirty="0"/>
          </a:p>
        </p:txBody>
      </p:sp>
      <p:sp>
        <p:nvSpPr>
          <p:cNvPr id="20" name="Text 17"/>
          <p:cNvSpPr txBox="1"/>
          <p:nvPr/>
        </p:nvSpPr>
        <p:spPr>
          <a:xfrm>
            <a:off x="731520" y="5038344"/>
            <a:ext cx="1965960" cy="310896"/>
          </a:xfrm>
          <a:prstGeom prst="rect">
            <a:avLst/>
          </a:prstGeom>
          <a:noFill/>
          <a:ln/>
        </p:spPr>
        <p:txBody>
          <a:bodyPr wrap="square" lIns="0" tIns="0" rIns="0" bIns="0" rtlCol="0" anchor="ctr"/>
          <a:lstStyle/>
          <a:p>
            <a:pPr indent="0" marL="0">
              <a:buNone/>
            </a:pPr>
            <a:r>
              <a:rPr lang="en-US" sz="1300" b="1" dirty="0">
                <a:solidFill>
                  <a:srgbClr val="15911F"/>
                </a:solidFill>
                <a:latin typeface="Montserrat" pitchFamily="34" charset="0"/>
                <a:ea typeface="Montserrat" pitchFamily="34" charset="-122"/>
                <a:cs typeface="Montserrat" pitchFamily="34" charset="-120"/>
              </a:rPr>
              <a:t>+0,5  </a:t>
            </a:r>
            <a:r>
              <a:rPr lang="en-US" sz="1300" dirty="0">
                <a:solidFill>
                  <a:srgbClr val="14183D"/>
                </a:solidFill>
                <a:latin typeface="Montserrat" pitchFamily="34" charset="0"/>
                <a:ea typeface="Montserrat" pitchFamily="34" charset="-122"/>
                <a:cs typeface="Montserrat" pitchFamily="34" charset="-120"/>
              </a:rPr>
              <a:t>pas à droite</a:t>
            </a:r>
            <a:endParaRPr lang="en-US" sz="1300" dirty="0"/>
          </a:p>
        </p:txBody>
      </p:sp>
      <p:sp>
        <p:nvSpPr>
          <p:cNvPr id="21" name="Text 18"/>
          <p:cNvSpPr txBox="1"/>
          <p:nvPr/>
        </p:nvSpPr>
        <p:spPr>
          <a:xfrm>
            <a:off x="731520" y="5385816"/>
            <a:ext cx="1965960" cy="310896"/>
          </a:xfrm>
          <a:prstGeom prst="rect">
            <a:avLst/>
          </a:prstGeom>
          <a:noFill/>
          <a:ln/>
        </p:spPr>
        <p:txBody>
          <a:bodyPr wrap="square" lIns="0" tIns="0" rIns="0" bIns="0" rtlCol="0" anchor="ctr"/>
          <a:lstStyle/>
          <a:p>
            <a:pPr indent="0" marL="0">
              <a:buNone/>
            </a:pPr>
            <a:r>
              <a:rPr lang="en-US" sz="1300" b="1" dirty="0">
                <a:solidFill>
                  <a:srgbClr val="D62839"/>
                </a:solidFill>
                <a:latin typeface="Montserrat" pitchFamily="34" charset="0"/>
                <a:ea typeface="Montserrat" pitchFamily="34" charset="-122"/>
                <a:cs typeface="Montserrat" pitchFamily="34" charset="-120"/>
              </a:rPr>
              <a:t>-0,1  </a:t>
            </a:r>
            <a:r>
              <a:rPr lang="en-US" sz="1300" dirty="0">
                <a:solidFill>
                  <a:srgbClr val="14183D"/>
                </a:solidFill>
                <a:latin typeface="Montserrat" pitchFamily="34" charset="0"/>
                <a:ea typeface="Montserrat" pitchFamily="34" charset="-122"/>
                <a:cs typeface="Montserrat" pitchFamily="34" charset="-120"/>
              </a:rPr>
              <a:t>sur place</a:t>
            </a:r>
            <a:endParaRPr lang="en-US" sz="1300" dirty="0"/>
          </a:p>
        </p:txBody>
      </p:sp>
      <p:sp>
        <p:nvSpPr>
          <p:cNvPr id="22" name="Text 19"/>
          <p:cNvSpPr txBox="1"/>
          <p:nvPr/>
        </p:nvSpPr>
        <p:spPr>
          <a:xfrm>
            <a:off x="2743200" y="4343400"/>
            <a:ext cx="1965960" cy="310896"/>
          </a:xfrm>
          <a:prstGeom prst="rect">
            <a:avLst/>
          </a:prstGeom>
          <a:noFill/>
          <a:ln/>
        </p:spPr>
        <p:txBody>
          <a:bodyPr wrap="square" lIns="0" tIns="0" rIns="0" bIns="0" rtlCol="0" anchor="ctr"/>
          <a:lstStyle/>
          <a:p>
            <a:pPr indent="0" marL="0">
              <a:buNone/>
            </a:pPr>
            <a:r>
              <a:rPr lang="en-US" sz="1300" b="1" dirty="0">
                <a:solidFill>
                  <a:srgbClr val="15911F"/>
                </a:solidFill>
                <a:latin typeface="Montserrat" pitchFamily="34" charset="0"/>
                <a:ea typeface="Montserrat" pitchFamily="34" charset="-122"/>
                <a:cs typeface="Montserrat" pitchFamily="34" charset="-120"/>
              </a:rPr>
              <a:t>+5  </a:t>
            </a:r>
            <a:r>
              <a:rPr lang="en-US" sz="1300" dirty="0">
                <a:solidFill>
                  <a:srgbClr val="14183D"/>
                </a:solidFill>
                <a:latin typeface="Montserrat" pitchFamily="34" charset="0"/>
                <a:ea typeface="Montserrat" pitchFamily="34" charset="-122"/>
                <a:cs typeface="Montserrat" pitchFamily="34" charset="-120"/>
              </a:rPr>
              <a:t>Goomba</a:t>
            </a:r>
            <a:endParaRPr lang="en-US" sz="1300" dirty="0"/>
          </a:p>
        </p:txBody>
      </p:sp>
      <p:sp>
        <p:nvSpPr>
          <p:cNvPr id="23" name="Text 20"/>
          <p:cNvSpPr txBox="1"/>
          <p:nvPr/>
        </p:nvSpPr>
        <p:spPr>
          <a:xfrm>
            <a:off x="2743200" y="4690872"/>
            <a:ext cx="1965960" cy="310896"/>
          </a:xfrm>
          <a:prstGeom prst="rect">
            <a:avLst/>
          </a:prstGeom>
          <a:noFill/>
          <a:ln/>
        </p:spPr>
        <p:txBody>
          <a:bodyPr wrap="square" lIns="0" tIns="0" rIns="0" bIns="0" rtlCol="0" anchor="ctr"/>
          <a:lstStyle/>
          <a:p>
            <a:pPr indent="0" marL="0">
              <a:buNone/>
            </a:pPr>
            <a:r>
              <a:rPr lang="en-US" sz="1300" b="1" dirty="0">
                <a:solidFill>
                  <a:srgbClr val="15911F"/>
                </a:solidFill>
                <a:latin typeface="Montserrat" pitchFamily="34" charset="0"/>
                <a:ea typeface="Montserrat" pitchFamily="34" charset="-122"/>
                <a:cs typeface="Montserrat" pitchFamily="34" charset="-120"/>
              </a:rPr>
              <a:t>+3  </a:t>
            </a:r>
            <a:r>
              <a:rPr lang="en-US" sz="1300" dirty="0">
                <a:solidFill>
                  <a:srgbClr val="14183D"/>
                </a:solidFill>
                <a:latin typeface="Montserrat" pitchFamily="34" charset="0"/>
                <a:ea typeface="Montserrat" pitchFamily="34" charset="-122"/>
                <a:cs typeface="Montserrat" pitchFamily="34" charset="-120"/>
              </a:rPr>
              <a:t>bloc ?</a:t>
            </a:r>
            <a:endParaRPr lang="en-US" sz="1300" dirty="0"/>
          </a:p>
        </p:txBody>
      </p:sp>
      <p:sp>
        <p:nvSpPr>
          <p:cNvPr id="24" name="Text 21"/>
          <p:cNvSpPr txBox="1"/>
          <p:nvPr/>
        </p:nvSpPr>
        <p:spPr>
          <a:xfrm>
            <a:off x="2743200" y="5038344"/>
            <a:ext cx="1965960" cy="310896"/>
          </a:xfrm>
          <a:prstGeom prst="rect">
            <a:avLst/>
          </a:prstGeom>
          <a:noFill/>
          <a:ln/>
        </p:spPr>
        <p:txBody>
          <a:bodyPr wrap="square" lIns="0" tIns="0" rIns="0" bIns="0" rtlCol="0" anchor="ctr"/>
          <a:lstStyle/>
          <a:p>
            <a:pPr indent="0" marL="0">
              <a:buNone/>
            </a:pPr>
            <a:r>
              <a:rPr lang="en-US" sz="1300" b="1" dirty="0">
                <a:solidFill>
                  <a:srgbClr val="15911F"/>
                </a:solidFill>
                <a:latin typeface="Montserrat" pitchFamily="34" charset="0"/>
                <a:ea typeface="Montserrat" pitchFamily="34" charset="-122"/>
                <a:cs typeface="Montserrat" pitchFamily="34" charset="-120"/>
              </a:rPr>
              <a:t>+1  </a:t>
            </a:r>
            <a:r>
              <a:rPr lang="en-US" sz="1300" dirty="0">
                <a:solidFill>
                  <a:srgbClr val="14183D"/>
                </a:solidFill>
                <a:latin typeface="Montserrat" pitchFamily="34" charset="0"/>
                <a:ea typeface="Montserrat" pitchFamily="34" charset="-122"/>
                <a:cs typeface="Montserrat" pitchFamily="34" charset="-120"/>
              </a:rPr>
              <a:t>brique</a:t>
            </a:r>
            <a:endParaRPr lang="en-US" sz="1300" dirty="0"/>
          </a:p>
        </p:txBody>
      </p:sp>
      <p:sp>
        <p:nvSpPr>
          <p:cNvPr id="25" name="Text 22"/>
          <p:cNvSpPr txBox="1"/>
          <p:nvPr/>
        </p:nvSpPr>
        <p:spPr>
          <a:xfrm>
            <a:off x="731520" y="5760720"/>
            <a:ext cx="3886200" cy="457200"/>
          </a:xfrm>
          <a:prstGeom prst="rect">
            <a:avLst/>
          </a:prstGeom>
          <a:noFill/>
          <a:ln/>
        </p:spPr>
        <p:txBody>
          <a:bodyPr wrap="square" lIns="0" tIns="0" rIns="0" bIns="0" rtlCol="0" anchor="t"/>
          <a:lstStyle/>
          <a:p>
            <a:pPr indent="0" marL="0">
              <a:buNone/>
            </a:pPr>
            <a:r>
              <a:rPr lang="en-US" sz="1150" dirty="0">
                <a:solidFill>
                  <a:srgbClr val="4A5070"/>
                </a:solidFill>
                <a:latin typeface="Montserrat" pitchFamily="34" charset="0"/>
                <a:ea typeface="Montserrat" pitchFamily="34" charset="-122"/>
                <a:cs typeface="Montserrat" pitchFamily="34" charset="-120"/>
              </a:rPr>
              <a:t>L'IA de l'article voit sa case et 4 lignes autour d'elle (115 nombres).</a:t>
            </a:r>
            <a:endParaRPr lang="en-US" sz="1150" dirty="0"/>
          </a:p>
        </p:txBody>
      </p:sp>
      <p:sp>
        <p:nvSpPr>
          <p:cNvPr id="26" name="carte"/>
          <p:cNvSpPr/>
          <p:nvPr/>
        </p:nvSpPr>
        <p:spPr>
          <a:xfrm>
            <a:off x="5029200" y="2788920"/>
            <a:ext cx="3246120" cy="1664208"/>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27" name="etiquette"/>
          <p:cNvSpPr txBox="1"/>
          <p:nvPr/>
        </p:nvSpPr>
        <p:spPr>
          <a:xfrm>
            <a:off x="5029200" y="2788920"/>
            <a:ext cx="1828800" cy="329184"/>
          </a:xfrm>
          <a:prstGeom prst="rect">
            <a:avLst/>
          </a:prstGeom>
          <a:solidFill>
            <a:srgbClr val="2F6FE4"/>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Q-LEARNING</a:t>
            </a:r>
            <a:endParaRPr lang="en-US" sz="1200" dirty="0"/>
          </a:p>
        </p:txBody>
      </p:sp>
      <p:sp>
        <p:nvSpPr>
          <p:cNvPr id="28" name="Text 25"/>
          <p:cNvSpPr txBox="1"/>
          <p:nvPr/>
        </p:nvSpPr>
        <p:spPr>
          <a:xfrm>
            <a:off x="5193792" y="3227832"/>
            <a:ext cx="2926080" cy="822960"/>
          </a:xfrm>
          <a:prstGeom prst="rect">
            <a:avLst/>
          </a:prstGeom>
          <a:noFill/>
          <a:ln/>
        </p:spPr>
        <p:txBody>
          <a:bodyPr wrap="square" lIns="0" tIns="0" rIns="0" bIns="0" rtlCol="0" anchor="t"/>
          <a:lstStyle/>
          <a:p>
            <a:pPr indent="0" marL="0">
              <a:buNone/>
            </a:pPr>
            <a:r>
              <a:rPr lang="en-US" sz="1350" dirty="0">
                <a:solidFill>
                  <a:srgbClr val="14183D"/>
                </a:solidFill>
                <a:latin typeface="Montserrat" pitchFamily="34" charset="0"/>
                <a:ea typeface="Montserrat" pitchFamily="34" charset="-122"/>
                <a:cs typeface="Montserrat" pitchFamily="34" charset="-120"/>
              </a:rPr>
              <a:t>Corrige sa note à chaque pas, en visant le meilleur coup suivant.</a:t>
            </a:r>
            <a:endParaRPr lang="en-US" sz="1350" dirty="0"/>
          </a:p>
        </p:txBody>
      </p:sp>
      <p:sp>
        <p:nvSpPr>
          <p:cNvPr id="29" name="Text 26"/>
          <p:cNvSpPr txBox="1"/>
          <p:nvPr/>
        </p:nvSpPr>
        <p:spPr>
          <a:xfrm>
            <a:off x="5193792" y="4069080"/>
            <a:ext cx="2971800" cy="274320"/>
          </a:xfrm>
          <a:prstGeom prst="rect">
            <a:avLst/>
          </a:prstGeom>
          <a:noFill/>
          <a:ln/>
        </p:spPr>
        <p:txBody>
          <a:bodyPr wrap="square" lIns="0" tIns="0" rIns="0" bIns="0" rtlCol="0" anchor="ctr"/>
          <a:lstStyle/>
          <a:p>
            <a:pPr indent="0" marL="0">
              <a:buNone/>
            </a:pPr>
            <a:r>
              <a:rPr lang="en-US" sz="1150" b="1" dirty="0">
                <a:solidFill>
                  <a:srgbClr val="2F6FE4"/>
                </a:solidFill>
                <a:latin typeface="Montserrat" pitchFamily="34" charset="0"/>
                <a:ea typeface="Montserrat" pitchFamily="34" charset="-122"/>
                <a:cs typeface="Montserrat" pitchFamily="34" charset="-120"/>
              </a:rPr>
              <a:t>Apprend : </a:t>
            </a:r>
            <a:r>
              <a:rPr lang="en-US" sz="1150" dirty="0">
                <a:solidFill>
                  <a:srgbClr val="2F6FE4"/>
                </a:solidFill>
                <a:latin typeface="Montserrat" pitchFamily="34" charset="0"/>
                <a:ea typeface="Montserrat" pitchFamily="34" charset="-122"/>
                <a:cs typeface="Montserrat" pitchFamily="34" charset="-120"/>
              </a:rPr>
              <a:t>à chaque pas</a:t>
            </a:r>
            <a:endParaRPr lang="en-US" sz="1150" dirty="0"/>
          </a:p>
        </p:txBody>
      </p:sp>
      <p:sp>
        <p:nvSpPr>
          <p:cNvPr id="30" name="carte"/>
          <p:cNvSpPr/>
          <p:nvPr/>
        </p:nvSpPr>
        <p:spPr>
          <a:xfrm>
            <a:off x="8394192" y="2788920"/>
            <a:ext cx="3246120" cy="1664208"/>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31" name="etiquette"/>
          <p:cNvSpPr txBox="1"/>
          <p:nvPr/>
        </p:nvSpPr>
        <p:spPr>
          <a:xfrm>
            <a:off x="8394192" y="2788920"/>
            <a:ext cx="1828800" cy="329184"/>
          </a:xfrm>
          <a:prstGeom prst="rect">
            <a:avLst/>
          </a:prstGeom>
          <a:solidFill>
            <a:srgbClr val="15911F"/>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SARSA</a:t>
            </a:r>
            <a:endParaRPr lang="en-US" sz="1200" dirty="0"/>
          </a:p>
        </p:txBody>
      </p:sp>
      <p:sp>
        <p:nvSpPr>
          <p:cNvPr id="32" name="Text 29"/>
          <p:cNvSpPr txBox="1"/>
          <p:nvPr/>
        </p:nvSpPr>
        <p:spPr>
          <a:xfrm>
            <a:off x="8558784" y="3227832"/>
            <a:ext cx="2926080" cy="822960"/>
          </a:xfrm>
          <a:prstGeom prst="rect">
            <a:avLst/>
          </a:prstGeom>
          <a:noFill/>
          <a:ln/>
        </p:spPr>
        <p:txBody>
          <a:bodyPr wrap="square" lIns="0" tIns="0" rIns="0" bIns="0" rtlCol="0" anchor="t"/>
          <a:lstStyle/>
          <a:p>
            <a:pPr indent="0" marL="0">
              <a:buNone/>
            </a:pPr>
            <a:r>
              <a:rPr lang="en-US" sz="1350" dirty="0">
                <a:solidFill>
                  <a:srgbClr val="14183D"/>
                </a:solidFill>
                <a:latin typeface="Montserrat" pitchFamily="34" charset="0"/>
                <a:ea typeface="Montserrat" pitchFamily="34" charset="-122"/>
                <a:cs typeface="Montserrat" pitchFamily="34" charset="-120"/>
              </a:rPr>
              <a:t>Corrige à chaque pas avec le coup vraiment joué, hasard compris : plus prudent.</a:t>
            </a:r>
            <a:endParaRPr lang="en-US" sz="1350" dirty="0"/>
          </a:p>
        </p:txBody>
      </p:sp>
      <p:sp>
        <p:nvSpPr>
          <p:cNvPr id="33" name="Text 30"/>
          <p:cNvSpPr txBox="1"/>
          <p:nvPr/>
        </p:nvSpPr>
        <p:spPr>
          <a:xfrm>
            <a:off x="8558784" y="4069080"/>
            <a:ext cx="2971800" cy="274320"/>
          </a:xfrm>
          <a:prstGeom prst="rect">
            <a:avLst/>
          </a:prstGeom>
          <a:noFill/>
          <a:ln/>
        </p:spPr>
        <p:txBody>
          <a:bodyPr wrap="square" lIns="0" tIns="0" rIns="0" bIns="0" rtlCol="0" anchor="ctr"/>
          <a:lstStyle/>
          <a:p>
            <a:pPr indent="0" marL="0">
              <a:buNone/>
            </a:pPr>
            <a:r>
              <a:rPr lang="en-US" sz="1150" b="1" dirty="0">
                <a:solidFill>
                  <a:srgbClr val="15911F"/>
                </a:solidFill>
                <a:latin typeface="Montserrat" pitchFamily="34" charset="0"/>
                <a:ea typeface="Montserrat" pitchFamily="34" charset="-122"/>
                <a:cs typeface="Montserrat" pitchFamily="34" charset="-120"/>
              </a:rPr>
              <a:t>Apprend : </a:t>
            </a:r>
            <a:r>
              <a:rPr lang="en-US" sz="1150" dirty="0">
                <a:solidFill>
                  <a:srgbClr val="15911F"/>
                </a:solidFill>
                <a:latin typeface="Montserrat" pitchFamily="34" charset="0"/>
                <a:ea typeface="Montserrat" pitchFamily="34" charset="-122"/>
                <a:cs typeface="Montserrat" pitchFamily="34" charset="-120"/>
              </a:rPr>
              <a:t>à chaque pas</a:t>
            </a:r>
            <a:endParaRPr lang="en-US" sz="1150" dirty="0"/>
          </a:p>
        </p:txBody>
      </p:sp>
      <p:sp>
        <p:nvSpPr>
          <p:cNvPr id="34" name="carte"/>
          <p:cNvSpPr/>
          <p:nvPr/>
        </p:nvSpPr>
        <p:spPr>
          <a:xfrm>
            <a:off x="5029200" y="4599432"/>
            <a:ext cx="3246120" cy="1664208"/>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35" name="etiquette"/>
          <p:cNvSpPr txBox="1"/>
          <p:nvPr/>
        </p:nvSpPr>
        <p:spPr>
          <a:xfrm>
            <a:off x="5029200" y="4599432"/>
            <a:ext cx="1828800" cy="329184"/>
          </a:xfrm>
          <a:prstGeom prst="rect">
            <a:avLst/>
          </a:prstGeom>
          <a:solidFill>
            <a:srgbClr val="E8790C"/>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MONTE CARLO</a:t>
            </a:r>
            <a:endParaRPr lang="en-US" sz="1200" dirty="0"/>
          </a:p>
        </p:txBody>
      </p:sp>
      <p:sp>
        <p:nvSpPr>
          <p:cNvPr id="36" name="Text 33"/>
          <p:cNvSpPr txBox="1"/>
          <p:nvPr/>
        </p:nvSpPr>
        <p:spPr>
          <a:xfrm>
            <a:off x="5193792" y="5038344"/>
            <a:ext cx="2926080" cy="822960"/>
          </a:xfrm>
          <a:prstGeom prst="rect">
            <a:avLst/>
          </a:prstGeom>
          <a:noFill/>
          <a:ln/>
        </p:spPr>
        <p:txBody>
          <a:bodyPr wrap="square" lIns="0" tIns="0" rIns="0" bIns="0" rtlCol="0" anchor="t"/>
          <a:lstStyle/>
          <a:p>
            <a:pPr indent="0" marL="0">
              <a:buNone/>
            </a:pPr>
            <a:r>
              <a:rPr lang="en-US" sz="1350" dirty="0">
                <a:solidFill>
                  <a:srgbClr val="14183D"/>
                </a:solidFill>
                <a:latin typeface="Montserrat" pitchFamily="34" charset="0"/>
                <a:ea typeface="Montserrat" pitchFamily="34" charset="-122"/>
                <a:cs typeface="Montserrat" pitchFamily="34" charset="-120"/>
              </a:rPr>
              <a:t>Attend la fin de la partie, puis crédite tous les coups avec le score final.</a:t>
            </a:r>
            <a:endParaRPr lang="en-US" sz="1350" dirty="0"/>
          </a:p>
        </p:txBody>
      </p:sp>
      <p:sp>
        <p:nvSpPr>
          <p:cNvPr id="37" name="Text 34"/>
          <p:cNvSpPr txBox="1"/>
          <p:nvPr/>
        </p:nvSpPr>
        <p:spPr>
          <a:xfrm>
            <a:off x="5193792" y="5879592"/>
            <a:ext cx="2971800" cy="274320"/>
          </a:xfrm>
          <a:prstGeom prst="rect">
            <a:avLst/>
          </a:prstGeom>
          <a:noFill/>
          <a:ln/>
        </p:spPr>
        <p:txBody>
          <a:bodyPr wrap="square" lIns="0" tIns="0" rIns="0" bIns="0" rtlCol="0" anchor="ctr"/>
          <a:lstStyle/>
          <a:p>
            <a:pPr indent="0" marL="0">
              <a:buNone/>
            </a:pPr>
            <a:r>
              <a:rPr lang="en-US" sz="1150" b="1" dirty="0">
                <a:solidFill>
                  <a:srgbClr val="E8790C"/>
                </a:solidFill>
                <a:latin typeface="Montserrat" pitchFamily="34" charset="0"/>
                <a:ea typeface="Montserrat" pitchFamily="34" charset="-122"/>
                <a:cs typeface="Montserrat" pitchFamily="34" charset="-120"/>
              </a:rPr>
              <a:t>Apprend : </a:t>
            </a:r>
            <a:r>
              <a:rPr lang="en-US" sz="1150" dirty="0">
                <a:solidFill>
                  <a:srgbClr val="E8790C"/>
                </a:solidFill>
                <a:latin typeface="Montserrat" pitchFamily="34" charset="0"/>
                <a:ea typeface="Montserrat" pitchFamily="34" charset="-122"/>
                <a:cs typeface="Montserrat" pitchFamily="34" charset="-120"/>
              </a:rPr>
              <a:t>en fin de partie</a:t>
            </a:r>
            <a:endParaRPr lang="en-US" sz="1150" dirty="0"/>
          </a:p>
        </p:txBody>
      </p:sp>
      <p:sp>
        <p:nvSpPr>
          <p:cNvPr id="38" name="carte"/>
          <p:cNvSpPr/>
          <p:nvPr/>
        </p:nvSpPr>
        <p:spPr>
          <a:xfrm>
            <a:off x="8394192" y="4599432"/>
            <a:ext cx="3246120" cy="1664208"/>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39" name="etiquette"/>
          <p:cNvSpPr txBox="1"/>
          <p:nvPr/>
        </p:nvSpPr>
        <p:spPr>
          <a:xfrm>
            <a:off x="8394192" y="4599432"/>
            <a:ext cx="1828800" cy="329184"/>
          </a:xfrm>
          <a:prstGeom prst="rect">
            <a:avLst/>
          </a:prstGeom>
          <a:solidFill>
            <a:srgbClr val="D62839"/>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DQN</a:t>
            </a:r>
            <a:endParaRPr lang="en-US" sz="1200" dirty="0"/>
          </a:p>
        </p:txBody>
      </p:sp>
      <p:sp>
        <p:nvSpPr>
          <p:cNvPr id="40" name="Text 37"/>
          <p:cNvSpPr txBox="1"/>
          <p:nvPr/>
        </p:nvSpPr>
        <p:spPr>
          <a:xfrm>
            <a:off x="8558784" y="5038344"/>
            <a:ext cx="2926080" cy="822960"/>
          </a:xfrm>
          <a:prstGeom prst="rect">
            <a:avLst/>
          </a:prstGeom>
          <a:noFill/>
          <a:ln/>
        </p:spPr>
        <p:txBody>
          <a:bodyPr wrap="square" lIns="0" tIns="0" rIns="0" bIns="0" rtlCol="0" anchor="t"/>
          <a:lstStyle/>
          <a:p>
            <a:pPr indent="0" marL="0">
              <a:buNone/>
            </a:pPr>
            <a:r>
              <a:rPr lang="en-US" sz="1350" dirty="0">
                <a:solidFill>
                  <a:srgbClr val="14183D"/>
                </a:solidFill>
                <a:latin typeface="Montserrat" pitchFamily="34" charset="0"/>
                <a:ea typeface="Montserrat" pitchFamily="34" charset="-122"/>
                <a:cs typeface="Montserrat" pitchFamily="34" charset="-120"/>
              </a:rPr>
              <a:t>Un réseau de neurones remplace le tableau, avec une mémoire de 50 000 coups.</a:t>
            </a:r>
            <a:endParaRPr lang="en-US" sz="1350" dirty="0"/>
          </a:p>
        </p:txBody>
      </p:sp>
      <p:sp>
        <p:nvSpPr>
          <p:cNvPr id="41" name="Text 38"/>
          <p:cNvSpPr txBox="1"/>
          <p:nvPr/>
        </p:nvSpPr>
        <p:spPr>
          <a:xfrm>
            <a:off x="8558784" y="5879592"/>
            <a:ext cx="2971800" cy="274320"/>
          </a:xfrm>
          <a:prstGeom prst="rect">
            <a:avLst/>
          </a:prstGeom>
          <a:noFill/>
          <a:ln/>
        </p:spPr>
        <p:txBody>
          <a:bodyPr wrap="square" lIns="0" tIns="0" rIns="0" bIns="0" rtlCol="0" anchor="ctr"/>
          <a:lstStyle/>
          <a:p>
            <a:pPr indent="0" marL="0">
              <a:buNone/>
            </a:pPr>
            <a:r>
              <a:rPr lang="en-US" sz="1150" b="1" dirty="0">
                <a:solidFill>
                  <a:srgbClr val="D62839"/>
                </a:solidFill>
                <a:latin typeface="Montserrat" pitchFamily="34" charset="0"/>
                <a:ea typeface="Montserrat" pitchFamily="34" charset="-122"/>
                <a:cs typeface="Montserrat" pitchFamily="34" charset="-120"/>
              </a:rPr>
              <a:t>Apprend : </a:t>
            </a:r>
            <a:r>
              <a:rPr lang="en-US" sz="1150" dirty="0">
                <a:solidFill>
                  <a:srgbClr val="D62839"/>
                </a:solidFill>
                <a:latin typeface="Montserrat" pitchFamily="34" charset="0"/>
                <a:ea typeface="Montserrat" pitchFamily="34" charset="-122"/>
                <a:cs typeface="Montserrat" pitchFamily="34" charset="-120"/>
              </a:rPr>
              <a:t>par paquets de souvenirs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WORLD 1-1 - LA VEILLE</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CE QUE TROUVE L'ARTICLE</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Monte Carlo gagne sur v3, et l'ordre d'origine du niveau accélère son apprentissage.</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6</a:t>
            </a:r>
            <a:endParaRPr lang="en-US" sz="1000" dirty="0"/>
          </a:p>
        </p:txBody>
      </p:sp>
      <p:sp>
        <p:nvSpPr>
          <p:cNvPr id="8" name="carte"/>
          <p:cNvSpPr/>
          <p:nvPr/>
        </p:nvSpPr>
        <p:spPr>
          <a:xfrm>
            <a:off x="548640" y="1737360"/>
            <a:ext cx="5486400" cy="455371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9" name="etiquette"/>
          <p:cNvSpPr txBox="1"/>
          <p:nvPr/>
        </p:nvSpPr>
        <p:spPr>
          <a:xfrm>
            <a:off x="548640" y="1737360"/>
            <a:ext cx="2926080" cy="329184"/>
          </a:xfrm>
          <a:prstGeom prst="rect">
            <a:avLst/>
          </a:prstGeom>
          <a:solidFill>
            <a:srgbClr val="14183D"/>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Q1 · QUI APPREND LE MIEUX ?</a:t>
            </a:r>
            <a:endParaRPr lang="en-US" sz="1200" dirty="0"/>
          </a:p>
        </p:txBody>
      </p:sp>
      <p:sp>
        <p:nvSpPr>
          <p:cNvPr id="10" name="Text 8"/>
          <p:cNvSpPr txBox="1"/>
          <p:nvPr/>
        </p:nvSpPr>
        <p:spPr>
          <a:xfrm>
            <a:off x="777240" y="2212848"/>
            <a:ext cx="5120640" cy="274320"/>
          </a:xfrm>
          <a:prstGeom prst="rect">
            <a:avLst/>
          </a:prstGeom>
          <a:noFill/>
          <a:ln/>
        </p:spPr>
        <p:txBody>
          <a:bodyPr wrap="square" lIns="0" tIns="0" rIns="0" bIns="0" rtlCol="0" anchor="t"/>
          <a:lstStyle/>
          <a:p>
            <a:pPr indent="0" marL="0">
              <a:buNone/>
            </a:pPr>
            <a:r>
              <a:rPr lang="en-US" sz="1200" dirty="0">
                <a:solidFill>
                  <a:srgbClr val="4A5070"/>
                </a:solidFill>
                <a:latin typeface="Montserrat" pitchFamily="34" charset="0"/>
                <a:ea typeface="Montserrat" pitchFamily="34" charset="-122"/>
                <a:cs typeface="Montserrat" pitchFamily="34" charset="-120"/>
              </a:rPr>
              <a:t>Victoires sur la v3 (moyenne de 5 graines, 10 000 épisodes)</a:t>
            </a:r>
            <a:endParaRPr lang="en-US" sz="1200" dirty="0"/>
          </a:p>
        </p:txBody>
      </p:sp>
      <p:sp>
        <p:nvSpPr>
          <p:cNvPr id="11" name="Text 9"/>
          <p:cNvSpPr txBox="1"/>
          <p:nvPr/>
        </p:nvSpPr>
        <p:spPr>
          <a:xfrm>
            <a:off x="777240" y="2560320"/>
            <a:ext cx="1490472" cy="475488"/>
          </a:xfrm>
          <a:prstGeom prst="rect">
            <a:avLst/>
          </a:prstGeom>
          <a:noFill/>
          <a:ln/>
        </p:spPr>
        <p:txBody>
          <a:bodyPr wrap="square" lIns="0" tIns="0" rIns="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Monte Carlo</a:t>
            </a:r>
            <a:endParaRPr lang="en-US" sz="1300" dirty="0"/>
          </a:p>
        </p:txBody>
      </p:sp>
      <p:sp>
        <p:nvSpPr>
          <p:cNvPr id="12" name="Shape 10"/>
          <p:cNvSpPr/>
          <p:nvPr/>
        </p:nvSpPr>
        <p:spPr>
          <a:xfrm>
            <a:off x="2377440" y="2664927"/>
            <a:ext cx="3337560" cy="266273"/>
          </a:xfrm>
          <a:prstGeom prst="rect">
            <a:avLst/>
          </a:prstGeom>
          <a:solidFill>
            <a:srgbClr val="D9E3F5"/>
          </a:solidFill>
          <a:ln/>
        </p:spPr>
      </p:sp>
      <p:sp>
        <p:nvSpPr>
          <p:cNvPr id="13" name="Shape 11"/>
          <p:cNvSpPr/>
          <p:nvPr/>
        </p:nvSpPr>
        <p:spPr>
          <a:xfrm>
            <a:off x="2377440" y="2664927"/>
            <a:ext cx="3167344" cy="266273"/>
          </a:xfrm>
          <a:prstGeom prst="rect">
            <a:avLst/>
          </a:prstGeom>
          <a:solidFill>
            <a:srgbClr val="E8790C"/>
          </a:solidFill>
          <a:ln w="12700">
            <a:solidFill>
              <a:srgbClr val="000000"/>
            </a:solidFill>
            <a:prstDash val="solid"/>
          </a:ln>
        </p:spPr>
      </p:sp>
      <p:sp>
        <p:nvSpPr>
          <p:cNvPr id="14" name="Text 12"/>
          <p:cNvSpPr txBox="1"/>
          <p:nvPr/>
        </p:nvSpPr>
        <p:spPr>
          <a:xfrm>
            <a:off x="4401784" y="2560320"/>
            <a:ext cx="1069848" cy="475488"/>
          </a:xfrm>
          <a:prstGeom prst="rect">
            <a:avLst/>
          </a:prstGeom>
          <a:noFill/>
          <a:ln/>
        </p:spPr>
        <p:txBody>
          <a:bodyPr wrap="square" lIns="0" tIns="0" rIns="0" bIns="0" rtlCol="0" anchor="ctr"/>
          <a:lstStyle/>
          <a:p>
            <a:pPr algn="r" indent="0" marL="0">
              <a:buNone/>
            </a:pPr>
            <a:r>
              <a:rPr lang="en-US" sz="1300" b="1" dirty="0">
                <a:solidFill>
                  <a:srgbClr val="FFFFFF"/>
                </a:solidFill>
                <a:latin typeface="Montserrat" pitchFamily="34" charset="0"/>
                <a:ea typeface="Montserrat" pitchFamily="34" charset="-122"/>
                <a:cs typeface="Montserrat" pitchFamily="34" charset="-120"/>
              </a:rPr>
              <a:t>94,9 %</a:t>
            </a:r>
            <a:endParaRPr lang="en-US" sz="1300" dirty="0"/>
          </a:p>
        </p:txBody>
      </p:sp>
      <p:sp>
        <p:nvSpPr>
          <p:cNvPr id="15" name="Text 13"/>
          <p:cNvSpPr txBox="1"/>
          <p:nvPr/>
        </p:nvSpPr>
        <p:spPr>
          <a:xfrm>
            <a:off x="777240" y="3035808"/>
            <a:ext cx="1490472" cy="475488"/>
          </a:xfrm>
          <a:prstGeom prst="rect">
            <a:avLst/>
          </a:prstGeom>
          <a:noFill/>
          <a:ln/>
        </p:spPr>
        <p:txBody>
          <a:bodyPr wrap="square" lIns="0" tIns="0" rIns="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Q-Learning</a:t>
            </a:r>
            <a:endParaRPr lang="en-US" sz="1300" dirty="0"/>
          </a:p>
        </p:txBody>
      </p:sp>
      <p:sp>
        <p:nvSpPr>
          <p:cNvPr id="16" name="Shape 14"/>
          <p:cNvSpPr/>
          <p:nvPr/>
        </p:nvSpPr>
        <p:spPr>
          <a:xfrm>
            <a:off x="2377440" y="3140415"/>
            <a:ext cx="3337560" cy="266273"/>
          </a:xfrm>
          <a:prstGeom prst="rect">
            <a:avLst/>
          </a:prstGeom>
          <a:solidFill>
            <a:srgbClr val="D9E3F5"/>
          </a:solidFill>
          <a:ln/>
        </p:spPr>
      </p:sp>
      <p:sp>
        <p:nvSpPr>
          <p:cNvPr id="17" name="Shape 15"/>
          <p:cNvSpPr/>
          <p:nvPr/>
        </p:nvSpPr>
        <p:spPr>
          <a:xfrm>
            <a:off x="2377440" y="3140415"/>
            <a:ext cx="2886989" cy="266273"/>
          </a:xfrm>
          <a:prstGeom prst="rect">
            <a:avLst/>
          </a:prstGeom>
          <a:solidFill>
            <a:srgbClr val="2F6FE4"/>
          </a:solidFill>
          <a:ln w="12700">
            <a:solidFill>
              <a:srgbClr val="000000"/>
            </a:solidFill>
            <a:prstDash val="solid"/>
          </a:ln>
        </p:spPr>
      </p:sp>
      <p:sp>
        <p:nvSpPr>
          <p:cNvPr id="18" name="Text 16"/>
          <p:cNvSpPr txBox="1"/>
          <p:nvPr/>
        </p:nvSpPr>
        <p:spPr>
          <a:xfrm>
            <a:off x="4121429" y="3035808"/>
            <a:ext cx="1069848" cy="475488"/>
          </a:xfrm>
          <a:prstGeom prst="rect">
            <a:avLst/>
          </a:prstGeom>
          <a:noFill/>
          <a:ln/>
        </p:spPr>
        <p:txBody>
          <a:bodyPr wrap="square" lIns="0" tIns="0" rIns="0" bIns="0" rtlCol="0" anchor="ctr"/>
          <a:lstStyle/>
          <a:p>
            <a:pPr algn="r" indent="0" marL="0">
              <a:buNone/>
            </a:pPr>
            <a:r>
              <a:rPr lang="en-US" sz="1300" b="1" dirty="0">
                <a:solidFill>
                  <a:srgbClr val="FFFFFF"/>
                </a:solidFill>
                <a:latin typeface="Montserrat" pitchFamily="34" charset="0"/>
                <a:ea typeface="Montserrat" pitchFamily="34" charset="-122"/>
                <a:cs typeface="Montserrat" pitchFamily="34" charset="-120"/>
              </a:rPr>
              <a:t>86,5 %</a:t>
            </a:r>
            <a:endParaRPr lang="en-US" sz="1300" dirty="0"/>
          </a:p>
        </p:txBody>
      </p:sp>
      <p:sp>
        <p:nvSpPr>
          <p:cNvPr id="19" name="Text 17"/>
          <p:cNvSpPr txBox="1"/>
          <p:nvPr/>
        </p:nvSpPr>
        <p:spPr>
          <a:xfrm>
            <a:off x="777240" y="3511296"/>
            <a:ext cx="1490472" cy="475488"/>
          </a:xfrm>
          <a:prstGeom prst="rect">
            <a:avLst/>
          </a:prstGeom>
          <a:noFill/>
          <a:ln/>
        </p:spPr>
        <p:txBody>
          <a:bodyPr wrap="square" lIns="0" tIns="0" rIns="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SARSA</a:t>
            </a:r>
            <a:endParaRPr lang="en-US" sz="1300" dirty="0"/>
          </a:p>
        </p:txBody>
      </p:sp>
      <p:sp>
        <p:nvSpPr>
          <p:cNvPr id="20" name="Shape 18"/>
          <p:cNvSpPr/>
          <p:nvPr/>
        </p:nvSpPr>
        <p:spPr>
          <a:xfrm>
            <a:off x="2377440" y="3615903"/>
            <a:ext cx="3337560" cy="266273"/>
          </a:xfrm>
          <a:prstGeom prst="rect">
            <a:avLst/>
          </a:prstGeom>
          <a:solidFill>
            <a:srgbClr val="D9E3F5"/>
          </a:solidFill>
          <a:ln/>
        </p:spPr>
      </p:sp>
      <p:sp>
        <p:nvSpPr>
          <p:cNvPr id="21" name="Shape 19"/>
          <p:cNvSpPr/>
          <p:nvPr/>
        </p:nvSpPr>
        <p:spPr>
          <a:xfrm>
            <a:off x="2377440" y="3615903"/>
            <a:ext cx="2816901" cy="266273"/>
          </a:xfrm>
          <a:prstGeom prst="rect">
            <a:avLst/>
          </a:prstGeom>
          <a:solidFill>
            <a:srgbClr val="15911F"/>
          </a:solidFill>
          <a:ln w="12700">
            <a:solidFill>
              <a:srgbClr val="000000"/>
            </a:solidFill>
            <a:prstDash val="solid"/>
          </a:ln>
        </p:spPr>
      </p:sp>
      <p:sp>
        <p:nvSpPr>
          <p:cNvPr id="22" name="Text 20"/>
          <p:cNvSpPr txBox="1"/>
          <p:nvPr/>
        </p:nvSpPr>
        <p:spPr>
          <a:xfrm>
            <a:off x="4051341" y="3511296"/>
            <a:ext cx="1069848" cy="475488"/>
          </a:xfrm>
          <a:prstGeom prst="rect">
            <a:avLst/>
          </a:prstGeom>
          <a:noFill/>
          <a:ln/>
        </p:spPr>
        <p:txBody>
          <a:bodyPr wrap="square" lIns="0" tIns="0" rIns="0" bIns="0" rtlCol="0" anchor="ctr"/>
          <a:lstStyle/>
          <a:p>
            <a:pPr algn="r" indent="0" marL="0">
              <a:buNone/>
            </a:pPr>
            <a:r>
              <a:rPr lang="en-US" sz="1300" b="1" dirty="0">
                <a:solidFill>
                  <a:srgbClr val="FFFFFF"/>
                </a:solidFill>
                <a:latin typeface="Montserrat" pitchFamily="34" charset="0"/>
                <a:ea typeface="Montserrat" pitchFamily="34" charset="-122"/>
                <a:cs typeface="Montserrat" pitchFamily="34" charset="-120"/>
              </a:rPr>
              <a:t>84,4 %</a:t>
            </a:r>
            <a:endParaRPr lang="en-US" sz="1300" dirty="0"/>
          </a:p>
        </p:txBody>
      </p:sp>
      <p:sp>
        <p:nvSpPr>
          <p:cNvPr id="23" name="Text 21"/>
          <p:cNvSpPr txBox="1"/>
          <p:nvPr/>
        </p:nvSpPr>
        <p:spPr>
          <a:xfrm>
            <a:off x="777240" y="3986784"/>
            <a:ext cx="1490472" cy="475488"/>
          </a:xfrm>
          <a:prstGeom prst="rect">
            <a:avLst/>
          </a:prstGeom>
          <a:noFill/>
          <a:ln/>
        </p:spPr>
        <p:txBody>
          <a:bodyPr wrap="square" lIns="0" tIns="0" rIns="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DQN</a:t>
            </a:r>
            <a:endParaRPr lang="en-US" sz="1300" dirty="0"/>
          </a:p>
        </p:txBody>
      </p:sp>
      <p:sp>
        <p:nvSpPr>
          <p:cNvPr id="24" name="Shape 22"/>
          <p:cNvSpPr/>
          <p:nvPr/>
        </p:nvSpPr>
        <p:spPr>
          <a:xfrm>
            <a:off x="2377440" y="4091391"/>
            <a:ext cx="3337560" cy="266273"/>
          </a:xfrm>
          <a:prstGeom prst="rect">
            <a:avLst/>
          </a:prstGeom>
          <a:solidFill>
            <a:srgbClr val="D9E3F5"/>
          </a:solidFill>
          <a:ln/>
        </p:spPr>
      </p:sp>
      <p:sp>
        <p:nvSpPr>
          <p:cNvPr id="25" name="Shape 23"/>
          <p:cNvSpPr/>
          <p:nvPr/>
        </p:nvSpPr>
        <p:spPr>
          <a:xfrm>
            <a:off x="2377440" y="4091391"/>
            <a:ext cx="2549896" cy="266273"/>
          </a:xfrm>
          <a:prstGeom prst="rect">
            <a:avLst/>
          </a:prstGeom>
          <a:solidFill>
            <a:srgbClr val="D62839"/>
          </a:solidFill>
          <a:ln w="12700">
            <a:solidFill>
              <a:srgbClr val="000000"/>
            </a:solidFill>
            <a:prstDash val="solid"/>
          </a:ln>
        </p:spPr>
      </p:sp>
      <p:sp>
        <p:nvSpPr>
          <p:cNvPr id="26" name="Text 24"/>
          <p:cNvSpPr txBox="1"/>
          <p:nvPr/>
        </p:nvSpPr>
        <p:spPr>
          <a:xfrm>
            <a:off x="5000488" y="3986784"/>
            <a:ext cx="1069848" cy="475488"/>
          </a:xfrm>
          <a:prstGeom prst="rect">
            <a:avLst/>
          </a:prstGeom>
          <a:noFill/>
          <a:ln/>
        </p:spPr>
        <p:txBody>
          <a:bodyPr wrap="square" lIns="0" tIns="0" rIns="0" bIns="0" rtlCol="0" anchor="ctr"/>
          <a:lstStyle/>
          <a:p>
            <a:pPr algn="l" indent="0" marL="0">
              <a:buNone/>
            </a:pPr>
            <a:r>
              <a:rPr lang="en-US" sz="1300" b="1" dirty="0">
                <a:solidFill>
                  <a:srgbClr val="14183D"/>
                </a:solidFill>
                <a:latin typeface="Montserrat" pitchFamily="34" charset="0"/>
                <a:ea typeface="Montserrat" pitchFamily="34" charset="-122"/>
                <a:cs typeface="Montserrat" pitchFamily="34" charset="-120"/>
              </a:rPr>
              <a:t>76,4 %</a:t>
            </a:r>
            <a:endParaRPr lang="en-US" sz="1300" dirty="0"/>
          </a:p>
        </p:txBody>
      </p:sp>
      <p:sp>
        <p:nvSpPr>
          <p:cNvPr id="27" name="Shape 25"/>
          <p:cNvSpPr/>
          <p:nvPr/>
        </p:nvSpPr>
        <p:spPr>
          <a:xfrm>
            <a:off x="777240" y="4636008"/>
            <a:ext cx="5029200" cy="1463040"/>
          </a:xfrm>
          <a:prstGeom prst="rect">
            <a:avLst/>
          </a:prstGeom>
          <a:solidFill>
            <a:srgbClr val="FFF4C2"/>
          </a:solidFill>
          <a:ln w="12700">
            <a:solidFill>
              <a:srgbClr val="000000"/>
            </a:solidFill>
            <a:prstDash val="solid"/>
          </a:ln>
        </p:spPr>
      </p:sp>
      <p:sp>
        <p:nvSpPr>
          <p:cNvPr id="28" name="Text 26"/>
          <p:cNvSpPr txBox="1"/>
          <p:nvPr/>
        </p:nvSpPr>
        <p:spPr>
          <a:xfrm>
            <a:off x="914400" y="4709160"/>
            <a:ext cx="4754880" cy="1325880"/>
          </a:xfrm>
          <a:prstGeom prst="rect">
            <a:avLst/>
          </a:prstGeom>
          <a:noFill/>
          <a:ln/>
        </p:spPr>
        <p:txBody>
          <a:bodyPr wrap="square" lIns="0" tIns="0" rIns="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DQN : 10,6 % en v1, 93,4 % en v2. </a:t>
            </a:r>
            <a:r>
              <a:rPr lang="en-US" sz="1300" dirty="0">
                <a:solidFill>
                  <a:srgbClr val="14183D"/>
                </a:solidFill>
                <a:latin typeface="Montserrat" pitchFamily="34" charset="0"/>
                <a:ea typeface="Montserrat" pitchFamily="34" charset="-122"/>
                <a:cs typeface="Montserrat" pitchFamily="34" charset="-120"/>
              </a:rPr>
              <a:t>Sans blocs à frapper, il ne reçoit presque que des morts : il lui faut des récompenses fréquentes (« densité de récompense »).</a:t>
            </a:r>
            <a:endParaRPr lang="en-US" sz="1300" dirty="0"/>
          </a:p>
        </p:txBody>
      </p:sp>
      <p:sp>
        <p:nvSpPr>
          <p:cNvPr id="29" name="carte"/>
          <p:cNvSpPr/>
          <p:nvPr/>
        </p:nvSpPr>
        <p:spPr>
          <a:xfrm>
            <a:off x="6355080" y="1737360"/>
            <a:ext cx="5285232" cy="455371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30" name="etiquette"/>
          <p:cNvSpPr txBox="1"/>
          <p:nvPr/>
        </p:nvSpPr>
        <p:spPr>
          <a:xfrm>
            <a:off x="6355080" y="1737360"/>
            <a:ext cx="3768791" cy="329184"/>
          </a:xfrm>
          <a:prstGeom prst="rect">
            <a:avLst/>
          </a:prstGeom>
          <a:solidFill>
            <a:srgbClr val="14183D"/>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Q2 · L'ORDRE DU NIVEAU COMPTE-T-IL ?</a:t>
            </a:r>
            <a:endParaRPr lang="en-US" sz="1200" dirty="0"/>
          </a:p>
        </p:txBody>
      </p:sp>
      <p:sp>
        <p:nvSpPr>
          <p:cNvPr id="31" name="Text 29"/>
          <p:cNvSpPr txBox="1"/>
          <p:nvPr/>
        </p:nvSpPr>
        <p:spPr>
          <a:xfrm>
            <a:off x="6583680" y="2212848"/>
            <a:ext cx="4846320" cy="274320"/>
          </a:xfrm>
          <a:prstGeom prst="rect">
            <a:avLst/>
          </a:prstGeom>
          <a:noFill/>
          <a:ln/>
        </p:spPr>
        <p:txBody>
          <a:bodyPr wrap="square" lIns="0" tIns="0" rIns="0" bIns="0" rtlCol="0" anchor="t"/>
          <a:lstStyle/>
          <a:p>
            <a:pPr indent="0" marL="0">
              <a:buNone/>
            </a:pPr>
            <a:r>
              <a:rPr lang="en-US" sz="1200" dirty="0">
                <a:solidFill>
                  <a:srgbClr val="4A5070"/>
                </a:solidFill>
                <a:latin typeface="Montserrat" pitchFamily="34" charset="0"/>
                <a:ea typeface="Montserrat" pitchFamily="34" charset="-122"/>
                <a:cs typeface="Montserrat" pitchFamily="34" charset="-120"/>
              </a:rPr>
              <a:t>Monte Carlo, v3 découpée en 6 morceaux (A à F)</a:t>
            </a:r>
            <a:endParaRPr lang="en-US" sz="1200" dirty="0"/>
          </a:p>
        </p:txBody>
      </p:sp>
      <p:sp>
        <p:nvSpPr>
          <p:cNvPr id="32" name="Shape 30"/>
          <p:cNvSpPr/>
          <p:nvPr/>
        </p:nvSpPr>
        <p:spPr>
          <a:xfrm>
            <a:off x="6583680" y="2606040"/>
            <a:ext cx="4828032" cy="603504"/>
          </a:xfrm>
          <a:prstGeom prst="rect">
            <a:avLst/>
          </a:prstGeom>
          <a:solidFill>
            <a:srgbClr val="FFFFFF"/>
          </a:solidFill>
          <a:ln w="9525">
            <a:solidFill>
              <a:srgbClr val="C8D3EA"/>
            </a:solidFill>
            <a:prstDash val="solid"/>
          </a:ln>
        </p:spPr>
      </p:sp>
      <p:sp>
        <p:nvSpPr>
          <p:cNvPr id="33" name="Text 31"/>
          <p:cNvSpPr txBox="1"/>
          <p:nvPr/>
        </p:nvSpPr>
        <p:spPr>
          <a:xfrm>
            <a:off x="6720840" y="2642616"/>
            <a:ext cx="2103120" cy="548640"/>
          </a:xfrm>
          <a:prstGeom prst="rect">
            <a:avLst/>
          </a:prstGeom>
          <a:noFill/>
          <a:ln/>
        </p:spPr>
        <p:txBody>
          <a:bodyPr wrap="square" lIns="0" tIns="0" rIns="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Ordre d'origine</a:t>
            </a:r>
            <a:endParaRPr lang="en-US" sz="1350" dirty="0"/>
          </a:p>
          <a:p>
            <a:pPr indent="0" marL="0">
              <a:buNone/>
            </a:pPr>
            <a:r>
              <a:rPr lang="en-US" sz="1100" dirty="0">
                <a:solidFill>
                  <a:srgbClr val="4A5070"/>
                </a:solidFill>
                <a:latin typeface="Montserrat" pitchFamily="34" charset="0"/>
                <a:ea typeface="Montserrat" pitchFamily="34" charset="-122"/>
                <a:cs typeface="Montserrat" pitchFamily="34" charset="-120"/>
              </a:rPr>
              <a:t>A B C D E F</a:t>
            </a:r>
            <a:endParaRPr lang="en-US" sz="1350" dirty="0"/>
          </a:p>
        </p:txBody>
      </p:sp>
      <p:sp>
        <p:nvSpPr>
          <p:cNvPr id="34" name="Text 32"/>
          <p:cNvSpPr txBox="1"/>
          <p:nvPr/>
        </p:nvSpPr>
        <p:spPr>
          <a:xfrm>
            <a:off x="8778240" y="2606040"/>
            <a:ext cx="1234440" cy="603504"/>
          </a:xfrm>
          <a:prstGeom prst="rect">
            <a:avLst/>
          </a:prstGeom>
          <a:noFill/>
          <a:ln/>
        </p:spPr>
        <p:txBody>
          <a:bodyPr wrap="square" lIns="0" tIns="0" rIns="0" bIns="0" rtlCol="0" anchor="ctr"/>
          <a:lstStyle/>
          <a:p>
            <a:pPr algn="ctr" indent="0" marL="0">
              <a:buNone/>
            </a:pPr>
            <a:r>
              <a:rPr lang="en-US" sz="2200" b="1" dirty="0">
                <a:solidFill>
                  <a:srgbClr val="15911F"/>
                </a:solidFill>
                <a:latin typeface="Montserrat" pitchFamily="34" charset="0"/>
                <a:ea typeface="Montserrat" pitchFamily="34" charset="-122"/>
                <a:cs typeface="Montserrat" pitchFamily="34" charset="-120"/>
              </a:rPr>
              <a:t>94,7 %</a:t>
            </a:r>
            <a:endParaRPr lang="en-US" sz="2200" dirty="0"/>
          </a:p>
        </p:txBody>
      </p:sp>
      <p:sp>
        <p:nvSpPr>
          <p:cNvPr id="35" name="Text 33"/>
          <p:cNvSpPr txBox="1"/>
          <p:nvPr/>
        </p:nvSpPr>
        <p:spPr>
          <a:xfrm>
            <a:off x="10012680" y="2606040"/>
            <a:ext cx="1325880" cy="603504"/>
          </a:xfrm>
          <a:prstGeom prst="rect">
            <a:avLst/>
          </a:prstGeom>
          <a:noFill/>
          <a:ln/>
        </p:spPr>
        <p:txBody>
          <a:bodyPr wrap="square" lIns="0" tIns="0" rIns="0" bIns="0" rtlCol="0" anchor="ctr"/>
          <a:lstStyle/>
          <a:p>
            <a:pPr algn="ctr" indent="0" marL="0">
              <a:buNone/>
            </a:pPr>
            <a:r>
              <a:rPr lang="en-US" sz="1200" dirty="0">
                <a:solidFill>
                  <a:srgbClr val="14183D"/>
                </a:solidFill>
                <a:latin typeface="Montserrat" pitchFamily="34" charset="0"/>
                <a:ea typeface="Montserrat" pitchFamily="34" charset="-122"/>
                <a:cs typeface="Montserrat" pitchFamily="34" charset="-120"/>
              </a:rPr>
              <a:t>0 échec sur 10</a:t>
            </a:r>
            <a:endParaRPr lang="en-US" sz="1200" dirty="0"/>
          </a:p>
        </p:txBody>
      </p:sp>
      <p:sp>
        <p:nvSpPr>
          <p:cNvPr id="36" name="Shape 34"/>
          <p:cNvSpPr/>
          <p:nvPr/>
        </p:nvSpPr>
        <p:spPr>
          <a:xfrm>
            <a:off x="6583680" y="3319272"/>
            <a:ext cx="4828032" cy="603504"/>
          </a:xfrm>
          <a:prstGeom prst="rect">
            <a:avLst/>
          </a:prstGeom>
          <a:solidFill>
            <a:srgbClr val="EAF1FE"/>
          </a:solidFill>
          <a:ln w="9525">
            <a:solidFill>
              <a:srgbClr val="C8D3EA"/>
            </a:solidFill>
            <a:prstDash val="solid"/>
          </a:ln>
        </p:spPr>
      </p:sp>
      <p:sp>
        <p:nvSpPr>
          <p:cNvPr id="37" name="Text 35"/>
          <p:cNvSpPr txBox="1"/>
          <p:nvPr/>
        </p:nvSpPr>
        <p:spPr>
          <a:xfrm>
            <a:off x="6720840" y="3355848"/>
            <a:ext cx="2103120" cy="548640"/>
          </a:xfrm>
          <a:prstGeom prst="rect">
            <a:avLst/>
          </a:prstGeom>
          <a:noFill/>
          <a:ln/>
        </p:spPr>
        <p:txBody>
          <a:bodyPr wrap="square" lIns="0" tIns="0" rIns="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10 ordres au hasard</a:t>
            </a:r>
            <a:endParaRPr lang="en-US" sz="1350" dirty="0"/>
          </a:p>
          <a:p>
            <a:pPr indent="0" marL="0">
              <a:buNone/>
            </a:pPr>
            <a:r>
              <a:rPr lang="en-US" sz="1100" dirty="0">
                <a:solidFill>
                  <a:srgbClr val="4A5070"/>
                </a:solidFill>
                <a:latin typeface="Montserrat" pitchFamily="34" charset="0"/>
                <a:ea typeface="Montserrat" pitchFamily="34" charset="-122"/>
                <a:cs typeface="Montserrat" pitchFamily="34" charset="-120"/>
              </a:rPr>
              <a:t>mélangés</a:t>
            </a:r>
            <a:endParaRPr lang="en-US" sz="1350" dirty="0"/>
          </a:p>
        </p:txBody>
      </p:sp>
      <p:sp>
        <p:nvSpPr>
          <p:cNvPr id="38" name="Text 36"/>
          <p:cNvSpPr txBox="1"/>
          <p:nvPr/>
        </p:nvSpPr>
        <p:spPr>
          <a:xfrm>
            <a:off x="8778240" y="3319272"/>
            <a:ext cx="1234440" cy="603504"/>
          </a:xfrm>
          <a:prstGeom prst="rect">
            <a:avLst/>
          </a:prstGeom>
          <a:noFill/>
          <a:ln/>
        </p:spPr>
        <p:txBody>
          <a:bodyPr wrap="square" lIns="0" tIns="0" rIns="0" bIns="0" rtlCol="0" anchor="ctr"/>
          <a:lstStyle/>
          <a:p>
            <a:pPr algn="ctr" indent="0" marL="0">
              <a:buNone/>
            </a:pPr>
            <a:r>
              <a:rPr lang="en-US" sz="2200" b="1" dirty="0">
                <a:solidFill>
                  <a:srgbClr val="E8790C"/>
                </a:solidFill>
                <a:latin typeface="Montserrat" pitchFamily="34" charset="0"/>
                <a:ea typeface="Montserrat" pitchFamily="34" charset="-122"/>
                <a:cs typeface="Montserrat" pitchFamily="34" charset="-120"/>
              </a:rPr>
              <a:t>89,0 %</a:t>
            </a:r>
            <a:endParaRPr lang="en-US" sz="2200" dirty="0"/>
          </a:p>
        </p:txBody>
      </p:sp>
      <p:sp>
        <p:nvSpPr>
          <p:cNvPr id="39" name="Text 37"/>
          <p:cNvSpPr txBox="1"/>
          <p:nvPr/>
        </p:nvSpPr>
        <p:spPr>
          <a:xfrm>
            <a:off x="10012680" y="3319272"/>
            <a:ext cx="1325880" cy="603504"/>
          </a:xfrm>
          <a:prstGeom prst="rect">
            <a:avLst/>
          </a:prstGeom>
          <a:noFill/>
          <a:ln/>
        </p:spPr>
        <p:txBody>
          <a:bodyPr wrap="square" lIns="0" tIns="0" rIns="0" bIns="0" rtlCol="0" anchor="ctr"/>
          <a:lstStyle/>
          <a:p>
            <a:pPr algn="ctr" indent="0" marL="0">
              <a:buNone/>
            </a:pPr>
            <a:r>
              <a:rPr lang="en-US" sz="1200" dirty="0">
                <a:solidFill>
                  <a:srgbClr val="14183D"/>
                </a:solidFill>
                <a:latin typeface="Montserrat" pitchFamily="34" charset="0"/>
                <a:ea typeface="Montserrat" pitchFamily="34" charset="-122"/>
                <a:cs typeface="Montserrat" pitchFamily="34" charset="-120"/>
              </a:rPr>
              <a:t>1 échec sur 50</a:t>
            </a:r>
            <a:endParaRPr lang="en-US" sz="1200" dirty="0"/>
          </a:p>
        </p:txBody>
      </p:sp>
      <p:sp>
        <p:nvSpPr>
          <p:cNvPr id="40" name="Shape 38"/>
          <p:cNvSpPr/>
          <p:nvPr/>
        </p:nvSpPr>
        <p:spPr>
          <a:xfrm>
            <a:off x="6583680" y="4032504"/>
            <a:ext cx="4828032" cy="603504"/>
          </a:xfrm>
          <a:prstGeom prst="rect">
            <a:avLst/>
          </a:prstGeom>
          <a:solidFill>
            <a:srgbClr val="FFFFFF"/>
          </a:solidFill>
          <a:ln w="9525">
            <a:solidFill>
              <a:srgbClr val="C8D3EA"/>
            </a:solidFill>
            <a:prstDash val="solid"/>
          </a:ln>
        </p:spPr>
      </p:sp>
      <p:sp>
        <p:nvSpPr>
          <p:cNvPr id="41" name="Text 39"/>
          <p:cNvSpPr txBox="1"/>
          <p:nvPr/>
        </p:nvSpPr>
        <p:spPr>
          <a:xfrm>
            <a:off x="6720840" y="4069080"/>
            <a:ext cx="2103120" cy="548640"/>
          </a:xfrm>
          <a:prstGeom prst="rect">
            <a:avLst/>
          </a:prstGeom>
          <a:noFill/>
          <a:ln/>
        </p:spPr>
        <p:txBody>
          <a:bodyPr wrap="square" lIns="0" tIns="0" rIns="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Ordre inversé</a:t>
            </a:r>
            <a:endParaRPr lang="en-US" sz="1350" dirty="0"/>
          </a:p>
          <a:p>
            <a:pPr indent="0" marL="0">
              <a:buNone/>
            </a:pPr>
            <a:r>
              <a:rPr lang="en-US" sz="1100" dirty="0">
                <a:solidFill>
                  <a:srgbClr val="4A5070"/>
                </a:solidFill>
                <a:latin typeface="Montserrat" pitchFamily="34" charset="0"/>
                <a:ea typeface="Montserrat" pitchFamily="34" charset="-122"/>
                <a:cs typeface="Montserrat" pitchFamily="34" charset="-120"/>
              </a:rPr>
              <a:t>F E D C B A</a:t>
            </a:r>
            <a:endParaRPr lang="en-US" sz="1350" dirty="0"/>
          </a:p>
        </p:txBody>
      </p:sp>
      <p:sp>
        <p:nvSpPr>
          <p:cNvPr id="42" name="Text 40"/>
          <p:cNvSpPr txBox="1"/>
          <p:nvPr/>
        </p:nvSpPr>
        <p:spPr>
          <a:xfrm>
            <a:off x="8778240" y="4032504"/>
            <a:ext cx="1234440" cy="603504"/>
          </a:xfrm>
          <a:prstGeom prst="rect">
            <a:avLst/>
          </a:prstGeom>
          <a:noFill/>
          <a:ln/>
        </p:spPr>
        <p:txBody>
          <a:bodyPr wrap="square" lIns="0" tIns="0" rIns="0" bIns="0" rtlCol="0" anchor="ctr"/>
          <a:lstStyle/>
          <a:p>
            <a:pPr algn="ctr" indent="0" marL="0">
              <a:buNone/>
            </a:pPr>
            <a:r>
              <a:rPr lang="en-US" sz="2200" b="1" dirty="0">
                <a:solidFill>
                  <a:srgbClr val="D62839"/>
                </a:solidFill>
                <a:latin typeface="Montserrat" pitchFamily="34" charset="0"/>
                <a:ea typeface="Montserrat" pitchFamily="34" charset="-122"/>
                <a:cs typeface="Montserrat" pitchFamily="34" charset="-120"/>
              </a:rPr>
              <a:t>48,5 %</a:t>
            </a:r>
            <a:endParaRPr lang="en-US" sz="2200" dirty="0"/>
          </a:p>
        </p:txBody>
      </p:sp>
      <p:sp>
        <p:nvSpPr>
          <p:cNvPr id="43" name="Text 41"/>
          <p:cNvSpPr txBox="1"/>
          <p:nvPr/>
        </p:nvSpPr>
        <p:spPr>
          <a:xfrm>
            <a:off x="10012680" y="4032504"/>
            <a:ext cx="1325880" cy="603504"/>
          </a:xfrm>
          <a:prstGeom prst="rect">
            <a:avLst/>
          </a:prstGeom>
          <a:noFill/>
          <a:ln/>
        </p:spPr>
        <p:txBody>
          <a:bodyPr wrap="square" lIns="0" tIns="0" rIns="0" bIns="0" rtlCol="0" anchor="ctr"/>
          <a:lstStyle/>
          <a:p>
            <a:pPr algn="ctr" indent="0" marL="0">
              <a:buNone/>
            </a:pPr>
            <a:r>
              <a:rPr lang="en-US" sz="1200" dirty="0">
                <a:solidFill>
                  <a:srgbClr val="14183D"/>
                </a:solidFill>
                <a:latin typeface="Montserrat" pitchFamily="34" charset="0"/>
                <a:ea typeface="Montserrat" pitchFamily="34" charset="-122"/>
                <a:cs typeface="Montserrat" pitchFamily="34" charset="-120"/>
              </a:rPr>
              <a:t>4 échecs sur 10</a:t>
            </a:r>
            <a:endParaRPr lang="en-US" sz="1200" dirty="0"/>
          </a:p>
        </p:txBody>
      </p:sp>
      <p:sp>
        <p:nvSpPr>
          <p:cNvPr id="44" name="Shape 42"/>
          <p:cNvSpPr/>
          <p:nvPr/>
        </p:nvSpPr>
        <p:spPr>
          <a:xfrm>
            <a:off x="6583680" y="4800600"/>
            <a:ext cx="4828032" cy="1298448"/>
          </a:xfrm>
          <a:prstGeom prst="rect">
            <a:avLst/>
          </a:prstGeom>
          <a:solidFill>
            <a:srgbClr val="FFF4C2"/>
          </a:solidFill>
          <a:ln w="12700">
            <a:solidFill>
              <a:srgbClr val="000000"/>
            </a:solidFill>
            <a:prstDash val="solid"/>
          </a:ln>
        </p:spPr>
      </p:sp>
      <p:sp>
        <p:nvSpPr>
          <p:cNvPr id="45" name="Text 43"/>
          <p:cNvSpPr txBox="1"/>
          <p:nvPr/>
        </p:nvSpPr>
        <p:spPr>
          <a:xfrm>
            <a:off x="6720840" y="4864608"/>
            <a:ext cx="4572000" cy="1188720"/>
          </a:xfrm>
          <a:prstGeom prst="rect">
            <a:avLst/>
          </a:prstGeom>
          <a:noFill/>
          <a:ln/>
        </p:spPr>
        <p:txBody>
          <a:bodyPr wrap="square" lIns="0" tIns="0" rIns="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DQN : ~76 % quel que soit l'ordre. </a:t>
            </a:r>
            <a:r>
              <a:rPr lang="en-US" sz="1300" dirty="0">
                <a:solidFill>
                  <a:srgbClr val="14183D"/>
                </a:solidFill>
                <a:latin typeface="Montserrat" pitchFamily="34" charset="0"/>
                <a:ea typeface="Montserrat" pitchFamily="34" charset="-122"/>
                <a:cs typeface="Montserrat" pitchFamily="34" charset="-120"/>
              </a:rPr>
              <a:t>Sa mémoire tire ses souvenirs au hasard parmi toutes les parties : l'ordre est effacé. Conclusion des auteurs : le 1-1 a une vraie structure pédagogique.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WORLD 1-1 - LA VEILLE</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NOTRE LECTURE CRITIQUE</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Une question originale, mais des erreurs et un protocole fragile.</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7</a:t>
            </a:r>
            <a:endParaRPr lang="en-US" sz="1000" dirty="0"/>
          </a:p>
        </p:txBody>
      </p:sp>
      <p:sp>
        <p:nvSpPr>
          <p:cNvPr id="8" name="carte"/>
          <p:cNvSpPr/>
          <p:nvPr/>
        </p:nvSpPr>
        <p:spPr>
          <a:xfrm>
            <a:off x="548640" y="1737360"/>
            <a:ext cx="3520440" cy="455371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9" name="etiquette"/>
          <p:cNvSpPr txBox="1"/>
          <p:nvPr/>
        </p:nvSpPr>
        <p:spPr>
          <a:xfrm>
            <a:off x="548640" y="1737360"/>
            <a:ext cx="1600200" cy="329184"/>
          </a:xfrm>
          <a:prstGeom prst="rect">
            <a:avLst/>
          </a:prstGeom>
          <a:solidFill>
            <a:srgbClr val="15911F"/>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FORCES</a:t>
            </a:r>
            <a:endParaRPr lang="en-US" sz="1200" dirty="0"/>
          </a:p>
        </p:txBody>
      </p:sp>
      <p:sp>
        <p:nvSpPr>
          <p:cNvPr id="10" name="Text 8"/>
          <p:cNvSpPr txBox="1"/>
          <p:nvPr/>
        </p:nvSpPr>
        <p:spPr>
          <a:xfrm>
            <a:off x="731520" y="2286000"/>
            <a:ext cx="3182112" cy="3931920"/>
          </a:xfrm>
          <a:prstGeom prst="rect">
            <a:avLst/>
          </a:prstGeom>
          <a:noFill/>
          <a:ln/>
        </p:spPr>
        <p:txBody>
          <a:bodyPr wrap="square" lIns="0" tIns="0" rIns="0" bIns="0" rtlCol="0" anchor="t"/>
          <a:lstStyle/>
          <a:p>
            <a:pPr marL="177800" indent="-177800">
              <a:lnSpc>
                <a:spcPct val="105000"/>
              </a:lnSpc>
              <a:spcAft>
                <a:spcPts val="1200"/>
              </a:spcAft>
              <a:buSzPct val="100000"/>
              <a:buChar char="•"/>
            </a:pPr>
            <a:r>
              <a:rPr lang="en-US" sz="1450" dirty="0">
                <a:solidFill>
                  <a:srgbClr val="14183D"/>
                </a:solidFill>
                <a:latin typeface="Montserrat" pitchFamily="34" charset="0"/>
                <a:ea typeface="Montserrat" pitchFamily="34" charset="-122"/>
                <a:cs typeface="Montserrat" pitchFamily="34" charset="-120"/>
              </a:rPr>
              <a:t>Question originale : mesurer la « pédagogie » d'un niveau avec des IA</a:t>
            </a:r>
            <a:endParaRPr lang="en-US" sz="1450" dirty="0"/>
          </a:p>
          <a:p>
            <a:pPr marL="177800" indent="-177800">
              <a:lnSpc>
                <a:spcPct val="105000"/>
              </a:lnSpc>
              <a:spcAft>
                <a:spcPts val="1200"/>
              </a:spcAft>
              <a:buSzPct val="100000"/>
              <a:buChar char="•"/>
            </a:pPr>
            <a:r>
              <a:rPr lang="en-US" sz="1450" dirty="0">
                <a:solidFill>
                  <a:srgbClr val="14183D"/>
                </a:solidFill>
                <a:latin typeface="Montserrat" pitchFamily="34" charset="0"/>
                <a:ea typeface="Montserrat" pitchFamily="34" charset="-122"/>
                <a:cs typeface="Montserrat" pitchFamily="34" charset="-120"/>
              </a:rPr>
              <a:t>Environnement codé de zéro, en 3 niveaux de difficulté</a:t>
            </a:r>
            <a:endParaRPr lang="en-US" sz="1450" dirty="0"/>
          </a:p>
          <a:p>
            <a:pPr marL="177800" indent="-177800">
              <a:lnSpc>
                <a:spcPct val="105000"/>
              </a:lnSpc>
              <a:spcAft>
                <a:spcPts val="1200"/>
              </a:spcAft>
              <a:buSzPct val="100000"/>
              <a:buChar char="•"/>
            </a:pPr>
            <a:r>
              <a:rPr lang="en-US" sz="1450" dirty="0">
                <a:solidFill>
                  <a:srgbClr val="14183D"/>
                </a:solidFill>
                <a:latin typeface="Montserrat" pitchFamily="34" charset="0"/>
                <a:ea typeface="Montserrat" pitchFamily="34" charset="-122"/>
                <a:cs typeface="Montserrat" pitchFamily="34" charset="-120"/>
              </a:rPr>
              <a:t>Expérience de contrôle avec DQN, qui isole le rôle de la mémoire</a:t>
            </a:r>
            <a:endParaRPr lang="en-US" sz="1450" dirty="0"/>
          </a:p>
          <a:p>
            <a:pPr marL="177800" indent="-177800">
              <a:lnSpc>
                <a:spcPct val="105000"/>
              </a:lnSpc>
              <a:spcAft>
                <a:spcPts val="1200"/>
              </a:spcAft>
              <a:buSzPct val="100000"/>
              <a:buChar char="•"/>
            </a:pPr>
            <a:r>
              <a:rPr lang="en-US" sz="1450" dirty="0">
                <a:solidFill>
                  <a:srgbClr val="14183D"/>
                </a:solidFill>
                <a:latin typeface="Montserrat" pitchFamily="34" charset="0"/>
                <a:ea typeface="Montserrat" pitchFamily="34" charset="-122"/>
                <a:cs typeface="Montserrat" pitchFamily="34" charset="-120"/>
              </a:rPr>
              <a:t>La densité de récompense proposée comme critère de choix</a:t>
            </a:r>
            <a:endParaRPr lang="en-US" sz="1450" dirty="0"/>
          </a:p>
        </p:txBody>
      </p:sp>
      <p:sp>
        <p:nvSpPr>
          <p:cNvPr id="11" name="carte"/>
          <p:cNvSpPr/>
          <p:nvPr/>
        </p:nvSpPr>
        <p:spPr>
          <a:xfrm>
            <a:off x="4334256" y="1737360"/>
            <a:ext cx="3520440" cy="455371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2" name="etiquette"/>
          <p:cNvSpPr txBox="1"/>
          <p:nvPr/>
        </p:nvSpPr>
        <p:spPr>
          <a:xfrm>
            <a:off x="4334256" y="1737360"/>
            <a:ext cx="1600200" cy="329184"/>
          </a:xfrm>
          <a:prstGeom prst="rect">
            <a:avLst/>
          </a:prstGeom>
          <a:solidFill>
            <a:srgbClr val="D62839"/>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ERREURS</a:t>
            </a:r>
            <a:endParaRPr lang="en-US" sz="1200" dirty="0"/>
          </a:p>
        </p:txBody>
      </p:sp>
      <p:sp>
        <p:nvSpPr>
          <p:cNvPr id="13" name="Text 11"/>
          <p:cNvSpPr txBox="1"/>
          <p:nvPr/>
        </p:nvSpPr>
        <p:spPr>
          <a:xfrm>
            <a:off x="4517136" y="2286000"/>
            <a:ext cx="3182112" cy="3931920"/>
          </a:xfrm>
          <a:prstGeom prst="rect">
            <a:avLst/>
          </a:prstGeom>
          <a:noFill/>
          <a:ln/>
        </p:spPr>
        <p:txBody>
          <a:bodyPr wrap="square" lIns="0" tIns="0" rIns="0" bIns="0" rtlCol="0" anchor="t"/>
          <a:lstStyle/>
          <a:p>
            <a:pPr marL="177800" indent="-177800">
              <a:lnSpc>
                <a:spcPct val="105000"/>
              </a:lnSpc>
              <a:spcAft>
                <a:spcPts val="1200"/>
              </a:spcAft>
              <a:buSzPct val="100000"/>
              <a:buChar char="•"/>
            </a:pPr>
            <a:r>
              <a:rPr lang="en-US" sz="1450" dirty="0">
                <a:solidFill>
                  <a:srgbClr val="14183D"/>
                </a:solidFill>
                <a:latin typeface="Montserrat" pitchFamily="34" charset="0"/>
                <a:ea typeface="Montserrat" pitchFamily="34" charset="-122"/>
                <a:cs typeface="Montserrat" pitchFamily="34" charset="-120"/>
              </a:rPr>
              <a:t>Ordre inversé : 94,7 % dans le texte, 48,5 % dans leur tableau</a:t>
            </a:r>
            <a:endParaRPr lang="en-US" sz="1450" dirty="0"/>
          </a:p>
          <a:p>
            <a:pPr marL="177800" indent="-177800">
              <a:lnSpc>
                <a:spcPct val="105000"/>
              </a:lnSpc>
              <a:spcAft>
                <a:spcPts val="1200"/>
              </a:spcAft>
              <a:buSzPct val="100000"/>
              <a:buChar char="•"/>
            </a:pPr>
            <a:r>
              <a:rPr lang="en-US" sz="1450" dirty="0">
                <a:solidFill>
                  <a:srgbClr val="14183D"/>
                </a:solidFill>
                <a:latin typeface="Montserrat" pitchFamily="34" charset="0"/>
                <a:ea typeface="Montserrat" pitchFamily="34" charset="-122"/>
                <a:cs typeface="Montserrat" pitchFamily="34" charset="-120"/>
              </a:rPr>
              <a:t>Traverser le niveau : ~198 pas × 0,5, pas 99 × 0,5</a:t>
            </a:r>
            <a:endParaRPr lang="en-US" sz="1450" dirty="0"/>
          </a:p>
          <a:p>
            <a:pPr marL="177800" indent="-177800">
              <a:lnSpc>
                <a:spcPct val="105000"/>
              </a:lnSpc>
              <a:spcAft>
                <a:spcPts val="1200"/>
              </a:spcAft>
              <a:buSzPct val="100000"/>
              <a:buChar char="•"/>
            </a:pPr>
            <a:r>
              <a:rPr lang="en-US" sz="1450" dirty="0">
                <a:solidFill>
                  <a:srgbClr val="14183D"/>
                </a:solidFill>
                <a:latin typeface="Montserrat" pitchFamily="34" charset="0"/>
                <a:ea typeface="Montserrat" pitchFamily="34" charset="-122"/>
                <a:cs typeface="Montserrat" pitchFamily="34" charset="-120"/>
              </a:rPr>
              <a:t>« Seul ordre sans échec » : faux, 9 ordres au hasard sur 10 aussi</a:t>
            </a:r>
            <a:endParaRPr lang="en-US" sz="1450" dirty="0"/>
          </a:p>
          <a:p>
            <a:pPr marL="177800" indent="-177800">
              <a:lnSpc>
                <a:spcPct val="105000"/>
              </a:lnSpc>
              <a:spcAft>
                <a:spcPts val="1200"/>
              </a:spcAft>
              <a:buSzPct val="100000"/>
              <a:buChar char="•"/>
            </a:pPr>
            <a:r>
              <a:rPr lang="en-US" sz="1450" dirty="0">
                <a:solidFill>
                  <a:srgbClr val="14183D"/>
                </a:solidFill>
                <a:latin typeface="Montserrat" pitchFamily="34" charset="0"/>
                <a:ea typeface="Montserrat" pitchFamily="34" charset="-122"/>
                <a:cs typeface="Montserrat" pitchFamily="34" charset="-120"/>
              </a:rPr>
              <a:t>Monte Carlo v3 : 94,9 % (tableau) ou 94,7 % (conclusion) ?</a:t>
            </a:r>
            <a:endParaRPr lang="en-US" sz="1450" dirty="0"/>
          </a:p>
          <a:p>
            <a:pPr marL="177800" indent="-177800">
              <a:lnSpc>
                <a:spcPct val="105000"/>
              </a:lnSpc>
              <a:spcAft>
                <a:spcPts val="1200"/>
              </a:spcAft>
              <a:buSzPct val="100000"/>
              <a:buChar char="•"/>
            </a:pPr>
            <a:r>
              <a:rPr lang="en-US" sz="1450" dirty="0">
                <a:solidFill>
                  <a:srgbClr val="14183D"/>
                </a:solidFill>
                <a:latin typeface="Montserrat" pitchFamily="34" charset="0"/>
                <a:ea typeface="Montserrat" pitchFamily="34" charset="-122"/>
                <a:cs typeface="Montserrat" pitchFamily="34" charset="-120"/>
              </a:rPr>
              <a:t>Mort dite « aléatoire » dans un jeu déterministe</a:t>
            </a:r>
            <a:endParaRPr lang="en-US" sz="1450" dirty="0"/>
          </a:p>
        </p:txBody>
      </p:sp>
      <p:sp>
        <p:nvSpPr>
          <p:cNvPr id="14" name="carte"/>
          <p:cNvSpPr/>
          <p:nvPr/>
        </p:nvSpPr>
        <p:spPr>
          <a:xfrm>
            <a:off x="8119872" y="1737360"/>
            <a:ext cx="3520440" cy="455371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5" name="etiquette"/>
          <p:cNvSpPr txBox="1"/>
          <p:nvPr/>
        </p:nvSpPr>
        <p:spPr>
          <a:xfrm>
            <a:off x="8119872" y="1737360"/>
            <a:ext cx="1600200" cy="329184"/>
          </a:xfrm>
          <a:prstGeom prst="rect">
            <a:avLst/>
          </a:prstGeom>
          <a:solidFill>
            <a:srgbClr val="E8790C"/>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FAIBLESSES</a:t>
            </a:r>
            <a:endParaRPr lang="en-US" sz="1200" dirty="0"/>
          </a:p>
        </p:txBody>
      </p:sp>
      <p:sp>
        <p:nvSpPr>
          <p:cNvPr id="16" name="Text 14"/>
          <p:cNvSpPr txBox="1"/>
          <p:nvPr/>
        </p:nvSpPr>
        <p:spPr>
          <a:xfrm>
            <a:off x="8302752" y="2286000"/>
            <a:ext cx="3182112" cy="3931920"/>
          </a:xfrm>
          <a:prstGeom prst="rect">
            <a:avLst/>
          </a:prstGeom>
          <a:noFill/>
          <a:ln/>
        </p:spPr>
        <p:txBody>
          <a:bodyPr wrap="square" lIns="0" tIns="0" rIns="0" bIns="0" rtlCol="0" anchor="t"/>
          <a:lstStyle/>
          <a:p>
            <a:pPr marL="177800" indent="-177800">
              <a:lnSpc>
                <a:spcPct val="105000"/>
              </a:lnSpc>
              <a:spcAft>
                <a:spcPts val="1200"/>
              </a:spcAft>
              <a:buSzPct val="100000"/>
              <a:buChar char="•"/>
            </a:pPr>
            <a:r>
              <a:rPr lang="en-US" sz="1450" dirty="0">
                <a:solidFill>
                  <a:srgbClr val="14183D"/>
                </a:solidFill>
                <a:latin typeface="Montserrat" pitchFamily="34" charset="0"/>
                <a:ea typeface="Montserrat" pitchFamily="34" charset="-122"/>
                <a:cs typeface="Montserrat" pitchFamily="34" charset="-120"/>
              </a:rPr>
              <a:t>10 ordres testés sur 720 possibles</a:t>
            </a:r>
            <a:endParaRPr lang="en-US" sz="1450" dirty="0"/>
          </a:p>
          <a:p>
            <a:pPr marL="177800" indent="-177800">
              <a:lnSpc>
                <a:spcPct val="105000"/>
              </a:lnSpc>
              <a:spcAft>
                <a:spcPts val="1200"/>
              </a:spcAft>
              <a:buSzPct val="100000"/>
              <a:buChar char="•"/>
            </a:pPr>
            <a:r>
              <a:rPr lang="en-US" sz="1450" dirty="0">
                <a:solidFill>
                  <a:srgbClr val="14183D"/>
                </a:solidFill>
                <a:latin typeface="Montserrat" pitchFamily="34" charset="0"/>
                <a:ea typeface="Montserrat" pitchFamily="34" charset="-122"/>
                <a:cs typeface="Montserrat" pitchFamily="34" charset="-120"/>
              </a:rPr>
              <a:t>Effectifs inégaux (10 graines contre 5) ; d = 7,04 avec 5 graines</a:t>
            </a:r>
            <a:endParaRPr lang="en-US" sz="1450" dirty="0"/>
          </a:p>
          <a:p>
            <a:pPr marL="177800" indent="-177800">
              <a:lnSpc>
                <a:spcPct val="105000"/>
              </a:lnSpc>
              <a:spcAft>
                <a:spcPts val="1200"/>
              </a:spcAft>
              <a:buSzPct val="100000"/>
              <a:buChar char="•"/>
            </a:pPr>
            <a:r>
              <a:rPr lang="en-US" sz="1450" dirty="0">
                <a:solidFill>
                  <a:srgbClr val="14183D"/>
                </a:solidFill>
                <a:latin typeface="Montserrat" pitchFamily="34" charset="0"/>
                <a:ea typeface="Montserrat" pitchFamily="34" charset="-122"/>
                <a:cs typeface="Montserrat" pitchFamily="34" charset="-120"/>
              </a:rPr>
              <a:t>Seul le DQN réglé à la main</a:t>
            </a:r>
            <a:endParaRPr lang="en-US" sz="1450" dirty="0"/>
          </a:p>
          <a:p>
            <a:pPr marL="177800" indent="-177800">
              <a:lnSpc>
                <a:spcPct val="105000"/>
              </a:lnSpc>
              <a:spcAft>
                <a:spcPts val="1200"/>
              </a:spcAft>
              <a:buSzPct val="100000"/>
              <a:buChar char="•"/>
            </a:pPr>
            <a:r>
              <a:rPr lang="en-US" sz="1450" dirty="0">
                <a:solidFill>
                  <a:srgbClr val="14183D"/>
                </a:solidFill>
                <a:latin typeface="Montserrat" pitchFamily="34" charset="0"/>
                <a:ea typeface="Montserrat" pitchFamily="34" charset="-122"/>
                <a:cs typeface="Montserrat" pitchFamily="34" charset="-120"/>
              </a:rPr>
              <a:t>Physique « fidèle à la NES » : saut fixe, ni gauche ni course</a:t>
            </a:r>
            <a:endParaRPr lang="en-US" sz="1450" dirty="0"/>
          </a:p>
          <a:p>
            <a:pPr marL="177800" indent="-177800">
              <a:lnSpc>
                <a:spcPct val="105000"/>
              </a:lnSpc>
              <a:spcAft>
                <a:spcPts val="1200"/>
              </a:spcAft>
              <a:buSzPct val="100000"/>
              <a:buChar char="•"/>
            </a:pPr>
            <a:r>
              <a:rPr lang="en-US" sz="1450" dirty="0">
                <a:solidFill>
                  <a:srgbClr val="14183D"/>
                </a:solidFill>
                <a:latin typeface="Montserrat" pitchFamily="34" charset="0"/>
                <a:ea typeface="Montserrat" pitchFamily="34" charset="-122"/>
                <a:cs typeface="Montserrat" pitchFamily="34" charset="-120"/>
              </a:rPr>
              <a:t>Pas de code publié</a:t>
            </a:r>
            <a:endParaRPr lang="en-US" sz="1450" dirty="0"/>
          </a:p>
          <a:p>
            <a:pPr marL="177800" indent="-177800">
              <a:lnSpc>
                <a:spcPct val="105000"/>
              </a:lnSpc>
              <a:spcAft>
                <a:spcPts val="1200"/>
              </a:spcAft>
              <a:buSzPct val="100000"/>
              <a:buChar char="•"/>
            </a:pPr>
            <a:r>
              <a:rPr lang="en-US" sz="1450" dirty="0">
                <a:solidFill>
                  <a:srgbClr val="14183D"/>
                </a:solidFill>
                <a:latin typeface="Montserrat" pitchFamily="34" charset="0"/>
                <a:ea typeface="Montserrat" pitchFamily="34" charset="-122"/>
                <a:cs typeface="Montserrat" pitchFamily="34" charset="-120"/>
              </a:rPr>
              <a:t>Une IA qui apprend vite ne prouve pas qu'un humain apprend mieux</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5A99ED"/>
        </a:solidFill>
      </p:bgPr>
    </p:bg>
    <p:spTree>
      <p:nvGrpSpPr>
        <p:cNvPr id="1" name=""/>
        <p:cNvGrpSpPr/>
        <p:nvPr/>
      </p:nvGrpSpPr>
      <p:grpSpPr>
        <a:xfrm>
          <a:off x="0" y="0"/>
          <a:ext cx="0" cy="0"/>
          <a:chOff x="0" y="0"/>
          <a:chExt cx="0" cy="0"/>
        </a:xfrm>
      </p:grpSpPr>
      <p:pic>
        <p:nvPicPr>
          <p:cNvPr id="2" name="coin_brick" descr="/home/user/MarioRL_FinalWork/docs/oral/fabrication/assets/sprites/coin_brick.png">    </p:cNvPr>
          <p:cNvPicPr>
            <a:picLocks noChangeAspect="1"/>
          </p:cNvPicPr>
          <p:nvPr/>
        </p:nvPicPr>
        <p:blipFill>
          <a:blip r:embed="rId1"/>
          <a:stretch>
            <a:fillRect/>
          </a:stretch>
        </p:blipFill>
        <p:spPr>
          <a:xfrm>
            <a:off x="1430853" y="2408804"/>
            <a:ext cx="901690" cy="1659453"/>
          </a:xfrm>
          <a:prstGeom prst="rect">
            <a:avLst/>
          </a:prstGeom>
        </p:spPr>
      </p:pic>
      <p:pic>
        <p:nvPicPr>
          <p:cNvPr id="3" name="brick" descr="/home/user/MarioRL_FinalWork/docs/oral/fabrication/assets/sprites/brick.png">    </p:cNvPr>
          <p:cNvPicPr>
            <a:picLocks noChangeAspect="1"/>
          </p:cNvPicPr>
          <p:nvPr/>
        </p:nvPicPr>
        <p:blipFill>
          <a:blip r:embed="rId2"/>
          <a:stretch>
            <a:fillRect/>
          </a:stretch>
        </p:blipFill>
        <p:spPr>
          <a:xfrm>
            <a:off x="359816" y="4229100"/>
            <a:ext cx="901690" cy="901690"/>
          </a:xfrm>
          <a:prstGeom prst="rect">
            <a:avLst/>
          </a:prstGeom>
        </p:spPr>
      </p:pic>
      <p:pic>
        <p:nvPicPr>
          <p:cNvPr id="4" name="qblock_bricks" descr="/home/user/MarioRL_FinalWork/docs/oral/fabrication/assets/sprites/qblock_bricks.png">    </p:cNvPr>
          <p:cNvPicPr>
            <a:picLocks noChangeAspect="1"/>
          </p:cNvPicPr>
          <p:nvPr/>
        </p:nvPicPr>
        <p:blipFill>
          <a:blip r:embed="rId3"/>
          <a:stretch>
            <a:fillRect/>
          </a:stretch>
        </p:blipFill>
        <p:spPr>
          <a:xfrm>
            <a:off x="9067739" y="2595067"/>
            <a:ext cx="2620396" cy="1663659"/>
          </a:xfrm>
          <a:prstGeom prst="rect">
            <a:avLst/>
          </a:prstGeom>
        </p:spPr>
      </p:pic>
      <p:pic>
        <p:nvPicPr>
          <p:cNvPr id="5" name="mario" descr="/home/user/MarioRL_FinalWork/docs/oral/fabrication/assets/sprites/mario.png">    </p:cNvPr>
          <p:cNvPicPr>
            <a:picLocks noChangeAspect="1"/>
          </p:cNvPicPr>
          <p:nvPr/>
        </p:nvPicPr>
        <p:blipFill>
          <a:blip r:embed="rId4"/>
          <a:stretch>
            <a:fillRect/>
          </a:stretch>
        </p:blipFill>
        <p:spPr>
          <a:xfrm>
            <a:off x="4709160" y="5241066"/>
            <a:ext cx="596920" cy="761970"/>
          </a:xfrm>
          <a:prstGeom prst="rect">
            <a:avLst/>
          </a:prstGeom>
        </p:spPr>
      </p:pic>
      <p:pic>
        <p:nvPicPr>
          <p:cNvPr id="6" name="goomba" descr="/home/user/MarioRL_FinalWork/docs/oral/fabrication/assets/sprites/goomba.png">    </p:cNvPr>
          <p:cNvPicPr>
            <a:picLocks noChangeAspect="1"/>
          </p:cNvPicPr>
          <p:nvPr/>
        </p:nvPicPr>
        <p:blipFill>
          <a:blip r:embed="rId5"/>
          <a:stretch>
            <a:fillRect/>
          </a:stretch>
        </p:blipFill>
        <p:spPr>
          <a:xfrm>
            <a:off x="6812280" y="5359573"/>
            <a:ext cx="664677" cy="643463"/>
          </a:xfrm>
          <a:prstGeom prst="rect">
            <a:avLst/>
          </a:prstGeom>
        </p:spPr>
      </p:pic>
      <p:pic>
        <p:nvPicPr>
          <p:cNvPr id="7" name="ground" descr="/home/user/MarioRL_FinalWork/docs/oral/fabrication/assets/sprites/ground.png">    </p:cNvPr>
          <p:cNvPicPr>
            <a:picLocks noChangeAspect="1"/>
          </p:cNvPicPr>
          <p:nvPr/>
        </p:nvPicPr>
        <p:blipFill>
          <a:blip r:embed="rId6"/>
          <a:stretch>
            <a:fillRect/>
          </a:stretch>
        </p:blipFill>
        <p:spPr>
          <a:xfrm>
            <a:off x="0" y="5977433"/>
            <a:ext cx="12191970" cy="880567"/>
          </a:xfrm>
          <a:prstGeom prst="rect">
            <a:avLst/>
          </a:prstGeom>
        </p:spPr>
      </p:pic>
      <p:sp>
        <p:nvSpPr>
          <p:cNvPr id="8" name="grand_titre"/>
          <p:cNvSpPr txBox="1"/>
          <p:nvPr/>
        </p:nvSpPr>
        <p:spPr>
          <a:xfrm>
            <a:off x="2011680" y="1234440"/>
            <a:ext cx="8168335" cy="868680"/>
          </a:xfrm>
          <a:prstGeom prst="rect">
            <a:avLst/>
          </a:prstGeom>
          <a:noFill/>
          <a:ln/>
          <a:effectLst>
            <a:outerShdw sx="100000" sy="100000" kx="0" ky="0" algn="bl" rotWithShape="0" blurRad="101600" dist="34290" dir="2700000">
              <a:srgbClr val="2E1B5B">
                <a:alpha val="100000"/>
              </a:srgbClr>
            </a:outerShdw>
          </a:effectLst>
        </p:spPr>
        <p:txBody>
          <a:bodyPr wrap="square" lIns="0" tIns="0" rIns="0" bIns="0" rtlCol="0" anchor="ctr"/>
          <a:lstStyle/>
          <a:p>
            <a:pPr algn="ctr" indent="0" marL="0">
              <a:lnSpc>
                <a:spcPct val="100000"/>
              </a:lnSpc>
              <a:buNone/>
            </a:pPr>
            <a:r>
              <a:rPr lang="en-US" sz="5400" dirty="0">
                <a:solidFill>
                  <a:srgbClr val="FFFFFF"/>
                </a:solidFill>
                <a:latin typeface="Arcade Gamer" pitchFamily="34" charset="0"/>
                <a:ea typeface="Arcade Gamer" pitchFamily="34" charset="-122"/>
                <a:cs typeface="Arcade Gamer" pitchFamily="34" charset="-120"/>
              </a:rPr>
              <a:t>WORLD 1-2</a:t>
            </a:r>
            <a:endParaRPr lang="en-US" sz="5400" dirty="0"/>
          </a:p>
        </p:txBody>
      </p:sp>
      <p:sp>
        <p:nvSpPr>
          <p:cNvPr id="9" name="grand_titre"/>
          <p:cNvSpPr txBox="1"/>
          <p:nvPr/>
        </p:nvSpPr>
        <p:spPr>
          <a:xfrm>
            <a:off x="2011680" y="2121408"/>
            <a:ext cx="8168335" cy="640080"/>
          </a:xfrm>
          <a:prstGeom prst="rect">
            <a:avLst/>
          </a:prstGeom>
          <a:noFill/>
          <a:ln/>
          <a:effectLst>
            <a:outerShdw sx="100000" sy="100000" kx="0" ky="0" algn="bl" rotWithShape="0" blurRad="101600" dist="25400" dir="2700000">
              <a:srgbClr val="2E1B5B">
                <a:alpha val="100000"/>
              </a:srgbClr>
            </a:outerShdw>
          </a:effectLst>
        </p:spPr>
        <p:txBody>
          <a:bodyPr wrap="square" lIns="0" tIns="0" rIns="0" bIns="0" rtlCol="0" anchor="ctr"/>
          <a:lstStyle/>
          <a:p>
            <a:pPr algn="ctr" indent="0" marL="0">
              <a:lnSpc>
                <a:spcPct val="100000"/>
              </a:lnSpc>
              <a:buNone/>
            </a:pPr>
            <a:r>
              <a:rPr lang="en-US" sz="3200" dirty="0">
                <a:solidFill>
                  <a:srgbClr val="FFC703"/>
                </a:solidFill>
                <a:latin typeface="Arcade Gamer" pitchFamily="34" charset="0"/>
                <a:ea typeface="Arcade Gamer" pitchFamily="34" charset="-122"/>
                <a:cs typeface="Arcade Gamer" pitchFamily="34" charset="-120"/>
              </a:rPr>
              <a:t>LE DUEL SUR V3</a:t>
            </a:r>
            <a:endParaRPr lang="en-US" sz="3200" dirty="0"/>
          </a:p>
        </p:txBody>
      </p:sp>
      <p:sp>
        <p:nvSpPr>
          <p:cNvPr id="10" name="Text 2"/>
          <p:cNvSpPr txBox="1"/>
          <p:nvPr/>
        </p:nvSpPr>
        <p:spPr>
          <a:xfrm>
            <a:off x="2743200" y="2852928"/>
            <a:ext cx="6705295" cy="384048"/>
          </a:xfrm>
          <a:prstGeom prst="rect">
            <a:avLst/>
          </a:prstGeom>
          <a:noFill/>
          <a:ln/>
        </p:spPr>
        <p:txBody>
          <a:bodyPr wrap="square" lIns="0" tIns="0" rIns="0" bIns="0" rtlCol="0" anchor="ctr"/>
          <a:lstStyle/>
          <a:p>
            <a:pPr algn="ctr" indent="0" marL="0">
              <a:buNone/>
            </a:pPr>
            <a:r>
              <a:rPr lang="en-US" sz="1600" b="1" dirty="0">
                <a:solidFill>
                  <a:srgbClr val="14183D"/>
                </a:solidFill>
                <a:latin typeface="Montserrat" pitchFamily="34" charset="0"/>
                <a:ea typeface="Montserrat" pitchFamily="34" charset="-122"/>
                <a:cs typeface="Montserrat" pitchFamily="34" charset="-120"/>
              </a:rPr>
              <a:t>Q-Learning, SARSA, Monte Carlo et DQN, à égalité</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WORLD 1-2 - LE DUEL SUR V3</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NOTRE MARIO, NOTRE PROTOCOLE</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On a recréé le niveau 1-1, puis on a mis tous les algorithmes dans les mêmes conditions.</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9</a:t>
            </a:r>
            <a:endParaRPr lang="en-US" sz="1000" dirty="0"/>
          </a:p>
        </p:txBody>
      </p:sp>
      <p:sp>
        <p:nvSpPr>
          <p:cNvPr id="8" name="carte"/>
          <p:cNvSpPr/>
          <p:nvPr/>
        </p:nvSpPr>
        <p:spPr>
          <a:xfrm>
            <a:off x="548640" y="1737360"/>
            <a:ext cx="6766560" cy="455371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9" name="etiquette"/>
          <p:cNvSpPr txBox="1"/>
          <p:nvPr/>
        </p:nvSpPr>
        <p:spPr>
          <a:xfrm>
            <a:off x="548640" y="1737360"/>
            <a:ext cx="2743200" cy="329184"/>
          </a:xfrm>
          <a:prstGeom prst="rect">
            <a:avLst/>
          </a:prstGeom>
          <a:solidFill>
            <a:srgbClr val="14183D"/>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ON A RECRÉÉ LE NIVEAU 1-1</a:t>
            </a:r>
            <a:endParaRPr lang="en-US" sz="1200" dirty="0"/>
          </a:p>
        </p:txBody>
      </p:sp>
      <p:pic>
        <p:nvPicPr>
          <p:cNvPr id="10" name="ecran_titre" descr="/home/user/MarioRL_FinalWork/docs/oral/fabrication/assets/ecran_titre.png">    </p:cNvPr>
          <p:cNvPicPr>
            <a:picLocks noChangeAspect="1"/>
          </p:cNvPicPr>
          <p:nvPr/>
        </p:nvPicPr>
        <p:blipFill>
          <a:blip r:embed="rId1"/>
          <a:stretch>
            <a:fillRect/>
          </a:stretch>
        </p:blipFill>
        <p:spPr>
          <a:xfrm>
            <a:off x="777240" y="2286000"/>
            <a:ext cx="3017520" cy="2829154"/>
          </a:xfrm>
          <a:prstGeom prst="rect">
            <a:avLst/>
          </a:prstGeom>
        </p:spPr>
      </p:pic>
      <p:sp>
        <p:nvSpPr>
          <p:cNvPr id="11" name="Shape 8"/>
          <p:cNvSpPr/>
          <p:nvPr/>
        </p:nvSpPr>
        <p:spPr>
          <a:xfrm>
            <a:off x="758952" y="2267712"/>
            <a:ext cx="3054096" cy="2865730"/>
          </a:xfrm>
          <a:prstGeom prst="rect">
            <a:avLst/>
          </a:prstGeom>
          <a:ln w="15875">
            <a:solidFill>
              <a:srgbClr val="000000"/>
            </a:solidFill>
            <a:prstDash val="solid"/>
          </a:ln>
        </p:spPr>
      </p:sp>
      <p:sp>
        <p:nvSpPr>
          <p:cNvPr id="12" name="Text 9"/>
          <p:cNvSpPr txBox="1"/>
          <p:nvPr/>
        </p:nvSpPr>
        <p:spPr>
          <a:xfrm>
            <a:off x="777240" y="5212080"/>
            <a:ext cx="3017520" cy="822960"/>
          </a:xfrm>
          <a:prstGeom prst="rect">
            <a:avLst/>
          </a:prstGeom>
          <a:noFill/>
          <a:ln/>
        </p:spPr>
        <p:txBody>
          <a:bodyPr wrap="square" lIns="0" tIns="0" rIns="0" bIns="0" rtlCol="0" anchor="t"/>
          <a:lstStyle/>
          <a:p>
            <a:pPr indent="0" marL="0">
              <a:buNone/>
            </a:pPr>
            <a:r>
              <a:rPr lang="en-US" sz="1100" dirty="0">
                <a:solidFill>
                  <a:srgbClr val="4A5070"/>
                </a:solidFill>
                <a:latin typeface="Montserrat" pitchFamily="34" charset="0"/>
                <a:ea typeface="Montserrat" pitchFamily="34" charset="-122"/>
                <a:cs typeface="Montserrat" pitchFamily="34" charset="-120"/>
              </a:rPr>
              <a:t>Notre écran titre : version NES, version de l'article, menu MODELES</a:t>
            </a:r>
            <a:endParaRPr lang="en-US" sz="1100" dirty="0"/>
          </a:p>
        </p:txBody>
      </p:sp>
      <p:sp>
        <p:nvSpPr>
          <p:cNvPr id="13" name="Text 10"/>
          <p:cNvSpPr txBox="1"/>
          <p:nvPr/>
        </p:nvSpPr>
        <p:spPr>
          <a:xfrm>
            <a:off x="4069080" y="2331720"/>
            <a:ext cx="3090672" cy="3840480"/>
          </a:xfrm>
          <a:prstGeom prst="rect">
            <a:avLst/>
          </a:prstGeom>
          <a:noFill/>
          <a:ln/>
        </p:spPr>
        <p:txBody>
          <a:bodyPr wrap="square" lIns="0" tIns="0" rIns="0" bIns="0" rtlCol="0" anchor="t"/>
          <a:lstStyle/>
          <a:p>
            <a:pPr marL="177800" indent="-177800">
              <a:lnSpc>
                <a:spcPct val="105000"/>
              </a:lnSpc>
              <a:spcAft>
                <a:spcPts val="1000"/>
              </a:spcAft>
              <a:buSzPct val="100000"/>
              <a:buChar char="•"/>
            </a:pPr>
            <a:r>
              <a:rPr lang="en-US" sz="1350" b="1" dirty="0">
                <a:solidFill>
                  <a:srgbClr val="14183D"/>
                </a:solidFill>
                <a:latin typeface="Montserrat" pitchFamily="34" charset="0"/>
                <a:ea typeface="Montserrat" pitchFamily="34" charset="-122"/>
                <a:cs typeface="Montserrat" pitchFamily="34" charset="-120"/>
              </a:rPr>
              <a:t>Physique NES </a:t>
            </a:r>
            <a:r>
              <a:rPr lang="en-US" sz="1350" dirty="0">
                <a:solidFill>
                  <a:srgbClr val="14183D"/>
                </a:solidFill>
                <a:latin typeface="Montserrat" pitchFamily="34" charset="0"/>
                <a:ea typeface="Montserrat" pitchFamily="34" charset="-122"/>
                <a:cs typeface="Montserrat" pitchFamily="34" charset="-120"/>
              </a:rPr>
              <a:t>au sous-pixel près, en Python</a:t>
            </a:r>
            <a:endParaRPr lang="en-US" sz="1350" dirty="0"/>
          </a:p>
          <a:p>
            <a:pPr marL="177800" indent="-177800">
              <a:lnSpc>
                <a:spcPct val="105000"/>
              </a:lnSpc>
              <a:spcAft>
                <a:spcPts val="1000"/>
              </a:spcAft>
              <a:buSzPct val="100000"/>
              <a:buChar char="•"/>
            </a:pPr>
            <a:r>
              <a:rPr lang="en-US" sz="1350" b="1" dirty="0">
                <a:solidFill>
                  <a:srgbClr val="14183D"/>
                </a:solidFill>
                <a:latin typeface="Montserrat" pitchFamily="34" charset="0"/>
                <a:ea typeface="Montserrat" pitchFamily="34" charset="-122"/>
                <a:cs typeface="Montserrat" pitchFamily="34" charset="-120"/>
              </a:rPr>
              <a:t>Carte et ennemis </a:t>
            </a:r>
            <a:r>
              <a:rPr lang="en-US" sz="1350" dirty="0">
                <a:solidFill>
                  <a:srgbClr val="14183D"/>
                </a:solidFill>
                <a:latin typeface="Montserrat" pitchFamily="34" charset="0"/>
                <a:ea typeface="Montserrat" pitchFamily="34" charset="-122"/>
                <a:cs typeface="Montserrat" pitchFamily="34" charset="-120"/>
              </a:rPr>
              <a:t>vérifiés case par case contre les données du jeu d'origine</a:t>
            </a:r>
            <a:endParaRPr lang="en-US" sz="1350" dirty="0"/>
          </a:p>
          <a:p>
            <a:pPr marL="177800" indent="-177800">
              <a:lnSpc>
                <a:spcPct val="105000"/>
              </a:lnSpc>
              <a:spcAft>
                <a:spcPts val="1000"/>
              </a:spcAft>
              <a:buSzPct val="100000"/>
              <a:buChar char="•"/>
            </a:pPr>
            <a:r>
              <a:rPr lang="en-US" sz="1350" b="1" dirty="0">
                <a:solidFill>
                  <a:srgbClr val="14183D"/>
                </a:solidFill>
                <a:latin typeface="Montserrat" pitchFamily="34" charset="0"/>
                <a:ea typeface="Montserrat" pitchFamily="34" charset="-122"/>
                <a:cs typeface="Montserrat" pitchFamily="34" charset="-120"/>
              </a:rPr>
              <a:t>2 environnements : </a:t>
            </a:r>
            <a:r>
              <a:rPr lang="en-US" sz="1350" dirty="0">
                <a:solidFill>
                  <a:srgbClr val="14183D"/>
                </a:solidFill>
                <a:latin typeface="Montserrat" pitchFamily="34" charset="0"/>
                <a:ea typeface="Montserrat" pitchFamily="34" charset="-122"/>
                <a:cs typeface="Montserrat" pitchFamily="34" charset="-120"/>
              </a:rPr>
              <a:t>MarioGrid (la grille de l'article) et MarioNES (le vrai jeu)</a:t>
            </a:r>
            <a:endParaRPr lang="en-US" sz="1350" dirty="0"/>
          </a:p>
          <a:p>
            <a:pPr marL="177800" indent="-177800">
              <a:lnSpc>
                <a:spcPct val="105000"/>
              </a:lnSpc>
              <a:spcAft>
                <a:spcPts val="1000"/>
              </a:spcAft>
              <a:buSzPct val="100000"/>
              <a:buChar char="•"/>
            </a:pPr>
            <a:r>
              <a:rPr lang="en-US" sz="1350" b="1" dirty="0">
                <a:solidFill>
                  <a:srgbClr val="14183D"/>
                </a:solidFill>
                <a:latin typeface="Montserrat" pitchFamily="34" charset="0"/>
                <a:ea typeface="Montserrat" pitchFamily="34" charset="-122"/>
                <a:cs typeface="Montserrat" pitchFamily="34" charset="-120"/>
              </a:rPr>
              <a:t>Menu MODELES </a:t>
            </a:r>
            <a:r>
              <a:rPr lang="en-US" sz="1350" dirty="0">
                <a:solidFill>
                  <a:srgbClr val="14183D"/>
                </a:solidFill>
                <a:latin typeface="Montserrat" pitchFamily="34" charset="0"/>
                <a:ea typeface="Montserrat" pitchFamily="34" charset="-122"/>
                <a:cs typeface="Montserrat" pitchFamily="34" charset="-120"/>
              </a:rPr>
              <a:t>pour regarder jouer nos IA</a:t>
            </a:r>
            <a:endParaRPr lang="en-US" sz="1350" dirty="0"/>
          </a:p>
          <a:p>
            <a:pPr marL="177800" indent="-177800">
              <a:lnSpc>
                <a:spcPct val="105000"/>
              </a:lnSpc>
              <a:spcAft>
                <a:spcPts val="1000"/>
              </a:spcAft>
              <a:buSzPct val="100000"/>
              <a:buChar char="•"/>
            </a:pPr>
            <a:r>
              <a:rPr lang="en-US" sz="1350" b="1" dirty="0">
                <a:solidFill>
                  <a:srgbClr val="14183D"/>
                </a:solidFill>
                <a:latin typeface="Montserrat" pitchFamily="34" charset="0"/>
                <a:ea typeface="Montserrat" pitchFamily="34" charset="-122"/>
                <a:cs typeface="Montserrat" pitchFamily="34" charset="-120"/>
              </a:rPr>
              <a:t>103 tests </a:t>
            </a:r>
            <a:r>
              <a:rPr lang="en-US" sz="1350" dirty="0">
                <a:solidFill>
                  <a:srgbClr val="14183D"/>
                </a:solidFill>
                <a:latin typeface="Montserrat" pitchFamily="34" charset="0"/>
                <a:ea typeface="Montserrat" pitchFamily="34" charset="-122"/>
                <a:cs typeface="Montserrat" pitchFamily="34" charset="-120"/>
              </a:rPr>
              <a:t>automatiques</a:t>
            </a:r>
            <a:endParaRPr lang="en-US" sz="1350" dirty="0"/>
          </a:p>
        </p:txBody>
      </p:sp>
      <p:sp>
        <p:nvSpPr>
          <p:cNvPr id="14" name="carte"/>
          <p:cNvSpPr/>
          <p:nvPr/>
        </p:nvSpPr>
        <p:spPr>
          <a:xfrm>
            <a:off x="7589520" y="1737360"/>
            <a:ext cx="4050792" cy="4553712"/>
          </a:xfrm>
          <a:prstGeom prst="rect">
            <a:avLst/>
          </a:prstGeom>
          <a:solidFill>
            <a:srgbClr val="FFC703"/>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5" name="Text 12"/>
          <p:cNvSpPr txBox="1"/>
          <p:nvPr/>
        </p:nvSpPr>
        <p:spPr>
          <a:xfrm>
            <a:off x="7589520" y="1737360"/>
            <a:ext cx="4050792" cy="384048"/>
          </a:xfrm>
          <a:prstGeom prst="rect">
            <a:avLst/>
          </a:prstGeom>
          <a:solidFill>
            <a:srgbClr val="14183D"/>
          </a:solid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MÊME PROTOCOLE POUR TOUS</a:t>
            </a:r>
            <a:endParaRPr lang="en-US" sz="1300" dirty="0"/>
          </a:p>
        </p:txBody>
      </p:sp>
      <p:sp>
        <p:nvSpPr>
          <p:cNvPr id="16" name="Text 13"/>
          <p:cNvSpPr txBox="1"/>
          <p:nvPr/>
        </p:nvSpPr>
        <p:spPr>
          <a:xfrm>
            <a:off x="7772400" y="2267712"/>
            <a:ext cx="1143000" cy="365760"/>
          </a:xfrm>
          <a:prstGeom prst="rect">
            <a:avLst/>
          </a:prstGeom>
          <a:noFill/>
          <a:ln/>
        </p:spPr>
        <p:txBody>
          <a:bodyPr wrap="square" lIns="0" tIns="0" rIns="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Niveau</a:t>
            </a:r>
            <a:endParaRPr lang="en-US" sz="1350" dirty="0"/>
          </a:p>
        </p:txBody>
      </p:sp>
      <p:sp>
        <p:nvSpPr>
          <p:cNvPr id="17" name="Text 14"/>
          <p:cNvSpPr txBox="1"/>
          <p:nvPr/>
        </p:nvSpPr>
        <p:spPr>
          <a:xfrm>
            <a:off x="8915400" y="2267712"/>
            <a:ext cx="2606040" cy="365760"/>
          </a:xfrm>
          <a:prstGeom prst="rect">
            <a:avLst/>
          </a:prstGeom>
          <a:noFill/>
          <a:ln/>
        </p:spPr>
        <p:txBody>
          <a:bodyPr wrap="square" lIns="0" tIns="0" rIns="0" bIns="0" rtlCol="0" anchor="ctr"/>
          <a:lstStyle/>
          <a:p>
            <a:pPr indent="0" marL="0">
              <a:buNone/>
            </a:pPr>
            <a:r>
              <a:rPr lang="en-US" sz="1350" dirty="0">
                <a:solidFill>
                  <a:srgbClr val="14183D"/>
                </a:solidFill>
                <a:latin typeface="Montserrat" pitchFamily="34" charset="0"/>
                <a:ea typeface="Montserrat" pitchFamily="34" charset="-122"/>
                <a:cs typeface="Montserrat" pitchFamily="34" charset="-120"/>
              </a:rPr>
              <a:t>v3 (17 ennemis)</a:t>
            </a:r>
            <a:endParaRPr lang="en-US" sz="1350" dirty="0"/>
          </a:p>
        </p:txBody>
      </p:sp>
      <p:sp>
        <p:nvSpPr>
          <p:cNvPr id="18" name="Text 15"/>
          <p:cNvSpPr txBox="1"/>
          <p:nvPr/>
        </p:nvSpPr>
        <p:spPr>
          <a:xfrm>
            <a:off x="7772400" y="2670048"/>
            <a:ext cx="1143000" cy="365760"/>
          </a:xfrm>
          <a:prstGeom prst="rect">
            <a:avLst/>
          </a:prstGeom>
          <a:noFill/>
          <a:ln/>
        </p:spPr>
        <p:txBody>
          <a:bodyPr wrap="square" lIns="0" tIns="0" rIns="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Durée</a:t>
            </a:r>
            <a:endParaRPr lang="en-US" sz="1350" dirty="0"/>
          </a:p>
        </p:txBody>
      </p:sp>
      <p:sp>
        <p:nvSpPr>
          <p:cNvPr id="19" name="Text 16"/>
          <p:cNvSpPr txBox="1"/>
          <p:nvPr/>
        </p:nvSpPr>
        <p:spPr>
          <a:xfrm>
            <a:off x="8915400" y="2670048"/>
            <a:ext cx="2606040" cy="365760"/>
          </a:xfrm>
          <a:prstGeom prst="rect">
            <a:avLst/>
          </a:prstGeom>
          <a:noFill/>
          <a:ln/>
        </p:spPr>
        <p:txBody>
          <a:bodyPr wrap="square" lIns="0" tIns="0" rIns="0" bIns="0" rtlCol="0" anchor="ctr"/>
          <a:lstStyle/>
          <a:p>
            <a:pPr indent="0" marL="0">
              <a:buNone/>
            </a:pPr>
            <a:r>
              <a:rPr lang="en-US" sz="1350" dirty="0">
                <a:solidFill>
                  <a:srgbClr val="14183D"/>
                </a:solidFill>
                <a:latin typeface="Montserrat" pitchFamily="34" charset="0"/>
                <a:ea typeface="Montserrat" pitchFamily="34" charset="-122"/>
                <a:cs typeface="Montserrat" pitchFamily="34" charset="-120"/>
              </a:rPr>
              <a:t>6000 épisodes</a:t>
            </a:r>
            <a:endParaRPr lang="en-US" sz="1350" dirty="0"/>
          </a:p>
        </p:txBody>
      </p:sp>
      <p:sp>
        <p:nvSpPr>
          <p:cNvPr id="20" name="Text 17"/>
          <p:cNvSpPr txBox="1"/>
          <p:nvPr/>
        </p:nvSpPr>
        <p:spPr>
          <a:xfrm>
            <a:off x="7772400" y="3072384"/>
            <a:ext cx="1143000" cy="365760"/>
          </a:xfrm>
          <a:prstGeom prst="rect">
            <a:avLst/>
          </a:prstGeom>
          <a:noFill/>
          <a:ln/>
        </p:spPr>
        <p:txBody>
          <a:bodyPr wrap="square" lIns="0" tIns="0" rIns="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Graines</a:t>
            </a:r>
            <a:endParaRPr lang="en-US" sz="1350" dirty="0"/>
          </a:p>
        </p:txBody>
      </p:sp>
      <p:sp>
        <p:nvSpPr>
          <p:cNvPr id="21" name="Text 18"/>
          <p:cNvSpPr txBox="1"/>
          <p:nvPr/>
        </p:nvSpPr>
        <p:spPr>
          <a:xfrm>
            <a:off x="8915400" y="3072384"/>
            <a:ext cx="2606040" cy="365760"/>
          </a:xfrm>
          <a:prstGeom prst="rect">
            <a:avLst/>
          </a:prstGeom>
          <a:noFill/>
          <a:ln/>
        </p:spPr>
        <p:txBody>
          <a:bodyPr wrap="square" lIns="0" tIns="0" rIns="0" bIns="0" rtlCol="0" anchor="ctr"/>
          <a:lstStyle/>
          <a:p>
            <a:pPr indent="0" marL="0">
              <a:buNone/>
            </a:pPr>
            <a:r>
              <a:rPr lang="en-US" sz="1350" dirty="0">
                <a:solidFill>
                  <a:srgbClr val="14183D"/>
                </a:solidFill>
                <a:latin typeface="Montserrat" pitchFamily="34" charset="0"/>
                <a:ea typeface="Montserrat" pitchFamily="34" charset="-122"/>
                <a:cs typeface="Montserrat" pitchFamily="34" charset="-120"/>
              </a:rPr>
              <a:t>5 (42 à 46)</a:t>
            </a:r>
            <a:endParaRPr lang="en-US" sz="1350" dirty="0"/>
          </a:p>
        </p:txBody>
      </p:sp>
      <p:sp>
        <p:nvSpPr>
          <p:cNvPr id="22" name="Text 19"/>
          <p:cNvSpPr txBox="1"/>
          <p:nvPr/>
        </p:nvSpPr>
        <p:spPr>
          <a:xfrm>
            <a:off x="7772400" y="3474720"/>
            <a:ext cx="1143000" cy="365760"/>
          </a:xfrm>
          <a:prstGeom prst="rect">
            <a:avLst/>
          </a:prstGeom>
          <a:noFill/>
          <a:ln/>
        </p:spPr>
        <p:txBody>
          <a:bodyPr wrap="square" lIns="0" tIns="0" rIns="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Machine</a:t>
            </a:r>
            <a:endParaRPr lang="en-US" sz="1350" dirty="0"/>
          </a:p>
        </p:txBody>
      </p:sp>
      <p:sp>
        <p:nvSpPr>
          <p:cNvPr id="23" name="Text 20"/>
          <p:cNvSpPr txBox="1"/>
          <p:nvPr/>
        </p:nvSpPr>
        <p:spPr>
          <a:xfrm>
            <a:off x="8915400" y="3474720"/>
            <a:ext cx="2606040" cy="365760"/>
          </a:xfrm>
          <a:prstGeom prst="rect">
            <a:avLst/>
          </a:prstGeom>
          <a:noFill/>
          <a:ln/>
        </p:spPr>
        <p:txBody>
          <a:bodyPr wrap="square" lIns="0" tIns="0" rIns="0" bIns="0" rtlCol="0" anchor="ctr"/>
          <a:lstStyle/>
          <a:p>
            <a:pPr indent="0" marL="0">
              <a:buNone/>
            </a:pPr>
            <a:r>
              <a:rPr lang="en-US" sz="1350" dirty="0">
                <a:solidFill>
                  <a:srgbClr val="14183D"/>
                </a:solidFill>
                <a:latin typeface="Montserrat" pitchFamily="34" charset="0"/>
                <a:ea typeface="Montserrat" pitchFamily="34" charset="-122"/>
                <a:cs typeface="Montserrat" pitchFamily="34" charset="-120"/>
              </a:rPr>
              <a:t>MacBook Air M4</a:t>
            </a:r>
            <a:endParaRPr lang="en-US" sz="1350" dirty="0"/>
          </a:p>
        </p:txBody>
      </p:sp>
      <p:sp>
        <p:nvSpPr>
          <p:cNvPr id="24" name="Text 21"/>
          <p:cNvSpPr txBox="1"/>
          <p:nvPr/>
        </p:nvSpPr>
        <p:spPr>
          <a:xfrm>
            <a:off x="7772400" y="3877056"/>
            <a:ext cx="1143000" cy="365760"/>
          </a:xfrm>
          <a:prstGeom prst="rect">
            <a:avLst/>
          </a:prstGeom>
          <a:noFill/>
          <a:ln/>
        </p:spPr>
        <p:txBody>
          <a:bodyPr wrap="square" lIns="0" tIns="0" rIns="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Énergie</a:t>
            </a:r>
            <a:endParaRPr lang="en-US" sz="1350" dirty="0"/>
          </a:p>
        </p:txBody>
      </p:sp>
      <p:sp>
        <p:nvSpPr>
          <p:cNvPr id="25" name="Text 22"/>
          <p:cNvSpPr txBox="1"/>
          <p:nvPr/>
        </p:nvSpPr>
        <p:spPr>
          <a:xfrm>
            <a:off x="8915400" y="3877056"/>
            <a:ext cx="2606040" cy="365760"/>
          </a:xfrm>
          <a:prstGeom prst="rect">
            <a:avLst/>
          </a:prstGeom>
          <a:noFill/>
          <a:ln/>
        </p:spPr>
        <p:txBody>
          <a:bodyPr wrap="square" lIns="0" tIns="0" rIns="0" bIns="0" rtlCol="0" anchor="ctr"/>
          <a:lstStyle/>
          <a:p>
            <a:pPr indent="0" marL="0">
              <a:buNone/>
            </a:pPr>
            <a:r>
              <a:rPr lang="en-US" sz="1350" dirty="0">
                <a:solidFill>
                  <a:srgbClr val="14183D"/>
                </a:solidFill>
                <a:latin typeface="Montserrat" pitchFamily="34" charset="0"/>
                <a:ea typeface="Montserrat" pitchFamily="34" charset="-122"/>
                <a:cs typeface="Montserrat" pitchFamily="34" charset="-120"/>
              </a:rPr>
              <a:t>mesurée par CodeCarbon</a:t>
            </a:r>
            <a:endParaRPr lang="en-US" sz="1350" dirty="0"/>
          </a:p>
        </p:txBody>
      </p:sp>
      <p:sp>
        <p:nvSpPr>
          <p:cNvPr id="26" name="Shape 23"/>
          <p:cNvSpPr/>
          <p:nvPr/>
        </p:nvSpPr>
        <p:spPr>
          <a:xfrm>
            <a:off x="7772400" y="4370832"/>
            <a:ext cx="3685032" cy="1737360"/>
          </a:xfrm>
          <a:prstGeom prst="rect">
            <a:avLst/>
          </a:prstGeom>
          <a:solidFill>
            <a:srgbClr val="FFFFFF"/>
          </a:solidFill>
          <a:ln w="12700">
            <a:solidFill>
              <a:srgbClr val="000000"/>
            </a:solidFill>
            <a:prstDash val="solid"/>
          </a:ln>
        </p:spPr>
      </p:sp>
      <p:sp>
        <p:nvSpPr>
          <p:cNvPr id="27" name="Text 24"/>
          <p:cNvSpPr txBox="1"/>
          <p:nvPr/>
        </p:nvSpPr>
        <p:spPr>
          <a:xfrm>
            <a:off x="7909560" y="4443984"/>
            <a:ext cx="3429000" cy="1600200"/>
          </a:xfrm>
          <a:prstGeom prst="rect">
            <a:avLst/>
          </a:prstGeom>
          <a:noFill/>
          <a:ln/>
        </p:spPr>
        <p:txBody>
          <a:bodyPr wrap="square" lIns="0" tIns="0" rIns="0" bIns="0" rtlCol="0" anchor="ctr"/>
          <a:lstStyle/>
          <a:p>
            <a:pPr indent="0" marL="0">
              <a:spcAft>
                <a:spcPts val="400"/>
              </a:spcAft>
              <a:buNone/>
            </a:pPr>
            <a:r>
              <a:rPr lang="en-US" sz="1300" b="1" dirty="0">
                <a:solidFill>
                  <a:srgbClr val="14183D"/>
                </a:solidFill>
                <a:latin typeface="Montserrat" pitchFamily="34" charset="0"/>
                <a:ea typeface="Montserrat" pitchFamily="34" charset="-122"/>
                <a:cs typeface="Montserrat" pitchFamily="34" charset="-120"/>
              </a:rPr>
              <a:t>+ 2 tests ajoutés</a:t>
            </a:r>
            <a:endParaRPr lang="en-US" sz="1300" dirty="0"/>
          </a:p>
          <a:p>
            <a:pPr indent="0" marL="0">
              <a:spcAft>
                <a:spcPts val="400"/>
              </a:spcAft>
              <a:buNone/>
            </a:pPr>
            <a:r>
              <a:rPr lang="en-US" sz="1300" b="1" dirty="0">
                <a:solidFill>
                  <a:srgbClr val="14183D"/>
                </a:solidFill>
                <a:latin typeface="Montserrat" pitchFamily="34" charset="0"/>
                <a:ea typeface="Montserrat" pitchFamily="34" charset="-122"/>
                <a:cs typeface="Montserrat" pitchFamily="34" charset="-120"/>
              </a:rPr>
              <a:t>Test glouton : </a:t>
            </a:r>
            <a:r>
              <a:rPr lang="en-US" sz="1300" dirty="0">
                <a:solidFill>
                  <a:srgbClr val="14183D"/>
                </a:solidFill>
                <a:latin typeface="Montserrat" pitchFamily="34" charset="0"/>
                <a:ea typeface="Montserrat" pitchFamily="34" charset="-122"/>
                <a:cs typeface="Montserrat" pitchFamily="34" charset="-120"/>
              </a:rPr>
              <a:t>1 partie sans aucun hasard</a:t>
            </a:r>
            <a:endParaRPr lang="en-US" sz="1300" dirty="0"/>
          </a:p>
          <a:p>
            <a:pPr indent="0" marL="0">
              <a:spcAft>
                <a:spcPts val="400"/>
              </a:spcAft>
              <a:buNone/>
            </a:pPr>
            <a:r>
              <a:rPr lang="en-US" sz="1300" b="1" dirty="0">
                <a:solidFill>
                  <a:srgbClr val="14183D"/>
                </a:solidFill>
                <a:latin typeface="Montserrat" pitchFamily="34" charset="0"/>
                <a:ea typeface="Montserrat" pitchFamily="34" charset="-122"/>
                <a:cs typeface="Montserrat" pitchFamily="34" charset="-120"/>
              </a:rPr>
              <a:t>Test de robustesse : </a:t>
            </a:r>
            <a:r>
              <a:rPr lang="en-US" sz="1300" dirty="0">
                <a:solidFill>
                  <a:srgbClr val="14183D"/>
                </a:solidFill>
                <a:latin typeface="Montserrat" pitchFamily="34" charset="0"/>
                <a:ea typeface="Montserrat" pitchFamily="34" charset="-122"/>
                <a:cs typeface="Montserrat" pitchFamily="34" charset="-120"/>
              </a:rPr>
              <a:t>50 parties avec 2 % de boutons au hasard, le même pour tous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WORLD 1-2 - LE DUEL SUR V3</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LES TABLEAUX APPRENNENT VITE</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Q-Learning, SARSA et Monte Carlo gagnent 94 à 96 % des parties en 6000 épisodes.</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10</a:t>
            </a:r>
            <a:endParaRPr lang="en-US" sz="1000" dirty="0"/>
          </a:p>
        </p:txBody>
      </p:sp>
      <p:pic>
        <p:nvPicPr>
          <p:cNvPr id="8" name="remplacement_01_qlearning_progression" descr="/home/user/MarioRL_FinalWork/docs/oral/fabrication/assets/fallback_01_qlearning_progression.png">    </p:cNvPr>
          <p:cNvPicPr>
            <a:picLocks noChangeAspect="1"/>
          </p:cNvPicPr>
          <p:nvPr/>
        </p:nvPicPr>
        <p:blipFill>
          <a:blip r:embed="rId1"/>
          <a:stretch>
            <a:fillRect/>
          </a:stretch>
        </p:blipFill>
        <p:spPr>
          <a:xfrm>
            <a:off x="548640" y="1755648"/>
            <a:ext cx="8229600" cy="2854643"/>
          </a:xfrm>
          <a:prstGeom prst="rect">
            <a:avLst/>
          </a:prstGeom>
        </p:spPr>
      </p:pic>
      <p:pic>
        <p:nvPicPr>
          <p:cNvPr id="4" name="video_01_qlearning_progression">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548640" y="1755648"/>
            <a:ext cx="8229600" cy="2854643"/>
          </a:xfrm>
          <a:prstGeom prst="rect">
            <a:avLst/>
          </a:prstGeom>
        </p:spPr>
      </p:pic>
      <p:sp>
        <p:nvSpPr>
          <p:cNvPr id="10" name="cadre_video"/>
          <p:cNvSpPr/>
          <p:nvPr/>
        </p:nvSpPr>
        <p:spPr>
          <a:xfrm>
            <a:off x="521208" y="1728216"/>
            <a:ext cx="8284464" cy="2909507"/>
          </a:xfrm>
          <a:prstGeom prst="rect">
            <a:avLst/>
          </a:prstGeom>
          <a:ln w="25400">
            <a:solidFill>
              <a:srgbClr val="000000"/>
            </a:solidFill>
            <a:prstDash val="solid"/>
          </a:ln>
        </p:spPr>
      </p:sp>
      <p:sp>
        <p:nvSpPr>
          <p:cNvPr id="11" name="Text 7"/>
          <p:cNvSpPr txBox="1"/>
          <p:nvPr/>
        </p:nvSpPr>
        <p:spPr>
          <a:xfrm>
            <a:off x="548640" y="4683443"/>
            <a:ext cx="8229600" cy="274320"/>
          </a:xfrm>
          <a:prstGeom prst="rect">
            <a:avLst/>
          </a:prstGeom>
          <a:noFill/>
          <a:ln/>
        </p:spPr>
        <p:txBody>
          <a:bodyPr wrap="square" lIns="0" tIns="0" rIns="0" bIns="0" rtlCol="0" anchor="t"/>
          <a:lstStyle/>
          <a:p>
            <a:pPr indent="0" marL="0">
              <a:buNone/>
            </a:pPr>
            <a:r>
              <a:rPr lang="en-US" sz="1200" b="1" dirty="0">
                <a:solidFill>
                  <a:srgbClr val="14183D"/>
                </a:solidFill>
                <a:latin typeface="Montserrat" pitchFamily="34" charset="0"/>
                <a:ea typeface="Montserrat" pitchFamily="34" charset="-122"/>
                <a:cs typeface="Montserrat" pitchFamily="34" charset="-120"/>
              </a:rPr>
              <a:t>Vidéo : la même IA (Q-Learning, graine 42) à 4 moments de son entraînement</a:t>
            </a:r>
            <a:endParaRPr lang="en-US" sz="1200" dirty="0"/>
          </a:p>
        </p:txBody>
      </p:sp>
      <p:sp>
        <p:nvSpPr>
          <p:cNvPr id="12" name="carte"/>
          <p:cNvSpPr/>
          <p:nvPr/>
        </p:nvSpPr>
        <p:spPr>
          <a:xfrm>
            <a:off x="9052560" y="1755648"/>
            <a:ext cx="2587752" cy="841248"/>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3" name="Text 9"/>
          <p:cNvSpPr txBox="1"/>
          <p:nvPr/>
        </p:nvSpPr>
        <p:spPr>
          <a:xfrm>
            <a:off x="9235440" y="1792224"/>
            <a:ext cx="2240280" cy="457200"/>
          </a:xfrm>
          <a:prstGeom prst="rect">
            <a:avLst/>
          </a:prstGeom>
          <a:noFill/>
          <a:ln/>
        </p:spPr>
        <p:txBody>
          <a:bodyPr wrap="square" lIns="0" tIns="0" rIns="0" bIns="0" rtlCol="0" anchor="ctr"/>
          <a:lstStyle/>
          <a:p>
            <a:pPr indent="0" marL="0">
              <a:buNone/>
            </a:pPr>
            <a:r>
              <a:rPr lang="en-US" sz="2400" b="1" dirty="0">
                <a:solidFill>
                  <a:srgbClr val="14183D"/>
                </a:solidFill>
                <a:latin typeface="Montserrat" pitchFamily="34" charset="0"/>
                <a:ea typeface="Montserrat" pitchFamily="34" charset="-122"/>
                <a:cs typeface="Montserrat" pitchFamily="34" charset="-120"/>
              </a:rPr>
              <a:t>94,5 %</a:t>
            </a:r>
            <a:endParaRPr lang="en-US" sz="2400" dirty="0"/>
          </a:p>
        </p:txBody>
      </p:sp>
      <p:sp>
        <p:nvSpPr>
          <p:cNvPr id="14" name="Shape 10"/>
          <p:cNvSpPr/>
          <p:nvPr/>
        </p:nvSpPr>
        <p:spPr>
          <a:xfrm>
            <a:off x="9253728" y="2304288"/>
            <a:ext cx="146304" cy="146304"/>
          </a:xfrm>
          <a:prstGeom prst="rect">
            <a:avLst/>
          </a:prstGeom>
          <a:solidFill>
            <a:srgbClr val="2F6FE4"/>
          </a:solidFill>
          <a:ln w="9525">
            <a:solidFill>
              <a:srgbClr val="000000"/>
            </a:solidFill>
            <a:prstDash val="solid"/>
          </a:ln>
        </p:spPr>
      </p:sp>
      <p:sp>
        <p:nvSpPr>
          <p:cNvPr id="15" name="Text 11"/>
          <p:cNvSpPr txBox="1"/>
          <p:nvPr/>
        </p:nvSpPr>
        <p:spPr>
          <a:xfrm>
            <a:off x="9473184" y="2231136"/>
            <a:ext cx="2103120" cy="292608"/>
          </a:xfrm>
          <a:prstGeom prst="rect">
            <a:avLst/>
          </a:prstGeom>
          <a:noFill/>
          <a:ln/>
        </p:spPr>
        <p:txBody>
          <a:bodyPr wrap="square" lIns="0" tIns="0" rIns="0" bIns="0" rtlCol="0" anchor="ctr"/>
          <a:lstStyle/>
          <a:p>
            <a:pPr indent="0" marL="0">
              <a:buNone/>
            </a:pPr>
            <a:r>
              <a:rPr lang="en-US" sz="1150" dirty="0">
                <a:solidFill>
                  <a:srgbClr val="4A5070"/>
                </a:solidFill>
                <a:latin typeface="Montserrat" pitchFamily="34" charset="0"/>
                <a:ea typeface="Montserrat" pitchFamily="34" charset="-122"/>
                <a:cs typeface="Montserrat" pitchFamily="34" charset="-120"/>
              </a:rPr>
              <a:t>Q-Learning · victoires</a:t>
            </a:r>
            <a:endParaRPr lang="en-US" sz="1150" dirty="0"/>
          </a:p>
        </p:txBody>
      </p:sp>
      <p:sp>
        <p:nvSpPr>
          <p:cNvPr id="16" name="carte"/>
          <p:cNvSpPr/>
          <p:nvPr/>
        </p:nvSpPr>
        <p:spPr>
          <a:xfrm>
            <a:off x="9052560" y="2724912"/>
            <a:ext cx="2587752" cy="841248"/>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7" name="Text 13"/>
          <p:cNvSpPr txBox="1"/>
          <p:nvPr/>
        </p:nvSpPr>
        <p:spPr>
          <a:xfrm>
            <a:off x="9235440" y="2761488"/>
            <a:ext cx="2240280" cy="457200"/>
          </a:xfrm>
          <a:prstGeom prst="rect">
            <a:avLst/>
          </a:prstGeom>
          <a:noFill/>
          <a:ln/>
        </p:spPr>
        <p:txBody>
          <a:bodyPr wrap="square" lIns="0" tIns="0" rIns="0" bIns="0" rtlCol="0" anchor="ctr"/>
          <a:lstStyle/>
          <a:p>
            <a:pPr indent="0" marL="0">
              <a:buNone/>
            </a:pPr>
            <a:r>
              <a:rPr lang="en-US" sz="2400" b="1" dirty="0">
                <a:solidFill>
                  <a:srgbClr val="14183D"/>
                </a:solidFill>
                <a:latin typeface="Montserrat" pitchFamily="34" charset="0"/>
                <a:ea typeface="Montserrat" pitchFamily="34" charset="-122"/>
                <a:cs typeface="Montserrat" pitchFamily="34" charset="-120"/>
              </a:rPr>
              <a:t>96,2 %</a:t>
            </a:r>
            <a:endParaRPr lang="en-US" sz="2400" dirty="0"/>
          </a:p>
        </p:txBody>
      </p:sp>
      <p:sp>
        <p:nvSpPr>
          <p:cNvPr id="18" name="Shape 14"/>
          <p:cNvSpPr/>
          <p:nvPr/>
        </p:nvSpPr>
        <p:spPr>
          <a:xfrm>
            <a:off x="9253728" y="3273552"/>
            <a:ext cx="146304" cy="146304"/>
          </a:xfrm>
          <a:prstGeom prst="rect">
            <a:avLst/>
          </a:prstGeom>
          <a:solidFill>
            <a:srgbClr val="15911F"/>
          </a:solidFill>
          <a:ln w="9525">
            <a:solidFill>
              <a:srgbClr val="000000"/>
            </a:solidFill>
            <a:prstDash val="solid"/>
          </a:ln>
        </p:spPr>
      </p:sp>
      <p:sp>
        <p:nvSpPr>
          <p:cNvPr id="19" name="Text 15"/>
          <p:cNvSpPr txBox="1"/>
          <p:nvPr/>
        </p:nvSpPr>
        <p:spPr>
          <a:xfrm>
            <a:off x="9473184" y="3200400"/>
            <a:ext cx="2103120" cy="292608"/>
          </a:xfrm>
          <a:prstGeom prst="rect">
            <a:avLst/>
          </a:prstGeom>
          <a:noFill/>
          <a:ln/>
        </p:spPr>
        <p:txBody>
          <a:bodyPr wrap="square" lIns="0" tIns="0" rIns="0" bIns="0" rtlCol="0" anchor="ctr"/>
          <a:lstStyle/>
          <a:p>
            <a:pPr indent="0" marL="0">
              <a:buNone/>
            </a:pPr>
            <a:r>
              <a:rPr lang="en-US" sz="1150" dirty="0">
                <a:solidFill>
                  <a:srgbClr val="4A5070"/>
                </a:solidFill>
                <a:latin typeface="Montserrat" pitchFamily="34" charset="0"/>
                <a:ea typeface="Montserrat" pitchFamily="34" charset="-122"/>
                <a:cs typeface="Montserrat" pitchFamily="34" charset="-120"/>
              </a:rPr>
              <a:t>SARSA · victoires</a:t>
            </a:r>
            <a:endParaRPr lang="en-US" sz="1150" dirty="0"/>
          </a:p>
        </p:txBody>
      </p:sp>
      <p:sp>
        <p:nvSpPr>
          <p:cNvPr id="20" name="carte"/>
          <p:cNvSpPr/>
          <p:nvPr/>
        </p:nvSpPr>
        <p:spPr>
          <a:xfrm>
            <a:off x="9052560" y="3694176"/>
            <a:ext cx="2587752" cy="841248"/>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21" name="Text 17"/>
          <p:cNvSpPr txBox="1"/>
          <p:nvPr/>
        </p:nvSpPr>
        <p:spPr>
          <a:xfrm>
            <a:off x="9235440" y="3730752"/>
            <a:ext cx="2240280" cy="457200"/>
          </a:xfrm>
          <a:prstGeom prst="rect">
            <a:avLst/>
          </a:prstGeom>
          <a:noFill/>
          <a:ln/>
        </p:spPr>
        <p:txBody>
          <a:bodyPr wrap="square" lIns="0" tIns="0" rIns="0" bIns="0" rtlCol="0" anchor="ctr"/>
          <a:lstStyle/>
          <a:p>
            <a:pPr indent="0" marL="0">
              <a:buNone/>
            </a:pPr>
            <a:r>
              <a:rPr lang="en-US" sz="2400" b="1" dirty="0">
                <a:solidFill>
                  <a:srgbClr val="14183D"/>
                </a:solidFill>
                <a:latin typeface="Montserrat" pitchFamily="34" charset="0"/>
                <a:ea typeface="Montserrat" pitchFamily="34" charset="-122"/>
                <a:cs typeface="Montserrat" pitchFamily="34" charset="-120"/>
              </a:rPr>
              <a:t>96,2 %</a:t>
            </a:r>
            <a:endParaRPr lang="en-US" sz="2400" dirty="0"/>
          </a:p>
        </p:txBody>
      </p:sp>
      <p:sp>
        <p:nvSpPr>
          <p:cNvPr id="22" name="Shape 18"/>
          <p:cNvSpPr/>
          <p:nvPr/>
        </p:nvSpPr>
        <p:spPr>
          <a:xfrm>
            <a:off x="9253728" y="4242816"/>
            <a:ext cx="146304" cy="146304"/>
          </a:xfrm>
          <a:prstGeom prst="rect">
            <a:avLst/>
          </a:prstGeom>
          <a:solidFill>
            <a:srgbClr val="E8790C"/>
          </a:solidFill>
          <a:ln w="9525">
            <a:solidFill>
              <a:srgbClr val="000000"/>
            </a:solidFill>
            <a:prstDash val="solid"/>
          </a:ln>
        </p:spPr>
      </p:sp>
      <p:sp>
        <p:nvSpPr>
          <p:cNvPr id="23" name="Text 19"/>
          <p:cNvSpPr txBox="1"/>
          <p:nvPr/>
        </p:nvSpPr>
        <p:spPr>
          <a:xfrm>
            <a:off x="9473184" y="4169664"/>
            <a:ext cx="2103120" cy="292608"/>
          </a:xfrm>
          <a:prstGeom prst="rect">
            <a:avLst/>
          </a:prstGeom>
          <a:noFill/>
          <a:ln/>
        </p:spPr>
        <p:txBody>
          <a:bodyPr wrap="square" lIns="0" tIns="0" rIns="0" bIns="0" rtlCol="0" anchor="ctr"/>
          <a:lstStyle/>
          <a:p>
            <a:pPr indent="0" marL="0">
              <a:buNone/>
            </a:pPr>
            <a:r>
              <a:rPr lang="en-US" sz="1150" dirty="0">
                <a:solidFill>
                  <a:srgbClr val="4A5070"/>
                </a:solidFill>
                <a:latin typeface="Montserrat" pitchFamily="34" charset="0"/>
                <a:ea typeface="Montserrat" pitchFamily="34" charset="-122"/>
                <a:cs typeface="Montserrat" pitchFamily="34" charset="-120"/>
              </a:rPr>
              <a:t>Monte Carlo · victoires</a:t>
            </a:r>
            <a:endParaRPr lang="en-US" sz="1150" dirty="0"/>
          </a:p>
        </p:txBody>
      </p:sp>
      <p:sp>
        <p:nvSpPr>
          <p:cNvPr id="24" name="Text 20"/>
          <p:cNvSpPr txBox="1"/>
          <p:nvPr/>
        </p:nvSpPr>
        <p:spPr>
          <a:xfrm>
            <a:off x="9052560" y="4645152"/>
            <a:ext cx="2587752" cy="384048"/>
          </a:xfrm>
          <a:prstGeom prst="rect">
            <a:avLst/>
          </a:prstGeom>
          <a:noFill/>
          <a:ln/>
        </p:spPr>
        <p:txBody>
          <a:bodyPr wrap="square" lIns="0" tIns="0" rIns="0" bIns="0" rtlCol="0" anchor="t"/>
          <a:lstStyle/>
          <a:p>
            <a:pPr algn="ctr" indent="0" marL="0">
              <a:buNone/>
            </a:pPr>
            <a:r>
              <a:rPr lang="en-US" sz="1150" b="1" dirty="0">
                <a:solidFill>
                  <a:srgbClr val="14183D"/>
                </a:solidFill>
                <a:latin typeface="Montserrat" pitchFamily="34" charset="0"/>
                <a:ea typeface="Montserrat" pitchFamily="34" charset="-122"/>
                <a:cs typeface="Montserrat" pitchFamily="34" charset="-120"/>
              </a:rPr>
              <a:t>5 parties sans hasard gagnées sur 5, pour les 3</a:t>
            </a:r>
            <a:endParaRPr lang="en-US" sz="1150" dirty="0"/>
          </a:p>
        </p:txBody>
      </p:sp>
      <p:sp>
        <p:nvSpPr>
          <p:cNvPr id="25" name="carte"/>
          <p:cNvSpPr/>
          <p:nvPr/>
        </p:nvSpPr>
        <p:spPr>
          <a:xfrm>
            <a:off x="548640" y="5120640"/>
            <a:ext cx="11091672" cy="1170432"/>
          </a:xfrm>
          <a:prstGeom prst="rect">
            <a:avLst/>
          </a:prstGeom>
          <a:solidFill>
            <a:srgbClr val="FFF4C2"/>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26" name="Text 22"/>
          <p:cNvSpPr txBox="1"/>
          <p:nvPr/>
        </p:nvSpPr>
        <p:spPr>
          <a:xfrm>
            <a:off x="777240" y="5166360"/>
            <a:ext cx="10698480" cy="1078992"/>
          </a:xfrm>
          <a:prstGeom prst="rect">
            <a:avLst/>
          </a:prstGeom>
          <a:noFill/>
          <a:ln/>
        </p:spPr>
        <p:txBody>
          <a:bodyPr wrap="square" lIns="0" tIns="0" rIns="0" bIns="0" rtlCol="0" anchor="ctr"/>
          <a:lstStyle/>
          <a:p>
            <a:pPr indent="0" marL="0">
              <a:buNone/>
            </a:pPr>
            <a:r>
              <a:rPr lang="en-US" sz="1400" b="1" dirty="0">
                <a:solidFill>
                  <a:srgbClr val="14183D"/>
                </a:solidFill>
                <a:latin typeface="Montserrat" pitchFamily="34" charset="0"/>
                <a:ea typeface="Montserrat" pitchFamily="34" charset="-122"/>
                <a:cs typeface="Montserrat" pitchFamily="34" charset="-120"/>
              </a:rPr>
              <a:t>Monte Carlo attend les Goombas : </a:t>
            </a:r>
            <a:r>
              <a:rPr lang="en-US" sz="1400" dirty="0">
                <a:solidFill>
                  <a:srgbClr val="14183D"/>
                </a:solidFill>
                <a:latin typeface="Montserrat" pitchFamily="34" charset="0"/>
                <a:ea typeface="Montserrat" pitchFamily="34" charset="-122"/>
                <a:cs typeface="Montserrat" pitchFamily="34" charset="-120"/>
              </a:rPr>
              <a:t>503 pas par partie et 12 ennemis écrasés, contre ~267 pas et 6 à 7 ennemis pour les deux autres. C'est sa logique : dans une partie gagnée, il récompense tous les coups, même les attentes. Et c'est sûr : il meurt peu (3,7 %).</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WORLD 1-2 - LE DUEL SUR V3</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DQN : DE 40 % À 94 %</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Le DQN de l'article échoue chez nous. En lui montrant tout l'écran, il devient le plus robuste.</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11</a:t>
            </a:r>
            <a:endParaRPr lang="en-US" sz="1000" dirty="0"/>
          </a:p>
        </p:txBody>
      </p:sp>
      <p:pic>
        <p:nvPicPr>
          <p:cNvPr id="8" name="remplacement_02_dqn_article_vs_notre" descr="/home/user/MarioRL_FinalWork/docs/oral/fabrication/assets/fallback_02_dqn_article_vs_notre.png">    </p:cNvPr>
          <p:cNvPicPr>
            <a:picLocks noChangeAspect="1"/>
          </p:cNvPicPr>
          <p:nvPr/>
        </p:nvPicPr>
        <p:blipFill>
          <a:blip r:embed="rId1"/>
          <a:stretch>
            <a:fillRect/>
          </a:stretch>
        </p:blipFill>
        <p:spPr>
          <a:xfrm>
            <a:off x="548640" y="1755648"/>
            <a:ext cx="11091672" cy="1952596"/>
          </a:xfrm>
          <a:prstGeom prst="rect">
            <a:avLst/>
          </a:prstGeom>
        </p:spPr>
      </p:pic>
      <p:pic>
        <p:nvPicPr>
          <p:cNvPr id="4" name="video_02_dqn_article_vs_notre">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548640" y="1755648"/>
            <a:ext cx="11091672" cy="1952596"/>
          </a:xfrm>
          <a:prstGeom prst="rect">
            <a:avLst/>
          </a:prstGeom>
        </p:spPr>
      </p:pic>
      <p:sp>
        <p:nvSpPr>
          <p:cNvPr id="10" name="cadre_video"/>
          <p:cNvSpPr/>
          <p:nvPr/>
        </p:nvSpPr>
        <p:spPr>
          <a:xfrm>
            <a:off x="521208" y="1728216"/>
            <a:ext cx="11146536" cy="2007460"/>
          </a:xfrm>
          <a:prstGeom prst="rect">
            <a:avLst/>
          </a:prstGeom>
          <a:ln w="25400">
            <a:solidFill>
              <a:srgbClr val="000000"/>
            </a:solidFill>
            <a:prstDash val="solid"/>
          </a:ln>
        </p:spPr>
      </p:sp>
      <p:sp>
        <p:nvSpPr>
          <p:cNvPr id="11" name="Text 7"/>
          <p:cNvSpPr txBox="1"/>
          <p:nvPr/>
        </p:nvSpPr>
        <p:spPr>
          <a:xfrm>
            <a:off x="548640" y="3781396"/>
            <a:ext cx="11091672" cy="274320"/>
          </a:xfrm>
          <a:prstGeom prst="rect">
            <a:avLst/>
          </a:prstGeom>
          <a:noFill/>
          <a:ln/>
        </p:spPr>
        <p:txBody>
          <a:bodyPr wrap="square" lIns="0" tIns="0" rIns="0" bIns="0" rtlCol="0" anchor="t"/>
          <a:lstStyle/>
          <a:p>
            <a:pPr indent="0" marL="0">
              <a:buNone/>
            </a:pPr>
            <a:r>
              <a:rPr lang="en-US" sz="1200" b="1" dirty="0">
                <a:solidFill>
                  <a:srgbClr val="14183D"/>
                </a:solidFill>
                <a:latin typeface="Montserrat" pitchFamily="34" charset="0"/>
                <a:ea typeface="Montserrat" pitchFamily="34" charset="-122"/>
                <a:cs typeface="Montserrat" pitchFamily="34" charset="-120"/>
              </a:rPr>
              <a:t>Vidéo, même graine (44) : le DQN de l'article meurt colonne 154, le nôtre atteint le drapeau en 244 pas</a:t>
            </a:r>
            <a:endParaRPr lang="en-US" sz="1200" dirty="0"/>
          </a:p>
        </p:txBody>
      </p:sp>
      <p:sp>
        <p:nvSpPr>
          <p:cNvPr id="12" name="carte"/>
          <p:cNvSpPr/>
          <p:nvPr/>
        </p:nvSpPr>
        <p:spPr>
          <a:xfrm>
            <a:off x="548640" y="4160520"/>
            <a:ext cx="6629400" cy="213055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3" name="etiquette"/>
          <p:cNvSpPr txBox="1"/>
          <p:nvPr/>
        </p:nvSpPr>
        <p:spPr>
          <a:xfrm>
            <a:off x="548640" y="4160520"/>
            <a:ext cx="4348155" cy="329184"/>
          </a:xfrm>
          <a:prstGeom prst="rect">
            <a:avLst/>
          </a:prstGeom>
          <a:solidFill>
            <a:srgbClr val="14183D"/>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ÉTAPE PAR ÉTAPE · victoires, graines 42-43</a:t>
            </a:r>
            <a:endParaRPr lang="en-US" sz="1200" dirty="0"/>
          </a:p>
        </p:txBody>
      </p:sp>
      <p:sp>
        <p:nvSpPr>
          <p:cNvPr id="14" name="Text 10"/>
          <p:cNvSpPr txBox="1"/>
          <p:nvPr/>
        </p:nvSpPr>
        <p:spPr>
          <a:xfrm>
            <a:off x="731520" y="4572000"/>
            <a:ext cx="2679192" cy="329184"/>
          </a:xfrm>
          <a:prstGeom prst="rect">
            <a:avLst/>
          </a:prstGeom>
          <a:noFill/>
          <a:ln/>
        </p:spPr>
        <p:txBody>
          <a:bodyPr wrap="square" lIns="0" tIns="0" rIns="0" bIns="0" rtlCol="0" anchor="ctr"/>
          <a:lstStyle/>
          <a:p>
            <a:pPr indent="0" marL="0">
              <a:buNone/>
            </a:pPr>
            <a:r>
              <a:rPr lang="en-US" sz="1200" b="1" dirty="0">
                <a:solidFill>
                  <a:srgbClr val="14183D"/>
                </a:solidFill>
                <a:latin typeface="Montserrat" pitchFamily="34" charset="0"/>
                <a:ea typeface="Montserrat" pitchFamily="34" charset="-122"/>
                <a:cs typeface="Montserrat" pitchFamily="34" charset="-120"/>
              </a:rPr>
              <a:t>0 · DQN de l'article</a:t>
            </a:r>
            <a:endParaRPr lang="en-US" sz="1200" dirty="0"/>
          </a:p>
        </p:txBody>
      </p:sp>
      <p:sp>
        <p:nvSpPr>
          <p:cNvPr id="15" name="Shape 11"/>
          <p:cNvSpPr/>
          <p:nvPr/>
        </p:nvSpPr>
        <p:spPr>
          <a:xfrm>
            <a:off x="3520440" y="4644420"/>
            <a:ext cx="2514600" cy="184343"/>
          </a:xfrm>
          <a:prstGeom prst="rect">
            <a:avLst/>
          </a:prstGeom>
          <a:solidFill>
            <a:srgbClr val="D9E3F5"/>
          </a:solidFill>
          <a:ln/>
        </p:spPr>
      </p:sp>
      <p:sp>
        <p:nvSpPr>
          <p:cNvPr id="16" name="Shape 12"/>
          <p:cNvSpPr/>
          <p:nvPr/>
        </p:nvSpPr>
        <p:spPr>
          <a:xfrm>
            <a:off x="3520440" y="4644420"/>
            <a:ext cx="1111453" cy="184343"/>
          </a:xfrm>
          <a:prstGeom prst="rect">
            <a:avLst/>
          </a:prstGeom>
          <a:solidFill>
            <a:srgbClr val="D62839"/>
          </a:solidFill>
          <a:ln w="12700">
            <a:solidFill>
              <a:srgbClr val="000000"/>
            </a:solidFill>
            <a:prstDash val="solid"/>
          </a:ln>
        </p:spPr>
      </p:sp>
      <p:sp>
        <p:nvSpPr>
          <p:cNvPr id="17" name="Text 13"/>
          <p:cNvSpPr txBox="1"/>
          <p:nvPr/>
        </p:nvSpPr>
        <p:spPr>
          <a:xfrm>
            <a:off x="4705045" y="4572000"/>
            <a:ext cx="1069848" cy="329184"/>
          </a:xfrm>
          <a:prstGeom prst="rect">
            <a:avLst/>
          </a:prstGeom>
          <a:noFill/>
          <a:ln/>
        </p:spPr>
        <p:txBody>
          <a:bodyPr wrap="square" lIns="0" tIns="0" rIns="0" bIns="0" rtlCol="0" anchor="ctr"/>
          <a:lstStyle/>
          <a:p>
            <a:pPr algn="l" indent="0" marL="0">
              <a:buNone/>
            </a:pPr>
            <a:r>
              <a:rPr lang="en-US" sz="1200" b="1" dirty="0">
                <a:solidFill>
                  <a:srgbClr val="14183D"/>
                </a:solidFill>
                <a:latin typeface="Montserrat" pitchFamily="34" charset="0"/>
                <a:ea typeface="Montserrat" pitchFamily="34" charset="-122"/>
                <a:cs typeface="Montserrat" pitchFamily="34" charset="-120"/>
              </a:rPr>
              <a:t>44 %</a:t>
            </a:r>
            <a:endParaRPr lang="en-US" sz="1200" dirty="0"/>
          </a:p>
        </p:txBody>
      </p:sp>
      <p:sp>
        <p:nvSpPr>
          <p:cNvPr id="18" name="Text 14"/>
          <p:cNvSpPr txBox="1"/>
          <p:nvPr/>
        </p:nvSpPr>
        <p:spPr>
          <a:xfrm>
            <a:off x="731520" y="4901184"/>
            <a:ext cx="2679192" cy="329184"/>
          </a:xfrm>
          <a:prstGeom prst="rect">
            <a:avLst/>
          </a:prstGeom>
          <a:noFill/>
          <a:ln/>
        </p:spPr>
        <p:txBody>
          <a:bodyPr wrap="square" lIns="0" tIns="0" rIns="0" bIns="0" rtlCol="0" anchor="ctr"/>
          <a:lstStyle/>
          <a:p>
            <a:pPr indent="0" marL="0">
              <a:buNone/>
            </a:pPr>
            <a:r>
              <a:rPr lang="en-US" sz="1200" b="1" dirty="0">
                <a:solidFill>
                  <a:srgbClr val="14183D"/>
                </a:solidFill>
                <a:latin typeface="Montserrat" pitchFamily="34" charset="0"/>
                <a:ea typeface="Montserrat" pitchFamily="34" charset="-122"/>
                <a:cs typeface="Montserrat" pitchFamily="34" charset="-120"/>
              </a:rPr>
              <a:t>1 · + vue complète</a:t>
            </a:r>
            <a:endParaRPr lang="en-US" sz="1200" dirty="0"/>
          </a:p>
        </p:txBody>
      </p:sp>
      <p:sp>
        <p:nvSpPr>
          <p:cNvPr id="19" name="Shape 15"/>
          <p:cNvSpPr/>
          <p:nvPr/>
        </p:nvSpPr>
        <p:spPr>
          <a:xfrm>
            <a:off x="3520440" y="4973604"/>
            <a:ext cx="2514600" cy="184343"/>
          </a:xfrm>
          <a:prstGeom prst="rect">
            <a:avLst/>
          </a:prstGeom>
          <a:solidFill>
            <a:srgbClr val="D9E3F5"/>
          </a:solidFill>
          <a:ln/>
        </p:spPr>
      </p:sp>
      <p:sp>
        <p:nvSpPr>
          <p:cNvPr id="20" name="Shape 16"/>
          <p:cNvSpPr/>
          <p:nvPr/>
        </p:nvSpPr>
        <p:spPr>
          <a:xfrm>
            <a:off x="3520440" y="4973604"/>
            <a:ext cx="2056943" cy="184343"/>
          </a:xfrm>
          <a:prstGeom prst="rect">
            <a:avLst/>
          </a:prstGeom>
          <a:solidFill>
            <a:srgbClr val="7B3FE4"/>
          </a:solidFill>
          <a:ln w="12700">
            <a:solidFill>
              <a:srgbClr val="000000"/>
            </a:solidFill>
            <a:prstDash val="solid"/>
          </a:ln>
        </p:spPr>
      </p:sp>
      <p:sp>
        <p:nvSpPr>
          <p:cNvPr id="21" name="Text 17"/>
          <p:cNvSpPr txBox="1"/>
          <p:nvPr/>
        </p:nvSpPr>
        <p:spPr>
          <a:xfrm>
            <a:off x="4434383" y="4901184"/>
            <a:ext cx="1069848" cy="329184"/>
          </a:xfrm>
          <a:prstGeom prst="rect">
            <a:avLst/>
          </a:prstGeom>
          <a:noFill/>
          <a:ln/>
        </p:spPr>
        <p:txBody>
          <a:bodyPr wrap="square" lIns="0" tIns="0" rIns="0" bIns="0" rtlCol="0" anchor="ctr"/>
          <a:lstStyle/>
          <a:p>
            <a:pPr algn="r" indent="0" marL="0">
              <a:buNone/>
            </a:pPr>
            <a:r>
              <a:rPr lang="en-US" sz="1200" b="1" dirty="0">
                <a:solidFill>
                  <a:srgbClr val="FFFFFF"/>
                </a:solidFill>
                <a:latin typeface="Montserrat" pitchFamily="34" charset="0"/>
                <a:ea typeface="Montserrat" pitchFamily="34" charset="-122"/>
                <a:cs typeface="Montserrat" pitchFamily="34" charset="-120"/>
              </a:rPr>
              <a:t>82 %</a:t>
            </a:r>
            <a:endParaRPr lang="en-US" sz="1200" dirty="0"/>
          </a:p>
        </p:txBody>
      </p:sp>
      <p:sp>
        <p:nvSpPr>
          <p:cNvPr id="22" name="Text 18"/>
          <p:cNvSpPr txBox="1"/>
          <p:nvPr/>
        </p:nvSpPr>
        <p:spPr>
          <a:xfrm>
            <a:off x="731520" y="5230368"/>
            <a:ext cx="2679192" cy="329184"/>
          </a:xfrm>
          <a:prstGeom prst="rect">
            <a:avLst/>
          </a:prstGeom>
          <a:noFill/>
          <a:ln/>
        </p:spPr>
        <p:txBody>
          <a:bodyPr wrap="square" lIns="0" tIns="0" rIns="0" bIns="0" rtlCol="0" anchor="ctr"/>
          <a:lstStyle/>
          <a:p>
            <a:pPr indent="0" marL="0">
              <a:buNone/>
            </a:pPr>
            <a:r>
              <a:rPr lang="en-US" sz="1200" b="1" dirty="0">
                <a:solidFill>
                  <a:srgbClr val="14183D"/>
                </a:solidFill>
                <a:latin typeface="Montserrat" pitchFamily="34" charset="0"/>
                <a:ea typeface="Montserrat" pitchFamily="34" charset="-122"/>
                <a:cs typeface="Montserrat" pitchFamily="34" charset="-120"/>
              </a:rPr>
              <a:t>2 · 1 + Double DQN, 3 pas…</a:t>
            </a:r>
            <a:endParaRPr lang="en-US" sz="1200" dirty="0"/>
          </a:p>
        </p:txBody>
      </p:sp>
      <p:sp>
        <p:nvSpPr>
          <p:cNvPr id="23" name="Shape 19"/>
          <p:cNvSpPr/>
          <p:nvPr/>
        </p:nvSpPr>
        <p:spPr>
          <a:xfrm>
            <a:off x="3520440" y="5302788"/>
            <a:ext cx="2514600" cy="184343"/>
          </a:xfrm>
          <a:prstGeom prst="rect">
            <a:avLst/>
          </a:prstGeom>
          <a:solidFill>
            <a:srgbClr val="D9E3F5"/>
          </a:solidFill>
          <a:ln/>
        </p:spPr>
      </p:sp>
      <p:sp>
        <p:nvSpPr>
          <p:cNvPr id="24" name="Shape 20"/>
          <p:cNvSpPr/>
          <p:nvPr/>
        </p:nvSpPr>
        <p:spPr>
          <a:xfrm>
            <a:off x="3520440" y="5302788"/>
            <a:ext cx="1966417" cy="184343"/>
          </a:xfrm>
          <a:prstGeom prst="rect">
            <a:avLst/>
          </a:prstGeom>
          <a:solidFill>
            <a:srgbClr val="A99AD6"/>
          </a:solidFill>
          <a:ln w="12700">
            <a:solidFill>
              <a:srgbClr val="000000"/>
            </a:solidFill>
            <a:prstDash val="solid"/>
          </a:ln>
        </p:spPr>
      </p:sp>
      <p:sp>
        <p:nvSpPr>
          <p:cNvPr id="25" name="Text 21"/>
          <p:cNvSpPr txBox="1"/>
          <p:nvPr/>
        </p:nvSpPr>
        <p:spPr>
          <a:xfrm>
            <a:off x="4343857" y="5230368"/>
            <a:ext cx="1069848" cy="329184"/>
          </a:xfrm>
          <a:prstGeom prst="rect">
            <a:avLst/>
          </a:prstGeom>
          <a:noFill/>
          <a:ln/>
        </p:spPr>
        <p:txBody>
          <a:bodyPr wrap="square" lIns="0" tIns="0" rIns="0" bIns="0" rtlCol="0" anchor="ctr"/>
          <a:lstStyle/>
          <a:p>
            <a:pPr algn="r" indent="0" marL="0">
              <a:buNone/>
            </a:pPr>
            <a:r>
              <a:rPr lang="en-US" sz="1200" b="1" dirty="0">
                <a:solidFill>
                  <a:srgbClr val="FFFFFF"/>
                </a:solidFill>
                <a:latin typeface="Montserrat" pitchFamily="34" charset="0"/>
                <a:ea typeface="Montserrat" pitchFamily="34" charset="-122"/>
                <a:cs typeface="Montserrat" pitchFamily="34" charset="-120"/>
              </a:rPr>
              <a:t>78 %</a:t>
            </a:r>
            <a:endParaRPr lang="en-US" sz="1200" dirty="0"/>
          </a:p>
        </p:txBody>
      </p:sp>
      <p:sp>
        <p:nvSpPr>
          <p:cNvPr id="26" name="Text 22"/>
          <p:cNvSpPr txBox="1"/>
          <p:nvPr/>
        </p:nvSpPr>
        <p:spPr>
          <a:xfrm>
            <a:off x="731520" y="5559552"/>
            <a:ext cx="2679192" cy="329184"/>
          </a:xfrm>
          <a:prstGeom prst="rect">
            <a:avLst/>
          </a:prstGeom>
          <a:noFill/>
          <a:ln/>
        </p:spPr>
        <p:txBody>
          <a:bodyPr wrap="square" lIns="0" tIns="0" rIns="0" bIns="0" rtlCol="0" anchor="ctr"/>
          <a:lstStyle/>
          <a:p>
            <a:pPr indent="0" marL="0">
              <a:buNone/>
            </a:pPr>
            <a:r>
              <a:rPr lang="en-US" sz="1200" b="1" dirty="0">
                <a:solidFill>
                  <a:srgbClr val="14183D"/>
                </a:solidFill>
                <a:latin typeface="Montserrat" pitchFamily="34" charset="0"/>
                <a:ea typeface="Montserrat" pitchFamily="34" charset="-122"/>
                <a:cs typeface="Montserrat" pitchFamily="34" charset="-120"/>
              </a:rPr>
              <a:t>3 · 1 + réseau convolutif</a:t>
            </a:r>
            <a:endParaRPr lang="en-US" sz="1200" dirty="0"/>
          </a:p>
        </p:txBody>
      </p:sp>
      <p:sp>
        <p:nvSpPr>
          <p:cNvPr id="27" name="Shape 23"/>
          <p:cNvSpPr/>
          <p:nvPr/>
        </p:nvSpPr>
        <p:spPr>
          <a:xfrm>
            <a:off x="3520440" y="5631972"/>
            <a:ext cx="2514600" cy="184343"/>
          </a:xfrm>
          <a:prstGeom prst="rect">
            <a:avLst/>
          </a:prstGeom>
          <a:solidFill>
            <a:srgbClr val="D9E3F5"/>
          </a:solidFill>
          <a:ln/>
        </p:spPr>
      </p:sp>
      <p:sp>
        <p:nvSpPr>
          <p:cNvPr id="28" name="Shape 24"/>
          <p:cNvSpPr/>
          <p:nvPr/>
        </p:nvSpPr>
        <p:spPr>
          <a:xfrm>
            <a:off x="3520440" y="5631972"/>
            <a:ext cx="1926184" cy="184343"/>
          </a:xfrm>
          <a:prstGeom prst="rect">
            <a:avLst/>
          </a:prstGeom>
          <a:solidFill>
            <a:srgbClr val="A99AD6"/>
          </a:solidFill>
          <a:ln w="12700">
            <a:solidFill>
              <a:srgbClr val="000000"/>
            </a:solidFill>
            <a:prstDash val="solid"/>
          </a:ln>
        </p:spPr>
      </p:sp>
      <p:sp>
        <p:nvSpPr>
          <p:cNvPr id="29" name="Text 25"/>
          <p:cNvSpPr txBox="1"/>
          <p:nvPr/>
        </p:nvSpPr>
        <p:spPr>
          <a:xfrm>
            <a:off x="5519776" y="5559552"/>
            <a:ext cx="1069848" cy="329184"/>
          </a:xfrm>
          <a:prstGeom prst="rect">
            <a:avLst/>
          </a:prstGeom>
          <a:noFill/>
          <a:ln/>
        </p:spPr>
        <p:txBody>
          <a:bodyPr wrap="square" lIns="0" tIns="0" rIns="0" bIns="0" rtlCol="0" anchor="ctr"/>
          <a:lstStyle/>
          <a:p>
            <a:pPr algn="l" indent="0" marL="0">
              <a:buNone/>
            </a:pPr>
            <a:r>
              <a:rPr lang="en-US" sz="1200" b="1" dirty="0">
                <a:solidFill>
                  <a:srgbClr val="14183D"/>
                </a:solidFill>
                <a:latin typeface="Montserrat" pitchFamily="34" charset="0"/>
                <a:ea typeface="Montserrat" pitchFamily="34" charset="-122"/>
                <a:cs typeface="Montserrat" pitchFamily="34" charset="-120"/>
              </a:rPr>
              <a:t>77 %</a:t>
            </a:r>
            <a:endParaRPr lang="en-US" sz="1200" dirty="0"/>
          </a:p>
        </p:txBody>
      </p:sp>
      <p:sp>
        <p:nvSpPr>
          <p:cNvPr id="30" name="Text 26"/>
          <p:cNvSpPr txBox="1"/>
          <p:nvPr/>
        </p:nvSpPr>
        <p:spPr>
          <a:xfrm>
            <a:off x="731520" y="5888736"/>
            <a:ext cx="2679192" cy="329184"/>
          </a:xfrm>
          <a:prstGeom prst="rect">
            <a:avLst/>
          </a:prstGeom>
          <a:noFill/>
          <a:ln/>
        </p:spPr>
        <p:txBody>
          <a:bodyPr wrap="square" lIns="0" tIns="0" rIns="0" bIns="0" rtlCol="0" anchor="ctr"/>
          <a:lstStyle/>
          <a:p>
            <a:pPr indent="0" marL="0">
              <a:buNone/>
            </a:pPr>
            <a:r>
              <a:rPr lang="en-US" sz="1200" b="1" dirty="0">
                <a:solidFill>
                  <a:srgbClr val="14183D"/>
                </a:solidFill>
                <a:latin typeface="Montserrat" pitchFamily="34" charset="0"/>
                <a:ea typeface="Montserrat" pitchFamily="34" charset="-122"/>
                <a:cs typeface="Montserrat" pitchFamily="34" charset="-120"/>
              </a:rPr>
              <a:t>4 · 1 + réglages fins</a:t>
            </a:r>
            <a:endParaRPr lang="en-US" sz="1200" dirty="0"/>
          </a:p>
        </p:txBody>
      </p:sp>
      <p:sp>
        <p:nvSpPr>
          <p:cNvPr id="31" name="Shape 27"/>
          <p:cNvSpPr/>
          <p:nvPr/>
        </p:nvSpPr>
        <p:spPr>
          <a:xfrm>
            <a:off x="3520440" y="5961156"/>
            <a:ext cx="2514600" cy="184343"/>
          </a:xfrm>
          <a:prstGeom prst="rect">
            <a:avLst/>
          </a:prstGeom>
          <a:solidFill>
            <a:srgbClr val="D9E3F5"/>
          </a:solidFill>
          <a:ln/>
        </p:spPr>
      </p:sp>
      <p:sp>
        <p:nvSpPr>
          <p:cNvPr id="32" name="Shape 28"/>
          <p:cNvSpPr/>
          <p:nvPr/>
        </p:nvSpPr>
        <p:spPr>
          <a:xfrm>
            <a:off x="3520440" y="5961156"/>
            <a:ext cx="2376297" cy="184343"/>
          </a:xfrm>
          <a:prstGeom prst="rect">
            <a:avLst/>
          </a:prstGeom>
          <a:solidFill>
            <a:srgbClr val="7B3FE4"/>
          </a:solidFill>
          <a:ln w="12700">
            <a:solidFill>
              <a:srgbClr val="000000"/>
            </a:solidFill>
            <a:prstDash val="solid"/>
          </a:ln>
        </p:spPr>
      </p:sp>
      <p:sp>
        <p:nvSpPr>
          <p:cNvPr id="33" name="Text 29"/>
          <p:cNvSpPr txBox="1"/>
          <p:nvPr/>
        </p:nvSpPr>
        <p:spPr>
          <a:xfrm>
            <a:off x="4753737" y="5888736"/>
            <a:ext cx="1069848" cy="329184"/>
          </a:xfrm>
          <a:prstGeom prst="rect">
            <a:avLst/>
          </a:prstGeom>
          <a:noFill/>
          <a:ln/>
        </p:spPr>
        <p:txBody>
          <a:bodyPr wrap="square" lIns="0" tIns="0" rIns="0" bIns="0" rtlCol="0" anchor="ctr"/>
          <a:lstStyle/>
          <a:p>
            <a:pPr algn="r" indent="0" marL="0">
              <a:buNone/>
            </a:pPr>
            <a:r>
              <a:rPr lang="en-US" sz="1200" b="1" dirty="0">
                <a:solidFill>
                  <a:srgbClr val="FFFFFF"/>
                </a:solidFill>
                <a:latin typeface="Montserrat" pitchFamily="34" charset="0"/>
                <a:ea typeface="Montserrat" pitchFamily="34" charset="-122"/>
                <a:cs typeface="Montserrat" pitchFamily="34" charset="-120"/>
              </a:rPr>
              <a:t>94,5 %</a:t>
            </a:r>
            <a:endParaRPr lang="en-US" sz="1200" dirty="0"/>
          </a:p>
        </p:txBody>
      </p:sp>
      <p:sp>
        <p:nvSpPr>
          <p:cNvPr id="34" name="carte"/>
          <p:cNvSpPr/>
          <p:nvPr/>
        </p:nvSpPr>
        <p:spPr>
          <a:xfrm>
            <a:off x="7452360" y="4160520"/>
            <a:ext cx="4187952" cy="2130552"/>
          </a:xfrm>
          <a:prstGeom prst="rect">
            <a:avLst/>
          </a:prstGeom>
          <a:solidFill>
            <a:srgbClr val="FFC703"/>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35" name="Text 31"/>
          <p:cNvSpPr txBox="1"/>
          <p:nvPr/>
        </p:nvSpPr>
        <p:spPr>
          <a:xfrm>
            <a:off x="7616952" y="4297680"/>
            <a:ext cx="3886200" cy="192024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250" b="1" dirty="0">
                <a:solidFill>
                  <a:srgbClr val="14183D"/>
                </a:solidFill>
                <a:latin typeface="Montserrat" pitchFamily="34" charset="0"/>
                <a:ea typeface="Montserrat" pitchFamily="34" charset="-122"/>
                <a:cs typeface="Montserrat" pitchFamily="34" charset="-120"/>
              </a:rPr>
              <a:t>Il ne voyait que 4 lignes </a:t>
            </a:r>
            <a:r>
              <a:rPr lang="en-US" sz="1250" dirty="0">
                <a:solidFill>
                  <a:srgbClr val="14183D"/>
                </a:solidFill>
                <a:latin typeface="Montserrat" pitchFamily="34" charset="0"/>
                <a:ea typeface="Montserrat" pitchFamily="34" charset="-122"/>
                <a:cs typeface="Montserrat" pitchFamily="34" charset="-120"/>
              </a:rPr>
              <a:t>et son numéro de colonne : il apprenait le niveau par cœur.</a:t>
            </a:r>
            <a:endParaRPr lang="en-US" sz="1250" dirty="0"/>
          </a:p>
          <a:p>
            <a:pPr marL="177800" indent="-177800">
              <a:lnSpc>
                <a:spcPct val="105000"/>
              </a:lnSpc>
              <a:spcAft>
                <a:spcPts val="600"/>
              </a:spcAft>
              <a:buSzPct val="100000"/>
              <a:buChar char="•"/>
            </a:pPr>
            <a:r>
              <a:rPr lang="en-US" sz="1250" b="1" dirty="0">
                <a:solidFill>
                  <a:srgbClr val="14183D"/>
                </a:solidFill>
                <a:latin typeface="Montserrat" pitchFamily="34" charset="0"/>
                <a:ea typeface="Montserrat" pitchFamily="34" charset="-122"/>
                <a:cs typeface="Montserrat" pitchFamily="34" charset="-120"/>
              </a:rPr>
              <a:t>Vue complète : </a:t>
            </a:r>
            <a:r>
              <a:rPr lang="en-US" sz="1250" dirty="0">
                <a:solidFill>
                  <a:srgbClr val="14183D"/>
                </a:solidFill>
                <a:latin typeface="Montserrat" pitchFamily="34" charset="0"/>
                <a:ea typeface="Montserrat" pitchFamily="34" charset="-122"/>
                <a:cs typeface="Montserrat" pitchFamily="34" charset="-120"/>
              </a:rPr>
              <a:t>14 × 28 cases en 6 calques (sol, briques, blocs, ennemis et leur sens).</a:t>
            </a:r>
            <a:endParaRPr lang="en-US" sz="1250" dirty="0"/>
          </a:p>
          <a:p>
            <a:pPr marL="177800" indent="-177800">
              <a:lnSpc>
                <a:spcPct val="105000"/>
              </a:lnSpc>
              <a:spcAft>
                <a:spcPts val="600"/>
              </a:spcAft>
              <a:buSzPct val="100000"/>
              <a:buChar char="•"/>
            </a:pPr>
            <a:r>
              <a:rPr lang="en-US" sz="1250" b="1" dirty="0">
                <a:solidFill>
                  <a:srgbClr val="14183D"/>
                </a:solidFill>
                <a:latin typeface="Montserrat" pitchFamily="34" charset="0"/>
                <a:ea typeface="Montserrat" pitchFamily="34" charset="-122"/>
                <a:cs typeface="Montserrat" pitchFamily="34" charset="-120"/>
              </a:rPr>
              <a:t>Optimisé avec Claude </a:t>
            </a:r>
            <a:r>
              <a:rPr lang="en-US" sz="1250" dirty="0">
                <a:solidFill>
                  <a:srgbClr val="14183D"/>
                </a:solidFill>
                <a:latin typeface="Montserrat" pitchFamily="34" charset="0"/>
                <a:ea typeface="Montserrat" pitchFamily="34" charset="-122"/>
                <a:cs typeface="Montserrat" pitchFamily="34" charset="-120"/>
              </a:rPr>
              <a:t>(assistant IA), vérifié étape par étape.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WORLD 1-2 - LE DUEL SUR V3</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LE TABLEAU FINAL</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À hasard égal, notre DQN est le plus robuste ; les tableaux font presque aussi bien.</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12</a:t>
            </a:r>
            <a:endParaRPr lang="en-US" sz="1000" dirty="0"/>
          </a:p>
        </p:txBody>
      </p:sp>
      <p:sp>
        <p:nvSpPr>
          <p:cNvPr id="8" name="tableau_fond"/>
          <p:cNvSpPr/>
          <p:nvPr/>
        </p:nvSpPr>
        <p:spPr>
          <a:xfrm>
            <a:off x="530352" y="1737360"/>
            <a:ext cx="11128248" cy="3154680"/>
          </a:xfrm>
          <a:prstGeom prst="rect">
            <a:avLst/>
          </a:prstGeom>
          <a:solidFill>
            <a:srgbClr val="14183D"/>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9" name="entete"/>
          <p:cNvSpPr txBox="1"/>
          <p:nvPr/>
        </p:nvSpPr>
        <p:spPr>
          <a:xfrm>
            <a:off x="548640" y="1755648"/>
            <a:ext cx="2331720" cy="603504"/>
          </a:xfrm>
          <a:prstGeom prst="rect">
            <a:avLst/>
          </a:prstGeom>
          <a:solidFill>
            <a:srgbClr val="14183D"/>
          </a:solidFill>
          <a:ln/>
        </p:spPr>
        <p:txBody>
          <a:bodyPr wrap="square" lIns="127000" tIns="25400" rIns="76200" bIns="25400" rtlCol="0" anchor="ctr"/>
          <a:lstStyle/>
          <a:p>
            <a:pPr algn="l" indent="0" marL="0">
              <a:buNone/>
            </a:pPr>
            <a:r>
              <a:rPr lang="en-US" sz="1150" b="1" dirty="0">
                <a:solidFill>
                  <a:srgbClr val="FFFFFF"/>
                </a:solidFill>
                <a:latin typeface="Montserrat" pitchFamily="34" charset="0"/>
                <a:ea typeface="Montserrat" pitchFamily="34" charset="-122"/>
                <a:cs typeface="Montserrat" pitchFamily="34" charset="-120"/>
              </a:rPr>
              <a:t>Algorithme</a:t>
            </a:r>
            <a:endParaRPr lang="en-US" sz="1150" dirty="0"/>
          </a:p>
        </p:txBody>
      </p:sp>
      <p:sp>
        <p:nvSpPr>
          <p:cNvPr id="10" name="entete"/>
          <p:cNvSpPr txBox="1"/>
          <p:nvPr/>
        </p:nvSpPr>
        <p:spPr>
          <a:xfrm>
            <a:off x="2880360" y="1755648"/>
            <a:ext cx="1600200" cy="603504"/>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Victoires¹</a:t>
            </a:r>
            <a:endParaRPr lang="en-US" sz="1150" dirty="0"/>
          </a:p>
        </p:txBody>
      </p:sp>
      <p:sp>
        <p:nvSpPr>
          <p:cNvPr id="11" name="entete"/>
          <p:cNvSpPr txBox="1"/>
          <p:nvPr/>
        </p:nvSpPr>
        <p:spPr>
          <a:xfrm>
            <a:off x="4480560" y="1755648"/>
            <a:ext cx="1691640" cy="603504"/>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Robustesse²</a:t>
            </a:r>
            <a:endParaRPr lang="en-US" sz="1150" dirty="0"/>
          </a:p>
        </p:txBody>
      </p:sp>
      <p:sp>
        <p:nvSpPr>
          <p:cNvPr id="12" name="entete"/>
          <p:cNvSpPr txBox="1"/>
          <p:nvPr/>
        </p:nvSpPr>
        <p:spPr>
          <a:xfrm>
            <a:off x="6172200" y="1755648"/>
            <a:ext cx="1463040" cy="603504"/>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Partie sans</a:t>
            </a:r>
            <a:endParaRPr lang="en-US" sz="1150" dirty="0"/>
          </a:p>
          <a:p>
            <a:pPr algn="ctr" indent="0" marL="0">
              <a:buNone/>
            </a:pPr>
            <a:r>
              <a:rPr lang="en-US" sz="1150" b="1" dirty="0">
                <a:solidFill>
                  <a:srgbClr val="FFFFFF"/>
                </a:solidFill>
                <a:latin typeface="Montserrat" pitchFamily="34" charset="0"/>
                <a:ea typeface="Montserrat" pitchFamily="34" charset="-122"/>
                <a:cs typeface="Montserrat" pitchFamily="34" charset="-120"/>
              </a:rPr>
              <a:t>hasard gagnée</a:t>
            </a:r>
            <a:endParaRPr lang="en-US" sz="1150" dirty="0"/>
          </a:p>
        </p:txBody>
      </p:sp>
      <p:sp>
        <p:nvSpPr>
          <p:cNvPr id="13" name="entete"/>
          <p:cNvSpPr txBox="1"/>
          <p:nvPr/>
        </p:nvSpPr>
        <p:spPr>
          <a:xfrm>
            <a:off x="7635240" y="1755648"/>
            <a:ext cx="1280160" cy="603504"/>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Retour</a:t>
            </a:r>
            <a:endParaRPr lang="en-US" sz="1150" dirty="0"/>
          </a:p>
          <a:p>
            <a:pPr algn="ctr" indent="0" marL="0">
              <a:buNone/>
            </a:pPr>
            <a:r>
              <a:rPr lang="en-US" sz="1150" b="1" dirty="0">
                <a:solidFill>
                  <a:srgbClr val="FFFFFF"/>
                </a:solidFill>
                <a:latin typeface="Montserrat" pitchFamily="34" charset="0"/>
                <a:ea typeface="Montserrat" pitchFamily="34" charset="-122"/>
                <a:cs typeface="Montserrat" pitchFamily="34" charset="-120"/>
              </a:rPr>
              <a:t>moyen</a:t>
            </a:r>
            <a:endParaRPr lang="en-US" sz="1150" dirty="0"/>
          </a:p>
        </p:txBody>
      </p:sp>
      <p:sp>
        <p:nvSpPr>
          <p:cNvPr id="14" name="entete"/>
          <p:cNvSpPr txBox="1"/>
          <p:nvPr/>
        </p:nvSpPr>
        <p:spPr>
          <a:xfrm>
            <a:off x="8915400" y="1755648"/>
            <a:ext cx="1600200" cy="603504"/>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Parties pour</a:t>
            </a:r>
            <a:endParaRPr lang="en-US" sz="1150" dirty="0"/>
          </a:p>
          <a:p>
            <a:pPr algn="ctr" indent="0" marL="0">
              <a:buNone/>
            </a:pPr>
            <a:r>
              <a:rPr lang="en-US" sz="1150" b="1" dirty="0">
                <a:solidFill>
                  <a:srgbClr val="FFFFFF"/>
                </a:solidFill>
                <a:latin typeface="Montserrat" pitchFamily="34" charset="0"/>
                <a:ea typeface="Montserrat" pitchFamily="34" charset="-122"/>
                <a:cs typeface="Montserrat" pitchFamily="34" charset="-120"/>
              </a:rPr>
              <a:t>80 % de victoires</a:t>
            </a:r>
            <a:endParaRPr lang="en-US" sz="1150" dirty="0"/>
          </a:p>
        </p:txBody>
      </p:sp>
      <p:sp>
        <p:nvSpPr>
          <p:cNvPr id="15" name="entete"/>
          <p:cNvSpPr txBox="1"/>
          <p:nvPr/>
        </p:nvSpPr>
        <p:spPr>
          <a:xfrm>
            <a:off x="10515600" y="1755648"/>
            <a:ext cx="1124712" cy="603504"/>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Morts</a:t>
            </a:r>
            <a:endParaRPr lang="en-US" sz="1150" dirty="0"/>
          </a:p>
        </p:txBody>
      </p:sp>
      <p:sp>
        <p:nvSpPr>
          <p:cNvPr id="16" name="cellule"/>
          <p:cNvSpPr txBox="1"/>
          <p:nvPr/>
        </p:nvSpPr>
        <p:spPr>
          <a:xfrm>
            <a:off x="548640" y="2359152"/>
            <a:ext cx="2331720" cy="502920"/>
          </a:xfrm>
          <a:prstGeom prst="rect">
            <a:avLst/>
          </a:prstGeom>
          <a:solidFill>
            <a:srgbClr val="FFFFFF"/>
          </a:solidFill>
          <a:ln/>
        </p:spPr>
        <p:txBody>
          <a:bodyPr wrap="square" lIns="381000" tIns="0" rIns="5080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Q-Learning</a:t>
            </a:r>
            <a:endParaRPr lang="en-US" sz="1350" dirty="0"/>
          </a:p>
        </p:txBody>
      </p:sp>
      <p:sp>
        <p:nvSpPr>
          <p:cNvPr id="17" name="Shape 15"/>
          <p:cNvSpPr/>
          <p:nvPr/>
        </p:nvSpPr>
        <p:spPr>
          <a:xfrm>
            <a:off x="658368" y="2519172"/>
            <a:ext cx="182880" cy="182880"/>
          </a:xfrm>
          <a:prstGeom prst="rect">
            <a:avLst/>
          </a:prstGeom>
          <a:solidFill>
            <a:srgbClr val="2F6FE4"/>
          </a:solidFill>
          <a:ln w="9525">
            <a:solidFill>
              <a:srgbClr val="000000"/>
            </a:solidFill>
            <a:prstDash val="solid"/>
          </a:ln>
        </p:spPr>
      </p:sp>
      <p:sp>
        <p:nvSpPr>
          <p:cNvPr id="18" name="cellule"/>
          <p:cNvSpPr txBox="1"/>
          <p:nvPr/>
        </p:nvSpPr>
        <p:spPr>
          <a:xfrm>
            <a:off x="2880360" y="2359152"/>
            <a:ext cx="1600200" cy="502920"/>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94,5 ± 1,5 %</a:t>
            </a:r>
            <a:endParaRPr lang="en-US" sz="1350" dirty="0"/>
          </a:p>
        </p:txBody>
      </p:sp>
      <p:sp>
        <p:nvSpPr>
          <p:cNvPr id="19" name="cellule"/>
          <p:cNvSpPr txBox="1"/>
          <p:nvPr/>
        </p:nvSpPr>
        <p:spPr>
          <a:xfrm>
            <a:off x="4480560" y="2359152"/>
            <a:ext cx="1691640" cy="502920"/>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88,8 ± 2,7 %</a:t>
            </a:r>
            <a:endParaRPr lang="en-US" sz="1350" dirty="0"/>
          </a:p>
        </p:txBody>
      </p:sp>
      <p:sp>
        <p:nvSpPr>
          <p:cNvPr id="20" name="cellule"/>
          <p:cNvSpPr txBox="1"/>
          <p:nvPr/>
        </p:nvSpPr>
        <p:spPr>
          <a:xfrm>
            <a:off x="6172200" y="2359152"/>
            <a:ext cx="1463040" cy="502920"/>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5 / 5</a:t>
            </a:r>
            <a:endParaRPr lang="en-US" sz="1350" dirty="0"/>
          </a:p>
        </p:txBody>
      </p:sp>
      <p:sp>
        <p:nvSpPr>
          <p:cNvPr id="21" name="cellule"/>
          <p:cNvSpPr txBox="1"/>
          <p:nvPr/>
        </p:nvSpPr>
        <p:spPr>
          <a:xfrm>
            <a:off x="7635240" y="2359152"/>
            <a:ext cx="1280160" cy="502920"/>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231 ± 12</a:t>
            </a:r>
            <a:endParaRPr lang="en-US" sz="1350" dirty="0"/>
          </a:p>
        </p:txBody>
      </p:sp>
      <p:sp>
        <p:nvSpPr>
          <p:cNvPr id="22" name="cellule"/>
          <p:cNvSpPr txBox="1"/>
          <p:nvPr/>
        </p:nvSpPr>
        <p:spPr>
          <a:xfrm>
            <a:off x="8915400" y="2359152"/>
            <a:ext cx="1600200" cy="502920"/>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3522</a:t>
            </a:r>
            <a:endParaRPr lang="en-US" sz="1350" dirty="0"/>
          </a:p>
        </p:txBody>
      </p:sp>
      <p:sp>
        <p:nvSpPr>
          <p:cNvPr id="23" name="cellule"/>
          <p:cNvSpPr txBox="1"/>
          <p:nvPr/>
        </p:nvSpPr>
        <p:spPr>
          <a:xfrm>
            <a:off x="10515600" y="2359152"/>
            <a:ext cx="1124712" cy="502920"/>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5,5 %</a:t>
            </a:r>
            <a:endParaRPr lang="en-US" sz="1350" dirty="0"/>
          </a:p>
        </p:txBody>
      </p:sp>
      <p:sp>
        <p:nvSpPr>
          <p:cNvPr id="24" name="cellule"/>
          <p:cNvSpPr txBox="1"/>
          <p:nvPr/>
        </p:nvSpPr>
        <p:spPr>
          <a:xfrm>
            <a:off x="548640" y="2862072"/>
            <a:ext cx="2331720" cy="502920"/>
          </a:xfrm>
          <a:prstGeom prst="rect">
            <a:avLst/>
          </a:prstGeom>
          <a:solidFill>
            <a:srgbClr val="EAF1FE"/>
          </a:solidFill>
          <a:ln/>
        </p:spPr>
        <p:txBody>
          <a:bodyPr wrap="square" lIns="381000" tIns="0" rIns="5080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SARSA</a:t>
            </a:r>
            <a:endParaRPr lang="en-US" sz="1350" dirty="0"/>
          </a:p>
        </p:txBody>
      </p:sp>
      <p:sp>
        <p:nvSpPr>
          <p:cNvPr id="25" name="Shape 23"/>
          <p:cNvSpPr/>
          <p:nvPr/>
        </p:nvSpPr>
        <p:spPr>
          <a:xfrm>
            <a:off x="658368" y="3022092"/>
            <a:ext cx="182880" cy="182880"/>
          </a:xfrm>
          <a:prstGeom prst="rect">
            <a:avLst/>
          </a:prstGeom>
          <a:solidFill>
            <a:srgbClr val="15911F"/>
          </a:solidFill>
          <a:ln w="9525">
            <a:solidFill>
              <a:srgbClr val="000000"/>
            </a:solidFill>
            <a:prstDash val="solid"/>
          </a:ln>
        </p:spPr>
      </p:sp>
      <p:sp>
        <p:nvSpPr>
          <p:cNvPr id="26" name="cellule"/>
          <p:cNvSpPr txBox="1"/>
          <p:nvPr/>
        </p:nvSpPr>
        <p:spPr>
          <a:xfrm>
            <a:off x="2880360" y="2862072"/>
            <a:ext cx="1600200" cy="502920"/>
          </a:xfrm>
          <a:prstGeom prst="rect">
            <a:avLst/>
          </a:prstGeom>
          <a:solidFill>
            <a:srgbClr val="FFE27A"/>
          </a:solidFill>
          <a:ln/>
        </p:spPr>
        <p:txBody>
          <a:bodyPr wrap="square" lIns="25400" tIns="25400" rIns="25400" bIns="25400" rtlCol="0" anchor="ctr"/>
          <a:lstStyle/>
          <a:p>
            <a:pPr algn="ctr" indent="0" marL="0">
              <a:buNone/>
            </a:pPr>
            <a:r>
              <a:rPr lang="en-US" sz="1350" b="1" dirty="0">
                <a:solidFill>
                  <a:srgbClr val="14183D"/>
                </a:solidFill>
                <a:latin typeface="Montserrat" pitchFamily="34" charset="0"/>
                <a:ea typeface="Montserrat" pitchFamily="34" charset="-122"/>
                <a:cs typeface="Montserrat" pitchFamily="34" charset="-120"/>
              </a:rPr>
              <a:t>96,2 ± 1,2 %</a:t>
            </a:r>
            <a:endParaRPr lang="en-US" sz="1350" dirty="0"/>
          </a:p>
        </p:txBody>
      </p:sp>
      <p:sp>
        <p:nvSpPr>
          <p:cNvPr id="27" name="cellule"/>
          <p:cNvSpPr txBox="1"/>
          <p:nvPr/>
        </p:nvSpPr>
        <p:spPr>
          <a:xfrm>
            <a:off x="4480560" y="2862072"/>
            <a:ext cx="1691640" cy="502920"/>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88,8 ± 3,0 %</a:t>
            </a:r>
            <a:endParaRPr lang="en-US" sz="1350" dirty="0"/>
          </a:p>
        </p:txBody>
      </p:sp>
      <p:sp>
        <p:nvSpPr>
          <p:cNvPr id="28" name="cellule"/>
          <p:cNvSpPr txBox="1"/>
          <p:nvPr/>
        </p:nvSpPr>
        <p:spPr>
          <a:xfrm>
            <a:off x="6172200" y="2862072"/>
            <a:ext cx="1463040" cy="502920"/>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5 / 5</a:t>
            </a:r>
            <a:endParaRPr lang="en-US" sz="1350" dirty="0"/>
          </a:p>
        </p:txBody>
      </p:sp>
      <p:sp>
        <p:nvSpPr>
          <p:cNvPr id="29" name="cellule"/>
          <p:cNvSpPr txBox="1"/>
          <p:nvPr/>
        </p:nvSpPr>
        <p:spPr>
          <a:xfrm>
            <a:off x="7635240" y="2862072"/>
            <a:ext cx="1280160" cy="502920"/>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241 ± 5</a:t>
            </a:r>
            <a:endParaRPr lang="en-US" sz="1350" dirty="0"/>
          </a:p>
        </p:txBody>
      </p:sp>
      <p:sp>
        <p:nvSpPr>
          <p:cNvPr id="30" name="cellule"/>
          <p:cNvSpPr txBox="1"/>
          <p:nvPr/>
        </p:nvSpPr>
        <p:spPr>
          <a:xfrm>
            <a:off x="8915400" y="2862072"/>
            <a:ext cx="1600200" cy="502920"/>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3354</a:t>
            </a:r>
            <a:endParaRPr lang="en-US" sz="1350" dirty="0"/>
          </a:p>
        </p:txBody>
      </p:sp>
      <p:sp>
        <p:nvSpPr>
          <p:cNvPr id="31" name="cellule"/>
          <p:cNvSpPr txBox="1"/>
          <p:nvPr/>
        </p:nvSpPr>
        <p:spPr>
          <a:xfrm>
            <a:off x="10515600" y="2862072"/>
            <a:ext cx="1124712" cy="502920"/>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3,8 %</a:t>
            </a:r>
            <a:endParaRPr lang="en-US" sz="1350" dirty="0"/>
          </a:p>
        </p:txBody>
      </p:sp>
      <p:sp>
        <p:nvSpPr>
          <p:cNvPr id="32" name="cellule"/>
          <p:cNvSpPr txBox="1"/>
          <p:nvPr/>
        </p:nvSpPr>
        <p:spPr>
          <a:xfrm>
            <a:off x="548640" y="3364992"/>
            <a:ext cx="2331720" cy="502920"/>
          </a:xfrm>
          <a:prstGeom prst="rect">
            <a:avLst/>
          </a:prstGeom>
          <a:solidFill>
            <a:srgbClr val="FFFFFF"/>
          </a:solidFill>
          <a:ln/>
        </p:spPr>
        <p:txBody>
          <a:bodyPr wrap="square" lIns="381000" tIns="0" rIns="5080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Monte Carlo</a:t>
            </a:r>
            <a:endParaRPr lang="en-US" sz="1350" dirty="0"/>
          </a:p>
        </p:txBody>
      </p:sp>
      <p:sp>
        <p:nvSpPr>
          <p:cNvPr id="33" name="Shape 31"/>
          <p:cNvSpPr/>
          <p:nvPr/>
        </p:nvSpPr>
        <p:spPr>
          <a:xfrm>
            <a:off x="658368" y="3525012"/>
            <a:ext cx="182880" cy="182880"/>
          </a:xfrm>
          <a:prstGeom prst="rect">
            <a:avLst/>
          </a:prstGeom>
          <a:solidFill>
            <a:srgbClr val="E8790C"/>
          </a:solidFill>
          <a:ln w="9525">
            <a:solidFill>
              <a:srgbClr val="000000"/>
            </a:solidFill>
            <a:prstDash val="solid"/>
          </a:ln>
        </p:spPr>
      </p:sp>
      <p:sp>
        <p:nvSpPr>
          <p:cNvPr id="34" name="cellule"/>
          <p:cNvSpPr txBox="1"/>
          <p:nvPr/>
        </p:nvSpPr>
        <p:spPr>
          <a:xfrm>
            <a:off x="2880360" y="3364992"/>
            <a:ext cx="1600200" cy="502920"/>
          </a:xfrm>
          <a:prstGeom prst="rect">
            <a:avLst/>
          </a:prstGeom>
          <a:solidFill>
            <a:srgbClr val="FFE27A"/>
          </a:solidFill>
          <a:ln/>
        </p:spPr>
        <p:txBody>
          <a:bodyPr wrap="square" lIns="25400" tIns="25400" rIns="25400" bIns="25400" rtlCol="0" anchor="ctr"/>
          <a:lstStyle/>
          <a:p>
            <a:pPr algn="ctr" indent="0" marL="0">
              <a:buNone/>
            </a:pPr>
            <a:r>
              <a:rPr lang="en-US" sz="1350" b="1" dirty="0">
                <a:solidFill>
                  <a:srgbClr val="14183D"/>
                </a:solidFill>
                <a:latin typeface="Montserrat" pitchFamily="34" charset="0"/>
                <a:ea typeface="Montserrat" pitchFamily="34" charset="-122"/>
                <a:cs typeface="Montserrat" pitchFamily="34" charset="-120"/>
              </a:rPr>
              <a:t>96,2 ± 0,7 %</a:t>
            </a:r>
            <a:endParaRPr lang="en-US" sz="1350" dirty="0"/>
          </a:p>
        </p:txBody>
      </p:sp>
      <p:sp>
        <p:nvSpPr>
          <p:cNvPr id="35" name="cellule"/>
          <p:cNvSpPr txBox="1"/>
          <p:nvPr/>
        </p:nvSpPr>
        <p:spPr>
          <a:xfrm>
            <a:off x="4480560" y="3364992"/>
            <a:ext cx="1691640" cy="502920"/>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88,8 ± 2,3 %</a:t>
            </a:r>
            <a:endParaRPr lang="en-US" sz="1350" dirty="0"/>
          </a:p>
        </p:txBody>
      </p:sp>
      <p:sp>
        <p:nvSpPr>
          <p:cNvPr id="36" name="cellule"/>
          <p:cNvSpPr txBox="1"/>
          <p:nvPr/>
        </p:nvSpPr>
        <p:spPr>
          <a:xfrm>
            <a:off x="6172200" y="3364992"/>
            <a:ext cx="1463040" cy="502920"/>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5 / 5</a:t>
            </a:r>
            <a:endParaRPr lang="en-US" sz="1350" dirty="0"/>
          </a:p>
        </p:txBody>
      </p:sp>
      <p:sp>
        <p:nvSpPr>
          <p:cNvPr id="37" name="cellule"/>
          <p:cNvSpPr txBox="1"/>
          <p:nvPr/>
        </p:nvSpPr>
        <p:spPr>
          <a:xfrm>
            <a:off x="7635240" y="3364992"/>
            <a:ext cx="1280160" cy="502920"/>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258 ± 13</a:t>
            </a:r>
            <a:endParaRPr lang="en-US" sz="1350" dirty="0"/>
          </a:p>
        </p:txBody>
      </p:sp>
      <p:sp>
        <p:nvSpPr>
          <p:cNvPr id="38" name="cellule"/>
          <p:cNvSpPr txBox="1"/>
          <p:nvPr/>
        </p:nvSpPr>
        <p:spPr>
          <a:xfrm>
            <a:off x="8915400" y="3364992"/>
            <a:ext cx="1600200" cy="502920"/>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3450</a:t>
            </a:r>
            <a:endParaRPr lang="en-US" sz="1350" dirty="0"/>
          </a:p>
        </p:txBody>
      </p:sp>
      <p:sp>
        <p:nvSpPr>
          <p:cNvPr id="39" name="cellule"/>
          <p:cNvSpPr txBox="1"/>
          <p:nvPr/>
        </p:nvSpPr>
        <p:spPr>
          <a:xfrm>
            <a:off x="10515600" y="3364992"/>
            <a:ext cx="1124712" cy="502920"/>
          </a:xfrm>
          <a:prstGeom prst="rect">
            <a:avLst/>
          </a:prstGeom>
          <a:solidFill>
            <a:srgbClr val="FFE27A"/>
          </a:solidFill>
          <a:ln/>
        </p:spPr>
        <p:txBody>
          <a:bodyPr wrap="square" lIns="25400" tIns="25400" rIns="25400" bIns="25400" rtlCol="0" anchor="ctr"/>
          <a:lstStyle/>
          <a:p>
            <a:pPr algn="ctr" indent="0" marL="0">
              <a:buNone/>
            </a:pPr>
            <a:r>
              <a:rPr lang="en-US" sz="1350" b="1" dirty="0">
                <a:solidFill>
                  <a:srgbClr val="14183D"/>
                </a:solidFill>
                <a:latin typeface="Montserrat" pitchFamily="34" charset="0"/>
                <a:ea typeface="Montserrat" pitchFamily="34" charset="-122"/>
                <a:cs typeface="Montserrat" pitchFamily="34" charset="-120"/>
              </a:rPr>
              <a:t>3,7 %</a:t>
            </a:r>
            <a:endParaRPr lang="en-US" sz="1350" dirty="0"/>
          </a:p>
        </p:txBody>
      </p:sp>
      <p:sp>
        <p:nvSpPr>
          <p:cNvPr id="40" name="cellule"/>
          <p:cNvSpPr txBox="1"/>
          <p:nvPr/>
        </p:nvSpPr>
        <p:spPr>
          <a:xfrm>
            <a:off x="548640" y="3867912"/>
            <a:ext cx="2331720" cy="502920"/>
          </a:xfrm>
          <a:prstGeom prst="rect">
            <a:avLst/>
          </a:prstGeom>
          <a:solidFill>
            <a:srgbClr val="EAF1FE"/>
          </a:solidFill>
          <a:ln/>
        </p:spPr>
        <p:txBody>
          <a:bodyPr wrap="square" lIns="381000" tIns="0" rIns="5080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DQN de l'article</a:t>
            </a:r>
            <a:endParaRPr lang="en-US" sz="1350" dirty="0"/>
          </a:p>
        </p:txBody>
      </p:sp>
      <p:sp>
        <p:nvSpPr>
          <p:cNvPr id="41" name="Shape 39"/>
          <p:cNvSpPr/>
          <p:nvPr/>
        </p:nvSpPr>
        <p:spPr>
          <a:xfrm>
            <a:off x="658368" y="4027932"/>
            <a:ext cx="182880" cy="182880"/>
          </a:xfrm>
          <a:prstGeom prst="rect">
            <a:avLst/>
          </a:prstGeom>
          <a:solidFill>
            <a:srgbClr val="D62839"/>
          </a:solidFill>
          <a:ln w="9525">
            <a:solidFill>
              <a:srgbClr val="000000"/>
            </a:solidFill>
            <a:prstDash val="solid"/>
          </a:ln>
        </p:spPr>
      </p:sp>
      <p:sp>
        <p:nvSpPr>
          <p:cNvPr id="42" name="cellule"/>
          <p:cNvSpPr txBox="1"/>
          <p:nvPr/>
        </p:nvSpPr>
        <p:spPr>
          <a:xfrm>
            <a:off x="2880360" y="3867912"/>
            <a:ext cx="1600200" cy="502920"/>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39,7 ± 6,7 %</a:t>
            </a:r>
            <a:endParaRPr lang="en-US" sz="1350" dirty="0"/>
          </a:p>
        </p:txBody>
      </p:sp>
      <p:sp>
        <p:nvSpPr>
          <p:cNvPr id="43" name="cellule"/>
          <p:cNvSpPr txBox="1"/>
          <p:nvPr/>
        </p:nvSpPr>
        <p:spPr>
          <a:xfrm>
            <a:off x="4480560" y="3867912"/>
            <a:ext cx="1691640" cy="502920"/>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58,4 ± 33,3 %</a:t>
            </a:r>
            <a:endParaRPr lang="en-US" sz="1350" dirty="0"/>
          </a:p>
        </p:txBody>
      </p:sp>
      <p:sp>
        <p:nvSpPr>
          <p:cNvPr id="44" name="cellule"/>
          <p:cNvSpPr txBox="1"/>
          <p:nvPr/>
        </p:nvSpPr>
        <p:spPr>
          <a:xfrm>
            <a:off x="6172200" y="3867912"/>
            <a:ext cx="1463040" cy="502920"/>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3 / 5</a:t>
            </a:r>
            <a:endParaRPr lang="en-US" sz="1350" dirty="0"/>
          </a:p>
        </p:txBody>
      </p:sp>
      <p:sp>
        <p:nvSpPr>
          <p:cNvPr id="45" name="cellule"/>
          <p:cNvSpPr txBox="1"/>
          <p:nvPr/>
        </p:nvSpPr>
        <p:spPr>
          <a:xfrm>
            <a:off x="7635240" y="3867912"/>
            <a:ext cx="1280160" cy="502920"/>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121 ± 18</a:t>
            </a:r>
            <a:endParaRPr lang="en-US" sz="1350" dirty="0"/>
          </a:p>
        </p:txBody>
      </p:sp>
      <p:sp>
        <p:nvSpPr>
          <p:cNvPr id="46" name="cellule"/>
          <p:cNvSpPr txBox="1"/>
          <p:nvPr/>
        </p:nvSpPr>
        <p:spPr>
          <a:xfrm>
            <a:off x="8915400" y="3867912"/>
            <a:ext cx="1600200" cy="502920"/>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jamais</a:t>
            </a:r>
            <a:endParaRPr lang="en-US" sz="1350" dirty="0"/>
          </a:p>
        </p:txBody>
      </p:sp>
      <p:sp>
        <p:nvSpPr>
          <p:cNvPr id="47" name="cellule"/>
          <p:cNvSpPr txBox="1"/>
          <p:nvPr/>
        </p:nvSpPr>
        <p:spPr>
          <a:xfrm>
            <a:off x="10515600" y="3867912"/>
            <a:ext cx="1124712" cy="502920"/>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59,9 %</a:t>
            </a:r>
            <a:endParaRPr lang="en-US" sz="1350" dirty="0"/>
          </a:p>
        </p:txBody>
      </p:sp>
      <p:sp>
        <p:nvSpPr>
          <p:cNvPr id="48" name="cellule"/>
          <p:cNvSpPr txBox="1"/>
          <p:nvPr/>
        </p:nvSpPr>
        <p:spPr>
          <a:xfrm>
            <a:off x="548640" y="4370832"/>
            <a:ext cx="2331720" cy="502920"/>
          </a:xfrm>
          <a:prstGeom prst="rect">
            <a:avLst/>
          </a:prstGeom>
          <a:solidFill>
            <a:srgbClr val="FFFFFF"/>
          </a:solidFill>
          <a:ln/>
        </p:spPr>
        <p:txBody>
          <a:bodyPr wrap="square" lIns="381000" tIns="0" rIns="5080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Notre DQN</a:t>
            </a:r>
            <a:endParaRPr lang="en-US" sz="1350" dirty="0"/>
          </a:p>
        </p:txBody>
      </p:sp>
      <p:sp>
        <p:nvSpPr>
          <p:cNvPr id="49" name="Shape 47"/>
          <p:cNvSpPr/>
          <p:nvPr/>
        </p:nvSpPr>
        <p:spPr>
          <a:xfrm>
            <a:off x="658368" y="4530852"/>
            <a:ext cx="182880" cy="182880"/>
          </a:xfrm>
          <a:prstGeom prst="rect">
            <a:avLst/>
          </a:prstGeom>
          <a:solidFill>
            <a:srgbClr val="7B3FE4"/>
          </a:solidFill>
          <a:ln w="9525">
            <a:solidFill>
              <a:srgbClr val="000000"/>
            </a:solidFill>
            <a:prstDash val="solid"/>
          </a:ln>
        </p:spPr>
      </p:sp>
      <p:sp>
        <p:nvSpPr>
          <p:cNvPr id="50" name="cellule"/>
          <p:cNvSpPr txBox="1"/>
          <p:nvPr/>
        </p:nvSpPr>
        <p:spPr>
          <a:xfrm>
            <a:off x="2880360" y="4370832"/>
            <a:ext cx="1600200" cy="502920"/>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93,7 ± 1,4 %</a:t>
            </a:r>
            <a:endParaRPr lang="en-US" sz="1350" dirty="0"/>
          </a:p>
        </p:txBody>
      </p:sp>
      <p:sp>
        <p:nvSpPr>
          <p:cNvPr id="51" name="cellule"/>
          <p:cNvSpPr txBox="1"/>
          <p:nvPr/>
        </p:nvSpPr>
        <p:spPr>
          <a:xfrm>
            <a:off x="4480560" y="4370832"/>
            <a:ext cx="1691640" cy="502920"/>
          </a:xfrm>
          <a:prstGeom prst="rect">
            <a:avLst/>
          </a:prstGeom>
          <a:solidFill>
            <a:srgbClr val="FFE27A"/>
          </a:solidFill>
          <a:ln/>
        </p:spPr>
        <p:txBody>
          <a:bodyPr wrap="square" lIns="25400" tIns="25400" rIns="25400" bIns="25400" rtlCol="0" anchor="ctr"/>
          <a:lstStyle/>
          <a:p>
            <a:pPr algn="ctr" indent="0" marL="0">
              <a:buNone/>
            </a:pPr>
            <a:r>
              <a:rPr lang="en-US" sz="1350" b="1" dirty="0">
                <a:solidFill>
                  <a:srgbClr val="14183D"/>
                </a:solidFill>
                <a:latin typeface="Montserrat" pitchFamily="34" charset="0"/>
                <a:ea typeface="Montserrat" pitchFamily="34" charset="-122"/>
                <a:cs typeface="Montserrat" pitchFamily="34" charset="-120"/>
              </a:rPr>
              <a:t>94,4 ± 3,0 %</a:t>
            </a:r>
            <a:endParaRPr lang="en-US" sz="1350" dirty="0"/>
          </a:p>
        </p:txBody>
      </p:sp>
      <p:sp>
        <p:nvSpPr>
          <p:cNvPr id="52" name="cellule"/>
          <p:cNvSpPr txBox="1"/>
          <p:nvPr/>
        </p:nvSpPr>
        <p:spPr>
          <a:xfrm>
            <a:off x="6172200" y="4370832"/>
            <a:ext cx="1463040" cy="502920"/>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5 / 5</a:t>
            </a:r>
            <a:endParaRPr lang="en-US" sz="1350" dirty="0"/>
          </a:p>
        </p:txBody>
      </p:sp>
      <p:sp>
        <p:nvSpPr>
          <p:cNvPr id="53" name="cellule"/>
          <p:cNvSpPr txBox="1"/>
          <p:nvPr/>
        </p:nvSpPr>
        <p:spPr>
          <a:xfrm>
            <a:off x="7635240" y="4370832"/>
            <a:ext cx="1280160" cy="502920"/>
          </a:xfrm>
          <a:prstGeom prst="rect">
            <a:avLst/>
          </a:prstGeom>
          <a:solidFill>
            <a:srgbClr val="FFE27A"/>
          </a:solidFill>
          <a:ln/>
        </p:spPr>
        <p:txBody>
          <a:bodyPr wrap="square" lIns="25400" tIns="25400" rIns="25400" bIns="25400" rtlCol="0" anchor="ctr"/>
          <a:lstStyle/>
          <a:p>
            <a:pPr algn="ctr" indent="0" marL="0">
              <a:buNone/>
            </a:pPr>
            <a:r>
              <a:rPr lang="en-US" sz="1350" b="1" dirty="0">
                <a:solidFill>
                  <a:srgbClr val="14183D"/>
                </a:solidFill>
                <a:latin typeface="Montserrat" pitchFamily="34" charset="0"/>
                <a:ea typeface="Montserrat" pitchFamily="34" charset="-122"/>
                <a:cs typeface="Montserrat" pitchFamily="34" charset="-120"/>
              </a:rPr>
              <a:t>274 ± 4</a:t>
            </a:r>
            <a:endParaRPr lang="en-US" sz="1350" dirty="0"/>
          </a:p>
        </p:txBody>
      </p:sp>
      <p:sp>
        <p:nvSpPr>
          <p:cNvPr id="54" name="cellule"/>
          <p:cNvSpPr txBox="1"/>
          <p:nvPr/>
        </p:nvSpPr>
        <p:spPr>
          <a:xfrm>
            <a:off x="8915400" y="4370832"/>
            <a:ext cx="1600200" cy="502920"/>
          </a:xfrm>
          <a:prstGeom prst="rect">
            <a:avLst/>
          </a:prstGeom>
          <a:solidFill>
            <a:srgbClr val="FFE27A"/>
          </a:solidFill>
          <a:ln/>
        </p:spPr>
        <p:txBody>
          <a:bodyPr wrap="square" lIns="25400" tIns="25400" rIns="25400" bIns="25400" rtlCol="0" anchor="ctr"/>
          <a:lstStyle/>
          <a:p>
            <a:pPr algn="ctr" indent="0" marL="0">
              <a:buNone/>
            </a:pPr>
            <a:r>
              <a:rPr lang="en-US" sz="1350" b="1" dirty="0">
                <a:solidFill>
                  <a:srgbClr val="14183D"/>
                </a:solidFill>
                <a:latin typeface="Montserrat" pitchFamily="34" charset="0"/>
                <a:ea typeface="Montserrat" pitchFamily="34" charset="-122"/>
                <a:cs typeface="Montserrat" pitchFamily="34" charset="-120"/>
              </a:rPr>
              <a:t>2955</a:t>
            </a:r>
            <a:endParaRPr lang="en-US" sz="1350" dirty="0"/>
          </a:p>
        </p:txBody>
      </p:sp>
      <p:sp>
        <p:nvSpPr>
          <p:cNvPr id="55" name="cellule"/>
          <p:cNvSpPr txBox="1"/>
          <p:nvPr/>
        </p:nvSpPr>
        <p:spPr>
          <a:xfrm>
            <a:off x="10515600" y="4370832"/>
            <a:ext cx="1124712" cy="502920"/>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6,3 %</a:t>
            </a:r>
            <a:endParaRPr lang="en-US" sz="1350" dirty="0"/>
          </a:p>
        </p:txBody>
      </p:sp>
      <p:sp>
        <p:nvSpPr>
          <p:cNvPr id="56" name="Text 54"/>
          <p:cNvSpPr txBox="1"/>
          <p:nvPr/>
        </p:nvSpPr>
        <p:spPr>
          <a:xfrm>
            <a:off x="548640" y="4928616"/>
            <a:ext cx="11091672" cy="384048"/>
          </a:xfrm>
          <a:prstGeom prst="rect">
            <a:avLst/>
          </a:prstGeom>
          <a:noFill/>
          <a:ln/>
        </p:spPr>
        <p:txBody>
          <a:bodyPr wrap="square" lIns="0" tIns="0" rIns="0" bIns="0" rtlCol="0" anchor="t"/>
          <a:lstStyle/>
          <a:p>
            <a:pPr indent="0" marL="0">
              <a:buNone/>
            </a:pPr>
            <a:r>
              <a:rPr lang="en-US" sz="1100" dirty="0">
                <a:solidFill>
                  <a:srgbClr val="14183D"/>
                </a:solidFill>
                <a:latin typeface="Montserrat" pitchFamily="34" charset="0"/>
                <a:ea typeface="Montserrat" pitchFamily="34" charset="-122"/>
                <a:cs typeface="Montserrat" pitchFamily="34" charset="-120"/>
              </a:rPr>
              <a:t>¹ 500 dernières parties d'entraînement, avec une part de hasard différente (1 % tableaux, 2 % notre DQN, 5 % DQN de l'article).   ² 50 parties avec 2 % de boutons au hasard : le même test pour tous, c'est la colonne à comparer.</a:t>
            </a:r>
            <a:endParaRPr lang="en-US" sz="1100" dirty="0"/>
          </a:p>
        </p:txBody>
      </p:sp>
      <p:sp>
        <p:nvSpPr>
          <p:cNvPr id="57" name="carte"/>
          <p:cNvSpPr/>
          <p:nvPr/>
        </p:nvSpPr>
        <p:spPr>
          <a:xfrm>
            <a:off x="548640" y="5349240"/>
            <a:ext cx="11091672" cy="941832"/>
          </a:xfrm>
          <a:prstGeom prst="rect">
            <a:avLst/>
          </a:prstGeom>
          <a:solidFill>
            <a:srgbClr val="FFF4C2"/>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58" name="Text 56"/>
          <p:cNvSpPr txBox="1"/>
          <p:nvPr/>
        </p:nvSpPr>
        <p:spPr>
          <a:xfrm>
            <a:off x="777240" y="5376672"/>
            <a:ext cx="10698480" cy="886968"/>
          </a:xfrm>
          <a:prstGeom prst="rect">
            <a:avLst/>
          </a:prstGeom>
          <a:noFill/>
          <a:ln/>
        </p:spPr>
        <p:txBody>
          <a:bodyPr wrap="square" lIns="0" tIns="0" rIns="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Face à l'article (victoires v3 : Q-Learning 86,5 % · SARSA 84,4 % · Monte Carlo 94,9 % · DQN 76,4 %) : </a:t>
            </a:r>
            <a:r>
              <a:rPr lang="en-US" sz="1350" dirty="0">
                <a:solidFill>
                  <a:srgbClr val="14183D"/>
                </a:solidFill>
                <a:latin typeface="Montserrat" pitchFamily="34" charset="0"/>
                <a:ea typeface="Montserrat" pitchFamily="34" charset="-122"/>
                <a:cs typeface="Montserrat" pitchFamily="34" charset="-120"/>
              </a:rPr>
              <a:t>tendances confirmées, chiffres plus hauts chez nous. Les règles des ennemis ne sont pas précisées : nos agents en écrasent 2 à 4 fois plus.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5A99ED"/>
        </a:solidFill>
      </p:bgPr>
    </p:bg>
    <p:spTree>
      <p:nvGrpSpPr>
        <p:cNvPr id="1" name=""/>
        <p:cNvGrpSpPr/>
        <p:nvPr/>
      </p:nvGrpSpPr>
      <p:grpSpPr>
        <a:xfrm>
          <a:off x="0" y="0"/>
          <a:ext cx="0" cy="0"/>
          <a:chOff x="0" y="0"/>
          <a:chExt cx="0" cy="0"/>
        </a:xfrm>
      </p:grpSpPr>
      <p:pic>
        <p:nvPicPr>
          <p:cNvPr id="2" name="coin_pipe" descr="/home/user/MarioRL_FinalWork/docs/oral/fabrication/assets/sprites/coin_pipe.png">    </p:cNvPr>
          <p:cNvPicPr>
            <a:picLocks noChangeAspect="1"/>
          </p:cNvPicPr>
          <p:nvPr/>
        </p:nvPicPr>
        <p:blipFill>
          <a:blip r:embed="rId1"/>
          <a:stretch>
            <a:fillRect/>
          </a:stretch>
        </p:blipFill>
        <p:spPr>
          <a:xfrm>
            <a:off x="287853" y="3039557"/>
            <a:ext cx="901690" cy="2959090"/>
          </a:xfrm>
          <a:prstGeom prst="rect">
            <a:avLst/>
          </a:prstGeom>
        </p:spPr>
      </p:pic>
      <p:pic>
        <p:nvPicPr>
          <p:cNvPr id="3" name="pipe_short" descr="/home/user/MarioRL_FinalWork/docs/oral/fabrication/assets/sprites/pipe_short.png">    </p:cNvPr>
          <p:cNvPicPr>
            <a:picLocks noChangeAspect="1"/>
          </p:cNvPicPr>
          <p:nvPr/>
        </p:nvPicPr>
        <p:blipFill>
          <a:blip r:embed="rId2"/>
          <a:stretch>
            <a:fillRect/>
          </a:stretch>
        </p:blipFill>
        <p:spPr>
          <a:xfrm>
            <a:off x="1371600" y="4538167"/>
            <a:ext cx="795894" cy="1460480"/>
          </a:xfrm>
          <a:prstGeom prst="rect">
            <a:avLst/>
          </a:prstGeom>
        </p:spPr>
      </p:pic>
      <p:pic>
        <p:nvPicPr>
          <p:cNvPr id="4" name="goomba" descr="/home/user/MarioRL_FinalWork/docs/oral/fabrication/assets/sprites/goomba.png">    </p:cNvPr>
          <p:cNvPicPr>
            <a:picLocks noChangeAspect="1"/>
          </p:cNvPicPr>
          <p:nvPr/>
        </p:nvPicPr>
        <p:blipFill>
          <a:blip r:embed="rId3"/>
          <a:stretch>
            <a:fillRect/>
          </a:stretch>
        </p:blipFill>
        <p:spPr>
          <a:xfrm>
            <a:off x="2353757" y="5359390"/>
            <a:ext cx="664677" cy="643463"/>
          </a:xfrm>
          <a:prstGeom prst="rect">
            <a:avLst/>
          </a:prstGeom>
        </p:spPr>
      </p:pic>
      <p:pic>
        <p:nvPicPr>
          <p:cNvPr id="5" name="mario" descr="/home/user/MarioRL_FinalWork/docs/oral/fabrication/assets/sprites/mario.png">    </p:cNvPr>
          <p:cNvPicPr>
            <a:picLocks noChangeAspect="1"/>
          </p:cNvPicPr>
          <p:nvPr/>
        </p:nvPicPr>
        <p:blipFill>
          <a:blip r:embed="rId4"/>
          <a:stretch>
            <a:fillRect/>
          </a:stretch>
        </p:blipFill>
        <p:spPr>
          <a:xfrm>
            <a:off x="3839657" y="5240884"/>
            <a:ext cx="596920" cy="761970"/>
          </a:xfrm>
          <a:prstGeom prst="rect">
            <a:avLst/>
          </a:prstGeom>
        </p:spPr>
      </p:pic>
      <p:pic>
        <p:nvPicPr>
          <p:cNvPr id="6" name="tree" descr="/home/user/MarioRL_FinalWork/docs/oral/fabrication/assets/sprites/tree.png">    </p:cNvPr>
          <p:cNvPicPr>
            <a:picLocks noChangeAspect="1"/>
          </p:cNvPicPr>
          <p:nvPr/>
        </p:nvPicPr>
        <p:blipFill>
          <a:blip r:embed="rId5"/>
          <a:stretch>
            <a:fillRect/>
          </a:stretch>
        </p:blipFill>
        <p:spPr>
          <a:xfrm>
            <a:off x="8868766" y="4102090"/>
            <a:ext cx="1515527" cy="1900763"/>
          </a:xfrm>
          <a:prstGeom prst="rect">
            <a:avLst/>
          </a:prstGeom>
        </p:spPr>
      </p:pic>
      <p:pic>
        <p:nvPicPr>
          <p:cNvPr id="7" name="ground" descr="/home/user/MarioRL_FinalWork/docs/oral/fabrication/assets/sprites/ground.png">    </p:cNvPr>
          <p:cNvPicPr>
            <a:picLocks noChangeAspect="1"/>
          </p:cNvPicPr>
          <p:nvPr/>
        </p:nvPicPr>
        <p:blipFill>
          <a:blip r:embed="rId6"/>
          <a:stretch>
            <a:fillRect/>
          </a:stretch>
        </p:blipFill>
        <p:spPr>
          <a:xfrm>
            <a:off x="0" y="5977433"/>
            <a:ext cx="12191970" cy="880567"/>
          </a:xfrm>
          <a:prstGeom prst="rect">
            <a:avLst/>
          </a:prstGeom>
        </p:spPr>
      </p:pic>
      <p:sp>
        <p:nvSpPr>
          <p:cNvPr id="8" name="grand_titre"/>
          <p:cNvSpPr txBox="1"/>
          <p:nvPr/>
        </p:nvSpPr>
        <p:spPr>
          <a:xfrm>
            <a:off x="2011680" y="1234440"/>
            <a:ext cx="8168335" cy="868680"/>
          </a:xfrm>
          <a:prstGeom prst="rect">
            <a:avLst/>
          </a:prstGeom>
          <a:noFill/>
          <a:ln/>
          <a:effectLst>
            <a:outerShdw sx="100000" sy="100000" kx="0" ky="0" algn="bl" rotWithShape="0" blurRad="101600" dist="34290" dir="2700000">
              <a:srgbClr val="2E1B5B">
                <a:alpha val="100000"/>
              </a:srgbClr>
            </a:outerShdw>
          </a:effectLst>
        </p:spPr>
        <p:txBody>
          <a:bodyPr wrap="square" lIns="0" tIns="0" rIns="0" bIns="0" rtlCol="0" anchor="ctr"/>
          <a:lstStyle/>
          <a:p>
            <a:pPr algn="ctr" indent="0" marL="0">
              <a:lnSpc>
                <a:spcPct val="100000"/>
              </a:lnSpc>
              <a:buNone/>
            </a:pPr>
            <a:r>
              <a:rPr lang="en-US" sz="5400" dirty="0">
                <a:solidFill>
                  <a:srgbClr val="FFFFFF"/>
                </a:solidFill>
                <a:latin typeface="Arcade Gamer" pitchFamily="34" charset="0"/>
                <a:ea typeface="Arcade Gamer" pitchFamily="34" charset="-122"/>
                <a:cs typeface="Arcade Gamer" pitchFamily="34" charset="-120"/>
              </a:rPr>
              <a:t>WORLD 1-3</a:t>
            </a:r>
            <a:endParaRPr lang="en-US" sz="5400" dirty="0"/>
          </a:p>
        </p:txBody>
      </p:sp>
      <p:sp>
        <p:nvSpPr>
          <p:cNvPr id="9" name="grand_titre"/>
          <p:cNvSpPr txBox="1"/>
          <p:nvPr/>
        </p:nvSpPr>
        <p:spPr>
          <a:xfrm>
            <a:off x="2011680" y="2121408"/>
            <a:ext cx="8168335" cy="640080"/>
          </a:xfrm>
          <a:prstGeom prst="rect">
            <a:avLst/>
          </a:prstGeom>
          <a:noFill/>
          <a:ln/>
          <a:effectLst>
            <a:outerShdw sx="100000" sy="100000" kx="0" ky="0" algn="bl" rotWithShape="0" blurRad="101600" dist="25400" dir="2700000">
              <a:srgbClr val="2E1B5B">
                <a:alpha val="100000"/>
              </a:srgbClr>
            </a:outerShdw>
          </a:effectLst>
        </p:spPr>
        <p:txBody>
          <a:bodyPr wrap="square" lIns="0" tIns="0" rIns="0" bIns="0" rtlCol="0" anchor="ctr"/>
          <a:lstStyle/>
          <a:p>
            <a:pPr algn="ctr" indent="0" marL="0">
              <a:lnSpc>
                <a:spcPct val="100000"/>
              </a:lnSpc>
              <a:buNone/>
            </a:pPr>
            <a:r>
              <a:rPr lang="en-US" sz="3200" dirty="0">
                <a:solidFill>
                  <a:srgbClr val="FFC703"/>
                </a:solidFill>
                <a:latin typeface="Arcade Gamer" pitchFamily="34" charset="0"/>
                <a:ea typeface="Arcade Gamer" pitchFamily="34" charset="-122"/>
                <a:cs typeface="Arcade Gamer" pitchFamily="34" charset="-120"/>
              </a:rPr>
              <a:t>LE VRAI JEU NES</a:t>
            </a:r>
            <a:endParaRPr lang="en-US" sz="3200" dirty="0"/>
          </a:p>
        </p:txBody>
      </p:sp>
      <p:sp>
        <p:nvSpPr>
          <p:cNvPr id="10" name="Text 2"/>
          <p:cNvSpPr txBox="1"/>
          <p:nvPr/>
        </p:nvSpPr>
        <p:spPr>
          <a:xfrm>
            <a:off x="2743200" y="2852928"/>
            <a:ext cx="6705295" cy="384048"/>
          </a:xfrm>
          <a:prstGeom prst="rect">
            <a:avLst/>
          </a:prstGeom>
          <a:noFill/>
          <a:ln/>
        </p:spPr>
        <p:txBody>
          <a:bodyPr wrap="square" lIns="0" tIns="0" rIns="0" bIns="0" rtlCol="0" anchor="ctr"/>
          <a:lstStyle/>
          <a:p>
            <a:pPr algn="ctr" indent="0" marL="0">
              <a:buNone/>
            </a:pPr>
            <a:r>
              <a:rPr lang="en-US" sz="1600" b="1" dirty="0">
                <a:solidFill>
                  <a:srgbClr val="14183D"/>
                </a:solidFill>
                <a:latin typeface="Montserrat" pitchFamily="34" charset="0"/>
                <a:ea typeface="Montserrat" pitchFamily="34" charset="-122"/>
                <a:cs typeface="Montserrat" pitchFamily="34" charset="-120"/>
              </a:rPr>
              <a:t>PPO sur la vraie physique, puis la Route A</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WORLD 1-3 - LE VRAI JEU NES</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PASSER AU VRAI JEU</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Sur la vraie physique NES, une Q-table plafonne vers 35 % : il faut une IA qui généralise.</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14</a:t>
            </a:r>
            <a:endParaRPr lang="en-US" sz="1000" dirty="0"/>
          </a:p>
        </p:txBody>
      </p:sp>
      <p:sp>
        <p:nvSpPr>
          <p:cNvPr id="8" name="carte"/>
          <p:cNvSpPr/>
          <p:nvPr/>
        </p:nvSpPr>
        <p:spPr>
          <a:xfrm>
            <a:off x="548640" y="1737360"/>
            <a:ext cx="6172200" cy="455371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9" name="etiquette"/>
          <p:cNvSpPr txBox="1"/>
          <p:nvPr/>
        </p:nvSpPr>
        <p:spPr>
          <a:xfrm>
            <a:off x="548640" y="1737360"/>
            <a:ext cx="3479109" cy="329184"/>
          </a:xfrm>
          <a:prstGeom prst="rect">
            <a:avLst/>
          </a:prstGeom>
          <a:solidFill>
            <a:srgbClr val="14183D"/>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GRILLE DE L'ARTICLE OU VRAI JEU ?</a:t>
            </a:r>
            <a:endParaRPr lang="en-US" sz="1200" dirty="0"/>
          </a:p>
        </p:txBody>
      </p:sp>
      <p:sp>
        <p:nvSpPr>
          <p:cNvPr id="10" name="tableau_fond"/>
          <p:cNvSpPr/>
          <p:nvPr/>
        </p:nvSpPr>
        <p:spPr>
          <a:xfrm>
            <a:off x="713232" y="2221992"/>
            <a:ext cx="5843016" cy="2688336"/>
          </a:xfrm>
          <a:prstGeom prst="rect">
            <a:avLst/>
          </a:prstGeom>
          <a:solidFill>
            <a:srgbClr val="14183D"/>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1" name="entete"/>
          <p:cNvSpPr txBox="1"/>
          <p:nvPr/>
        </p:nvSpPr>
        <p:spPr>
          <a:xfrm>
            <a:off x="731520" y="2240280"/>
            <a:ext cx="1417320" cy="384048"/>
          </a:xfrm>
          <a:prstGeom prst="rect">
            <a:avLst/>
          </a:prstGeom>
          <a:solidFill>
            <a:srgbClr val="14183D"/>
          </a:solidFill>
          <a:ln/>
        </p:spPr>
        <p:txBody>
          <a:bodyPr wrap="square" lIns="127000" tIns="25400" rIns="76200" bIns="25400" rtlCol="0" anchor="ctr"/>
          <a:lstStyle/>
          <a:p>
            <a:pPr algn="l" indent="0" marL="0">
              <a:buNone/>
            </a:pPr>
            <a:endParaRPr lang="en-US" sz="1150" dirty="0"/>
          </a:p>
        </p:txBody>
      </p:sp>
      <p:sp>
        <p:nvSpPr>
          <p:cNvPr id="12" name="entete"/>
          <p:cNvSpPr txBox="1"/>
          <p:nvPr/>
        </p:nvSpPr>
        <p:spPr>
          <a:xfrm>
            <a:off x="2148840" y="2240280"/>
            <a:ext cx="1828800" cy="384048"/>
          </a:xfrm>
          <a:prstGeom prst="rect">
            <a:avLst/>
          </a:prstGeom>
          <a:solidFill>
            <a:srgbClr val="14183D"/>
          </a:solidFill>
          <a:ln/>
        </p:spPr>
        <p:txBody>
          <a:bodyPr wrap="square" lIns="127000" tIns="25400" rIns="76200" bIns="25400" rtlCol="0" anchor="ctr"/>
          <a:lstStyle/>
          <a:p>
            <a:pPr algn="l" indent="0" marL="0">
              <a:buNone/>
            </a:pPr>
            <a:r>
              <a:rPr lang="en-US" sz="1150" b="1" dirty="0">
                <a:solidFill>
                  <a:srgbClr val="FFFFFF"/>
                </a:solidFill>
                <a:latin typeface="Montserrat" pitchFamily="34" charset="0"/>
                <a:ea typeface="Montserrat" pitchFamily="34" charset="-122"/>
                <a:cs typeface="Montserrat" pitchFamily="34" charset="-120"/>
              </a:rPr>
              <a:t>Grille de l'article</a:t>
            </a:r>
            <a:endParaRPr lang="en-US" sz="1150" dirty="0"/>
          </a:p>
        </p:txBody>
      </p:sp>
      <p:sp>
        <p:nvSpPr>
          <p:cNvPr id="13" name="entete"/>
          <p:cNvSpPr txBox="1"/>
          <p:nvPr/>
        </p:nvSpPr>
        <p:spPr>
          <a:xfrm>
            <a:off x="3977640" y="2240280"/>
            <a:ext cx="2560320" cy="384048"/>
          </a:xfrm>
          <a:prstGeom prst="rect">
            <a:avLst/>
          </a:prstGeom>
          <a:solidFill>
            <a:srgbClr val="14183D"/>
          </a:solidFill>
          <a:ln/>
        </p:spPr>
        <p:txBody>
          <a:bodyPr wrap="square" lIns="127000" tIns="25400" rIns="76200" bIns="25400" rtlCol="0" anchor="ctr"/>
          <a:lstStyle/>
          <a:p>
            <a:pPr algn="l" indent="0" marL="0">
              <a:buNone/>
            </a:pPr>
            <a:r>
              <a:rPr lang="en-US" sz="1150" b="1" dirty="0">
                <a:solidFill>
                  <a:srgbClr val="FFFFFF"/>
                </a:solidFill>
                <a:latin typeface="Montserrat" pitchFamily="34" charset="0"/>
                <a:ea typeface="Montserrat" pitchFamily="34" charset="-122"/>
                <a:cs typeface="Montserrat" pitchFamily="34" charset="-120"/>
              </a:rPr>
              <a:t>Vrai jeu NES</a:t>
            </a:r>
            <a:endParaRPr lang="en-US" sz="1150" dirty="0"/>
          </a:p>
        </p:txBody>
      </p:sp>
      <p:sp>
        <p:nvSpPr>
          <p:cNvPr id="14" name="cellule"/>
          <p:cNvSpPr txBox="1"/>
          <p:nvPr/>
        </p:nvSpPr>
        <p:spPr>
          <a:xfrm>
            <a:off x="731520" y="2624328"/>
            <a:ext cx="1417320" cy="566928"/>
          </a:xfrm>
          <a:prstGeom prst="rect">
            <a:avLst/>
          </a:prstGeom>
          <a:solidFill>
            <a:srgbClr val="FFFFFF"/>
          </a:solidFill>
          <a:ln/>
        </p:spPr>
        <p:txBody>
          <a:bodyPr wrap="square" lIns="127000" tIns="0" rIns="50800" bIns="0" rtlCol="0" anchor="ctr"/>
          <a:lstStyle/>
          <a:p>
            <a:pPr indent="0" marL="0">
              <a:buNone/>
            </a:pPr>
            <a:r>
              <a:rPr lang="en-US" sz="1250" b="1" dirty="0">
                <a:solidFill>
                  <a:srgbClr val="14183D"/>
                </a:solidFill>
                <a:latin typeface="Montserrat" pitchFamily="34" charset="0"/>
                <a:ea typeface="Montserrat" pitchFamily="34" charset="-122"/>
                <a:cs typeface="Montserrat" pitchFamily="34" charset="-120"/>
              </a:rPr>
              <a:t>Mouvement</a:t>
            </a:r>
            <a:endParaRPr lang="en-US" sz="1250" dirty="0"/>
          </a:p>
        </p:txBody>
      </p:sp>
      <p:sp>
        <p:nvSpPr>
          <p:cNvPr id="15" name="cellule"/>
          <p:cNvSpPr txBox="1"/>
          <p:nvPr/>
        </p:nvSpPr>
        <p:spPr>
          <a:xfrm>
            <a:off x="2148840" y="2624328"/>
            <a:ext cx="1828800" cy="566928"/>
          </a:xfrm>
          <a:prstGeom prst="rect">
            <a:avLst/>
          </a:prstGeom>
          <a:solidFill>
            <a:srgbClr val="FFFFFF"/>
          </a:solidFill>
          <a:ln/>
        </p:spPr>
        <p:txBody>
          <a:bodyPr wrap="square" lIns="127000" tIns="25400" rIns="76200" bIns="25400" rtlCol="0" anchor="ctr"/>
          <a:lstStyle/>
          <a:p>
            <a:pPr algn="l" indent="0" marL="0">
              <a:buNone/>
            </a:pPr>
            <a:r>
              <a:rPr lang="en-US" sz="1250" dirty="0">
                <a:solidFill>
                  <a:srgbClr val="14183D"/>
                </a:solidFill>
                <a:latin typeface="Montserrat" pitchFamily="34" charset="0"/>
                <a:ea typeface="Montserrat" pitchFamily="34" charset="-122"/>
                <a:cs typeface="Montserrat" pitchFamily="34" charset="-120"/>
              </a:rPr>
              <a:t>1 case par pas</a:t>
            </a:r>
            <a:endParaRPr lang="en-US" sz="1250" dirty="0"/>
          </a:p>
        </p:txBody>
      </p:sp>
      <p:sp>
        <p:nvSpPr>
          <p:cNvPr id="16" name="cellule"/>
          <p:cNvSpPr txBox="1"/>
          <p:nvPr/>
        </p:nvSpPr>
        <p:spPr>
          <a:xfrm>
            <a:off x="3977640" y="2624328"/>
            <a:ext cx="2560320" cy="566928"/>
          </a:xfrm>
          <a:prstGeom prst="rect">
            <a:avLst/>
          </a:prstGeom>
          <a:solidFill>
            <a:srgbClr val="FFFFFF"/>
          </a:solidFill>
          <a:ln/>
        </p:spPr>
        <p:txBody>
          <a:bodyPr wrap="square" lIns="127000" tIns="25400" rIns="76200" bIns="25400" rtlCol="0" anchor="ctr"/>
          <a:lstStyle/>
          <a:p>
            <a:pPr algn="l" indent="0" marL="0">
              <a:buNone/>
            </a:pPr>
            <a:r>
              <a:rPr lang="en-US" sz="1250" dirty="0">
                <a:solidFill>
                  <a:srgbClr val="14183D"/>
                </a:solidFill>
                <a:latin typeface="Montserrat" pitchFamily="34" charset="0"/>
                <a:ea typeface="Montserrat" pitchFamily="34" charset="-122"/>
                <a:cs typeface="Montserrat" pitchFamily="34" charset="-120"/>
              </a:rPr>
              <a:t>élan, accélération, course</a:t>
            </a:r>
            <a:endParaRPr lang="en-US" sz="1250" dirty="0"/>
          </a:p>
        </p:txBody>
      </p:sp>
      <p:sp>
        <p:nvSpPr>
          <p:cNvPr id="17" name="cellule"/>
          <p:cNvSpPr txBox="1"/>
          <p:nvPr/>
        </p:nvSpPr>
        <p:spPr>
          <a:xfrm>
            <a:off x="731520" y="3191256"/>
            <a:ext cx="1417320" cy="566928"/>
          </a:xfrm>
          <a:prstGeom prst="rect">
            <a:avLst/>
          </a:prstGeom>
          <a:solidFill>
            <a:srgbClr val="EAF1FE"/>
          </a:solidFill>
          <a:ln/>
        </p:spPr>
        <p:txBody>
          <a:bodyPr wrap="square" lIns="127000" tIns="0" rIns="50800" bIns="0" rtlCol="0" anchor="ctr"/>
          <a:lstStyle/>
          <a:p>
            <a:pPr indent="0" marL="0">
              <a:buNone/>
            </a:pPr>
            <a:r>
              <a:rPr lang="en-US" sz="1250" b="1" dirty="0">
                <a:solidFill>
                  <a:srgbClr val="14183D"/>
                </a:solidFill>
                <a:latin typeface="Montserrat" pitchFamily="34" charset="0"/>
                <a:ea typeface="Montserrat" pitchFamily="34" charset="-122"/>
                <a:cs typeface="Montserrat" pitchFamily="34" charset="-120"/>
              </a:rPr>
              <a:t>Saut</a:t>
            </a:r>
            <a:endParaRPr lang="en-US" sz="1250" dirty="0"/>
          </a:p>
        </p:txBody>
      </p:sp>
      <p:sp>
        <p:nvSpPr>
          <p:cNvPr id="18" name="cellule"/>
          <p:cNvSpPr txBox="1"/>
          <p:nvPr/>
        </p:nvSpPr>
        <p:spPr>
          <a:xfrm>
            <a:off x="2148840" y="3191256"/>
            <a:ext cx="1828800" cy="566928"/>
          </a:xfrm>
          <a:prstGeom prst="rect">
            <a:avLst/>
          </a:prstGeom>
          <a:solidFill>
            <a:srgbClr val="EAF1FE"/>
          </a:solidFill>
          <a:ln/>
        </p:spPr>
        <p:txBody>
          <a:bodyPr wrap="square" lIns="127000" tIns="25400" rIns="76200" bIns="25400" rtlCol="0" anchor="ctr"/>
          <a:lstStyle/>
          <a:p>
            <a:pPr algn="l" indent="0" marL="0">
              <a:buNone/>
            </a:pPr>
            <a:r>
              <a:rPr lang="en-US" sz="1250" dirty="0">
                <a:solidFill>
                  <a:srgbClr val="14183D"/>
                </a:solidFill>
                <a:latin typeface="Montserrat" pitchFamily="34" charset="0"/>
                <a:ea typeface="Montserrat" pitchFamily="34" charset="-122"/>
                <a:cs typeface="Montserrat" pitchFamily="34" charset="-120"/>
              </a:rPr>
              <a:t>toujours le même arc</a:t>
            </a:r>
            <a:endParaRPr lang="en-US" sz="1250" dirty="0"/>
          </a:p>
        </p:txBody>
      </p:sp>
      <p:sp>
        <p:nvSpPr>
          <p:cNvPr id="19" name="cellule"/>
          <p:cNvSpPr txBox="1"/>
          <p:nvPr/>
        </p:nvSpPr>
        <p:spPr>
          <a:xfrm>
            <a:off x="3977640" y="3191256"/>
            <a:ext cx="2560320" cy="566928"/>
          </a:xfrm>
          <a:prstGeom prst="rect">
            <a:avLst/>
          </a:prstGeom>
          <a:solidFill>
            <a:srgbClr val="EAF1FE"/>
          </a:solidFill>
          <a:ln/>
        </p:spPr>
        <p:txBody>
          <a:bodyPr wrap="square" lIns="127000" tIns="25400" rIns="76200" bIns="25400" rtlCol="0" anchor="ctr"/>
          <a:lstStyle/>
          <a:p>
            <a:pPr algn="l" indent="0" marL="0">
              <a:buNone/>
            </a:pPr>
            <a:r>
              <a:rPr lang="en-US" sz="1250" dirty="0">
                <a:solidFill>
                  <a:srgbClr val="14183D"/>
                </a:solidFill>
                <a:latin typeface="Montserrat" pitchFamily="34" charset="0"/>
                <a:ea typeface="Montserrat" pitchFamily="34" charset="-122"/>
                <a:cs typeface="Montserrat" pitchFamily="34" charset="-120"/>
              </a:rPr>
              <a:t>5 sauts selon la vitesse</a:t>
            </a:r>
            <a:endParaRPr lang="en-US" sz="1250" dirty="0"/>
          </a:p>
        </p:txBody>
      </p:sp>
      <p:sp>
        <p:nvSpPr>
          <p:cNvPr id="20" name="cellule"/>
          <p:cNvSpPr txBox="1"/>
          <p:nvPr/>
        </p:nvSpPr>
        <p:spPr>
          <a:xfrm>
            <a:off x="731520" y="3758184"/>
            <a:ext cx="1417320" cy="566928"/>
          </a:xfrm>
          <a:prstGeom prst="rect">
            <a:avLst/>
          </a:prstGeom>
          <a:solidFill>
            <a:srgbClr val="FFFFFF"/>
          </a:solidFill>
          <a:ln/>
        </p:spPr>
        <p:txBody>
          <a:bodyPr wrap="square" lIns="127000" tIns="0" rIns="50800" bIns="0" rtlCol="0" anchor="ctr"/>
          <a:lstStyle/>
          <a:p>
            <a:pPr indent="0" marL="0">
              <a:buNone/>
            </a:pPr>
            <a:r>
              <a:rPr lang="en-US" sz="1250" b="1" dirty="0">
                <a:solidFill>
                  <a:srgbClr val="14183D"/>
                </a:solidFill>
                <a:latin typeface="Montserrat" pitchFamily="34" charset="0"/>
                <a:ea typeface="Montserrat" pitchFamily="34" charset="-122"/>
                <a:cs typeface="Montserrat" pitchFamily="34" charset="-120"/>
              </a:rPr>
              <a:t>Ce que voit l'IA</a:t>
            </a:r>
            <a:endParaRPr lang="en-US" sz="1250" dirty="0"/>
          </a:p>
        </p:txBody>
      </p:sp>
      <p:sp>
        <p:nvSpPr>
          <p:cNvPr id="21" name="cellule"/>
          <p:cNvSpPr txBox="1"/>
          <p:nvPr/>
        </p:nvSpPr>
        <p:spPr>
          <a:xfrm>
            <a:off x="2148840" y="3758184"/>
            <a:ext cx="1828800" cy="566928"/>
          </a:xfrm>
          <a:prstGeom prst="rect">
            <a:avLst/>
          </a:prstGeom>
          <a:solidFill>
            <a:srgbClr val="FFFFFF"/>
          </a:solidFill>
          <a:ln/>
        </p:spPr>
        <p:txBody>
          <a:bodyPr wrap="square" lIns="127000" tIns="25400" rIns="76200" bIns="25400" rtlCol="0" anchor="ctr"/>
          <a:lstStyle/>
          <a:p>
            <a:pPr algn="l" indent="0" marL="0">
              <a:buNone/>
            </a:pPr>
            <a:r>
              <a:rPr lang="en-US" sz="1250" dirty="0">
                <a:solidFill>
                  <a:srgbClr val="14183D"/>
                </a:solidFill>
                <a:latin typeface="Montserrat" pitchFamily="34" charset="0"/>
                <a:ea typeface="Montserrat" pitchFamily="34" charset="-122"/>
                <a:cs typeface="Montserrat" pitchFamily="34" charset="-120"/>
              </a:rPr>
              <a:t>sa case + 4 lignes</a:t>
            </a:r>
            <a:endParaRPr lang="en-US" sz="1250" dirty="0"/>
          </a:p>
        </p:txBody>
      </p:sp>
      <p:sp>
        <p:nvSpPr>
          <p:cNvPr id="22" name="cellule"/>
          <p:cNvSpPr txBox="1"/>
          <p:nvPr/>
        </p:nvSpPr>
        <p:spPr>
          <a:xfrm>
            <a:off x="3977640" y="3758184"/>
            <a:ext cx="2560320" cy="566928"/>
          </a:xfrm>
          <a:prstGeom prst="rect">
            <a:avLst/>
          </a:prstGeom>
          <a:solidFill>
            <a:srgbClr val="FFFFFF"/>
          </a:solidFill>
          <a:ln/>
        </p:spPr>
        <p:txBody>
          <a:bodyPr wrap="square" lIns="127000" tIns="25400" rIns="76200" bIns="25400" rtlCol="0" anchor="ctr"/>
          <a:lstStyle/>
          <a:p>
            <a:pPr algn="l" indent="0" marL="0">
              <a:buNone/>
            </a:pPr>
            <a:r>
              <a:rPr lang="en-US" sz="1250" dirty="0">
                <a:solidFill>
                  <a:srgbClr val="14183D"/>
                </a:solidFill>
                <a:latin typeface="Montserrat" pitchFamily="34" charset="0"/>
                <a:ea typeface="Montserrat" pitchFamily="34" charset="-122"/>
                <a:cs typeface="Montserrat" pitchFamily="34" charset="-120"/>
              </a:rPr>
              <a:t>62 nombres : position, vitesses, 5 ennemis, relief</a:t>
            </a:r>
            <a:endParaRPr lang="en-US" sz="1250" dirty="0"/>
          </a:p>
        </p:txBody>
      </p:sp>
      <p:sp>
        <p:nvSpPr>
          <p:cNvPr id="23" name="cellule"/>
          <p:cNvSpPr txBox="1"/>
          <p:nvPr/>
        </p:nvSpPr>
        <p:spPr>
          <a:xfrm>
            <a:off x="731520" y="4325112"/>
            <a:ext cx="1417320" cy="566928"/>
          </a:xfrm>
          <a:prstGeom prst="rect">
            <a:avLst/>
          </a:prstGeom>
          <a:solidFill>
            <a:srgbClr val="EAF1FE"/>
          </a:solidFill>
          <a:ln/>
        </p:spPr>
        <p:txBody>
          <a:bodyPr wrap="square" lIns="127000" tIns="0" rIns="50800" bIns="0" rtlCol="0" anchor="ctr"/>
          <a:lstStyle/>
          <a:p>
            <a:pPr indent="0" marL="0">
              <a:buNone/>
            </a:pPr>
            <a:r>
              <a:rPr lang="en-US" sz="1250" b="1" dirty="0">
                <a:solidFill>
                  <a:srgbClr val="14183D"/>
                </a:solidFill>
                <a:latin typeface="Montserrat" pitchFamily="34" charset="0"/>
                <a:ea typeface="Montserrat" pitchFamily="34" charset="-122"/>
                <a:cs typeface="Montserrat" pitchFamily="34" charset="-120"/>
              </a:rPr>
              <a:t>Boutons</a:t>
            </a:r>
            <a:endParaRPr lang="en-US" sz="1250" dirty="0"/>
          </a:p>
        </p:txBody>
      </p:sp>
      <p:sp>
        <p:nvSpPr>
          <p:cNvPr id="24" name="cellule"/>
          <p:cNvSpPr txBox="1"/>
          <p:nvPr/>
        </p:nvSpPr>
        <p:spPr>
          <a:xfrm>
            <a:off x="2148840" y="4325112"/>
            <a:ext cx="1828800" cy="566928"/>
          </a:xfrm>
          <a:prstGeom prst="rect">
            <a:avLst/>
          </a:prstGeom>
          <a:solidFill>
            <a:srgbClr val="EAF1FE"/>
          </a:solidFill>
          <a:ln/>
        </p:spPr>
        <p:txBody>
          <a:bodyPr wrap="square" lIns="127000" tIns="25400" rIns="76200" bIns="25400" rtlCol="0" anchor="ctr"/>
          <a:lstStyle/>
          <a:p>
            <a:pPr algn="l" indent="0" marL="0">
              <a:buNone/>
            </a:pPr>
            <a:r>
              <a:rPr lang="en-US" sz="1250" dirty="0">
                <a:solidFill>
                  <a:srgbClr val="14183D"/>
                </a:solidFill>
                <a:latin typeface="Montserrat" pitchFamily="34" charset="0"/>
                <a:ea typeface="Montserrat" pitchFamily="34" charset="-122"/>
                <a:cs typeface="Montserrat" pitchFamily="34" charset="-120"/>
              </a:rPr>
              <a:t>3</a:t>
            </a:r>
            <a:endParaRPr lang="en-US" sz="1250" dirty="0"/>
          </a:p>
        </p:txBody>
      </p:sp>
      <p:sp>
        <p:nvSpPr>
          <p:cNvPr id="25" name="cellule"/>
          <p:cNvSpPr txBox="1"/>
          <p:nvPr/>
        </p:nvSpPr>
        <p:spPr>
          <a:xfrm>
            <a:off x="3977640" y="4325112"/>
            <a:ext cx="2560320" cy="566928"/>
          </a:xfrm>
          <a:prstGeom prst="rect">
            <a:avLst/>
          </a:prstGeom>
          <a:solidFill>
            <a:srgbClr val="EAF1FE"/>
          </a:solidFill>
          <a:ln/>
        </p:spPr>
        <p:txBody>
          <a:bodyPr wrap="square" lIns="127000" tIns="25400" rIns="76200" bIns="25400" rtlCol="0" anchor="ctr"/>
          <a:lstStyle/>
          <a:p>
            <a:pPr algn="l" indent="0" marL="0">
              <a:buNone/>
            </a:pPr>
            <a:r>
              <a:rPr lang="en-US" sz="1250" dirty="0">
                <a:solidFill>
                  <a:srgbClr val="14183D"/>
                </a:solidFill>
                <a:latin typeface="Montserrat" pitchFamily="34" charset="0"/>
                <a:ea typeface="Montserrat" pitchFamily="34" charset="-122"/>
                <a:cs typeface="Montserrat" pitchFamily="34" charset="-120"/>
              </a:rPr>
              <a:t>5 (dont courir)</a:t>
            </a:r>
            <a:endParaRPr lang="en-US" sz="1250" dirty="0"/>
          </a:p>
        </p:txBody>
      </p:sp>
      <p:sp>
        <p:nvSpPr>
          <p:cNvPr id="26" name="Shape 24"/>
          <p:cNvSpPr/>
          <p:nvPr/>
        </p:nvSpPr>
        <p:spPr>
          <a:xfrm>
            <a:off x="731520" y="5394960"/>
            <a:ext cx="5806440" cy="731520"/>
          </a:xfrm>
          <a:prstGeom prst="rect">
            <a:avLst/>
          </a:prstGeom>
          <a:solidFill>
            <a:srgbClr val="FFF4C2"/>
          </a:solidFill>
          <a:ln w="12700">
            <a:solidFill>
              <a:srgbClr val="000000"/>
            </a:solidFill>
            <a:prstDash val="solid"/>
          </a:ln>
        </p:spPr>
      </p:sp>
      <p:sp>
        <p:nvSpPr>
          <p:cNvPr id="27" name="Text 25"/>
          <p:cNvSpPr txBox="1"/>
          <p:nvPr/>
        </p:nvSpPr>
        <p:spPr>
          <a:xfrm>
            <a:off x="868680" y="5422392"/>
            <a:ext cx="5577840" cy="676656"/>
          </a:xfrm>
          <a:prstGeom prst="rect">
            <a:avLst/>
          </a:prstGeom>
          <a:noFill/>
          <a:ln/>
        </p:spPr>
        <p:txBody>
          <a:bodyPr wrap="square" lIns="0" tIns="0" rIns="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Q-Learning de l'article sur le vrai jeu : ~35 % </a:t>
            </a:r>
            <a:r>
              <a:rPr lang="en-US" sz="1300" dirty="0">
                <a:solidFill>
                  <a:srgbClr val="14183D"/>
                </a:solidFill>
                <a:latin typeface="Montserrat" pitchFamily="34" charset="0"/>
                <a:ea typeface="Montserrat" pitchFamily="34" charset="-122"/>
                <a:cs typeface="Montserrat" pitchFamily="34" charset="-120"/>
              </a:rPr>
              <a:t>de victoires, de façon instable (1 graine, 30 000 parties).</a:t>
            </a:r>
            <a:endParaRPr lang="en-US" sz="1300" dirty="0"/>
          </a:p>
        </p:txBody>
      </p:sp>
      <p:sp>
        <p:nvSpPr>
          <p:cNvPr id="28" name="carte"/>
          <p:cNvSpPr/>
          <p:nvPr/>
        </p:nvSpPr>
        <p:spPr>
          <a:xfrm>
            <a:off x="6995160" y="1737360"/>
            <a:ext cx="4645152" cy="455371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29" name="etiquette"/>
          <p:cNvSpPr txBox="1"/>
          <p:nvPr/>
        </p:nvSpPr>
        <p:spPr>
          <a:xfrm>
            <a:off x="6995160" y="1737360"/>
            <a:ext cx="2103120" cy="329184"/>
          </a:xfrm>
          <a:prstGeom prst="rect">
            <a:avLst/>
          </a:prstGeom>
          <a:solidFill>
            <a:srgbClr val="C2338A"/>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PPO · OPENAI, 2017</a:t>
            </a:r>
            <a:endParaRPr lang="en-US" sz="1200" dirty="0"/>
          </a:p>
        </p:txBody>
      </p:sp>
      <p:sp>
        <p:nvSpPr>
          <p:cNvPr id="30" name="Text 28"/>
          <p:cNvSpPr txBox="1"/>
          <p:nvPr/>
        </p:nvSpPr>
        <p:spPr>
          <a:xfrm>
            <a:off x="7223760" y="2331720"/>
            <a:ext cx="1463040" cy="1051560"/>
          </a:xfrm>
          <a:prstGeom prst="rect">
            <a:avLst/>
          </a:prstGeom>
          <a:solidFill>
            <a:srgbClr val="14183D"/>
          </a:solidFill>
          <a:ln/>
        </p:spPr>
        <p:txBody>
          <a:bodyPr wrap="square" lIns="25400" tIns="25400" rIns="254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62 nombres</a:t>
            </a:r>
            <a:endParaRPr lang="en-US" sz="1150" dirty="0"/>
          </a:p>
          <a:p>
            <a:pPr algn="ctr" indent="0" marL="0">
              <a:buNone/>
            </a:pPr>
            <a:r>
              <a:rPr lang="en-US" sz="1150" b="1" dirty="0">
                <a:solidFill>
                  <a:srgbClr val="FFFFFF"/>
                </a:solidFill>
                <a:latin typeface="Montserrat" pitchFamily="34" charset="0"/>
                <a:ea typeface="Montserrat" pitchFamily="34" charset="-122"/>
                <a:cs typeface="Montserrat" pitchFamily="34" charset="-120"/>
              </a:rPr>
              <a:t>(ce que voit Mario)</a:t>
            </a:r>
            <a:endParaRPr lang="en-US" sz="1150" dirty="0"/>
          </a:p>
        </p:txBody>
      </p:sp>
      <p:sp>
        <p:nvSpPr>
          <p:cNvPr id="31" name="Shape 29"/>
          <p:cNvSpPr/>
          <p:nvPr/>
        </p:nvSpPr>
        <p:spPr>
          <a:xfrm flipV="1">
            <a:off x="8705088" y="2496312"/>
            <a:ext cx="502920" cy="361188"/>
          </a:xfrm>
          <a:prstGeom prst="line">
            <a:avLst/>
          </a:prstGeom>
          <a:noFill/>
          <a:ln w="19050">
            <a:solidFill>
              <a:srgbClr val="14183D"/>
            </a:solidFill>
            <a:prstDash val="solid"/>
            <a:tailEnd type="triangle"/>
          </a:ln>
        </p:spPr>
      </p:sp>
      <p:sp>
        <p:nvSpPr>
          <p:cNvPr id="32" name="Text 30"/>
          <p:cNvSpPr txBox="1"/>
          <p:nvPr/>
        </p:nvSpPr>
        <p:spPr>
          <a:xfrm>
            <a:off x="9235440" y="2212848"/>
            <a:ext cx="2240280" cy="566928"/>
          </a:xfrm>
          <a:prstGeom prst="rect">
            <a:avLst/>
          </a:prstGeom>
          <a:solidFill>
            <a:srgbClr val="F6DCEB"/>
          </a:solidFill>
          <a:ln w="12700">
            <a:solidFill>
              <a:srgbClr val="C2338A"/>
            </a:solidFill>
          </a:ln>
        </p:spPr>
        <p:txBody>
          <a:bodyPr wrap="square" lIns="101600" tIns="25400" rIns="50800" bIns="25400" rtlCol="0" anchor="ctr"/>
          <a:lstStyle/>
          <a:p>
            <a:pPr indent="0" marL="0">
              <a:buNone/>
            </a:pPr>
            <a:r>
              <a:rPr lang="en-US" sz="1200" b="1" dirty="0">
                <a:solidFill>
                  <a:srgbClr val="14183D"/>
                </a:solidFill>
                <a:latin typeface="Montserrat" pitchFamily="34" charset="0"/>
                <a:ea typeface="Montserrat" pitchFamily="34" charset="-122"/>
                <a:cs typeface="Montserrat" pitchFamily="34" charset="-120"/>
              </a:rPr>
              <a:t>ACTEUR</a:t>
            </a:r>
            <a:endParaRPr lang="en-US" sz="1200" dirty="0"/>
          </a:p>
          <a:p>
            <a:pPr indent="0" marL="0">
              <a:buNone/>
            </a:pPr>
            <a:r>
              <a:rPr lang="en-US" sz="1100" dirty="0">
                <a:solidFill>
                  <a:srgbClr val="14183D"/>
                </a:solidFill>
                <a:latin typeface="Montserrat" pitchFamily="34" charset="0"/>
                <a:ea typeface="Montserrat" pitchFamily="34" charset="-122"/>
                <a:cs typeface="Montserrat" pitchFamily="34" charset="-120"/>
              </a:rPr>
              <a:t>quel bouton ? (probabilités)</a:t>
            </a:r>
            <a:endParaRPr lang="en-US" sz="1200" dirty="0"/>
          </a:p>
        </p:txBody>
      </p:sp>
      <p:sp>
        <p:nvSpPr>
          <p:cNvPr id="33" name="Shape 31"/>
          <p:cNvSpPr/>
          <p:nvPr/>
        </p:nvSpPr>
        <p:spPr>
          <a:xfrm>
            <a:off x="8705088" y="2857500"/>
            <a:ext cx="502920" cy="370332"/>
          </a:xfrm>
          <a:prstGeom prst="line">
            <a:avLst/>
          </a:prstGeom>
          <a:noFill/>
          <a:ln w="19050">
            <a:solidFill>
              <a:srgbClr val="14183D"/>
            </a:solidFill>
            <a:prstDash val="solid"/>
            <a:tailEnd type="triangle"/>
          </a:ln>
        </p:spPr>
      </p:sp>
      <p:sp>
        <p:nvSpPr>
          <p:cNvPr id="34" name="Text 32"/>
          <p:cNvSpPr txBox="1"/>
          <p:nvPr/>
        </p:nvSpPr>
        <p:spPr>
          <a:xfrm>
            <a:off x="9235440" y="2944368"/>
            <a:ext cx="2240280" cy="566928"/>
          </a:xfrm>
          <a:prstGeom prst="rect">
            <a:avLst/>
          </a:prstGeom>
          <a:solidFill>
            <a:srgbClr val="F6DCEB"/>
          </a:solidFill>
          <a:ln w="12700">
            <a:solidFill>
              <a:srgbClr val="C2338A"/>
            </a:solidFill>
          </a:ln>
        </p:spPr>
        <p:txBody>
          <a:bodyPr wrap="square" lIns="101600" tIns="25400" rIns="50800" bIns="25400" rtlCol="0" anchor="ctr"/>
          <a:lstStyle/>
          <a:p>
            <a:pPr indent="0" marL="0">
              <a:buNone/>
            </a:pPr>
            <a:r>
              <a:rPr lang="en-US" sz="1200" b="1" dirty="0">
                <a:solidFill>
                  <a:srgbClr val="14183D"/>
                </a:solidFill>
                <a:latin typeface="Montserrat" pitchFamily="34" charset="0"/>
                <a:ea typeface="Montserrat" pitchFamily="34" charset="-122"/>
                <a:cs typeface="Montserrat" pitchFamily="34" charset="-120"/>
              </a:rPr>
              <a:t>CRITIQUE</a:t>
            </a:r>
            <a:endParaRPr lang="en-US" sz="1200" dirty="0"/>
          </a:p>
          <a:p>
            <a:pPr indent="0" marL="0">
              <a:buNone/>
            </a:pPr>
            <a:r>
              <a:rPr lang="en-US" sz="1100" dirty="0">
                <a:solidFill>
                  <a:srgbClr val="14183D"/>
                </a:solidFill>
                <a:latin typeface="Montserrat" pitchFamily="34" charset="0"/>
                <a:ea typeface="Montserrat" pitchFamily="34" charset="-122"/>
                <a:cs typeface="Montserrat" pitchFamily="34" charset="-120"/>
              </a:rPr>
              <a:t>la situation est-elle bonne ?</a:t>
            </a:r>
            <a:endParaRPr lang="en-US" sz="1200" dirty="0"/>
          </a:p>
        </p:txBody>
      </p:sp>
      <p:sp>
        <p:nvSpPr>
          <p:cNvPr id="35" name="Text 33"/>
          <p:cNvSpPr txBox="1"/>
          <p:nvPr/>
        </p:nvSpPr>
        <p:spPr>
          <a:xfrm>
            <a:off x="7223760" y="3767328"/>
            <a:ext cx="4251960" cy="242316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300" b="1" dirty="0">
                <a:solidFill>
                  <a:srgbClr val="14183D"/>
                </a:solidFill>
                <a:latin typeface="Montserrat" pitchFamily="34" charset="0"/>
                <a:ea typeface="Montserrat" pitchFamily="34" charset="-122"/>
                <a:cs typeface="Montserrat" pitchFamily="34" charset="-120"/>
              </a:rPr>
              <a:t>Il apprend la façon de jouer </a:t>
            </a:r>
            <a:r>
              <a:rPr lang="en-US" sz="1300" dirty="0">
                <a:solidFill>
                  <a:srgbClr val="14183D"/>
                </a:solidFill>
                <a:latin typeface="Montserrat" pitchFamily="34" charset="0"/>
                <a:ea typeface="Montserrat" pitchFamily="34" charset="-122"/>
                <a:cs typeface="Montserrat" pitchFamily="34" charset="-120"/>
              </a:rPr>
              <a:t>directement, sans tableau de notes</a:t>
            </a:r>
            <a:endParaRPr lang="en-US" sz="1300" dirty="0"/>
          </a:p>
          <a:p>
            <a:pPr marL="177800" indent="-177800">
              <a:lnSpc>
                <a:spcPct val="105000"/>
              </a:lnSpc>
              <a:spcAft>
                <a:spcPts val="700"/>
              </a:spcAft>
              <a:buSzPct val="100000"/>
              <a:buChar char="•"/>
            </a:pPr>
            <a:r>
              <a:rPr lang="en-US" sz="1300" b="1" dirty="0">
                <a:solidFill>
                  <a:srgbClr val="14183D"/>
                </a:solidFill>
                <a:latin typeface="Montserrat" pitchFamily="34" charset="0"/>
                <a:ea typeface="Montserrat" pitchFamily="34" charset="-122"/>
                <a:cs typeface="Montserrat" pitchFamily="34" charset="-120"/>
              </a:rPr>
              <a:t>Par petits pas </a:t>
            </a:r>
            <a:r>
              <a:rPr lang="en-US" sz="1300" dirty="0">
                <a:solidFill>
                  <a:srgbClr val="14183D"/>
                </a:solidFill>
                <a:latin typeface="Montserrat" pitchFamily="34" charset="0"/>
                <a:ea typeface="Montserrat" pitchFamily="34" charset="-122"/>
                <a:cs typeface="Montserrat" pitchFamily="34" charset="-120"/>
              </a:rPr>
              <a:t>(« proximal ») : chaque mise à jour reste proche de la précédente</a:t>
            </a:r>
            <a:endParaRPr lang="en-US" sz="1300" dirty="0"/>
          </a:p>
          <a:p>
            <a:pPr marL="177800" indent="-177800">
              <a:lnSpc>
                <a:spcPct val="105000"/>
              </a:lnSpc>
              <a:spcAft>
                <a:spcPts val="700"/>
              </a:spcAft>
              <a:buSzPct val="100000"/>
              <a:buChar char="•"/>
            </a:pPr>
            <a:r>
              <a:rPr lang="en-US" sz="1300" b="1" dirty="0">
                <a:solidFill>
                  <a:srgbClr val="14183D"/>
                </a:solidFill>
                <a:latin typeface="Montserrat" pitchFamily="34" charset="0"/>
                <a:ea typeface="Montserrat" pitchFamily="34" charset="-122"/>
                <a:cs typeface="Montserrat" pitchFamily="34" charset="-120"/>
              </a:rPr>
              <a:t>2 petits réseaux, </a:t>
            </a:r>
            <a:r>
              <a:rPr lang="en-US" sz="1300" dirty="0">
                <a:solidFill>
                  <a:srgbClr val="14183D"/>
                </a:solidFill>
                <a:latin typeface="Montserrat" pitchFamily="34" charset="0"/>
                <a:ea typeface="Montserrat" pitchFamily="34" charset="-122"/>
                <a:cs typeface="Montserrat" pitchFamily="34" charset="-120"/>
              </a:rPr>
              <a:t>~17 000 poids (notre DQN : 319 000)</a:t>
            </a:r>
            <a:endParaRPr lang="en-US" sz="1300" dirty="0"/>
          </a:p>
          <a:p>
            <a:pPr marL="177800" indent="-177800">
              <a:lnSpc>
                <a:spcPct val="105000"/>
              </a:lnSpc>
              <a:spcAft>
                <a:spcPts val="700"/>
              </a:spcAft>
              <a:buSzPct val="100000"/>
              <a:buChar char="•"/>
            </a:pPr>
            <a:r>
              <a:rPr lang="en-US" sz="1300" b="1" dirty="0">
                <a:solidFill>
                  <a:srgbClr val="14183D"/>
                </a:solidFill>
                <a:latin typeface="Montserrat" pitchFamily="34" charset="0"/>
                <a:ea typeface="Montserrat" pitchFamily="34" charset="-122"/>
                <a:cs typeface="Montserrat" pitchFamily="34" charset="-120"/>
              </a:rPr>
              <a:t>Réglages optimisés avec Claude </a:t>
            </a:r>
            <a:r>
              <a:rPr lang="en-US" sz="1300" dirty="0">
                <a:solidFill>
                  <a:srgbClr val="14183D"/>
                </a:solidFill>
                <a:latin typeface="Montserrat" pitchFamily="34" charset="0"/>
                <a:ea typeface="Montserrat" pitchFamily="34" charset="-122"/>
                <a:cs typeface="Montserrat" pitchFamily="34" charset="-120"/>
              </a:rPr>
              <a:t>(assistant IA)</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WORLD 1-3 - LE VRAI JEU NES</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PPO SUR LE VRAI NIVEAU</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PPO gagne 81 % des parties et réussit la partie sans hasard avec les 5 graines.</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15</a:t>
            </a:r>
            <a:endParaRPr lang="en-US" sz="1000" dirty="0"/>
          </a:p>
        </p:txBody>
      </p:sp>
      <p:pic>
        <p:nvPicPr>
          <p:cNvPr id="8" name="remplacement_03_ppo_nes_v3" descr="/home/user/MarioRL_FinalWork/docs/oral/fabrication/assets/fallback_03_ppo_nes_v3.png">    </p:cNvPr>
          <p:cNvPicPr>
            <a:picLocks noChangeAspect="1"/>
          </p:cNvPicPr>
          <p:nvPr/>
        </p:nvPicPr>
        <p:blipFill>
          <a:blip r:embed="rId1"/>
          <a:stretch>
            <a:fillRect/>
          </a:stretch>
        </p:blipFill>
        <p:spPr>
          <a:xfrm>
            <a:off x="548640" y="1755648"/>
            <a:ext cx="4160520" cy="3900488"/>
          </a:xfrm>
          <a:prstGeom prst="rect">
            <a:avLst/>
          </a:prstGeom>
        </p:spPr>
      </p:pic>
      <p:pic>
        <p:nvPicPr>
          <p:cNvPr id="4" name="video_03_ppo_nes_v3">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548640" y="1755648"/>
            <a:ext cx="4160520" cy="3900488"/>
          </a:xfrm>
          <a:prstGeom prst="rect">
            <a:avLst/>
          </a:prstGeom>
        </p:spPr>
      </p:pic>
      <p:sp>
        <p:nvSpPr>
          <p:cNvPr id="10" name="cadre_video"/>
          <p:cNvSpPr/>
          <p:nvPr/>
        </p:nvSpPr>
        <p:spPr>
          <a:xfrm>
            <a:off x="521208" y="1728216"/>
            <a:ext cx="4215384" cy="3955351"/>
          </a:xfrm>
          <a:prstGeom prst="rect">
            <a:avLst/>
          </a:prstGeom>
          <a:ln w="25400">
            <a:solidFill>
              <a:srgbClr val="000000"/>
            </a:solidFill>
            <a:prstDash val="solid"/>
          </a:ln>
        </p:spPr>
      </p:sp>
      <p:sp>
        <p:nvSpPr>
          <p:cNvPr id="11" name="Text 7"/>
          <p:cNvSpPr txBox="1"/>
          <p:nvPr/>
        </p:nvSpPr>
        <p:spPr>
          <a:xfrm>
            <a:off x="548640" y="5729288"/>
            <a:ext cx="4160520" cy="457200"/>
          </a:xfrm>
          <a:prstGeom prst="rect">
            <a:avLst/>
          </a:prstGeom>
          <a:noFill/>
          <a:ln/>
        </p:spPr>
        <p:txBody>
          <a:bodyPr wrap="square" lIns="0" tIns="0" rIns="0" bIns="0" rtlCol="0" anchor="t"/>
          <a:lstStyle/>
          <a:p>
            <a:pPr indent="0" marL="0">
              <a:buNone/>
            </a:pPr>
            <a:r>
              <a:rPr lang="en-US" sz="1200" b="1" dirty="0">
                <a:solidFill>
                  <a:srgbClr val="14183D"/>
                </a:solidFill>
                <a:latin typeface="Montserrat" pitchFamily="34" charset="0"/>
                <a:ea typeface="Montserrat" pitchFamily="34" charset="-122"/>
                <a:cs typeface="Montserrat" pitchFamily="34" charset="-120"/>
              </a:rPr>
              <a:t>Vidéo : graine 42, sans hasard, vitesse réelle : drapeau en 336 pas</a:t>
            </a:r>
            <a:endParaRPr lang="en-US" sz="1200" dirty="0"/>
          </a:p>
        </p:txBody>
      </p:sp>
      <p:sp>
        <p:nvSpPr>
          <p:cNvPr id="12" name="kpi"/>
          <p:cNvSpPr/>
          <p:nvPr/>
        </p:nvSpPr>
        <p:spPr>
          <a:xfrm>
            <a:off x="5029200" y="1755648"/>
            <a:ext cx="3255264" cy="107899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3" name="Text 9"/>
          <p:cNvSpPr txBox="1"/>
          <p:nvPr/>
        </p:nvSpPr>
        <p:spPr>
          <a:xfrm>
            <a:off x="5166360" y="1828800"/>
            <a:ext cx="2980944" cy="593446"/>
          </a:xfrm>
          <a:prstGeom prst="rect">
            <a:avLst/>
          </a:prstGeom>
          <a:noFill/>
          <a:ln/>
        </p:spPr>
        <p:txBody>
          <a:bodyPr wrap="square" lIns="0" tIns="0" rIns="0" bIns="0" rtlCol="0" anchor="ctr"/>
          <a:lstStyle/>
          <a:p>
            <a:pPr indent="0" marL="0">
              <a:buNone/>
            </a:pPr>
            <a:r>
              <a:rPr lang="en-US" sz="2500" b="1" dirty="0">
                <a:solidFill>
                  <a:srgbClr val="14183D"/>
                </a:solidFill>
                <a:latin typeface="Montserrat" pitchFamily="34" charset="0"/>
                <a:ea typeface="Montserrat" pitchFamily="34" charset="-122"/>
                <a:cs typeface="Montserrat" pitchFamily="34" charset="-120"/>
              </a:rPr>
              <a:t>81,4 %</a:t>
            </a:r>
            <a:endParaRPr lang="en-US" sz="2500" dirty="0"/>
          </a:p>
        </p:txBody>
      </p:sp>
      <p:sp>
        <p:nvSpPr>
          <p:cNvPr id="14" name="Text 10"/>
          <p:cNvSpPr txBox="1"/>
          <p:nvPr/>
        </p:nvSpPr>
        <p:spPr>
          <a:xfrm>
            <a:off x="5166360" y="2381463"/>
            <a:ext cx="2980944" cy="410017"/>
          </a:xfrm>
          <a:prstGeom prst="rect">
            <a:avLst/>
          </a:prstGeom>
          <a:noFill/>
          <a:ln/>
        </p:spPr>
        <p:txBody>
          <a:bodyPr wrap="square" lIns="0" tIns="0" rIns="0" bIns="0" rtlCol="0" anchor="t"/>
          <a:lstStyle/>
          <a:p>
            <a:pPr indent="0" marL="0">
              <a:buNone/>
            </a:pPr>
            <a:r>
              <a:rPr lang="en-US" sz="1150" dirty="0">
                <a:solidFill>
                  <a:srgbClr val="4A5070"/>
                </a:solidFill>
                <a:latin typeface="Montserrat" pitchFamily="34" charset="0"/>
                <a:ea typeface="Montserrat" pitchFamily="34" charset="-122"/>
                <a:cs typeface="Montserrat" pitchFamily="34" charset="-120"/>
              </a:rPr>
              <a:t>victoires (± 5,6), 500 dernières parties</a:t>
            </a:r>
            <a:endParaRPr lang="en-US" sz="1150" dirty="0"/>
          </a:p>
        </p:txBody>
      </p:sp>
      <p:sp>
        <p:nvSpPr>
          <p:cNvPr id="15" name="kpi"/>
          <p:cNvSpPr/>
          <p:nvPr/>
        </p:nvSpPr>
        <p:spPr>
          <a:xfrm>
            <a:off x="8385048" y="1755648"/>
            <a:ext cx="3255264" cy="107899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6" name="Text 12"/>
          <p:cNvSpPr txBox="1"/>
          <p:nvPr/>
        </p:nvSpPr>
        <p:spPr>
          <a:xfrm>
            <a:off x="8522208" y="1828800"/>
            <a:ext cx="2980944" cy="593446"/>
          </a:xfrm>
          <a:prstGeom prst="rect">
            <a:avLst/>
          </a:prstGeom>
          <a:noFill/>
          <a:ln/>
        </p:spPr>
        <p:txBody>
          <a:bodyPr wrap="square" lIns="0" tIns="0" rIns="0" bIns="0" rtlCol="0" anchor="ctr"/>
          <a:lstStyle/>
          <a:p>
            <a:pPr indent="0" marL="0">
              <a:buNone/>
            </a:pPr>
            <a:r>
              <a:rPr lang="en-US" sz="2500" b="1" dirty="0">
                <a:solidFill>
                  <a:srgbClr val="14183D"/>
                </a:solidFill>
                <a:latin typeface="Montserrat" pitchFamily="34" charset="0"/>
                <a:ea typeface="Montserrat" pitchFamily="34" charset="-122"/>
                <a:cs typeface="Montserrat" pitchFamily="34" charset="-120"/>
              </a:rPr>
              <a:t>5 / 5</a:t>
            </a:r>
            <a:endParaRPr lang="en-US" sz="2500" dirty="0"/>
          </a:p>
        </p:txBody>
      </p:sp>
      <p:sp>
        <p:nvSpPr>
          <p:cNvPr id="17" name="Text 13"/>
          <p:cNvSpPr txBox="1"/>
          <p:nvPr/>
        </p:nvSpPr>
        <p:spPr>
          <a:xfrm>
            <a:off x="8522208" y="2381463"/>
            <a:ext cx="2980944" cy="410017"/>
          </a:xfrm>
          <a:prstGeom prst="rect">
            <a:avLst/>
          </a:prstGeom>
          <a:noFill/>
          <a:ln/>
        </p:spPr>
        <p:txBody>
          <a:bodyPr wrap="square" lIns="0" tIns="0" rIns="0" bIns="0" rtlCol="0" anchor="t"/>
          <a:lstStyle/>
          <a:p>
            <a:pPr indent="0" marL="0">
              <a:buNone/>
            </a:pPr>
            <a:r>
              <a:rPr lang="en-US" sz="1150" dirty="0">
                <a:solidFill>
                  <a:srgbClr val="4A5070"/>
                </a:solidFill>
                <a:latin typeface="Montserrat" pitchFamily="34" charset="0"/>
                <a:ea typeface="Montserrat" pitchFamily="34" charset="-122"/>
                <a:cs typeface="Montserrat" pitchFamily="34" charset="-120"/>
              </a:rPr>
              <a:t>parties sans hasard gagnées</a:t>
            </a:r>
            <a:endParaRPr lang="en-US" sz="1150" dirty="0"/>
          </a:p>
        </p:txBody>
      </p:sp>
      <p:sp>
        <p:nvSpPr>
          <p:cNvPr id="18" name="kpi"/>
          <p:cNvSpPr/>
          <p:nvPr/>
        </p:nvSpPr>
        <p:spPr>
          <a:xfrm>
            <a:off x="5029200" y="2962656"/>
            <a:ext cx="3255264" cy="107899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9" name="Text 15"/>
          <p:cNvSpPr txBox="1"/>
          <p:nvPr/>
        </p:nvSpPr>
        <p:spPr>
          <a:xfrm>
            <a:off x="5166360" y="3035808"/>
            <a:ext cx="2980944" cy="593446"/>
          </a:xfrm>
          <a:prstGeom prst="rect">
            <a:avLst/>
          </a:prstGeom>
          <a:noFill/>
          <a:ln/>
        </p:spPr>
        <p:txBody>
          <a:bodyPr wrap="square" lIns="0" tIns="0" rIns="0" bIns="0" rtlCol="0" anchor="ctr"/>
          <a:lstStyle/>
          <a:p>
            <a:pPr indent="0" marL="0">
              <a:buNone/>
            </a:pPr>
            <a:r>
              <a:rPr lang="en-US" sz="2500" b="1" dirty="0">
                <a:solidFill>
                  <a:srgbClr val="14183D"/>
                </a:solidFill>
                <a:latin typeface="Montserrat" pitchFamily="34" charset="0"/>
                <a:ea typeface="Montserrat" pitchFamily="34" charset="-122"/>
                <a:cs typeface="Montserrat" pitchFamily="34" charset="-120"/>
              </a:rPr>
              <a:t>59,6 %</a:t>
            </a:r>
            <a:endParaRPr lang="en-US" sz="2500" dirty="0"/>
          </a:p>
        </p:txBody>
      </p:sp>
      <p:sp>
        <p:nvSpPr>
          <p:cNvPr id="20" name="Text 16"/>
          <p:cNvSpPr txBox="1"/>
          <p:nvPr/>
        </p:nvSpPr>
        <p:spPr>
          <a:xfrm>
            <a:off x="5166360" y="3588471"/>
            <a:ext cx="2980944" cy="410017"/>
          </a:xfrm>
          <a:prstGeom prst="rect">
            <a:avLst/>
          </a:prstGeom>
          <a:noFill/>
          <a:ln/>
        </p:spPr>
        <p:txBody>
          <a:bodyPr wrap="square" lIns="0" tIns="0" rIns="0" bIns="0" rtlCol="0" anchor="t"/>
          <a:lstStyle/>
          <a:p>
            <a:pPr indent="0" marL="0">
              <a:buNone/>
            </a:pPr>
            <a:r>
              <a:rPr lang="en-US" sz="1150" dirty="0">
                <a:solidFill>
                  <a:srgbClr val="4A5070"/>
                </a:solidFill>
                <a:latin typeface="Montserrat" pitchFamily="34" charset="0"/>
                <a:ea typeface="Montserrat" pitchFamily="34" charset="-122"/>
                <a:cs typeface="Montserrat" pitchFamily="34" charset="-120"/>
              </a:rPr>
              <a:t>robustesse (46 à 82 % selon la graine)</a:t>
            </a:r>
            <a:endParaRPr lang="en-US" sz="1150" dirty="0"/>
          </a:p>
        </p:txBody>
      </p:sp>
      <p:sp>
        <p:nvSpPr>
          <p:cNvPr id="21" name="kpi"/>
          <p:cNvSpPr/>
          <p:nvPr/>
        </p:nvSpPr>
        <p:spPr>
          <a:xfrm>
            <a:off x="8385048" y="2962656"/>
            <a:ext cx="3255264" cy="107899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22" name="Text 18"/>
          <p:cNvSpPr txBox="1"/>
          <p:nvPr/>
        </p:nvSpPr>
        <p:spPr>
          <a:xfrm>
            <a:off x="8522208" y="3035808"/>
            <a:ext cx="2980944" cy="593446"/>
          </a:xfrm>
          <a:prstGeom prst="rect">
            <a:avLst/>
          </a:prstGeom>
          <a:noFill/>
          <a:ln/>
        </p:spPr>
        <p:txBody>
          <a:bodyPr wrap="square" lIns="0" tIns="0" rIns="0" bIns="0" rtlCol="0" anchor="ctr"/>
          <a:lstStyle/>
          <a:p>
            <a:pPr indent="0" marL="0">
              <a:buNone/>
            </a:pPr>
            <a:r>
              <a:rPr lang="en-US" sz="2500" b="1" dirty="0">
                <a:solidFill>
                  <a:srgbClr val="14183D"/>
                </a:solidFill>
                <a:latin typeface="Montserrat" pitchFamily="34" charset="0"/>
                <a:ea typeface="Montserrat" pitchFamily="34" charset="-122"/>
                <a:cs typeface="Montserrat" pitchFamily="34" charset="-120"/>
              </a:rPr>
              <a:t>10,7 min</a:t>
            </a:r>
            <a:endParaRPr lang="en-US" sz="2500" dirty="0"/>
          </a:p>
        </p:txBody>
      </p:sp>
      <p:sp>
        <p:nvSpPr>
          <p:cNvPr id="23" name="Text 19"/>
          <p:cNvSpPr txBox="1"/>
          <p:nvPr/>
        </p:nvSpPr>
        <p:spPr>
          <a:xfrm>
            <a:off x="8522208" y="3588471"/>
            <a:ext cx="2980944" cy="410017"/>
          </a:xfrm>
          <a:prstGeom prst="rect">
            <a:avLst/>
          </a:prstGeom>
          <a:noFill/>
          <a:ln/>
        </p:spPr>
        <p:txBody>
          <a:bodyPr wrap="square" lIns="0" tIns="0" rIns="0" bIns="0" rtlCol="0" anchor="t"/>
          <a:lstStyle/>
          <a:p>
            <a:pPr indent="0" marL="0">
              <a:buNone/>
            </a:pPr>
            <a:r>
              <a:rPr lang="en-US" sz="1150" dirty="0">
                <a:solidFill>
                  <a:srgbClr val="4A5070"/>
                </a:solidFill>
                <a:latin typeface="Montserrat" pitchFamily="34" charset="0"/>
                <a:ea typeface="Montserrat" pitchFamily="34" charset="-122"/>
                <a:cs typeface="Montserrat" pitchFamily="34" charset="-120"/>
              </a:rPr>
              <a:t>par graine : 3 M de pas, ~9 500 parties</a:t>
            </a:r>
            <a:endParaRPr lang="en-US" sz="1150" dirty="0"/>
          </a:p>
        </p:txBody>
      </p:sp>
      <p:sp>
        <p:nvSpPr>
          <p:cNvPr id="24" name="carte"/>
          <p:cNvSpPr/>
          <p:nvPr/>
        </p:nvSpPr>
        <p:spPr>
          <a:xfrm>
            <a:off x="5029200" y="4251960"/>
            <a:ext cx="6611112" cy="203911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25" name="etiquette"/>
          <p:cNvSpPr txBox="1"/>
          <p:nvPr/>
        </p:nvSpPr>
        <p:spPr>
          <a:xfrm>
            <a:off x="5029200" y="4251960"/>
            <a:ext cx="3672230" cy="329184"/>
          </a:xfrm>
          <a:prstGeom prst="rect">
            <a:avLst/>
          </a:prstGeom>
          <a:solidFill>
            <a:srgbClr val="14183D"/>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PROGRESSION · moyenne des 5 graines</a:t>
            </a:r>
            <a:endParaRPr lang="en-US" sz="1200" dirty="0"/>
          </a:p>
        </p:txBody>
      </p:sp>
      <p:sp>
        <p:nvSpPr>
          <p:cNvPr id="26" name="Shape 22"/>
          <p:cNvSpPr/>
          <p:nvPr/>
        </p:nvSpPr>
        <p:spPr>
          <a:xfrm>
            <a:off x="5303520" y="5413248"/>
            <a:ext cx="566928" cy="411480"/>
          </a:xfrm>
          <a:prstGeom prst="rect">
            <a:avLst/>
          </a:prstGeom>
          <a:solidFill>
            <a:srgbClr val="C2338A"/>
          </a:solidFill>
          <a:ln w="12700">
            <a:solidFill>
              <a:srgbClr val="000000"/>
            </a:solidFill>
            <a:prstDash val="solid"/>
          </a:ln>
        </p:spPr>
      </p:sp>
      <p:sp>
        <p:nvSpPr>
          <p:cNvPr id="27" name="Text 23"/>
          <p:cNvSpPr txBox="1"/>
          <p:nvPr/>
        </p:nvSpPr>
        <p:spPr>
          <a:xfrm>
            <a:off x="5120640" y="5157216"/>
            <a:ext cx="932688" cy="237744"/>
          </a:xfrm>
          <a:prstGeom prst="rect">
            <a:avLst/>
          </a:prstGeom>
          <a:noFill/>
          <a:ln/>
        </p:spPr>
        <p:txBody>
          <a:bodyPr wrap="square" lIns="0" tIns="0" rIns="0" bIns="0" rtlCol="0" anchor="t"/>
          <a:lstStyle/>
          <a:p>
            <a:pPr algn="ctr" indent="0" marL="0">
              <a:buNone/>
            </a:pPr>
            <a:r>
              <a:rPr lang="en-US" sz="1150" b="1" dirty="0">
                <a:solidFill>
                  <a:srgbClr val="14183D"/>
                </a:solidFill>
                <a:latin typeface="Montserrat" pitchFamily="34" charset="0"/>
                <a:ea typeface="Montserrat" pitchFamily="34" charset="-122"/>
                <a:cs typeface="Montserrat" pitchFamily="34" charset="-120"/>
              </a:rPr>
              <a:t>36 %</a:t>
            </a:r>
            <a:endParaRPr lang="en-US" sz="1150" dirty="0"/>
          </a:p>
        </p:txBody>
      </p:sp>
      <p:sp>
        <p:nvSpPr>
          <p:cNvPr id="28" name="Text 24"/>
          <p:cNvSpPr txBox="1"/>
          <p:nvPr/>
        </p:nvSpPr>
        <p:spPr>
          <a:xfrm>
            <a:off x="5120640" y="5861304"/>
            <a:ext cx="932688" cy="237744"/>
          </a:xfrm>
          <a:prstGeom prst="rect">
            <a:avLst/>
          </a:prstGeom>
          <a:noFill/>
          <a:ln/>
        </p:spPr>
        <p:txBody>
          <a:bodyPr wrap="square" lIns="0" tIns="0" rIns="0" bIns="0" rtlCol="0" anchor="t"/>
          <a:lstStyle/>
          <a:p>
            <a:pPr algn="ctr" indent="0" marL="0">
              <a:buNone/>
            </a:pPr>
            <a:r>
              <a:rPr lang="en-US" sz="1100" dirty="0">
                <a:solidFill>
                  <a:srgbClr val="4A5070"/>
                </a:solidFill>
                <a:latin typeface="Montserrat" pitchFamily="34" charset="0"/>
                <a:ea typeface="Montserrat" pitchFamily="34" charset="-122"/>
                <a:cs typeface="Montserrat" pitchFamily="34" charset="-120"/>
              </a:rPr>
              <a:t>0,5 M</a:t>
            </a:r>
            <a:endParaRPr lang="en-US" sz="1100" dirty="0"/>
          </a:p>
        </p:txBody>
      </p:sp>
      <p:sp>
        <p:nvSpPr>
          <p:cNvPr id="29" name="Shape 25"/>
          <p:cNvSpPr/>
          <p:nvPr/>
        </p:nvSpPr>
        <p:spPr>
          <a:xfrm>
            <a:off x="6327648" y="5036058"/>
            <a:ext cx="566928" cy="788670"/>
          </a:xfrm>
          <a:prstGeom prst="rect">
            <a:avLst/>
          </a:prstGeom>
          <a:solidFill>
            <a:srgbClr val="C2338A"/>
          </a:solidFill>
          <a:ln w="12700">
            <a:solidFill>
              <a:srgbClr val="000000"/>
            </a:solidFill>
            <a:prstDash val="solid"/>
          </a:ln>
        </p:spPr>
      </p:sp>
      <p:sp>
        <p:nvSpPr>
          <p:cNvPr id="30" name="Text 26"/>
          <p:cNvSpPr txBox="1"/>
          <p:nvPr/>
        </p:nvSpPr>
        <p:spPr>
          <a:xfrm>
            <a:off x="6144768" y="4780026"/>
            <a:ext cx="932688" cy="237744"/>
          </a:xfrm>
          <a:prstGeom prst="rect">
            <a:avLst/>
          </a:prstGeom>
          <a:noFill/>
          <a:ln/>
        </p:spPr>
        <p:txBody>
          <a:bodyPr wrap="square" lIns="0" tIns="0" rIns="0" bIns="0" rtlCol="0" anchor="t"/>
          <a:lstStyle/>
          <a:p>
            <a:pPr algn="ctr" indent="0" marL="0">
              <a:buNone/>
            </a:pPr>
            <a:r>
              <a:rPr lang="en-US" sz="1150" b="1" dirty="0">
                <a:solidFill>
                  <a:srgbClr val="14183D"/>
                </a:solidFill>
                <a:latin typeface="Montserrat" pitchFamily="34" charset="0"/>
                <a:ea typeface="Montserrat" pitchFamily="34" charset="-122"/>
                <a:cs typeface="Montserrat" pitchFamily="34" charset="-120"/>
              </a:rPr>
              <a:t>69 %</a:t>
            </a:r>
            <a:endParaRPr lang="en-US" sz="1150" dirty="0"/>
          </a:p>
        </p:txBody>
      </p:sp>
      <p:sp>
        <p:nvSpPr>
          <p:cNvPr id="31" name="Text 27"/>
          <p:cNvSpPr txBox="1"/>
          <p:nvPr/>
        </p:nvSpPr>
        <p:spPr>
          <a:xfrm>
            <a:off x="6144768" y="5861304"/>
            <a:ext cx="932688" cy="237744"/>
          </a:xfrm>
          <a:prstGeom prst="rect">
            <a:avLst/>
          </a:prstGeom>
          <a:noFill/>
          <a:ln/>
        </p:spPr>
        <p:txBody>
          <a:bodyPr wrap="square" lIns="0" tIns="0" rIns="0" bIns="0" rtlCol="0" anchor="t"/>
          <a:lstStyle/>
          <a:p>
            <a:pPr algn="ctr" indent="0" marL="0">
              <a:buNone/>
            </a:pPr>
            <a:r>
              <a:rPr lang="en-US" sz="1100" dirty="0">
                <a:solidFill>
                  <a:srgbClr val="4A5070"/>
                </a:solidFill>
                <a:latin typeface="Montserrat" pitchFamily="34" charset="0"/>
                <a:ea typeface="Montserrat" pitchFamily="34" charset="-122"/>
                <a:cs typeface="Montserrat" pitchFamily="34" charset="-120"/>
              </a:rPr>
              <a:t>1 M</a:t>
            </a:r>
            <a:endParaRPr lang="en-US" sz="1100" dirty="0"/>
          </a:p>
        </p:txBody>
      </p:sp>
      <p:sp>
        <p:nvSpPr>
          <p:cNvPr id="32" name="Shape 28"/>
          <p:cNvSpPr/>
          <p:nvPr/>
        </p:nvSpPr>
        <p:spPr>
          <a:xfrm>
            <a:off x="7351776" y="4944618"/>
            <a:ext cx="566928" cy="880110"/>
          </a:xfrm>
          <a:prstGeom prst="rect">
            <a:avLst/>
          </a:prstGeom>
          <a:solidFill>
            <a:srgbClr val="C2338A"/>
          </a:solidFill>
          <a:ln w="12700">
            <a:solidFill>
              <a:srgbClr val="000000"/>
            </a:solidFill>
            <a:prstDash val="solid"/>
          </a:ln>
        </p:spPr>
      </p:sp>
      <p:sp>
        <p:nvSpPr>
          <p:cNvPr id="33" name="Text 29"/>
          <p:cNvSpPr txBox="1"/>
          <p:nvPr/>
        </p:nvSpPr>
        <p:spPr>
          <a:xfrm>
            <a:off x="7168896" y="4688586"/>
            <a:ext cx="932688" cy="237744"/>
          </a:xfrm>
          <a:prstGeom prst="rect">
            <a:avLst/>
          </a:prstGeom>
          <a:noFill/>
          <a:ln/>
        </p:spPr>
        <p:txBody>
          <a:bodyPr wrap="square" lIns="0" tIns="0" rIns="0" bIns="0" rtlCol="0" anchor="t"/>
          <a:lstStyle/>
          <a:p>
            <a:pPr algn="ctr" indent="0" marL="0">
              <a:buNone/>
            </a:pPr>
            <a:r>
              <a:rPr lang="en-US" sz="1150" b="1" dirty="0">
                <a:solidFill>
                  <a:srgbClr val="14183D"/>
                </a:solidFill>
                <a:latin typeface="Montserrat" pitchFamily="34" charset="0"/>
                <a:ea typeface="Montserrat" pitchFamily="34" charset="-122"/>
                <a:cs typeface="Montserrat" pitchFamily="34" charset="-120"/>
              </a:rPr>
              <a:t>77 %</a:t>
            </a:r>
            <a:endParaRPr lang="en-US" sz="1150" dirty="0"/>
          </a:p>
        </p:txBody>
      </p:sp>
      <p:sp>
        <p:nvSpPr>
          <p:cNvPr id="34" name="Text 30"/>
          <p:cNvSpPr txBox="1"/>
          <p:nvPr/>
        </p:nvSpPr>
        <p:spPr>
          <a:xfrm>
            <a:off x="7168896" y="5861304"/>
            <a:ext cx="932688" cy="237744"/>
          </a:xfrm>
          <a:prstGeom prst="rect">
            <a:avLst/>
          </a:prstGeom>
          <a:noFill/>
          <a:ln/>
        </p:spPr>
        <p:txBody>
          <a:bodyPr wrap="square" lIns="0" tIns="0" rIns="0" bIns="0" rtlCol="0" anchor="t"/>
          <a:lstStyle/>
          <a:p>
            <a:pPr algn="ctr" indent="0" marL="0">
              <a:buNone/>
            </a:pPr>
            <a:r>
              <a:rPr lang="en-US" sz="1100" dirty="0">
                <a:solidFill>
                  <a:srgbClr val="4A5070"/>
                </a:solidFill>
                <a:latin typeface="Montserrat" pitchFamily="34" charset="0"/>
                <a:ea typeface="Montserrat" pitchFamily="34" charset="-122"/>
                <a:cs typeface="Montserrat" pitchFamily="34" charset="-120"/>
              </a:rPr>
              <a:t>1,5 M</a:t>
            </a:r>
            <a:endParaRPr lang="en-US" sz="1100" dirty="0"/>
          </a:p>
        </p:txBody>
      </p:sp>
      <p:sp>
        <p:nvSpPr>
          <p:cNvPr id="35" name="Shape 31"/>
          <p:cNvSpPr/>
          <p:nvPr/>
        </p:nvSpPr>
        <p:spPr>
          <a:xfrm>
            <a:off x="8375904" y="4910328"/>
            <a:ext cx="566928" cy="914400"/>
          </a:xfrm>
          <a:prstGeom prst="rect">
            <a:avLst/>
          </a:prstGeom>
          <a:solidFill>
            <a:srgbClr val="C2338A"/>
          </a:solidFill>
          <a:ln w="12700">
            <a:solidFill>
              <a:srgbClr val="000000"/>
            </a:solidFill>
            <a:prstDash val="solid"/>
          </a:ln>
        </p:spPr>
      </p:sp>
      <p:sp>
        <p:nvSpPr>
          <p:cNvPr id="36" name="Text 32"/>
          <p:cNvSpPr txBox="1"/>
          <p:nvPr/>
        </p:nvSpPr>
        <p:spPr>
          <a:xfrm>
            <a:off x="8193024" y="4654296"/>
            <a:ext cx="932688" cy="237744"/>
          </a:xfrm>
          <a:prstGeom prst="rect">
            <a:avLst/>
          </a:prstGeom>
          <a:noFill/>
          <a:ln/>
        </p:spPr>
        <p:txBody>
          <a:bodyPr wrap="square" lIns="0" tIns="0" rIns="0" bIns="0" rtlCol="0" anchor="t"/>
          <a:lstStyle/>
          <a:p>
            <a:pPr algn="ctr" indent="0" marL="0">
              <a:buNone/>
            </a:pPr>
            <a:r>
              <a:rPr lang="en-US" sz="1150" b="1" dirty="0">
                <a:solidFill>
                  <a:srgbClr val="14183D"/>
                </a:solidFill>
                <a:latin typeface="Montserrat" pitchFamily="34" charset="0"/>
                <a:ea typeface="Montserrat" pitchFamily="34" charset="-122"/>
                <a:cs typeface="Montserrat" pitchFamily="34" charset="-120"/>
              </a:rPr>
              <a:t>80 %</a:t>
            </a:r>
            <a:endParaRPr lang="en-US" sz="1150" dirty="0"/>
          </a:p>
        </p:txBody>
      </p:sp>
      <p:sp>
        <p:nvSpPr>
          <p:cNvPr id="37" name="Text 33"/>
          <p:cNvSpPr txBox="1"/>
          <p:nvPr/>
        </p:nvSpPr>
        <p:spPr>
          <a:xfrm>
            <a:off x="8193024" y="5861304"/>
            <a:ext cx="932688" cy="237744"/>
          </a:xfrm>
          <a:prstGeom prst="rect">
            <a:avLst/>
          </a:prstGeom>
          <a:noFill/>
          <a:ln/>
        </p:spPr>
        <p:txBody>
          <a:bodyPr wrap="square" lIns="0" tIns="0" rIns="0" bIns="0" rtlCol="0" anchor="t"/>
          <a:lstStyle/>
          <a:p>
            <a:pPr algn="ctr" indent="0" marL="0">
              <a:buNone/>
            </a:pPr>
            <a:r>
              <a:rPr lang="en-US" sz="1100" dirty="0">
                <a:solidFill>
                  <a:srgbClr val="4A5070"/>
                </a:solidFill>
                <a:latin typeface="Montserrat" pitchFamily="34" charset="0"/>
                <a:ea typeface="Montserrat" pitchFamily="34" charset="-122"/>
                <a:cs typeface="Montserrat" pitchFamily="34" charset="-120"/>
              </a:rPr>
              <a:t>2 M</a:t>
            </a:r>
            <a:endParaRPr lang="en-US" sz="1100" dirty="0"/>
          </a:p>
        </p:txBody>
      </p:sp>
      <p:sp>
        <p:nvSpPr>
          <p:cNvPr id="38" name="Shape 34"/>
          <p:cNvSpPr/>
          <p:nvPr/>
        </p:nvSpPr>
        <p:spPr>
          <a:xfrm>
            <a:off x="9400032" y="4898898"/>
            <a:ext cx="566928" cy="925830"/>
          </a:xfrm>
          <a:prstGeom prst="rect">
            <a:avLst/>
          </a:prstGeom>
          <a:solidFill>
            <a:srgbClr val="C2338A"/>
          </a:solidFill>
          <a:ln w="12700">
            <a:solidFill>
              <a:srgbClr val="000000"/>
            </a:solidFill>
            <a:prstDash val="solid"/>
          </a:ln>
        </p:spPr>
      </p:sp>
      <p:sp>
        <p:nvSpPr>
          <p:cNvPr id="39" name="Text 35"/>
          <p:cNvSpPr txBox="1"/>
          <p:nvPr/>
        </p:nvSpPr>
        <p:spPr>
          <a:xfrm>
            <a:off x="9217152" y="4642866"/>
            <a:ext cx="932688" cy="237744"/>
          </a:xfrm>
          <a:prstGeom prst="rect">
            <a:avLst/>
          </a:prstGeom>
          <a:noFill/>
          <a:ln/>
        </p:spPr>
        <p:txBody>
          <a:bodyPr wrap="square" lIns="0" tIns="0" rIns="0" bIns="0" rtlCol="0" anchor="t"/>
          <a:lstStyle/>
          <a:p>
            <a:pPr algn="ctr" indent="0" marL="0">
              <a:buNone/>
            </a:pPr>
            <a:r>
              <a:rPr lang="en-US" sz="1150" b="1" dirty="0">
                <a:solidFill>
                  <a:srgbClr val="14183D"/>
                </a:solidFill>
                <a:latin typeface="Montserrat" pitchFamily="34" charset="0"/>
                <a:ea typeface="Montserrat" pitchFamily="34" charset="-122"/>
                <a:cs typeface="Montserrat" pitchFamily="34" charset="-120"/>
              </a:rPr>
              <a:t>81 %</a:t>
            </a:r>
            <a:endParaRPr lang="en-US" sz="1150" dirty="0"/>
          </a:p>
        </p:txBody>
      </p:sp>
      <p:sp>
        <p:nvSpPr>
          <p:cNvPr id="40" name="Text 36"/>
          <p:cNvSpPr txBox="1"/>
          <p:nvPr/>
        </p:nvSpPr>
        <p:spPr>
          <a:xfrm>
            <a:off x="9217152" y="5861304"/>
            <a:ext cx="932688" cy="237744"/>
          </a:xfrm>
          <a:prstGeom prst="rect">
            <a:avLst/>
          </a:prstGeom>
          <a:noFill/>
          <a:ln/>
        </p:spPr>
        <p:txBody>
          <a:bodyPr wrap="square" lIns="0" tIns="0" rIns="0" bIns="0" rtlCol="0" anchor="t"/>
          <a:lstStyle/>
          <a:p>
            <a:pPr algn="ctr" indent="0" marL="0">
              <a:buNone/>
            </a:pPr>
            <a:r>
              <a:rPr lang="en-US" sz="1100" dirty="0">
                <a:solidFill>
                  <a:srgbClr val="4A5070"/>
                </a:solidFill>
                <a:latin typeface="Montserrat" pitchFamily="34" charset="0"/>
                <a:ea typeface="Montserrat" pitchFamily="34" charset="-122"/>
                <a:cs typeface="Montserrat" pitchFamily="34" charset="-120"/>
              </a:rPr>
              <a:t>2,5 M</a:t>
            </a:r>
            <a:endParaRPr lang="en-US" sz="1100" dirty="0"/>
          </a:p>
        </p:txBody>
      </p:sp>
      <p:sp>
        <p:nvSpPr>
          <p:cNvPr id="41" name="Shape 37"/>
          <p:cNvSpPr/>
          <p:nvPr/>
        </p:nvSpPr>
        <p:spPr>
          <a:xfrm>
            <a:off x="10424160" y="4921758"/>
            <a:ext cx="566928" cy="902970"/>
          </a:xfrm>
          <a:prstGeom prst="rect">
            <a:avLst/>
          </a:prstGeom>
          <a:solidFill>
            <a:srgbClr val="C2338A"/>
          </a:solidFill>
          <a:ln w="12700">
            <a:solidFill>
              <a:srgbClr val="000000"/>
            </a:solidFill>
            <a:prstDash val="solid"/>
          </a:ln>
        </p:spPr>
      </p:sp>
      <p:sp>
        <p:nvSpPr>
          <p:cNvPr id="42" name="Text 38"/>
          <p:cNvSpPr txBox="1"/>
          <p:nvPr/>
        </p:nvSpPr>
        <p:spPr>
          <a:xfrm>
            <a:off x="10241280" y="4665726"/>
            <a:ext cx="932688" cy="237744"/>
          </a:xfrm>
          <a:prstGeom prst="rect">
            <a:avLst/>
          </a:prstGeom>
          <a:noFill/>
          <a:ln/>
        </p:spPr>
        <p:txBody>
          <a:bodyPr wrap="square" lIns="0" tIns="0" rIns="0" bIns="0" rtlCol="0" anchor="t"/>
          <a:lstStyle/>
          <a:p>
            <a:pPr algn="ctr" indent="0" marL="0">
              <a:buNone/>
            </a:pPr>
            <a:r>
              <a:rPr lang="en-US" sz="1150" b="1" dirty="0">
                <a:solidFill>
                  <a:srgbClr val="14183D"/>
                </a:solidFill>
                <a:latin typeface="Montserrat" pitchFamily="34" charset="0"/>
                <a:ea typeface="Montserrat" pitchFamily="34" charset="-122"/>
                <a:cs typeface="Montserrat" pitchFamily="34" charset="-120"/>
              </a:rPr>
              <a:t>79 %</a:t>
            </a:r>
            <a:endParaRPr lang="en-US" sz="1150" dirty="0"/>
          </a:p>
        </p:txBody>
      </p:sp>
      <p:sp>
        <p:nvSpPr>
          <p:cNvPr id="43" name="Text 39"/>
          <p:cNvSpPr txBox="1"/>
          <p:nvPr/>
        </p:nvSpPr>
        <p:spPr>
          <a:xfrm>
            <a:off x="10241280" y="5861304"/>
            <a:ext cx="932688" cy="237744"/>
          </a:xfrm>
          <a:prstGeom prst="rect">
            <a:avLst/>
          </a:prstGeom>
          <a:noFill/>
          <a:ln/>
        </p:spPr>
        <p:txBody>
          <a:bodyPr wrap="square" lIns="0" tIns="0" rIns="0" bIns="0" rtlCol="0" anchor="t"/>
          <a:lstStyle/>
          <a:p>
            <a:pPr algn="ctr" indent="0" marL="0">
              <a:buNone/>
            </a:pPr>
            <a:r>
              <a:rPr lang="en-US" sz="1100" dirty="0">
                <a:solidFill>
                  <a:srgbClr val="4A5070"/>
                </a:solidFill>
                <a:latin typeface="Montserrat" pitchFamily="34" charset="0"/>
                <a:ea typeface="Montserrat" pitchFamily="34" charset="-122"/>
                <a:cs typeface="Montserrat" pitchFamily="34" charset="-120"/>
              </a:rPr>
              <a:t>3 M</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WORLD 1-3 - LE VRAI JEU NES</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ROUTE A : JOUER COMME UN HUMAIN</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Champignon, fleur, tuyau secret et salle bonus : PPO réussit tout, et gagne 91 % des parties.</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16</a:t>
            </a:r>
            <a:endParaRPr lang="en-US" sz="1000" dirty="0"/>
          </a:p>
        </p:txBody>
      </p:sp>
      <p:pic>
        <p:nvPicPr>
          <p:cNvPr id="8" name="remplacement_04_ppo_route_a" descr="/home/user/MarioRL_FinalWork/docs/oral/fabrication/assets/fallback_04_ppo_route_a.png">    </p:cNvPr>
          <p:cNvPicPr>
            <a:picLocks noChangeAspect="1"/>
          </p:cNvPicPr>
          <p:nvPr/>
        </p:nvPicPr>
        <p:blipFill>
          <a:blip r:embed="rId1"/>
          <a:stretch>
            <a:fillRect/>
          </a:stretch>
        </p:blipFill>
        <p:spPr>
          <a:xfrm>
            <a:off x="548640" y="1755648"/>
            <a:ext cx="4160520" cy="3900488"/>
          </a:xfrm>
          <a:prstGeom prst="rect">
            <a:avLst/>
          </a:prstGeom>
        </p:spPr>
      </p:pic>
      <p:pic>
        <p:nvPicPr>
          <p:cNvPr id="4" name="video_04_ppo_route_a">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548640" y="1755648"/>
            <a:ext cx="4160520" cy="3900488"/>
          </a:xfrm>
          <a:prstGeom prst="rect">
            <a:avLst/>
          </a:prstGeom>
        </p:spPr>
      </p:pic>
      <p:sp>
        <p:nvSpPr>
          <p:cNvPr id="10" name="cadre_video"/>
          <p:cNvSpPr/>
          <p:nvPr/>
        </p:nvSpPr>
        <p:spPr>
          <a:xfrm>
            <a:off x="521208" y="1728216"/>
            <a:ext cx="4215384" cy="3955351"/>
          </a:xfrm>
          <a:prstGeom prst="rect">
            <a:avLst/>
          </a:prstGeom>
          <a:ln w="25400">
            <a:solidFill>
              <a:srgbClr val="000000"/>
            </a:solidFill>
            <a:prstDash val="solid"/>
          </a:ln>
        </p:spPr>
      </p:sp>
      <p:sp>
        <p:nvSpPr>
          <p:cNvPr id="11" name="Text 7"/>
          <p:cNvSpPr txBox="1"/>
          <p:nvPr/>
        </p:nvSpPr>
        <p:spPr>
          <a:xfrm>
            <a:off x="548640" y="5729288"/>
            <a:ext cx="4160520" cy="457200"/>
          </a:xfrm>
          <a:prstGeom prst="rect">
            <a:avLst/>
          </a:prstGeom>
          <a:noFill/>
          <a:ln/>
        </p:spPr>
        <p:txBody>
          <a:bodyPr wrap="square" lIns="0" tIns="0" rIns="0" bIns="0" rtlCol="0" anchor="t"/>
          <a:lstStyle/>
          <a:p>
            <a:pPr indent="0" marL="0">
              <a:buNone/>
            </a:pPr>
            <a:r>
              <a:rPr lang="en-US" sz="1200" b="1" dirty="0">
                <a:solidFill>
                  <a:srgbClr val="14183D"/>
                </a:solidFill>
                <a:latin typeface="Montserrat" pitchFamily="34" charset="0"/>
                <a:ea typeface="Montserrat" pitchFamily="34" charset="-122"/>
                <a:cs typeface="Montserrat" pitchFamily="34" charset="-120"/>
              </a:rPr>
              <a:t>Vidéo : graine 43, sans hasard : champignon, fleur, salle bonus, 21 pièces, drapeau</a:t>
            </a:r>
            <a:endParaRPr lang="en-US" sz="1200" dirty="0"/>
          </a:p>
        </p:txBody>
      </p:sp>
      <p:sp>
        <p:nvSpPr>
          <p:cNvPr id="12" name="kpi"/>
          <p:cNvSpPr/>
          <p:nvPr/>
        </p:nvSpPr>
        <p:spPr>
          <a:xfrm>
            <a:off x="5029200" y="1755648"/>
            <a:ext cx="1234440" cy="98755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3" name="Text 9"/>
          <p:cNvSpPr txBox="1"/>
          <p:nvPr/>
        </p:nvSpPr>
        <p:spPr>
          <a:xfrm>
            <a:off x="5166360" y="1828800"/>
            <a:ext cx="960120" cy="543154"/>
          </a:xfrm>
          <a:prstGeom prst="rect">
            <a:avLst/>
          </a:prstGeom>
          <a:noFill/>
          <a:ln/>
        </p:spPr>
        <p:txBody>
          <a:bodyPr wrap="square" lIns="0" tIns="0" rIns="0" bIns="0" rtlCol="0" anchor="ctr"/>
          <a:lstStyle/>
          <a:p>
            <a:pPr indent="0" marL="0">
              <a:buNone/>
            </a:pPr>
            <a:r>
              <a:rPr lang="en-US" sz="2100" b="1" dirty="0">
                <a:solidFill>
                  <a:srgbClr val="14183D"/>
                </a:solidFill>
                <a:latin typeface="Montserrat" pitchFamily="34" charset="0"/>
                <a:ea typeface="Montserrat" pitchFamily="34" charset="-122"/>
                <a:cs typeface="Montserrat" pitchFamily="34" charset="-120"/>
              </a:rPr>
              <a:t>91 %</a:t>
            </a:r>
            <a:endParaRPr lang="en-US" sz="2100" dirty="0"/>
          </a:p>
        </p:txBody>
      </p:sp>
      <p:sp>
        <p:nvSpPr>
          <p:cNvPr id="14" name="Text 10"/>
          <p:cNvSpPr txBox="1"/>
          <p:nvPr/>
        </p:nvSpPr>
        <p:spPr>
          <a:xfrm>
            <a:off x="5166360" y="2328428"/>
            <a:ext cx="960120" cy="375270"/>
          </a:xfrm>
          <a:prstGeom prst="rect">
            <a:avLst/>
          </a:prstGeom>
          <a:noFill/>
          <a:ln/>
        </p:spPr>
        <p:txBody>
          <a:bodyPr wrap="square" lIns="0" tIns="0" rIns="0" bIns="0" rtlCol="0" anchor="t"/>
          <a:lstStyle/>
          <a:p>
            <a:pPr indent="0" marL="0">
              <a:buNone/>
            </a:pPr>
            <a:r>
              <a:rPr lang="en-US" sz="1100" dirty="0">
                <a:solidFill>
                  <a:srgbClr val="4A5070"/>
                </a:solidFill>
                <a:latin typeface="Montserrat" pitchFamily="34" charset="0"/>
                <a:ea typeface="Montserrat" pitchFamily="34" charset="-122"/>
                <a:cs typeface="Montserrat" pitchFamily="34" charset="-120"/>
              </a:rPr>
              <a:t>victoires</a:t>
            </a:r>
            <a:endParaRPr lang="en-US" sz="1100" dirty="0"/>
          </a:p>
        </p:txBody>
      </p:sp>
      <p:sp>
        <p:nvSpPr>
          <p:cNvPr id="15" name="kpi"/>
          <p:cNvSpPr/>
          <p:nvPr/>
        </p:nvSpPr>
        <p:spPr>
          <a:xfrm>
            <a:off x="6364224" y="1755648"/>
            <a:ext cx="1234440" cy="98755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6" name="Text 12"/>
          <p:cNvSpPr txBox="1"/>
          <p:nvPr/>
        </p:nvSpPr>
        <p:spPr>
          <a:xfrm>
            <a:off x="6501384" y="1828800"/>
            <a:ext cx="960120" cy="543154"/>
          </a:xfrm>
          <a:prstGeom prst="rect">
            <a:avLst/>
          </a:prstGeom>
          <a:noFill/>
          <a:ln/>
        </p:spPr>
        <p:txBody>
          <a:bodyPr wrap="square" lIns="0" tIns="0" rIns="0" bIns="0" rtlCol="0" anchor="ctr"/>
          <a:lstStyle/>
          <a:p>
            <a:pPr indent="0" marL="0">
              <a:buNone/>
            </a:pPr>
            <a:r>
              <a:rPr lang="en-US" sz="2100" b="1" dirty="0">
                <a:solidFill>
                  <a:srgbClr val="14183D"/>
                </a:solidFill>
                <a:latin typeface="Montserrat" pitchFamily="34" charset="0"/>
                <a:ea typeface="Montserrat" pitchFamily="34" charset="-122"/>
                <a:cs typeface="Montserrat" pitchFamily="34" charset="-120"/>
              </a:rPr>
              <a:t>94 %</a:t>
            </a:r>
            <a:endParaRPr lang="en-US" sz="2100" dirty="0"/>
          </a:p>
        </p:txBody>
      </p:sp>
      <p:sp>
        <p:nvSpPr>
          <p:cNvPr id="17" name="Text 13"/>
          <p:cNvSpPr txBox="1"/>
          <p:nvPr/>
        </p:nvSpPr>
        <p:spPr>
          <a:xfrm>
            <a:off x="6501384" y="2328428"/>
            <a:ext cx="960120" cy="375270"/>
          </a:xfrm>
          <a:prstGeom prst="rect">
            <a:avLst/>
          </a:prstGeom>
          <a:noFill/>
          <a:ln/>
        </p:spPr>
        <p:txBody>
          <a:bodyPr wrap="square" lIns="0" tIns="0" rIns="0" bIns="0" rtlCol="0" anchor="t"/>
          <a:lstStyle/>
          <a:p>
            <a:pPr indent="0" marL="0">
              <a:buNone/>
            </a:pPr>
            <a:r>
              <a:rPr lang="en-US" sz="1100" dirty="0">
                <a:solidFill>
                  <a:srgbClr val="4A5070"/>
                </a:solidFill>
                <a:latin typeface="Montserrat" pitchFamily="34" charset="0"/>
                <a:ea typeface="Montserrat" pitchFamily="34" charset="-122"/>
                <a:cs typeface="Montserrat" pitchFamily="34" charset="-120"/>
              </a:rPr>
              <a:t>salle bonus</a:t>
            </a:r>
            <a:endParaRPr lang="en-US" sz="1100" dirty="0"/>
          </a:p>
        </p:txBody>
      </p:sp>
      <p:sp>
        <p:nvSpPr>
          <p:cNvPr id="18" name="kpi"/>
          <p:cNvSpPr/>
          <p:nvPr/>
        </p:nvSpPr>
        <p:spPr>
          <a:xfrm>
            <a:off x="7699248" y="1755648"/>
            <a:ext cx="1234440" cy="98755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9" name="Text 15"/>
          <p:cNvSpPr txBox="1"/>
          <p:nvPr/>
        </p:nvSpPr>
        <p:spPr>
          <a:xfrm>
            <a:off x="7836408" y="1828800"/>
            <a:ext cx="960120" cy="543154"/>
          </a:xfrm>
          <a:prstGeom prst="rect">
            <a:avLst/>
          </a:prstGeom>
          <a:noFill/>
          <a:ln/>
        </p:spPr>
        <p:txBody>
          <a:bodyPr wrap="square" lIns="0" tIns="0" rIns="0" bIns="0" rtlCol="0" anchor="ctr"/>
          <a:lstStyle/>
          <a:p>
            <a:pPr indent="0" marL="0">
              <a:buNone/>
            </a:pPr>
            <a:r>
              <a:rPr lang="en-US" sz="2100" b="1" dirty="0">
                <a:solidFill>
                  <a:srgbClr val="14183D"/>
                </a:solidFill>
                <a:latin typeface="Montserrat" pitchFamily="34" charset="0"/>
                <a:ea typeface="Montserrat" pitchFamily="34" charset="-122"/>
                <a:cs typeface="Montserrat" pitchFamily="34" charset="-120"/>
              </a:rPr>
              <a:t>97 %</a:t>
            </a:r>
            <a:endParaRPr lang="en-US" sz="2100" dirty="0"/>
          </a:p>
        </p:txBody>
      </p:sp>
      <p:sp>
        <p:nvSpPr>
          <p:cNvPr id="20" name="Text 16"/>
          <p:cNvSpPr txBox="1"/>
          <p:nvPr/>
        </p:nvSpPr>
        <p:spPr>
          <a:xfrm>
            <a:off x="7836408" y="2328428"/>
            <a:ext cx="960120" cy="375270"/>
          </a:xfrm>
          <a:prstGeom prst="rect">
            <a:avLst/>
          </a:prstGeom>
          <a:noFill/>
          <a:ln/>
        </p:spPr>
        <p:txBody>
          <a:bodyPr wrap="square" lIns="0" tIns="0" rIns="0" bIns="0" rtlCol="0" anchor="t"/>
          <a:lstStyle/>
          <a:p>
            <a:pPr indent="0" marL="0">
              <a:buNone/>
            </a:pPr>
            <a:r>
              <a:rPr lang="en-US" sz="1100" dirty="0">
                <a:solidFill>
                  <a:srgbClr val="4A5070"/>
                </a:solidFill>
                <a:latin typeface="Montserrat" pitchFamily="34" charset="0"/>
                <a:ea typeface="Montserrat" pitchFamily="34" charset="-122"/>
                <a:cs typeface="Montserrat" pitchFamily="34" charset="-120"/>
              </a:rPr>
              <a:t>champignon</a:t>
            </a:r>
            <a:endParaRPr lang="en-US" sz="1100" dirty="0"/>
          </a:p>
        </p:txBody>
      </p:sp>
      <p:sp>
        <p:nvSpPr>
          <p:cNvPr id="21" name="kpi"/>
          <p:cNvSpPr/>
          <p:nvPr/>
        </p:nvSpPr>
        <p:spPr>
          <a:xfrm>
            <a:off x="9034272" y="1755648"/>
            <a:ext cx="1234440" cy="98755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22" name="Text 18"/>
          <p:cNvSpPr txBox="1"/>
          <p:nvPr/>
        </p:nvSpPr>
        <p:spPr>
          <a:xfrm>
            <a:off x="9171432" y="1828800"/>
            <a:ext cx="960120" cy="543154"/>
          </a:xfrm>
          <a:prstGeom prst="rect">
            <a:avLst/>
          </a:prstGeom>
          <a:noFill/>
          <a:ln/>
        </p:spPr>
        <p:txBody>
          <a:bodyPr wrap="square" lIns="0" tIns="0" rIns="0" bIns="0" rtlCol="0" anchor="ctr"/>
          <a:lstStyle/>
          <a:p>
            <a:pPr indent="0" marL="0">
              <a:buNone/>
            </a:pPr>
            <a:r>
              <a:rPr lang="en-US" sz="2100" b="1" dirty="0">
                <a:solidFill>
                  <a:srgbClr val="14183D"/>
                </a:solidFill>
                <a:latin typeface="Montserrat" pitchFamily="34" charset="0"/>
                <a:ea typeface="Montserrat" pitchFamily="34" charset="-122"/>
                <a:cs typeface="Montserrat" pitchFamily="34" charset="-120"/>
              </a:rPr>
              <a:t>93 %</a:t>
            </a:r>
            <a:endParaRPr lang="en-US" sz="2100" dirty="0"/>
          </a:p>
        </p:txBody>
      </p:sp>
      <p:sp>
        <p:nvSpPr>
          <p:cNvPr id="23" name="Text 19"/>
          <p:cNvSpPr txBox="1"/>
          <p:nvPr/>
        </p:nvSpPr>
        <p:spPr>
          <a:xfrm>
            <a:off x="9171432" y="2328428"/>
            <a:ext cx="960120" cy="375270"/>
          </a:xfrm>
          <a:prstGeom prst="rect">
            <a:avLst/>
          </a:prstGeom>
          <a:noFill/>
          <a:ln/>
        </p:spPr>
        <p:txBody>
          <a:bodyPr wrap="square" lIns="0" tIns="0" rIns="0" bIns="0" rtlCol="0" anchor="t"/>
          <a:lstStyle/>
          <a:p>
            <a:pPr indent="0" marL="0">
              <a:buNone/>
            </a:pPr>
            <a:r>
              <a:rPr lang="en-US" sz="1100" dirty="0">
                <a:solidFill>
                  <a:srgbClr val="4A5070"/>
                </a:solidFill>
                <a:latin typeface="Montserrat" pitchFamily="34" charset="0"/>
                <a:ea typeface="Montserrat" pitchFamily="34" charset="-122"/>
                <a:cs typeface="Montserrat" pitchFamily="34" charset="-120"/>
              </a:rPr>
              <a:t>fleur</a:t>
            </a:r>
            <a:endParaRPr lang="en-US" sz="1100" dirty="0"/>
          </a:p>
        </p:txBody>
      </p:sp>
      <p:sp>
        <p:nvSpPr>
          <p:cNvPr id="24" name="kpi"/>
          <p:cNvSpPr/>
          <p:nvPr/>
        </p:nvSpPr>
        <p:spPr>
          <a:xfrm>
            <a:off x="10369296" y="1755648"/>
            <a:ext cx="1234440" cy="98755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25" name="Text 21"/>
          <p:cNvSpPr txBox="1"/>
          <p:nvPr/>
        </p:nvSpPr>
        <p:spPr>
          <a:xfrm>
            <a:off x="10506456" y="1828800"/>
            <a:ext cx="960120" cy="543154"/>
          </a:xfrm>
          <a:prstGeom prst="rect">
            <a:avLst/>
          </a:prstGeom>
          <a:noFill/>
          <a:ln/>
        </p:spPr>
        <p:txBody>
          <a:bodyPr wrap="square" lIns="0" tIns="0" rIns="0" bIns="0" rtlCol="0" anchor="ctr"/>
          <a:lstStyle/>
          <a:p>
            <a:pPr indent="0" marL="0">
              <a:buNone/>
            </a:pPr>
            <a:r>
              <a:rPr lang="en-US" sz="2100" b="1" dirty="0">
                <a:solidFill>
                  <a:srgbClr val="14183D"/>
                </a:solidFill>
                <a:latin typeface="Montserrat" pitchFamily="34" charset="0"/>
                <a:ea typeface="Montserrat" pitchFamily="34" charset="-122"/>
                <a:cs typeface="Montserrat" pitchFamily="34" charset="-120"/>
              </a:rPr>
              <a:t>80 %</a:t>
            </a:r>
            <a:endParaRPr lang="en-US" sz="2100" dirty="0"/>
          </a:p>
        </p:txBody>
      </p:sp>
      <p:sp>
        <p:nvSpPr>
          <p:cNvPr id="26" name="Text 22"/>
          <p:cNvSpPr txBox="1"/>
          <p:nvPr/>
        </p:nvSpPr>
        <p:spPr>
          <a:xfrm>
            <a:off x="10506456" y="2328428"/>
            <a:ext cx="960120" cy="375270"/>
          </a:xfrm>
          <a:prstGeom prst="rect">
            <a:avLst/>
          </a:prstGeom>
          <a:noFill/>
          <a:ln/>
        </p:spPr>
        <p:txBody>
          <a:bodyPr wrap="square" lIns="0" tIns="0" rIns="0" bIns="0" rtlCol="0" anchor="t"/>
          <a:lstStyle/>
          <a:p>
            <a:pPr indent="0" marL="0">
              <a:buNone/>
            </a:pPr>
            <a:r>
              <a:rPr lang="en-US" sz="1100" dirty="0">
                <a:solidFill>
                  <a:srgbClr val="4A5070"/>
                </a:solidFill>
                <a:latin typeface="Montserrat" pitchFamily="34" charset="0"/>
                <a:ea typeface="Montserrat" pitchFamily="34" charset="-122"/>
                <a:cs typeface="Montserrat" pitchFamily="34" charset="-120"/>
              </a:rPr>
              <a:t>robustesse</a:t>
            </a:r>
            <a:endParaRPr lang="en-US" sz="1100" dirty="0"/>
          </a:p>
        </p:txBody>
      </p:sp>
      <p:sp>
        <p:nvSpPr>
          <p:cNvPr id="27" name="carte"/>
          <p:cNvSpPr/>
          <p:nvPr/>
        </p:nvSpPr>
        <p:spPr>
          <a:xfrm>
            <a:off x="5029200" y="2971800"/>
            <a:ext cx="6611112" cy="331927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28" name="etiquette"/>
          <p:cNvSpPr txBox="1"/>
          <p:nvPr/>
        </p:nvSpPr>
        <p:spPr>
          <a:xfrm>
            <a:off x="5029200" y="2971800"/>
            <a:ext cx="6611112" cy="329184"/>
          </a:xfrm>
          <a:prstGeom prst="rect">
            <a:avLst/>
          </a:prstGeom>
          <a:solidFill>
            <a:srgbClr val="D62839"/>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L'IA FAIT CE QU'ON RÉCOMPENSE, PAS CE QU'ON VEUT</a:t>
            </a:r>
            <a:endParaRPr lang="en-US" sz="1200" dirty="0"/>
          </a:p>
        </p:txBody>
      </p:sp>
      <p:sp>
        <p:nvSpPr>
          <p:cNvPr id="29" name="Text 25"/>
          <p:cNvSpPr txBox="1"/>
          <p:nvPr/>
        </p:nvSpPr>
        <p:spPr>
          <a:xfrm>
            <a:off x="5230368" y="3401568"/>
            <a:ext cx="3063240" cy="274320"/>
          </a:xfrm>
          <a:prstGeom prst="rect">
            <a:avLst/>
          </a:prstGeom>
          <a:noFill/>
          <a:ln/>
        </p:spPr>
        <p:txBody>
          <a:bodyPr wrap="square" lIns="0" tIns="0" rIns="0" bIns="0" rtlCol="0" anchor="t"/>
          <a:lstStyle/>
          <a:p>
            <a:pPr indent="0" marL="0">
              <a:buNone/>
            </a:pPr>
            <a:r>
              <a:rPr lang="en-US" sz="1150" b="1" dirty="0">
                <a:solidFill>
                  <a:srgbClr val="4A5070"/>
                </a:solidFill>
                <a:latin typeface="Montserrat" pitchFamily="34" charset="0"/>
                <a:ea typeface="Montserrat" pitchFamily="34" charset="-122"/>
                <a:cs typeface="Montserrat" pitchFamily="34" charset="-120"/>
              </a:rPr>
              <a:t>Ce qu'elle faisait</a:t>
            </a:r>
            <a:endParaRPr lang="en-US" sz="1150" dirty="0"/>
          </a:p>
        </p:txBody>
      </p:sp>
      <p:sp>
        <p:nvSpPr>
          <p:cNvPr id="30" name="Text 26"/>
          <p:cNvSpPr txBox="1"/>
          <p:nvPr/>
        </p:nvSpPr>
        <p:spPr>
          <a:xfrm>
            <a:off x="8458200" y="3401568"/>
            <a:ext cx="3017520" cy="274320"/>
          </a:xfrm>
          <a:prstGeom prst="rect">
            <a:avLst/>
          </a:prstGeom>
          <a:noFill/>
          <a:ln/>
        </p:spPr>
        <p:txBody>
          <a:bodyPr wrap="square" lIns="0" tIns="0" rIns="0" bIns="0" rtlCol="0" anchor="t"/>
          <a:lstStyle/>
          <a:p>
            <a:pPr indent="0" marL="0">
              <a:buNone/>
            </a:pPr>
            <a:r>
              <a:rPr lang="en-US" sz="1150" b="1" dirty="0">
                <a:solidFill>
                  <a:srgbClr val="4A5070"/>
                </a:solidFill>
                <a:latin typeface="Montserrat" pitchFamily="34" charset="0"/>
                <a:ea typeface="Montserrat" pitchFamily="34" charset="-122"/>
                <a:cs typeface="Montserrat" pitchFamily="34" charset="-120"/>
              </a:rPr>
              <a:t>Ce qu'on a corrigé</a:t>
            </a:r>
            <a:endParaRPr lang="en-US" sz="1150" dirty="0"/>
          </a:p>
        </p:txBody>
      </p:sp>
      <p:sp>
        <p:nvSpPr>
          <p:cNvPr id="31" name="Shape 27"/>
          <p:cNvSpPr/>
          <p:nvPr/>
        </p:nvSpPr>
        <p:spPr>
          <a:xfrm>
            <a:off x="5212080" y="3703320"/>
            <a:ext cx="6245352" cy="493776"/>
          </a:xfrm>
          <a:prstGeom prst="rect">
            <a:avLst/>
          </a:prstGeom>
          <a:solidFill>
            <a:srgbClr val="FFFFFF"/>
          </a:solidFill>
          <a:ln/>
        </p:spPr>
      </p:sp>
      <p:sp>
        <p:nvSpPr>
          <p:cNvPr id="32" name="Text 28"/>
          <p:cNvSpPr txBox="1"/>
          <p:nvPr/>
        </p:nvSpPr>
        <p:spPr>
          <a:xfrm>
            <a:off x="5303520" y="3703320"/>
            <a:ext cx="3017520" cy="493776"/>
          </a:xfrm>
          <a:prstGeom prst="rect">
            <a:avLst/>
          </a:prstGeom>
          <a:noFill/>
          <a:ln/>
        </p:spPr>
        <p:txBody>
          <a:bodyPr wrap="square" lIns="0" tIns="0" rIns="0" bIns="0" rtlCol="0" anchor="ctr"/>
          <a:lstStyle/>
          <a:p>
            <a:pPr indent="0" marL="0">
              <a:buNone/>
            </a:pPr>
            <a:r>
              <a:rPr lang="en-US" sz="1250" dirty="0">
                <a:solidFill>
                  <a:srgbClr val="14183D"/>
                </a:solidFill>
                <a:latin typeface="Montserrat" pitchFamily="34" charset="0"/>
                <a:ea typeface="Montserrat" pitchFamily="34" charset="-122"/>
                <a:cs typeface="Montserrat" pitchFamily="34" charset="-120"/>
              </a:rPr>
              <a:t>Restait dans la salle bonus jusqu'à la fin du temps</a:t>
            </a:r>
            <a:endParaRPr lang="en-US" sz="1250" dirty="0"/>
          </a:p>
        </p:txBody>
      </p:sp>
      <p:sp>
        <p:nvSpPr>
          <p:cNvPr id="33" name="Text 29"/>
          <p:cNvSpPr txBox="1"/>
          <p:nvPr/>
        </p:nvSpPr>
        <p:spPr>
          <a:xfrm>
            <a:off x="8458200" y="3703320"/>
            <a:ext cx="2971800" cy="493776"/>
          </a:xfrm>
          <a:prstGeom prst="rect">
            <a:avLst/>
          </a:prstGeom>
          <a:noFill/>
          <a:ln/>
        </p:spPr>
        <p:txBody>
          <a:bodyPr wrap="square" lIns="0" tIns="0" rIns="0" bIns="0" rtlCol="0" anchor="ctr"/>
          <a:lstStyle/>
          <a:p>
            <a:pPr indent="0" marL="0">
              <a:buNone/>
            </a:pPr>
            <a:r>
              <a:rPr lang="en-US" sz="1250" b="1" dirty="0">
                <a:solidFill>
                  <a:srgbClr val="15911F"/>
                </a:solidFill>
                <a:latin typeface="Montserrat" pitchFamily="34" charset="0"/>
                <a:ea typeface="Montserrat" pitchFamily="34" charset="-122"/>
                <a:cs typeface="Montserrat" pitchFamily="34" charset="-120"/>
              </a:rPr>
              <a:t>pénalité de temps</a:t>
            </a:r>
            <a:endParaRPr lang="en-US" sz="1250" dirty="0"/>
          </a:p>
        </p:txBody>
      </p:sp>
      <p:sp>
        <p:nvSpPr>
          <p:cNvPr id="34" name="Shape 30"/>
          <p:cNvSpPr/>
          <p:nvPr/>
        </p:nvSpPr>
        <p:spPr>
          <a:xfrm>
            <a:off x="5212080" y="4251960"/>
            <a:ext cx="6245352" cy="493776"/>
          </a:xfrm>
          <a:prstGeom prst="rect">
            <a:avLst/>
          </a:prstGeom>
          <a:solidFill>
            <a:srgbClr val="EAF1FE"/>
          </a:solidFill>
          <a:ln/>
        </p:spPr>
      </p:sp>
      <p:sp>
        <p:nvSpPr>
          <p:cNvPr id="35" name="Text 31"/>
          <p:cNvSpPr txBox="1"/>
          <p:nvPr/>
        </p:nvSpPr>
        <p:spPr>
          <a:xfrm>
            <a:off x="5303520" y="4251960"/>
            <a:ext cx="3017520" cy="493776"/>
          </a:xfrm>
          <a:prstGeom prst="rect">
            <a:avLst/>
          </a:prstGeom>
          <a:noFill/>
          <a:ln/>
        </p:spPr>
        <p:txBody>
          <a:bodyPr wrap="square" lIns="0" tIns="0" rIns="0" bIns="0" rtlCol="0" anchor="ctr"/>
          <a:lstStyle/>
          <a:p>
            <a:pPr indent="0" marL="0">
              <a:buNone/>
            </a:pPr>
            <a:r>
              <a:rPr lang="en-US" sz="1250" dirty="0">
                <a:solidFill>
                  <a:srgbClr val="14183D"/>
                </a:solidFill>
                <a:latin typeface="Montserrat" pitchFamily="34" charset="0"/>
                <a:ea typeface="Montserrat" pitchFamily="34" charset="-122"/>
                <a:cs typeface="Montserrat" pitchFamily="34" charset="-120"/>
              </a:rPr>
              <a:t>866 appuis sur « bas » devant la sortie</a:t>
            </a:r>
            <a:endParaRPr lang="en-US" sz="1250" dirty="0"/>
          </a:p>
        </p:txBody>
      </p:sp>
      <p:sp>
        <p:nvSpPr>
          <p:cNvPr id="36" name="Text 32"/>
          <p:cNvSpPr txBox="1"/>
          <p:nvPr/>
        </p:nvSpPr>
        <p:spPr>
          <a:xfrm>
            <a:off x="8458200" y="4251960"/>
            <a:ext cx="2971800" cy="493776"/>
          </a:xfrm>
          <a:prstGeom prst="rect">
            <a:avLst/>
          </a:prstGeom>
          <a:noFill/>
          <a:ln/>
        </p:spPr>
        <p:txBody>
          <a:bodyPr wrap="square" lIns="0" tIns="0" rIns="0" bIns="0" rtlCol="0" anchor="ctr"/>
          <a:lstStyle/>
          <a:p>
            <a:pPr indent="0" marL="0">
              <a:buNone/>
            </a:pPr>
            <a:r>
              <a:rPr lang="en-US" sz="1250" b="1" dirty="0">
                <a:solidFill>
                  <a:srgbClr val="15911F"/>
                </a:solidFill>
                <a:latin typeface="Montserrat" pitchFamily="34" charset="0"/>
                <a:ea typeface="Montserrat" pitchFamily="34" charset="-122"/>
                <a:cs typeface="Montserrat" pitchFamily="34" charset="-120"/>
              </a:rPr>
              <a:t>entrée et sortie séparées dans sa vue</a:t>
            </a:r>
            <a:endParaRPr lang="en-US" sz="1250" dirty="0"/>
          </a:p>
        </p:txBody>
      </p:sp>
      <p:sp>
        <p:nvSpPr>
          <p:cNvPr id="37" name="Shape 33"/>
          <p:cNvSpPr/>
          <p:nvPr/>
        </p:nvSpPr>
        <p:spPr>
          <a:xfrm>
            <a:off x="5212080" y="4800600"/>
            <a:ext cx="6245352" cy="493776"/>
          </a:xfrm>
          <a:prstGeom prst="rect">
            <a:avLst/>
          </a:prstGeom>
          <a:solidFill>
            <a:srgbClr val="FFFFFF"/>
          </a:solidFill>
          <a:ln/>
        </p:spPr>
      </p:sp>
      <p:sp>
        <p:nvSpPr>
          <p:cNvPr id="38" name="Text 34"/>
          <p:cNvSpPr txBox="1"/>
          <p:nvPr/>
        </p:nvSpPr>
        <p:spPr>
          <a:xfrm>
            <a:off x="5303520" y="4800600"/>
            <a:ext cx="3017520" cy="493776"/>
          </a:xfrm>
          <a:prstGeom prst="rect">
            <a:avLst/>
          </a:prstGeom>
          <a:noFill/>
          <a:ln/>
        </p:spPr>
        <p:txBody>
          <a:bodyPr wrap="square" lIns="0" tIns="0" rIns="0" bIns="0" rtlCol="0" anchor="ctr"/>
          <a:lstStyle/>
          <a:p>
            <a:pPr indent="0" marL="0">
              <a:buNone/>
            </a:pPr>
            <a:r>
              <a:rPr lang="en-US" sz="1250" dirty="0">
                <a:solidFill>
                  <a:srgbClr val="14183D"/>
                </a:solidFill>
                <a:latin typeface="Montserrat" pitchFamily="34" charset="0"/>
                <a:ea typeface="Montserrat" pitchFamily="34" charset="-122"/>
                <a:cs typeface="Montserrat" pitchFamily="34" charset="-120"/>
              </a:rPr>
              <a:t>Collée à un tuyau en tenant droite + saut</a:t>
            </a:r>
            <a:endParaRPr lang="en-US" sz="1250" dirty="0"/>
          </a:p>
        </p:txBody>
      </p:sp>
      <p:sp>
        <p:nvSpPr>
          <p:cNvPr id="39" name="Text 35"/>
          <p:cNvSpPr txBox="1"/>
          <p:nvPr/>
        </p:nvSpPr>
        <p:spPr>
          <a:xfrm>
            <a:off x="8458200" y="4800600"/>
            <a:ext cx="2971800" cy="493776"/>
          </a:xfrm>
          <a:prstGeom prst="rect">
            <a:avLst/>
          </a:prstGeom>
          <a:noFill/>
          <a:ln/>
        </p:spPr>
        <p:txBody>
          <a:bodyPr wrap="square" lIns="0" tIns="0" rIns="0" bIns="0" rtlCol="0" anchor="ctr"/>
          <a:lstStyle/>
          <a:p>
            <a:pPr indent="0" marL="0">
              <a:buNone/>
            </a:pPr>
            <a:r>
              <a:rPr lang="en-US" sz="1250" b="1" dirty="0">
                <a:solidFill>
                  <a:srgbClr val="15911F"/>
                </a:solidFill>
                <a:latin typeface="Montserrat" pitchFamily="34" charset="0"/>
                <a:ea typeface="Montserrat" pitchFamily="34" charset="-122"/>
                <a:cs typeface="Montserrat" pitchFamily="34" charset="-120"/>
              </a:rPr>
              <a:t>règle du blocage : 150 pas sans rien de neuf = perdu</a:t>
            </a:r>
            <a:endParaRPr lang="en-US" sz="1250" dirty="0"/>
          </a:p>
        </p:txBody>
      </p:sp>
      <p:sp>
        <p:nvSpPr>
          <p:cNvPr id="40" name="Shape 36"/>
          <p:cNvSpPr/>
          <p:nvPr/>
        </p:nvSpPr>
        <p:spPr>
          <a:xfrm>
            <a:off x="5212080" y="5349240"/>
            <a:ext cx="6245352" cy="493776"/>
          </a:xfrm>
          <a:prstGeom prst="rect">
            <a:avLst/>
          </a:prstGeom>
          <a:solidFill>
            <a:srgbClr val="EAF1FE"/>
          </a:solidFill>
          <a:ln/>
        </p:spPr>
      </p:sp>
      <p:sp>
        <p:nvSpPr>
          <p:cNvPr id="41" name="Text 37"/>
          <p:cNvSpPr txBox="1"/>
          <p:nvPr/>
        </p:nvSpPr>
        <p:spPr>
          <a:xfrm>
            <a:off x="5303520" y="5349240"/>
            <a:ext cx="3017520" cy="493776"/>
          </a:xfrm>
          <a:prstGeom prst="rect">
            <a:avLst/>
          </a:prstGeom>
          <a:noFill/>
          <a:ln/>
        </p:spPr>
        <p:txBody>
          <a:bodyPr wrap="square" lIns="0" tIns="0" rIns="0" bIns="0" rtlCol="0" anchor="ctr"/>
          <a:lstStyle/>
          <a:p>
            <a:pPr indent="0" marL="0">
              <a:buNone/>
            </a:pPr>
            <a:r>
              <a:rPr lang="en-US" sz="1250" dirty="0">
                <a:solidFill>
                  <a:srgbClr val="14183D"/>
                </a:solidFill>
                <a:latin typeface="Montserrat" pitchFamily="34" charset="0"/>
                <a:ea typeface="Montserrat" pitchFamily="34" charset="-122"/>
                <a:cs typeface="Montserrat" pitchFamily="34" charset="-120"/>
              </a:rPr>
              <a:t>Fleur jamais trouvée</a:t>
            </a:r>
            <a:endParaRPr lang="en-US" sz="1250" dirty="0"/>
          </a:p>
        </p:txBody>
      </p:sp>
      <p:sp>
        <p:nvSpPr>
          <p:cNvPr id="42" name="Text 38"/>
          <p:cNvSpPr txBox="1"/>
          <p:nvPr/>
        </p:nvSpPr>
        <p:spPr>
          <a:xfrm>
            <a:off x="8458200" y="5349240"/>
            <a:ext cx="2971800" cy="493776"/>
          </a:xfrm>
          <a:prstGeom prst="rect">
            <a:avLst/>
          </a:prstGeom>
          <a:noFill/>
          <a:ln/>
        </p:spPr>
        <p:txBody>
          <a:bodyPr wrap="square" lIns="0" tIns="0" rIns="0" bIns="0" rtlCol="0" anchor="ctr"/>
          <a:lstStyle/>
          <a:p>
            <a:pPr indent="0" marL="0">
              <a:buNone/>
            </a:pPr>
            <a:r>
              <a:rPr lang="en-US" sz="1250" b="1" dirty="0">
                <a:solidFill>
                  <a:srgbClr val="15911F"/>
                </a:solidFill>
                <a:latin typeface="Montserrat" pitchFamily="34" charset="0"/>
                <a:ea typeface="Montserrat" pitchFamily="34" charset="-122"/>
                <a:cs typeface="Montserrat" pitchFamily="34" charset="-120"/>
              </a:rPr>
              <a:t>bouton gauche ajouté</a:t>
            </a:r>
            <a:endParaRPr lang="en-US" sz="1250" dirty="0"/>
          </a:p>
        </p:txBody>
      </p:sp>
      <p:sp>
        <p:nvSpPr>
          <p:cNvPr id="43" name="Text 39"/>
          <p:cNvSpPr txBox="1"/>
          <p:nvPr/>
        </p:nvSpPr>
        <p:spPr>
          <a:xfrm>
            <a:off x="5212080" y="5897880"/>
            <a:ext cx="6263640" cy="329184"/>
          </a:xfrm>
          <a:prstGeom prst="rect">
            <a:avLst/>
          </a:prstGeom>
          <a:noFill/>
          <a:ln/>
        </p:spPr>
        <p:txBody>
          <a:bodyPr wrap="square" lIns="0" tIns="0" rIns="0" bIns="0" rtlCol="0" anchor="ctr"/>
          <a:lstStyle/>
          <a:p>
            <a:pPr indent="0" marL="0">
              <a:buNone/>
            </a:pPr>
            <a:r>
              <a:rPr lang="en-US" sz="1150" dirty="0">
                <a:solidFill>
                  <a:srgbClr val="4A5070"/>
                </a:solidFill>
                <a:latin typeface="Montserrat" pitchFamily="34" charset="0"/>
                <a:ea typeface="Montserrat" pitchFamily="34" charset="-122"/>
                <a:cs typeface="Montserrat" pitchFamily="34" charset="-120"/>
              </a:rPr>
              <a:t>Une dizaine de variantes · 2 blocs ajoutés au début du niveau · 5 graines × 3 M de pas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5A99ED"/>
        </a:solidFill>
      </p:bgPr>
    </p:bg>
    <p:spTree>
      <p:nvGrpSpPr>
        <p:cNvPr id="1" name=""/>
        <p:cNvGrpSpPr/>
        <p:nvPr/>
      </p:nvGrpSpPr>
      <p:grpSpPr>
        <a:xfrm>
          <a:off x="0" y="0"/>
          <a:ext cx="0" cy="0"/>
          <a:chOff x="0" y="0"/>
          <a:chExt cx="0" cy="0"/>
        </a:xfrm>
      </p:grpSpPr>
      <p:pic>
        <p:nvPicPr>
          <p:cNvPr id="2" name="star_brick" descr="/home/user/MarioRL_FinalWork/docs/oral/fabrication/assets/sprites/star_brick.png">    </p:cNvPr>
          <p:cNvPicPr>
            <a:picLocks noChangeAspect="1"/>
          </p:cNvPicPr>
          <p:nvPr/>
        </p:nvPicPr>
        <p:blipFill>
          <a:blip r:embed="rId1"/>
          <a:stretch>
            <a:fillRect/>
          </a:stretch>
        </p:blipFill>
        <p:spPr>
          <a:xfrm>
            <a:off x="914400" y="1803380"/>
            <a:ext cx="901690" cy="1739920"/>
          </a:xfrm>
          <a:prstGeom prst="rect">
            <a:avLst/>
          </a:prstGeom>
        </p:spPr>
      </p:pic>
      <p:pic>
        <p:nvPicPr>
          <p:cNvPr id="3" name="coin_pipe2" descr="/home/user/MarioRL_FinalWork/docs/oral/fabrication/assets/sprites/coin_pipe2.png">    </p:cNvPr>
          <p:cNvPicPr>
            <a:picLocks noChangeAspect="1"/>
          </p:cNvPicPr>
          <p:nvPr/>
        </p:nvPicPr>
        <p:blipFill>
          <a:blip r:embed="rId2"/>
          <a:stretch>
            <a:fillRect/>
          </a:stretch>
        </p:blipFill>
        <p:spPr>
          <a:xfrm>
            <a:off x="10109149" y="3784610"/>
            <a:ext cx="812810" cy="2218243"/>
          </a:xfrm>
          <a:prstGeom prst="rect">
            <a:avLst/>
          </a:prstGeom>
        </p:spPr>
      </p:pic>
      <p:pic>
        <p:nvPicPr>
          <p:cNvPr id="4" name="pipe_tall" descr="/home/user/MarioRL_FinalWork/docs/oral/fabrication/assets/sprites/pipe_tall.png">    </p:cNvPr>
          <p:cNvPicPr>
            <a:picLocks noChangeAspect="1"/>
          </p:cNvPicPr>
          <p:nvPr/>
        </p:nvPicPr>
        <p:blipFill>
          <a:blip r:embed="rId3"/>
          <a:stretch>
            <a:fillRect/>
          </a:stretch>
        </p:blipFill>
        <p:spPr>
          <a:xfrm>
            <a:off x="10998129" y="3031053"/>
            <a:ext cx="897484" cy="2971800"/>
          </a:xfrm>
          <a:prstGeom prst="rect">
            <a:avLst/>
          </a:prstGeom>
        </p:spPr>
      </p:pic>
      <p:pic>
        <p:nvPicPr>
          <p:cNvPr id="5" name="ground" descr="/home/user/MarioRL_FinalWork/docs/oral/fabrication/assets/sprites/ground.png">    </p:cNvPr>
          <p:cNvPicPr>
            <a:picLocks noChangeAspect="1"/>
          </p:cNvPicPr>
          <p:nvPr/>
        </p:nvPicPr>
        <p:blipFill>
          <a:blip r:embed="rId4"/>
          <a:stretch>
            <a:fillRect/>
          </a:stretch>
        </p:blipFill>
        <p:spPr>
          <a:xfrm>
            <a:off x="0" y="5977433"/>
            <a:ext cx="12191970" cy="880567"/>
          </a:xfrm>
          <a:prstGeom prst="rect">
            <a:avLst/>
          </a:prstGeom>
        </p:spPr>
      </p:pic>
      <p:sp>
        <p:nvSpPr>
          <p:cNvPr id="6" name="grand_titre"/>
          <p:cNvSpPr txBox="1"/>
          <p:nvPr/>
        </p:nvSpPr>
        <p:spPr>
          <a:xfrm>
            <a:off x="2011680" y="1234440"/>
            <a:ext cx="8168335" cy="868680"/>
          </a:xfrm>
          <a:prstGeom prst="rect">
            <a:avLst/>
          </a:prstGeom>
          <a:noFill/>
          <a:ln/>
          <a:effectLst>
            <a:outerShdw sx="100000" sy="100000" kx="0" ky="0" algn="bl" rotWithShape="0" blurRad="101600" dist="34290" dir="2700000">
              <a:srgbClr val="2E1B5B">
                <a:alpha val="100000"/>
              </a:srgbClr>
            </a:outerShdw>
          </a:effectLst>
        </p:spPr>
        <p:txBody>
          <a:bodyPr wrap="square" lIns="0" tIns="0" rIns="0" bIns="0" rtlCol="0" anchor="ctr"/>
          <a:lstStyle/>
          <a:p>
            <a:pPr algn="ctr" indent="0" marL="0">
              <a:lnSpc>
                <a:spcPct val="100000"/>
              </a:lnSpc>
              <a:buNone/>
            </a:pPr>
            <a:r>
              <a:rPr lang="en-US" sz="5400" dirty="0">
                <a:solidFill>
                  <a:srgbClr val="FFFFFF"/>
                </a:solidFill>
                <a:latin typeface="Arcade Gamer" pitchFamily="34" charset="0"/>
                <a:ea typeface="Arcade Gamer" pitchFamily="34" charset="-122"/>
                <a:cs typeface="Arcade Gamer" pitchFamily="34" charset="-120"/>
              </a:rPr>
              <a:t>WORLD 1-4</a:t>
            </a:r>
            <a:endParaRPr lang="en-US" sz="5400" dirty="0"/>
          </a:p>
        </p:txBody>
      </p:sp>
      <p:sp>
        <p:nvSpPr>
          <p:cNvPr id="7" name="grand_titre"/>
          <p:cNvSpPr txBox="1"/>
          <p:nvPr/>
        </p:nvSpPr>
        <p:spPr>
          <a:xfrm>
            <a:off x="2011680" y="2121408"/>
            <a:ext cx="8168335" cy="640080"/>
          </a:xfrm>
          <a:prstGeom prst="rect">
            <a:avLst/>
          </a:prstGeom>
          <a:noFill/>
          <a:ln/>
          <a:effectLst>
            <a:outerShdw sx="100000" sy="100000" kx="0" ky="0" algn="bl" rotWithShape="0" blurRad="101600" dist="25400" dir="2700000">
              <a:srgbClr val="2E1B5B">
                <a:alpha val="100000"/>
              </a:srgbClr>
            </a:outerShdw>
          </a:effectLst>
        </p:spPr>
        <p:txBody>
          <a:bodyPr wrap="square" lIns="0" tIns="0" rIns="0" bIns="0" rtlCol="0" anchor="ctr"/>
          <a:lstStyle/>
          <a:p>
            <a:pPr algn="ctr" indent="0" marL="0">
              <a:lnSpc>
                <a:spcPct val="100000"/>
              </a:lnSpc>
              <a:buNone/>
            </a:pPr>
            <a:r>
              <a:rPr lang="en-US" sz="3200" dirty="0">
                <a:solidFill>
                  <a:srgbClr val="FFC703"/>
                </a:solidFill>
                <a:latin typeface="Arcade Gamer" pitchFamily="34" charset="0"/>
                <a:ea typeface="Arcade Gamer" pitchFamily="34" charset="-122"/>
                <a:cs typeface="Arcade Gamer" pitchFamily="34" charset="-120"/>
              </a:rPr>
              <a:t>LE RECUL</a:t>
            </a:r>
            <a:endParaRPr lang="en-US" sz="3200" dirty="0"/>
          </a:p>
        </p:txBody>
      </p:sp>
      <p:sp>
        <p:nvSpPr>
          <p:cNvPr id="8" name="Text 2"/>
          <p:cNvSpPr txBox="1"/>
          <p:nvPr/>
        </p:nvSpPr>
        <p:spPr>
          <a:xfrm>
            <a:off x="2743200" y="2852928"/>
            <a:ext cx="6705295" cy="384048"/>
          </a:xfrm>
          <a:prstGeom prst="rect">
            <a:avLst/>
          </a:prstGeom>
          <a:noFill/>
          <a:ln/>
        </p:spPr>
        <p:txBody>
          <a:bodyPr wrap="square" lIns="0" tIns="0" rIns="0" bIns="0" rtlCol="0" anchor="ctr"/>
          <a:lstStyle/>
          <a:p>
            <a:pPr algn="ctr" indent="0" marL="0">
              <a:buNone/>
            </a:pPr>
            <a:r>
              <a:rPr lang="en-US" sz="1600" b="1" dirty="0">
                <a:solidFill>
                  <a:srgbClr val="14183D"/>
                </a:solidFill>
                <a:latin typeface="Montserrat" pitchFamily="34" charset="0"/>
                <a:ea typeface="Montserrat" pitchFamily="34" charset="-122"/>
                <a:cs typeface="Montserrat" pitchFamily="34" charset="-120"/>
              </a:rPr>
              <a:t>Énergie, auto-critique et ce qu'on retient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WORLD 1-4 - LE RECUL</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L'ÉNERGIE CONSOMMÉE</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Tous nos entraînements finaux : 113 Wh, l'énergie pour faire bouillir 1 litre d'eau.</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18</a:t>
            </a:r>
            <a:endParaRPr lang="en-US" sz="1000" dirty="0"/>
          </a:p>
        </p:txBody>
      </p:sp>
      <p:sp>
        <p:nvSpPr>
          <p:cNvPr id="8" name="tableau_fond"/>
          <p:cNvSpPr/>
          <p:nvPr/>
        </p:nvSpPr>
        <p:spPr>
          <a:xfrm>
            <a:off x="530352" y="1737360"/>
            <a:ext cx="6986016" cy="3803904"/>
          </a:xfrm>
          <a:prstGeom prst="rect">
            <a:avLst/>
          </a:prstGeom>
          <a:solidFill>
            <a:srgbClr val="14183D"/>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9" name="entete"/>
          <p:cNvSpPr txBox="1"/>
          <p:nvPr/>
        </p:nvSpPr>
        <p:spPr>
          <a:xfrm>
            <a:off x="548640" y="1755648"/>
            <a:ext cx="2148840" cy="566928"/>
          </a:xfrm>
          <a:prstGeom prst="rect">
            <a:avLst/>
          </a:prstGeom>
          <a:solidFill>
            <a:srgbClr val="14183D"/>
          </a:solidFill>
          <a:ln/>
        </p:spPr>
        <p:txBody>
          <a:bodyPr wrap="square" lIns="127000" tIns="25400" rIns="76200" bIns="25400" rtlCol="0" anchor="ctr"/>
          <a:lstStyle/>
          <a:p>
            <a:pPr algn="l" indent="0" marL="0">
              <a:buNone/>
            </a:pPr>
            <a:r>
              <a:rPr lang="en-US" sz="1150" b="1" dirty="0">
                <a:solidFill>
                  <a:srgbClr val="FFFFFF"/>
                </a:solidFill>
                <a:latin typeface="Montserrat" pitchFamily="34" charset="0"/>
                <a:ea typeface="Montserrat" pitchFamily="34" charset="-122"/>
                <a:cs typeface="Montserrat" pitchFamily="34" charset="-120"/>
              </a:rPr>
              <a:t>Modèle (par graine)</a:t>
            </a:r>
            <a:endParaRPr lang="en-US" sz="1150" dirty="0"/>
          </a:p>
        </p:txBody>
      </p:sp>
      <p:sp>
        <p:nvSpPr>
          <p:cNvPr id="10" name="entete"/>
          <p:cNvSpPr txBox="1"/>
          <p:nvPr/>
        </p:nvSpPr>
        <p:spPr>
          <a:xfrm>
            <a:off x="2697480" y="1755648"/>
            <a:ext cx="1234440" cy="566928"/>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Durée</a:t>
            </a:r>
            <a:endParaRPr lang="en-US" sz="1150" dirty="0"/>
          </a:p>
        </p:txBody>
      </p:sp>
      <p:sp>
        <p:nvSpPr>
          <p:cNvPr id="11" name="entete"/>
          <p:cNvSpPr txBox="1"/>
          <p:nvPr/>
        </p:nvSpPr>
        <p:spPr>
          <a:xfrm>
            <a:off x="3931920" y="1755648"/>
            <a:ext cx="1325880" cy="566928"/>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Énergie</a:t>
            </a:r>
            <a:endParaRPr lang="en-US" sz="1150" dirty="0"/>
          </a:p>
        </p:txBody>
      </p:sp>
      <p:sp>
        <p:nvSpPr>
          <p:cNvPr id="12" name="entete"/>
          <p:cNvSpPr txBox="1"/>
          <p:nvPr/>
        </p:nvSpPr>
        <p:spPr>
          <a:xfrm>
            <a:off x="5257800" y="1755648"/>
            <a:ext cx="1188720" cy="566928"/>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CO2</a:t>
            </a:r>
            <a:endParaRPr lang="en-US" sz="1150" dirty="0"/>
          </a:p>
        </p:txBody>
      </p:sp>
      <p:sp>
        <p:nvSpPr>
          <p:cNvPr id="13" name="entete"/>
          <p:cNvSpPr txBox="1"/>
          <p:nvPr/>
        </p:nvSpPr>
        <p:spPr>
          <a:xfrm>
            <a:off x="6446520" y="1755648"/>
            <a:ext cx="1051560" cy="566928"/>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vs</a:t>
            </a:r>
            <a:endParaRPr lang="en-US" sz="1150" dirty="0"/>
          </a:p>
          <a:p>
            <a:pPr algn="ctr" indent="0" marL="0">
              <a:buNone/>
            </a:pPr>
            <a:r>
              <a:rPr lang="en-US" sz="1150" b="1" dirty="0">
                <a:solidFill>
                  <a:srgbClr val="FFFFFF"/>
                </a:solidFill>
                <a:latin typeface="Montserrat" pitchFamily="34" charset="0"/>
                <a:ea typeface="Montserrat" pitchFamily="34" charset="-122"/>
                <a:cs typeface="Montserrat" pitchFamily="34" charset="-120"/>
              </a:rPr>
              <a:t>Q-Learning</a:t>
            </a:r>
            <a:endParaRPr lang="en-US" sz="1150" dirty="0"/>
          </a:p>
        </p:txBody>
      </p:sp>
      <p:sp>
        <p:nvSpPr>
          <p:cNvPr id="14" name="cellule"/>
          <p:cNvSpPr txBox="1"/>
          <p:nvPr/>
        </p:nvSpPr>
        <p:spPr>
          <a:xfrm>
            <a:off x="548640" y="2322576"/>
            <a:ext cx="2148840" cy="457200"/>
          </a:xfrm>
          <a:prstGeom prst="rect">
            <a:avLst/>
          </a:prstGeom>
          <a:solidFill>
            <a:srgbClr val="FFFFFF"/>
          </a:solidFill>
          <a:ln/>
        </p:spPr>
        <p:txBody>
          <a:bodyPr wrap="square" lIns="381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Q-Learning</a:t>
            </a:r>
            <a:endParaRPr lang="en-US" sz="1300" dirty="0"/>
          </a:p>
        </p:txBody>
      </p:sp>
      <p:sp>
        <p:nvSpPr>
          <p:cNvPr id="15" name="Shape 13"/>
          <p:cNvSpPr/>
          <p:nvPr/>
        </p:nvSpPr>
        <p:spPr>
          <a:xfrm>
            <a:off x="658368" y="2459736"/>
            <a:ext cx="182880" cy="182880"/>
          </a:xfrm>
          <a:prstGeom prst="rect">
            <a:avLst/>
          </a:prstGeom>
          <a:solidFill>
            <a:srgbClr val="2F6FE4"/>
          </a:solidFill>
          <a:ln w="9525">
            <a:solidFill>
              <a:srgbClr val="000000"/>
            </a:solidFill>
            <a:prstDash val="solid"/>
          </a:ln>
        </p:spPr>
      </p:sp>
      <p:sp>
        <p:nvSpPr>
          <p:cNvPr id="16" name="cellule"/>
          <p:cNvSpPr txBox="1"/>
          <p:nvPr/>
        </p:nvSpPr>
        <p:spPr>
          <a:xfrm>
            <a:off x="2697480" y="2322576"/>
            <a:ext cx="123444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16 s</a:t>
            </a:r>
            <a:endParaRPr lang="en-US" sz="1300" dirty="0"/>
          </a:p>
        </p:txBody>
      </p:sp>
      <p:sp>
        <p:nvSpPr>
          <p:cNvPr id="17" name="cellule"/>
          <p:cNvSpPr txBox="1"/>
          <p:nvPr/>
        </p:nvSpPr>
        <p:spPr>
          <a:xfrm>
            <a:off x="3931920" y="2322576"/>
            <a:ext cx="132588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0,028 Wh</a:t>
            </a:r>
            <a:endParaRPr lang="en-US" sz="1300" dirty="0"/>
          </a:p>
        </p:txBody>
      </p:sp>
      <p:sp>
        <p:nvSpPr>
          <p:cNvPr id="18" name="cellule"/>
          <p:cNvSpPr txBox="1"/>
          <p:nvPr/>
        </p:nvSpPr>
        <p:spPr>
          <a:xfrm>
            <a:off x="5257800" y="2322576"/>
            <a:ext cx="118872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0,002 g</a:t>
            </a:r>
            <a:endParaRPr lang="en-US" sz="1300" dirty="0"/>
          </a:p>
        </p:txBody>
      </p:sp>
      <p:sp>
        <p:nvSpPr>
          <p:cNvPr id="19" name="cellule"/>
          <p:cNvSpPr txBox="1"/>
          <p:nvPr/>
        </p:nvSpPr>
        <p:spPr>
          <a:xfrm>
            <a:off x="6446520" y="2322576"/>
            <a:ext cx="105156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×1</a:t>
            </a:r>
            <a:endParaRPr lang="en-US" sz="1300" dirty="0"/>
          </a:p>
        </p:txBody>
      </p:sp>
      <p:sp>
        <p:nvSpPr>
          <p:cNvPr id="20" name="cellule"/>
          <p:cNvSpPr txBox="1"/>
          <p:nvPr/>
        </p:nvSpPr>
        <p:spPr>
          <a:xfrm>
            <a:off x="548640" y="2779776"/>
            <a:ext cx="2148840" cy="457200"/>
          </a:xfrm>
          <a:prstGeom prst="rect">
            <a:avLst/>
          </a:prstGeom>
          <a:solidFill>
            <a:srgbClr val="EAF1FE"/>
          </a:solidFill>
          <a:ln/>
        </p:spPr>
        <p:txBody>
          <a:bodyPr wrap="square" lIns="381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SARSA</a:t>
            </a:r>
            <a:endParaRPr lang="en-US" sz="1300" dirty="0"/>
          </a:p>
        </p:txBody>
      </p:sp>
      <p:sp>
        <p:nvSpPr>
          <p:cNvPr id="21" name="Shape 19"/>
          <p:cNvSpPr/>
          <p:nvPr/>
        </p:nvSpPr>
        <p:spPr>
          <a:xfrm>
            <a:off x="658368" y="2916936"/>
            <a:ext cx="182880" cy="182880"/>
          </a:xfrm>
          <a:prstGeom prst="rect">
            <a:avLst/>
          </a:prstGeom>
          <a:solidFill>
            <a:srgbClr val="15911F"/>
          </a:solidFill>
          <a:ln w="9525">
            <a:solidFill>
              <a:srgbClr val="000000"/>
            </a:solidFill>
            <a:prstDash val="solid"/>
          </a:ln>
        </p:spPr>
      </p:sp>
      <p:sp>
        <p:nvSpPr>
          <p:cNvPr id="22" name="cellule"/>
          <p:cNvSpPr txBox="1"/>
          <p:nvPr/>
        </p:nvSpPr>
        <p:spPr>
          <a:xfrm>
            <a:off x="2697480" y="2779776"/>
            <a:ext cx="123444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16 s</a:t>
            </a:r>
            <a:endParaRPr lang="en-US" sz="1300" dirty="0"/>
          </a:p>
        </p:txBody>
      </p:sp>
      <p:sp>
        <p:nvSpPr>
          <p:cNvPr id="23" name="cellule"/>
          <p:cNvSpPr txBox="1"/>
          <p:nvPr/>
        </p:nvSpPr>
        <p:spPr>
          <a:xfrm>
            <a:off x="3931920" y="2779776"/>
            <a:ext cx="1325880" cy="457200"/>
          </a:xfrm>
          <a:prstGeom prst="rect">
            <a:avLst/>
          </a:prstGeom>
          <a:solidFill>
            <a:srgbClr val="FFE27A"/>
          </a:solidFill>
          <a:ln/>
        </p:spPr>
        <p:txBody>
          <a:bodyPr wrap="square" lIns="25400" tIns="25400" rIns="25400" bIns="25400" rtlCol="0" anchor="ctr"/>
          <a:lstStyle/>
          <a:p>
            <a:pPr algn="ctr" indent="0" marL="0">
              <a:buNone/>
            </a:pPr>
            <a:r>
              <a:rPr lang="en-US" sz="1300" b="1" dirty="0">
                <a:solidFill>
                  <a:srgbClr val="14183D"/>
                </a:solidFill>
                <a:latin typeface="Montserrat" pitchFamily="34" charset="0"/>
                <a:ea typeface="Montserrat" pitchFamily="34" charset="-122"/>
                <a:cs typeface="Montserrat" pitchFamily="34" charset="-120"/>
              </a:rPr>
              <a:t>0,026 Wh</a:t>
            </a:r>
            <a:endParaRPr lang="en-US" sz="1300" dirty="0"/>
          </a:p>
        </p:txBody>
      </p:sp>
      <p:sp>
        <p:nvSpPr>
          <p:cNvPr id="24" name="cellule"/>
          <p:cNvSpPr txBox="1"/>
          <p:nvPr/>
        </p:nvSpPr>
        <p:spPr>
          <a:xfrm>
            <a:off x="5257800" y="2779776"/>
            <a:ext cx="1188720" cy="457200"/>
          </a:xfrm>
          <a:prstGeom prst="rect">
            <a:avLst/>
          </a:prstGeom>
          <a:solidFill>
            <a:srgbClr val="FFE27A"/>
          </a:solidFill>
          <a:ln/>
        </p:spPr>
        <p:txBody>
          <a:bodyPr wrap="square" lIns="25400" tIns="25400" rIns="25400" bIns="25400" rtlCol="0" anchor="ctr"/>
          <a:lstStyle/>
          <a:p>
            <a:pPr algn="ctr" indent="0" marL="0">
              <a:buNone/>
            </a:pPr>
            <a:r>
              <a:rPr lang="en-US" sz="1300" b="1" dirty="0">
                <a:solidFill>
                  <a:srgbClr val="14183D"/>
                </a:solidFill>
                <a:latin typeface="Montserrat" pitchFamily="34" charset="0"/>
                <a:ea typeface="Montserrat" pitchFamily="34" charset="-122"/>
                <a:cs typeface="Montserrat" pitchFamily="34" charset="-120"/>
              </a:rPr>
              <a:t>0,001 g</a:t>
            </a:r>
            <a:endParaRPr lang="en-US" sz="1300" dirty="0"/>
          </a:p>
        </p:txBody>
      </p:sp>
      <p:sp>
        <p:nvSpPr>
          <p:cNvPr id="25" name="cellule"/>
          <p:cNvSpPr txBox="1"/>
          <p:nvPr/>
        </p:nvSpPr>
        <p:spPr>
          <a:xfrm>
            <a:off x="6446520" y="2779776"/>
            <a:ext cx="105156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×0,9</a:t>
            </a:r>
            <a:endParaRPr lang="en-US" sz="1300" dirty="0"/>
          </a:p>
        </p:txBody>
      </p:sp>
      <p:sp>
        <p:nvSpPr>
          <p:cNvPr id="26" name="cellule"/>
          <p:cNvSpPr txBox="1"/>
          <p:nvPr/>
        </p:nvSpPr>
        <p:spPr>
          <a:xfrm>
            <a:off x="548640" y="3236976"/>
            <a:ext cx="2148840" cy="457200"/>
          </a:xfrm>
          <a:prstGeom prst="rect">
            <a:avLst/>
          </a:prstGeom>
          <a:solidFill>
            <a:srgbClr val="FFFFFF"/>
          </a:solidFill>
          <a:ln/>
        </p:spPr>
        <p:txBody>
          <a:bodyPr wrap="square" lIns="381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Monte Carlo</a:t>
            </a:r>
            <a:endParaRPr lang="en-US" sz="1300" dirty="0"/>
          </a:p>
        </p:txBody>
      </p:sp>
      <p:sp>
        <p:nvSpPr>
          <p:cNvPr id="27" name="Shape 25"/>
          <p:cNvSpPr/>
          <p:nvPr/>
        </p:nvSpPr>
        <p:spPr>
          <a:xfrm>
            <a:off x="658368" y="3374136"/>
            <a:ext cx="182880" cy="182880"/>
          </a:xfrm>
          <a:prstGeom prst="rect">
            <a:avLst/>
          </a:prstGeom>
          <a:solidFill>
            <a:srgbClr val="E8790C"/>
          </a:solidFill>
          <a:ln w="9525">
            <a:solidFill>
              <a:srgbClr val="000000"/>
            </a:solidFill>
            <a:prstDash val="solid"/>
          </a:ln>
        </p:spPr>
      </p:sp>
      <p:sp>
        <p:nvSpPr>
          <p:cNvPr id="28" name="cellule"/>
          <p:cNvSpPr txBox="1"/>
          <p:nvPr/>
        </p:nvSpPr>
        <p:spPr>
          <a:xfrm>
            <a:off x="2697480" y="3236976"/>
            <a:ext cx="123444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33 s</a:t>
            </a:r>
            <a:endParaRPr lang="en-US" sz="1300" dirty="0"/>
          </a:p>
        </p:txBody>
      </p:sp>
      <p:sp>
        <p:nvSpPr>
          <p:cNvPr id="29" name="cellule"/>
          <p:cNvSpPr txBox="1"/>
          <p:nvPr/>
        </p:nvSpPr>
        <p:spPr>
          <a:xfrm>
            <a:off x="3931920" y="3236976"/>
            <a:ext cx="132588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0,047 Wh</a:t>
            </a:r>
            <a:endParaRPr lang="en-US" sz="1300" dirty="0"/>
          </a:p>
        </p:txBody>
      </p:sp>
      <p:sp>
        <p:nvSpPr>
          <p:cNvPr id="30" name="cellule"/>
          <p:cNvSpPr txBox="1"/>
          <p:nvPr/>
        </p:nvSpPr>
        <p:spPr>
          <a:xfrm>
            <a:off x="5257800" y="3236976"/>
            <a:ext cx="118872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0,003 g</a:t>
            </a:r>
            <a:endParaRPr lang="en-US" sz="1300" dirty="0"/>
          </a:p>
        </p:txBody>
      </p:sp>
      <p:sp>
        <p:nvSpPr>
          <p:cNvPr id="31" name="cellule"/>
          <p:cNvSpPr txBox="1"/>
          <p:nvPr/>
        </p:nvSpPr>
        <p:spPr>
          <a:xfrm>
            <a:off x="6446520" y="3236976"/>
            <a:ext cx="105156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×1,7</a:t>
            </a:r>
            <a:endParaRPr lang="en-US" sz="1300" dirty="0"/>
          </a:p>
        </p:txBody>
      </p:sp>
      <p:sp>
        <p:nvSpPr>
          <p:cNvPr id="32" name="cellule"/>
          <p:cNvSpPr txBox="1"/>
          <p:nvPr/>
        </p:nvSpPr>
        <p:spPr>
          <a:xfrm>
            <a:off x="548640" y="3694176"/>
            <a:ext cx="2148840" cy="457200"/>
          </a:xfrm>
          <a:prstGeom prst="rect">
            <a:avLst/>
          </a:prstGeom>
          <a:solidFill>
            <a:srgbClr val="EAF1FE"/>
          </a:solidFill>
          <a:ln/>
        </p:spPr>
        <p:txBody>
          <a:bodyPr wrap="square" lIns="381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DQN de l'article</a:t>
            </a:r>
            <a:endParaRPr lang="en-US" sz="1300" dirty="0"/>
          </a:p>
        </p:txBody>
      </p:sp>
      <p:sp>
        <p:nvSpPr>
          <p:cNvPr id="33" name="Shape 31"/>
          <p:cNvSpPr/>
          <p:nvPr/>
        </p:nvSpPr>
        <p:spPr>
          <a:xfrm>
            <a:off x="658368" y="3831336"/>
            <a:ext cx="182880" cy="182880"/>
          </a:xfrm>
          <a:prstGeom prst="rect">
            <a:avLst/>
          </a:prstGeom>
          <a:solidFill>
            <a:srgbClr val="D62839"/>
          </a:solidFill>
          <a:ln w="9525">
            <a:solidFill>
              <a:srgbClr val="000000"/>
            </a:solidFill>
            <a:prstDash val="solid"/>
          </a:ln>
        </p:spPr>
      </p:sp>
      <p:sp>
        <p:nvSpPr>
          <p:cNvPr id="34" name="cellule"/>
          <p:cNvSpPr txBox="1"/>
          <p:nvPr/>
        </p:nvSpPr>
        <p:spPr>
          <a:xfrm>
            <a:off x="2697480" y="3694176"/>
            <a:ext cx="123444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2,6 min</a:t>
            </a:r>
            <a:endParaRPr lang="en-US" sz="1300" dirty="0"/>
          </a:p>
        </p:txBody>
      </p:sp>
      <p:sp>
        <p:nvSpPr>
          <p:cNvPr id="35" name="cellule"/>
          <p:cNvSpPr txBox="1"/>
          <p:nvPr/>
        </p:nvSpPr>
        <p:spPr>
          <a:xfrm>
            <a:off x="3931920" y="3694176"/>
            <a:ext cx="132588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0,24 Wh</a:t>
            </a:r>
            <a:endParaRPr lang="en-US" sz="1300" dirty="0"/>
          </a:p>
        </p:txBody>
      </p:sp>
      <p:sp>
        <p:nvSpPr>
          <p:cNvPr id="36" name="cellule"/>
          <p:cNvSpPr txBox="1"/>
          <p:nvPr/>
        </p:nvSpPr>
        <p:spPr>
          <a:xfrm>
            <a:off x="5257800" y="3694176"/>
            <a:ext cx="118872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0,014 g</a:t>
            </a:r>
            <a:endParaRPr lang="en-US" sz="1300" dirty="0"/>
          </a:p>
        </p:txBody>
      </p:sp>
      <p:sp>
        <p:nvSpPr>
          <p:cNvPr id="37" name="cellule"/>
          <p:cNvSpPr txBox="1"/>
          <p:nvPr/>
        </p:nvSpPr>
        <p:spPr>
          <a:xfrm>
            <a:off x="6446520" y="3694176"/>
            <a:ext cx="105156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×9</a:t>
            </a:r>
            <a:endParaRPr lang="en-US" sz="1300" dirty="0"/>
          </a:p>
        </p:txBody>
      </p:sp>
      <p:sp>
        <p:nvSpPr>
          <p:cNvPr id="38" name="cellule"/>
          <p:cNvSpPr txBox="1"/>
          <p:nvPr/>
        </p:nvSpPr>
        <p:spPr>
          <a:xfrm>
            <a:off x="548640" y="4151376"/>
            <a:ext cx="2148840" cy="457200"/>
          </a:xfrm>
          <a:prstGeom prst="rect">
            <a:avLst/>
          </a:prstGeom>
          <a:solidFill>
            <a:srgbClr val="FFFFFF"/>
          </a:solidFill>
          <a:ln/>
        </p:spPr>
        <p:txBody>
          <a:bodyPr wrap="square" lIns="381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Notre DQN</a:t>
            </a:r>
            <a:endParaRPr lang="en-US" sz="1300" dirty="0"/>
          </a:p>
        </p:txBody>
      </p:sp>
      <p:sp>
        <p:nvSpPr>
          <p:cNvPr id="39" name="Shape 37"/>
          <p:cNvSpPr/>
          <p:nvPr/>
        </p:nvSpPr>
        <p:spPr>
          <a:xfrm>
            <a:off x="658368" y="4288536"/>
            <a:ext cx="182880" cy="182880"/>
          </a:xfrm>
          <a:prstGeom prst="rect">
            <a:avLst/>
          </a:prstGeom>
          <a:solidFill>
            <a:srgbClr val="7B3FE4"/>
          </a:solidFill>
          <a:ln w="9525">
            <a:solidFill>
              <a:srgbClr val="000000"/>
            </a:solidFill>
            <a:prstDash val="solid"/>
          </a:ln>
        </p:spPr>
      </p:sp>
      <p:sp>
        <p:nvSpPr>
          <p:cNvPr id="40" name="cellule"/>
          <p:cNvSpPr txBox="1"/>
          <p:nvPr/>
        </p:nvSpPr>
        <p:spPr>
          <a:xfrm>
            <a:off x="2697480" y="4151376"/>
            <a:ext cx="123444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24 min</a:t>
            </a:r>
            <a:endParaRPr lang="en-US" sz="1300" dirty="0"/>
          </a:p>
        </p:txBody>
      </p:sp>
      <p:sp>
        <p:nvSpPr>
          <p:cNvPr id="41" name="cellule"/>
          <p:cNvSpPr txBox="1"/>
          <p:nvPr/>
        </p:nvSpPr>
        <p:spPr>
          <a:xfrm>
            <a:off x="3931920" y="4151376"/>
            <a:ext cx="132588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2,4 Wh</a:t>
            </a:r>
            <a:endParaRPr lang="en-US" sz="1300" dirty="0"/>
          </a:p>
        </p:txBody>
      </p:sp>
      <p:sp>
        <p:nvSpPr>
          <p:cNvPr id="42" name="cellule"/>
          <p:cNvSpPr txBox="1"/>
          <p:nvPr/>
        </p:nvSpPr>
        <p:spPr>
          <a:xfrm>
            <a:off x="5257800" y="4151376"/>
            <a:ext cx="118872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0,14 g</a:t>
            </a:r>
            <a:endParaRPr lang="en-US" sz="1300" dirty="0"/>
          </a:p>
        </p:txBody>
      </p:sp>
      <p:sp>
        <p:nvSpPr>
          <p:cNvPr id="43" name="cellule"/>
          <p:cNvSpPr txBox="1"/>
          <p:nvPr/>
        </p:nvSpPr>
        <p:spPr>
          <a:xfrm>
            <a:off x="6446520" y="4151376"/>
            <a:ext cx="105156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×88</a:t>
            </a:r>
            <a:endParaRPr lang="en-US" sz="1300" dirty="0"/>
          </a:p>
        </p:txBody>
      </p:sp>
      <p:sp>
        <p:nvSpPr>
          <p:cNvPr id="44" name="cellule"/>
          <p:cNvSpPr txBox="1"/>
          <p:nvPr/>
        </p:nvSpPr>
        <p:spPr>
          <a:xfrm>
            <a:off x="548640" y="4608576"/>
            <a:ext cx="2148840" cy="457200"/>
          </a:xfrm>
          <a:prstGeom prst="rect">
            <a:avLst/>
          </a:prstGeom>
          <a:solidFill>
            <a:srgbClr val="EAF1FE"/>
          </a:solidFill>
          <a:ln/>
        </p:spPr>
        <p:txBody>
          <a:bodyPr wrap="square" lIns="381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PPO, vrai jeu</a:t>
            </a:r>
            <a:endParaRPr lang="en-US" sz="1300" dirty="0"/>
          </a:p>
        </p:txBody>
      </p:sp>
      <p:sp>
        <p:nvSpPr>
          <p:cNvPr id="45" name="Shape 43"/>
          <p:cNvSpPr/>
          <p:nvPr/>
        </p:nvSpPr>
        <p:spPr>
          <a:xfrm>
            <a:off x="658368" y="4745736"/>
            <a:ext cx="182880" cy="182880"/>
          </a:xfrm>
          <a:prstGeom prst="rect">
            <a:avLst/>
          </a:prstGeom>
          <a:solidFill>
            <a:srgbClr val="C2338A"/>
          </a:solidFill>
          <a:ln w="9525">
            <a:solidFill>
              <a:srgbClr val="000000"/>
            </a:solidFill>
            <a:prstDash val="solid"/>
          </a:ln>
        </p:spPr>
      </p:sp>
      <p:sp>
        <p:nvSpPr>
          <p:cNvPr id="46" name="cellule"/>
          <p:cNvSpPr txBox="1"/>
          <p:nvPr/>
        </p:nvSpPr>
        <p:spPr>
          <a:xfrm>
            <a:off x="2697480" y="4608576"/>
            <a:ext cx="123444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10,7 min</a:t>
            </a:r>
            <a:endParaRPr lang="en-US" sz="1300" dirty="0"/>
          </a:p>
        </p:txBody>
      </p:sp>
      <p:sp>
        <p:nvSpPr>
          <p:cNvPr id="47" name="cellule"/>
          <p:cNvSpPr txBox="1"/>
          <p:nvPr/>
        </p:nvSpPr>
        <p:spPr>
          <a:xfrm>
            <a:off x="3931920" y="4608576"/>
            <a:ext cx="132588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0,90 Wh</a:t>
            </a:r>
            <a:endParaRPr lang="en-US" sz="1300" dirty="0"/>
          </a:p>
        </p:txBody>
      </p:sp>
      <p:sp>
        <p:nvSpPr>
          <p:cNvPr id="48" name="cellule"/>
          <p:cNvSpPr txBox="1"/>
          <p:nvPr/>
        </p:nvSpPr>
        <p:spPr>
          <a:xfrm>
            <a:off x="5257800" y="4608576"/>
            <a:ext cx="118872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0,050 g</a:t>
            </a:r>
            <a:endParaRPr lang="en-US" sz="1300" dirty="0"/>
          </a:p>
        </p:txBody>
      </p:sp>
      <p:sp>
        <p:nvSpPr>
          <p:cNvPr id="49" name="cellule"/>
          <p:cNvSpPr txBox="1"/>
          <p:nvPr/>
        </p:nvSpPr>
        <p:spPr>
          <a:xfrm>
            <a:off x="6446520" y="4608576"/>
            <a:ext cx="105156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×32</a:t>
            </a:r>
            <a:endParaRPr lang="en-US" sz="1300" dirty="0"/>
          </a:p>
        </p:txBody>
      </p:sp>
      <p:sp>
        <p:nvSpPr>
          <p:cNvPr id="50" name="cellule"/>
          <p:cNvSpPr txBox="1"/>
          <p:nvPr/>
        </p:nvSpPr>
        <p:spPr>
          <a:xfrm>
            <a:off x="548640" y="5065776"/>
            <a:ext cx="2148840" cy="457200"/>
          </a:xfrm>
          <a:prstGeom prst="rect">
            <a:avLst/>
          </a:prstGeom>
          <a:solidFill>
            <a:srgbClr val="FFFFFF"/>
          </a:solidFill>
          <a:ln/>
        </p:spPr>
        <p:txBody>
          <a:bodyPr wrap="square" lIns="381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PPO, Route A</a:t>
            </a:r>
            <a:endParaRPr lang="en-US" sz="1300" dirty="0"/>
          </a:p>
        </p:txBody>
      </p:sp>
      <p:sp>
        <p:nvSpPr>
          <p:cNvPr id="51" name="Shape 49"/>
          <p:cNvSpPr/>
          <p:nvPr/>
        </p:nvSpPr>
        <p:spPr>
          <a:xfrm>
            <a:off x="658368" y="5202936"/>
            <a:ext cx="182880" cy="182880"/>
          </a:xfrm>
          <a:prstGeom prst="rect">
            <a:avLst/>
          </a:prstGeom>
          <a:solidFill>
            <a:srgbClr val="C2338A"/>
          </a:solidFill>
          <a:ln w="9525">
            <a:solidFill>
              <a:srgbClr val="000000"/>
            </a:solidFill>
            <a:prstDash val="solid"/>
          </a:ln>
        </p:spPr>
      </p:sp>
      <p:sp>
        <p:nvSpPr>
          <p:cNvPr id="52" name="cellule"/>
          <p:cNvSpPr txBox="1"/>
          <p:nvPr/>
        </p:nvSpPr>
        <p:spPr>
          <a:xfrm>
            <a:off x="2697480" y="5065776"/>
            <a:ext cx="123444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12,5 min</a:t>
            </a:r>
            <a:endParaRPr lang="en-US" sz="1300" dirty="0"/>
          </a:p>
        </p:txBody>
      </p:sp>
      <p:sp>
        <p:nvSpPr>
          <p:cNvPr id="53" name="cellule"/>
          <p:cNvSpPr txBox="1"/>
          <p:nvPr/>
        </p:nvSpPr>
        <p:spPr>
          <a:xfrm>
            <a:off x="3931920" y="5065776"/>
            <a:ext cx="132588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1,1 Wh</a:t>
            </a:r>
            <a:endParaRPr lang="en-US" sz="1300" dirty="0"/>
          </a:p>
        </p:txBody>
      </p:sp>
      <p:sp>
        <p:nvSpPr>
          <p:cNvPr id="54" name="cellule"/>
          <p:cNvSpPr txBox="1"/>
          <p:nvPr/>
        </p:nvSpPr>
        <p:spPr>
          <a:xfrm>
            <a:off x="5257800" y="5065776"/>
            <a:ext cx="118872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0,062 g</a:t>
            </a:r>
            <a:endParaRPr lang="en-US" sz="1300" dirty="0"/>
          </a:p>
        </p:txBody>
      </p:sp>
      <p:sp>
        <p:nvSpPr>
          <p:cNvPr id="55" name="cellule"/>
          <p:cNvSpPr txBox="1"/>
          <p:nvPr/>
        </p:nvSpPr>
        <p:spPr>
          <a:xfrm>
            <a:off x="6446520" y="5065776"/>
            <a:ext cx="105156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×40</a:t>
            </a:r>
            <a:endParaRPr lang="en-US" sz="1300" dirty="0"/>
          </a:p>
        </p:txBody>
      </p:sp>
      <p:sp>
        <p:nvSpPr>
          <p:cNvPr id="56" name="Text 54"/>
          <p:cNvSpPr txBox="1"/>
          <p:nvPr/>
        </p:nvSpPr>
        <p:spPr>
          <a:xfrm>
            <a:off x="548640" y="5614416"/>
            <a:ext cx="6949440" cy="502920"/>
          </a:xfrm>
          <a:prstGeom prst="rect">
            <a:avLst/>
          </a:prstGeom>
          <a:noFill/>
          <a:ln/>
        </p:spPr>
        <p:txBody>
          <a:bodyPr wrap="square" lIns="0" tIns="0" rIns="0" bIns="0" rtlCol="0" anchor="t"/>
          <a:lstStyle/>
          <a:p>
            <a:pPr indent="0" marL="0">
              <a:buNone/>
            </a:pPr>
            <a:r>
              <a:rPr lang="en-US" sz="1100" dirty="0">
                <a:solidFill>
                  <a:srgbClr val="14183D"/>
                </a:solidFill>
                <a:latin typeface="Montserrat" pitchFamily="34" charset="0"/>
                <a:ea typeface="Montserrat" pitchFamily="34" charset="-122"/>
                <a:cs typeface="Montserrat" pitchFamily="34" charset="-120"/>
              </a:rPr>
              <a:t>CodeCarbon sur MacBook Air M4 (estimation d'après la charge du processeur), électricité française ~56 g de CO2 par kWh.</a:t>
            </a:r>
            <a:endParaRPr lang="en-US" sz="1100" dirty="0"/>
          </a:p>
        </p:txBody>
      </p:sp>
      <p:sp>
        <p:nvSpPr>
          <p:cNvPr id="57" name="carte"/>
          <p:cNvSpPr/>
          <p:nvPr/>
        </p:nvSpPr>
        <p:spPr>
          <a:xfrm>
            <a:off x="7818120" y="1755648"/>
            <a:ext cx="3822192" cy="1481328"/>
          </a:xfrm>
          <a:prstGeom prst="rect">
            <a:avLst/>
          </a:prstGeom>
          <a:solidFill>
            <a:srgbClr val="FFC703"/>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58" name="Text 56"/>
          <p:cNvSpPr txBox="1"/>
          <p:nvPr/>
        </p:nvSpPr>
        <p:spPr>
          <a:xfrm>
            <a:off x="8001000" y="1828800"/>
            <a:ext cx="3474720" cy="640080"/>
          </a:xfrm>
          <a:prstGeom prst="rect">
            <a:avLst/>
          </a:prstGeom>
          <a:noFill/>
          <a:ln/>
        </p:spPr>
        <p:txBody>
          <a:bodyPr wrap="square" lIns="0" tIns="0" rIns="0" bIns="0" rtlCol="0" anchor="ctr"/>
          <a:lstStyle/>
          <a:p>
            <a:pPr indent="0" marL="0">
              <a:buNone/>
            </a:pPr>
            <a:r>
              <a:rPr lang="en-US" sz="3200" b="1" dirty="0">
                <a:solidFill>
                  <a:srgbClr val="14183D"/>
                </a:solidFill>
                <a:latin typeface="Montserrat" pitchFamily="34" charset="0"/>
                <a:ea typeface="Montserrat" pitchFamily="34" charset="-122"/>
                <a:cs typeface="Montserrat" pitchFamily="34" charset="-120"/>
              </a:rPr>
              <a:t>113 Wh</a:t>
            </a:r>
            <a:endParaRPr lang="en-US" sz="3200" dirty="0"/>
          </a:p>
        </p:txBody>
      </p:sp>
      <p:sp>
        <p:nvSpPr>
          <p:cNvPr id="59" name="Text 57"/>
          <p:cNvSpPr txBox="1"/>
          <p:nvPr/>
        </p:nvSpPr>
        <p:spPr>
          <a:xfrm>
            <a:off x="8001000" y="2450592"/>
            <a:ext cx="3474720" cy="731520"/>
          </a:xfrm>
          <a:prstGeom prst="rect">
            <a:avLst/>
          </a:prstGeom>
          <a:noFill/>
          <a:ln/>
        </p:spPr>
        <p:txBody>
          <a:bodyPr wrap="square" lIns="0" tIns="0" rIns="0" bIns="0" rtlCol="0" anchor="t"/>
          <a:lstStyle/>
          <a:p>
            <a:pPr indent="0" marL="0">
              <a:buNone/>
            </a:pPr>
            <a:r>
              <a:rPr lang="en-US" sz="1250" dirty="0">
                <a:solidFill>
                  <a:srgbClr val="14183D"/>
                </a:solidFill>
                <a:latin typeface="Montserrat" pitchFamily="34" charset="0"/>
                <a:ea typeface="Montserrat" pitchFamily="34" charset="-122"/>
                <a:cs typeface="Montserrat" pitchFamily="34" charset="-120"/>
              </a:rPr>
              <a:t>pour tous nos entraînements finaux : ~1 L d'eau bouillie, ~7 charges de smartphone, 6 g de CO2</a:t>
            </a:r>
            <a:endParaRPr lang="en-US" sz="1250" dirty="0"/>
          </a:p>
        </p:txBody>
      </p:sp>
      <p:sp>
        <p:nvSpPr>
          <p:cNvPr id="60" name="carte"/>
          <p:cNvSpPr/>
          <p:nvPr/>
        </p:nvSpPr>
        <p:spPr>
          <a:xfrm>
            <a:off x="7818120" y="3401568"/>
            <a:ext cx="3822192" cy="1371600"/>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61" name="Text 59"/>
          <p:cNvSpPr txBox="1"/>
          <p:nvPr/>
        </p:nvSpPr>
        <p:spPr>
          <a:xfrm>
            <a:off x="8001000" y="3474720"/>
            <a:ext cx="3474720" cy="566928"/>
          </a:xfrm>
          <a:prstGeom prst="rect">
            <a:avLst/>
          </a:prstGeom>
          <a:noFill/>
          <a:ln/>
        </p:spPr>
        <p:txBody>
          <a:bodyPr wrap="square" lIns="0" tIns="0" rIns="0" bIns="0" rtlCol="0" anchor="ctr"/>
          <a:lstStyle/>
          <a:p>
            <a:pPr indent="0" marL="0">
              <a:buNone/>
            </a:pPr>
            <a:r>
              <a:rPr lang="en-US" sz="2800" b="1" dirty="0">
                <a:solidFill>
                  <a:srgbClr val="D62839"/>
                </a:solidFill>
                <a:latin typeface="Montserrat" pitchFamily="34" charset="0"/>
                <a:ea typeface="Montserrat" pitchFamily="34" charset="-122"/>
                <a:cs typeface="Montserrat" pitchFamily="34" charset="-120"/>
              </a:rPr>
              <a:t>75 %</a:t>
            </a:r>
            <a:endParaRPr lang="en-US" sz="2800" dirty="0"/>
          </a:p>
        </p:txBody>
      </p:sp>
      <p:sp>
        <p:nvSpPr>
          <p:cNvPr id="62" name="Text 60"/>
          <p:cNvSpPr txBox="1"/>
          <p:nvPr/>
        </p:nvSpPr>
        <p:spPr>
          <a:xfrm>
            <a:off x="8001000" y="4023360"/>
            <a:ext cx="3474720" cy="713232"/>
          </a:xfrm>
          <a:prstGeom prst="rect">
            <a:avLst/>
          </a:prstGeom>
          <a:noFill/>
          <a:ln/>
        </p:spPr>
        <p:txBody>
          <a:bodyPr wrap="square" lIns="0" tIns="0" rIns="0" bIns="0" rtlCol="0" anchor="t"/>
          <a:lstStyle/>
          <a:p>
            <a:pPr indent="0" marL="0">
              <a:buNone/>
            </a:pPr>
            <a:r>
              <a:rPr lang="en-US" sz="1250" dirty="0">
                <a:solidFill>
                  <a:srgbClr val="14183D"/>
                </a:solidFill>
                <a:latin typeface="Montserrat" pitchFamily="34" charset="0"/>
                <a:ea typeface="Montserrat" pitchFamily="34" charset="-122"/>
                <a:cs typeface="Montserrat" pitchFamily="34" charset="-120"/>
              </a:rPr>
              <a:t>du total pour le seul réseau convolutif (carte graphique)… pour un moins bon résultat</a:t>
            </a:r>
            <a:endParaRPr lang="en-US" sz="1250" dirty="0"/>
          </a:p>
        </p:txBody>
      </p:sp>
      <p:sp>
        <p:nvSpPr>
          <p:cNvPr id="63" name="carte"/>
          <p:cNvSpPr/>
          <p:nvPr/>
        </p:nvSpPr>
        <p:spPr>
          <a:xfrm>
            <a:off x="7818120" y="4937760"/>
            <a:ext cx="3822192" cy="135331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64" name="Text 62"/>
          <p:cNvSpPr txBox="1"/>
          <p:nvPr/>
        </p:nvSpPr>
        <p:spPr>
          <a:xfrm>
            <a:off x="8001000" y="5010912"/>
            <a:ext cx="3474720" cy="566928"/>
          </a:xfrm>
          <a:prstGeom prst="rect">
            <a:avLst/>
          </a:prstGeom>
          <a:noFill/>
          <a:ln/>
        </p:spPr>
        <p:txBody>
          <a:bodyPr wrap="square" lIns="0" tIns="0" rIns="0" bIns="0" rtlCol="0" anchor="ctr"/>
          <a:lstStyle/>
          <a:p>
            <a:pPr indent="0" marL="0">
              <a:buNone/>
            </a:pPr>
            <a:r>
              <a:rPr lang="en-US" sz="2800" b="1" dirty="0">
                <a:solidFill>
                  <a:srgbClr val="7B3FE4"/>
                </a:solidFill>
                <a:latin typeface="Montserrat" pitchFamily="34" charset="0"/>
                <a:ea typeface="Montserrat" pitchFamily="34" charset="-122"/>
                <a:cs typeface="Montserrat" pitchFamily="34" charset="-120"/>
              </a:rPr>
              <a:t>×88</a:t>
            </a:r>
            <a:endParaRPr lang="en-US" sz="2800" dirty="0"/>
          </a:p>
        </p:txBody>
      </p:sp>
      <p:sp>
        <p:nvSpPr>
          <p:cNvPr id="65" name="Text 63"/>
          <p:cNvSpPr txBox="1"/>
          <p:nvPr/>
        </p:nvSpPr>
        <p:spPr>
          <a:xfrm>
            <a:off x="8001000" y="5559552"/>
            <a:ext cx="3474720" cy="685800"/>
          </a:xfrm>
          <a:prstGeom prst="rect">
            <a:avLst/>
          </a:prstGeom>
          <a:noFill/>
          <a:ln/>
        </p:spPr>
        <p:txBody>
          <a:bodyPr wrap="square" lIns="0" tIns="0" rIns="0" bIns="0" rtlCol="0" anchor="t"/>
          <a:lstStyle/>
          <a:p>
            <a:pPr indent="0" marL="0">
              <a:buNone/>
            </a:pPr>
            <a:r>
              <a:rPr lang="en-US" sz="1250" dirty="0">
                <a:solidFill>
                  <a:srgbClr val="14183D"/>
                </a:solidFill>
                <a:latin typeface="Montserrat" pitchFamily="34" charset="0"/>
                <a:ea typeface="Montserrat" pitchFamily="34" charset="-122"/>
                <a:cs typeface="Montserrat" pitchFamily="34" charset="-120"/>
              </a:rPr>
              <a:t>pour notre DQN face à Q-Learning, pour 5 points de robustesse en plus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WORLD 1-4 - LE RECUL</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NOTRE AUTO-CRITIQUE</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Ce que nos résultats ne disent pas, et ce que nous ferions avec plus de temps.</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19</a:t>
            </a:r>
            <a:endParaRPr lang="en-US" sz="1000" dirty="0"/>
          </a:p>
        </p:txBody>
      </p:sp>
      <p:sp>
        <p:nvSpPr>
          <p:cNvPr id="8" name="carte"/>
          <p:cNvSpPr/>
          <p:nvPr/>
        </p:nvSpPr>
        <p:spPr>
          <a:xfrm>
            <a:off x="548640" y="1737360"/>
            <a:ext cx="6172200" cy="455371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9" name="etiquette"/>
          <p:cNvSpPr txBox="1"/>
          <p:nvPr/>
        </p:nvSpPr>
        <p:spPr>
          <a:xfrm>
            <a:off x="548640" y="1737360"/>
            <a:ext cx="1600200" cy="329184"/>
          </a:xfrm>
          <a:prstGeom prst="rect">
            <a:avLst/>
          </a:prstGeom>
          <a:solidFill>
            <a:srgbClr val="D62839"/>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NOS LIMITES</a:t>
            </a:r>
            <a:endParaRPr lang="en-US" sz="1200" dirty="0"/>
          </a:p>
        </p:txBody>
      </p:sp>
      <p:sp>
        <p:nvSpPr>
          <p:cNvPr id="10" name="Text 8"/>
          <p:cNvSpPr txBox="1"/>
          <p:nvPr/>
        </p:nvSpPr>
        <p:spPr>
          <a:xfrm>
            <a:off x="749808" y="2240280"/>
            <a:ext cx="5806440" cy="397764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350" b="1" dirty="0">
                <a:solidFill>
                  <a:srgbClr val="14183D"/>
                </a:solidFill>
                <a:latin typeface="Montserrat" pitchFamily="34" charset="0"/>
                <a:ea typeface="Montserrat" pitchFamily="34" charset="-122"/>
                <a:cs typeface="Montserrat" pitchFamily="34" charset="-120"/>
              </a:rPr>
              <a:t>6000 épisodes </a:t>
            </a:r>
            <a:r>
              <a:rPr lang="en-US" sz="1350" dirty="0">
                <a:solidFill>
                  <a:srgbClr val="14183D"/>
                </a:solidFill>
                <a:latin typeface="Montserrat" pitchFamily="34" charset="0"/>
                <a:ea typeface="Montserrat" pitchFamily="34" charset="-122"/>
                <a:cs typeface="Montserrat" pitchFamily="34" charset="-120"/>
              </a:rPr>
              <a:t>au lieu de 10 000, pour tout faire tourner sur un portable</a:t>
            </a:r>
            <a:endParaRPr lang="en-US" sz="1350" dirty="0"/>
          </a:p>
          <a:p>
            <a:pPr marL="177800" indent="-177800">
              <a:lnSpc>
                <a:spcPct val="105000"/>
              </a:lnSpc>
              <a:spcAft>
                <a:spcPts val="800"/>
              </a:spcAft>
              <a:buSzPct val="100000"/>
              <a:buChar char="•"/>
            </a:pPr>
            <a:r>
              <a:rPr lang="en-US" sz="1350" b="1" dirty="0">
                <a:solidFill>
                  <a:srgbClr val="14183D"/>
                </a:solidFill>
                <a:latin typeface="Montserrat" pitchFamily="34" charset="0"/>
                <a:ea typeface="Montserrat" pitchFamily="34" charset="-122"/>
                <a:cs typeface="Montserrat" pitchFamily="34" charset="-120"/>
              </a:rPr>
              <a:t>L'expérience sur l'ordre du niveau </a:t>
            </a:r>
            <a:r>
              <a:rPr lang="en-US" sz="1350" dirty="0">
                <a:solidFill>
                  <a:srgbClr val="14183D"/>
                </a:solidFill>
                <a:latin typeface="Montserrat" pitchFamily="34" charset="0"/>
                <a:ea typeface="Montserrat" pitchFamily="34" charset="-122"/>
                <a:cs typeface="Montserrat" pitchFamily="34" charset="-120"/>
              </a:rPr>
              <a:t>n'a pas été refaite</a:t>
            </a:r>
            <a:endParaRPr lang="en-US" sz="1350" dirty="0"/>
          </a:p>
          <a:p>
            <a:pPr marL="177800" indent="-177800">
              <a:lnSpc>
                <a:spcPct val="105000"/>
              </a:lnSpc>
              <a:spcAft>
                <a:spcPts val="800"/>
              </a:spcAft>
              <a:buSzPct val="100000"/>
              <a:buChar char="•"/>
            </a:pPr>
            <a:r>
              <a:rPr lang="en-US" sz="1350" b="1" dirty="0">
                <a:solidFill>
                  <a:srgbClr val="14183D"/>
                </a:solidFill>
                <a:latin typeface="Montserrat" pitchFamily="34" charset="0"/>
                <a:ea typeface="Montserrat" pitchFamily="34" charset="-122"/>
                <a:cs typeface="Montserrat" pitchFamily="34" charset="-120"/>
              </a:rPr>
              <a:t>Règles des ennemis devinées : </a:t>
            </a:r>
            <a:r>
              <a:rPr lang="en-US" sz="1350" dirty="0">
                <a:solidFill>
                  <a:srgbClr val="14183D"/>
                </a:solidFill>
                <a:latin typeface="Montserrat" pitchFamily="34" charset="0"/>
                <a:ea typeface="Montserrat" pitchFamily="34" charset="-122"/>
                <a:cs typeface="Montserrat" pitchFamily="34" charset="-120"/>
              </a:rPr>
              <a:t>nos Goombas sont plus faciles, nos scores plus hauts</a:t>
            </a:r>
            <a:endParaRPr lang="en-US" sz="1350" dirty="0"/>
          </a:p>
          <a:p>
            <a:pPr marL="177800" indent="-177800">
              <a:lnSpc>
                <a:spcPct val="105000"/>
              </a:lnSpc>
              <a:spcAft>
                <a:spcPts val="800"/>
              </a:spcAft>
              <a:buSzPct val="100000"/>
              <a:buChar char="•"/>
            </a:pPr>
            <a:r>
              <a:rPr lang="en-US" sz="1350" b="1" dirty="0">
                <a:solidFill>
                  <a:srgbClr val="14183D"/>
                </a:solidFill>
                <a:latin typeface="Montserrat" pitchFamily="34" charset="0"/>
                <a:ea typeface="Montserrat" pitchFamily="34" charset="-122"/>
                <a:cs typeface="Montserrat" pitchFamily="34" charset="-120"/>
              </a:rPr>
              <a:t>Notre DQN réglé sur les graines 42 et 43, </a:t>
            </a:r>
            <a:r>
              <a:rPr lang="en-US" sz="1350" dirty="0">
                <a:solidFill>
                  <a:srgbClr val="14183D"/>
                </a:solidFill>
                <a:latin typeface="Montserrat" pitchFamily="34" charset="0"/>
                <a:ea typeface="Montserrat" pitchFamily="34" charset="-122"/>
                <a:cs typeface="Montserrat" pitchFamily="34" charset="-120"/>
              </a:rPr>
              <a:t>puis évalué avec elles ; garder sa meilleure version l'avantage au test de robustesse</a:t>
            </a:r>
            <a:endParaRPr lang="en-US" sz="1350" dirty="0"/>
          </a:p>
          <a:p>
            <a:pPr marL="177800" indent="-177800">
              <a:lnSpc>
                <a:spcPct val="105000"/>
              </a:lnSpc>
              <a:spcAft>
                <a:spcPts val="800"/>
              </a:spcAft>
              <a:buSzPct val="100000"/>
              <a:buChar char="•"/>
            </a:pPr>
            <a:r>
              <a:rPr lang="en-US" sz="1350" b="1" dirty="0">
                <a:solidFill>
                  <a:srgbClr val="14183D"/>
                </a:solidFill>
                <a:latin typeface="Montserrat" pitchFamily="34" charset="0"/>
                <a:ea typeface="Montserrat" pitchFamily="34" charset="-122"/>
                <a:cs typeface="Montserrat" pitchFamily="34" charset="-120"/>
              </a:rPr>
              <a:t>Énergie estimée, </a:t>
            </a:r>
            <a:r>
              <a:rPr lang="en-US" sz="1350" dirty="0">
                <a:solidFill>
                  <a:srgbClr val="14183D"/>
                </a:solidFill>
                <a:latin typeface="Montserrat" pitchFamily="34" charset="0"/>
                <a:ea typeface="Montserrat" pitchFamily="34" charset="-122"/>
                <a:cs typeface="Montserrat" pitchFamily="34" charset="-120"/>
              </a:rPr>
              <a:t>pas mesurée par un capteur, et pour toute la machine</a:t>
            </a:r>
            <a:endParaRPr lang="en-US" sz="1350" dirty="0"/>
          </a:p>
          <a:p>
            <a:pPr marL="177800" indent="-177800">
              <a:lnSpc>
                <a:spcPct val="105000"/>
              </a:lnSpc>
              <a:spcAft>
                <a:spcPts val="800"/>
              </a:spcAft>
              <a:buSzPct val="100000"/>
              <a:buChar char="•"/>
            </a:pPr>
            <a:r>
              <a:rPr lang="en-US" sz="1350" b="1" dirty="0">
                <a:solidFill>
                  <a:srgbClr val="14183D"/>
                </a:solidFill>
                <a:latin typeface="Montserrat" pitchFamily="34" charset="0"/>
                <a:ea typeface="Montserrat" pitchFamily="34" charset="-122"/>
                <a:cs typeface="Montserrat" pitchFamily="34" charset="-120"/>
              </a:rPr>
              <a:t>Route A façonnée à la main : </a:t>
            </a:r>
            <a:r>
              <a:rPr lang="en-US" sz="1350" dirty="0">
                <a:solidFill>
                  <a:srgbClr val="14183D"/>
                </a:solidFill>
                <a:latin typeface="Montserrat" pitchFamily="34" charset="0"/>
                <a:ea typeface="Montserrat" pitchFamily="34" charset="-122"/>
                <a:cs typeface="Montserrat" pitchFamily="34" charset="-120"/>
              </a:rPr>
              <a:t>l'IA apprend ce qu'on a prévu pour elle</a:t>
            </a:r>
            <a:endParaRPr lang="en-US" sz="1350" dirty="0"/>
          </a:p>
        </p:txBody>
      </p:sp>
      <p:sp>
        <p:nvSpPr>
          <p:cNvPr id="11" name="carte"/>
          <p:cNvSpPr/>
          <p:nvPr/>
        </p:nvSpPr>
        <p:spPr>
          <a:xfrm>
            <a:off x="6995160" y="1737360"/>
            <a:ext cx="4645152" cy="2194560"/>
          </a:xfrm>
          <a:prstGeom prst="rect">
            <a:avLst/>
          </a:prstGeom>
          <a:solidFill>
            <a:srgbClr val="FFC703"/>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2" name="etiquette"/>
          <p:cNvSpPr txBox="1"/>
          <p:nvPr/>
        </p:nvSpPr>
        <p:spPr>
          <a:xfrm>
            <a:off x="6995160" y="1737360"/>
            <a:ext cx="1874520" cy="329184"/>
          </a:xfrm>
          <a:prstGeom prst="rect">
            <a:avLst/>
          </a:prstGeom>
          <a:solidFill>
            <a:srgbClr val="14183D"/>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L'IA COMME OUTIL</a:t>
            </a:r>
            <a:endParaRPr lang="en-US" sz="1200" dirty="0"/>
          </a:p>
        </p:txBody>
      </p:sp>
      <p:sp>
        <p:nvSpPr>
          <p:cNvPr id="13" name="Text 11"/>
          <p:cNvSpPr txBox="1"/>
          <p:nvPr/>
        </p:nvSpPr>
        <p:spPr>
          <a:xfrm>
            <a:off x="7178040" y="2176272"/>
            <a:ext cx="4297680" cy="1691640"/>
          </a:xfrm>
          <a:prstGeom prst="rect">
            <a:avLst/>
          </a:prstGeom>
          <a:noFill/>
          <a:ln/>
        </p:spPr>
        <p:txBody>
          <a:bodyPr wrap="square" lIns="0" tIns="0" rIns="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DQN et PPO optimisés avec Claude (assistant IA). </a:t>
            </a:r>
            <a:r>
              <a:rPr lang="en-US" sz="1350" dirty="0">
                <a:solidFill>
                  <a:srgbClr val="14183D"/>
                </a:solidFill>
                <a:latin typeface="Montserrat" pitchFamily="34" charset="0"/>
                <a:ea typeface="Montserrat" pitchFamily="34" charset="-122"/>
                <a:cs typeface="Montserrat" pitchFamily="34" charset="-120"/>
              </a:rPr>
              <a:t>Gain de temps énorme, mais chaque choix doit être compris et vérifié : étude étape par étape, test de robustesse, rejeu des modèles.</a:t>
            </a:r>
            <a:endParaRPr lang="en-US" sz="1350" dirty="0"/>
          </a:p>
        </p:txBody>
      </p:sp>
      <p:sp>
        <p:nvSpPr>
          <p:cNvPr id="14" name="carte"/>
          <p:cNvSpPr/>
          <p:nvPr/>
        </p:nvSpPr>
        <p:spPr>
          <a:xfrm>
            <a:off x="6995160" y="4096512"/>
            <a:ext cx="4645152" cy="2194560"/>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5" name="etiquette"/>
          <p:cNvSpPr txBox="1"/>
          <p:nvPr/>
        </p:nvSpPr>
        <p:spPr>
          <a:xfrm>
            <a:off x="6995160" y="4096512"/>
            <a:ext cx="2103120" cy="329184"/>
          </a:xfrm>
          <a:prstGeom prst="rect">
            <a:avLst/>
          </a:prstGeom>
          <a:solidFill>
            <a:srgbClr val="15911F"/>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AVEC PLUS DE TEMPS</a:t>
            </a:r>
            <a:endParaRPr lang="en-US" sz="1200" dirty="0"/>
          </a:p>
        </p:txBody>
      </p:sp>
      <p:sp>
        <p:nvSpPr>
          <p:cNvPr id="16" name="Text 14"/>
          <p:cNvSpPr txBox="1"/>
          <p:nvPr/>
        </p:nvSpPr>
        <p:spPr>
          <a:xfrm>
            <a:off x="7178040" y="4572000"/>
            <a:ext cx="4297680" cy="1664208"/>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300" dirty="0">
                <a:solidFill>
                  <a:srgbClr val="14183D"/>
                </a:solidFill>
                <a:latin typeface="Montserrat" pitchFamily="34" charset="0"/>
                <a:ea typeface="Montserrat" pitchFamily="34" charset="-122"/>
                <a:cs typeface="Montserrat" pitchFamily="34" charset="-120"/>
              </a:rPr>
              <a:t>Refaire l'expérience de l'ordre avec Q-Learning et SARSA (question ouverte de l'article)</a:t>
            </a:r>
            <a:endParaRPr lang="en-US" sz="1300" dirty="0"/>
          </a:p>
          <a:p>
            <a:pPr marL="177800" indent="-177800">
              <a:lnSpc>
                <a:spcPct val="105000"/>
              </a:lnSpc>
              <a:spcAft>
                <a:spcPts val="600"/>
              </a:spcAft>
              <a:buSzPct val="100000"/>
              <a:buChar char="•"/>
            </a:pPr>
            <a:r>
              <a:rPr lang="en-US" sz="1300" dirty="0">
                <a:solidFill>
                  <a:srgbClr val="14183D"/>
                </a:solidFill>
                <a:latin typeface="Montserrat" pitchFamily="34" charset="0"/>
                <a:ea typeface="Montserrat" pitchFamily="34" charset="-122"/>
                <a:cs typeface="Montserrat" pitchFamily="34" charset="-120"/>
              </a:rPr>
              <a:t>10 000 épisodes et plus de graines</a:t>
            </a:r>
            <a:endParaRPr lang="en-US" sz="1300" dirty="0"/>
          </a:p>
          <a:p>
            <a:pPr marL="177800" indent="-177800">
              <a:lnSpc>
                <a:spcPct val="105000"/>
              </a:lnSpc>
              <a:spcAft>
                <a:spcPts val="600"/>
              </a:spcAft>
              <a:buSzPct val="100000"/>
              <a:buChar char="•"/>
            </a:pPr>
            <a:r>
              <a:rPr lang="en-US" sz="1300" dirty="0">
                <a:solidFill>
                  <a:srgbClr val="14183D"/>
                </a:solidFill>
                <a:latin typeface="Montserrat" pitchFamily="34" charset="0"/>
                <a:ea typeface="Montserrat" pitchFamily="34" charset="-122"/>
                <a:cs typeface="Montserrat" pitchFamily="34" charset="-120"/>
              </a:rPr>
              <a:t>Tester la vraie question avec des joueurs humains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WORLD 1-4 - LE RECUL</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CE QU'ON RETIENT</a:t>
            </a:r>
            <a:endParaRPr lang="en-US" sz="2800" dirty="0"/>
          </a:p>
        </p:txBody>
      </p:sp>
      <p:sp>
        <p:nvSpPr>
          <p:cNvPr id="6" name="Text 4"/>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20</a:t>
            </a:r>
            <a:endParaRPr lang="en-US" sz="1000" dirty="0"/>
          </a:p>
        </p:txBody>
      </p:sp>
      <p:sp>
        <p:nvSpPr>
          <p:cNvPr id="7" name="carte"/>
          <p:cNvSpPr/>
          <p:nvPr/>
        </p:nvSpPr>
        <p:spPr>
          <a:xfrm>
            <a:off x="548640" y="1371600"/>
            <a:ext cx="3520440" cy="3611880"/>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8" name="Text 6"/>
          <p:cNvSpPr txBox="1"/>
          <p:nvPr/>
        </p:nvSpPr>
        <p:spPr>
          <a:xfrm>
            <a:off x="777240" y="1600200"/>
            <a:ext cx="685800" cy="685800"/>
          </a:xfrm>
          <a:prstGeom prst="rect">
            <a:avLst/>
          </a:prstGeom>
          <a:solidFill>
            <a:srgbClr val="FFC703"/>
          </a:solidFill>
          <a:ln w="15875">
            <a:solidFill>
              <a:srgbClr val="000000"/>
            </a:solidFill>
          </a:ln>
        </p:spPr>
        <p:txBody>
          <a:bodyPr wrap="square" lIns="0" tIns="0" rIns="0" bIns="0" rtlCol="0" anchor="ctr"/>
          <a:lstStyle/>
          <a:p>
            <a:pPr algn="ctr" indent="0" marL="0">
              <a:buNone/>
            </a:pPr>
            <a:r>
              <a:rPr lang="en-US" sz="2800" dirty="0">
                <a:solidFill>
                  <a:srgbClr val="14183D"/>
                </a:solidFill>
                <a:latin typeface="Arcade Gamer" pitchFamily="34" charset="0"/>
                <a:ea typeface="Arcade Gamer" pitchFamily="34" charset="-122"/>
                <a:cs typeface="Arcade Gamer" pitchFamily="34" charset="-120"/>
              </a:rPr>
              <a:t>1</a:t>
            </a:r>
            <a:endParaRPr lang="en-US" sz="2800" dirty="0"/>
          </a:p>
        </p:txBody>
      </p:sp>
      <p:sp>
        <p:nvSpPr>
          <p:cNvPr id="9" name="Text 7"/>
          <p:cNvSpPr txBox="1"/>
          <p:nvPr/>
        </p:nvSpPr>
        <p:spPr>
          <a:xfrm>
            <a:off x="777240" y="2468880"/>
            <a:ext cx="3063240" cy="868680"/>
          </a:xfrm>
          <a:prstGeom prst="rect">
            <a:avLst/>
          </a:prstGeom>
          <a:noFill/>
          <a:ln/>
        </p:spPr>
        <p:txBody>
          <a:bodyPr wrap="square" lIns="0" tIns="0" rIns="0" bIns="0" rtlCol="0" anchor="t"/>
          <a:lstStyle/>
          <a:p>
            <a:pPr indent="0" marL="0">
              <a:buNone/>
            </a:pPr>
            <a:r>
              <a:rPr lang="en-US" sz="1700" b="1" dirty="0">
                <a:solidFill>
                  <a:srgbClr val="14183D"/>
                </a:solidFill>
                <a:latin typeface="Montserrat" pitchFamily="34" charset="0"/>
                <a:ea typeface="Montserrat" pitchFamily="34" charset="-122"/>
                <a:cs typeface="Montserrat" pitchFamily="34" charset="-120"/>
              </a:rPr>
              <a:t>Niveau discret : les tableaux suffisent</a:t>
            </a:r>
            <a:endParaRPr lang="en-US" sz="1700" dirty="0"/>
          </a:p>
        </p:txBody>
      </p:sp>
      <p:sp>
        <p:nvSpPr>
          <p:cNvPr id="10" name="Text 8"/>
          <p:cNvSpPr txBox="1"/>
          <p:nvPr/>
        </p:nvSpPr>
        <p:spPr>
          <a:xfrm>
            <a:off x="777240" y="3383280"/>
            <a:ext cx="3063240" cy="1463040"/>
          </a:xfrm>
          <a:prstGeom prst="rect">
            <a:avLst/>
          </a:prstGeom>
          <a:noFill/>
          <a:ln/>
        </p:spPr>
        <p:txBody>
          <a:bodyPr wrap="square" lIns="0" tIns="0" rIns="0" bIns="0" rtlCol="0" anchor="t"/>
          <a:lstStyle/>
          <a:p>
            <a:pPr indent="0" marL="0">
              <a:buNone/>
            </a:pPr>
            <a:r>
              <a:rPr lang="en-US" sz="1400" dirty="0">
                <a:solidFill>
                  <a:srgbClr val="14183D"/>
                </a:solidFill>
                <a:latin typeface="Montserrat" pitchFamily="34" charset="0"/>
                <a:ea typeface="Montserrat" pitchFamily="34" charset="-122"/>
                <a:cs typeface="Montserrat" pitchFamily="34" charset="-120"/>
              </a:rPr>
              <a:t>95 % de victoires en 16 secondes, avec des résultats reproductibles au bit près.</a:t>
            </a:r>
            <a:endParaRPr lang="en-US" sz="1400" dirty="0"/>
          </a:p>
        </p:txBody>
      </p:sp>
      <p:sp>
        <p:nvSpPr>
          <p:cNvPr id="11" name="carte"/>
          <p:cNvSpPr/>
          <p:nvPr/>
        </p:nvSpPr>
        <p:spPr>
          <a:xfrm>
            <a:off x="4334256" y="1371600"/>
            <a:ext cx="3520440" cy="3611880"/>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2" name="Text 10"/>
          <p:cNvSpPr txBox="1"/>
          <p:nvPr/>
        </p:nvSpPr>
        <p:spPr>
          <a:xfrm>
            <a:off x="4562856" y="1600200"/>
            <a:ext cx="685800" cy="685800"/>
          </a:xfrm>
          <a:prstGeom prst="rect">
            <a:avLst/>
          </a:prstGeom>
          <a:solidFill>
            <a:srgbClr val="FFC703"/>
          </a:solidFill>
          <a:ln w="15875">
            <a:solidFill>
              <a:srgbClr val="000000"/>
            </a:solidFill>
          </a:ln>
        </p:spPr>
        <p:txBody>
          <a:bodyPr wrap="square" lIns="0" tIns="0" rIns="0" bIns="0" rtlCol="0" anchor="ctr"/>
          <a:lstStyle/>
          <a:p>
            <a:pPr algn="ctr" indent="0" marL="0">
              <a:buNone/>
            </a:pPr>
            <a:r>
              <a:rPr lang="en-US" sz="2800" dirty="0">
                <a:solidFill>
                  <a:srgbClr val="14183D"/>
                </a:solidFill>
                <a:latin typeface="Arcade Gamer" pitchFamily="34" charset="0"/>
                <a:ea typeface="Arcade Gamer" pitchFamily="34" charset="-122"/>
                <a:cs typeface="Arcade Gamer" pitchFamily="34" charset="-120"/>
              </a:rPr>
              <a:t>2</a:t>
            </a:r>
            <a:endParaRPr lang="en-US" sz="2800" dirty="0"/>
          </a:p>
        </p:txBody>
      </p:sp>
      <p:sp>
        <p:nvSpPr>
          <p:cNvPr id="13" name="Text 11"/>
          <p:cNvSpPr txBox="1"/>
          <p:nvPr/>
        </p:nvSpPr>
        <p:spPr>
          <a:xfrm>
            <a:off x="4562856" y="2468880"/>
            <a:ext cx="3063240" cy="868680"/>
          </a:xfrm>
          <a:prstGeom prst="rect">
            <a:avLst/>
          </a:prstGeom>
          <a:noFill/>
          <a:ln/>
        </p:spPr>
        <p:txBody>
          <a:bodyPr wrap="square" lIns="0" tIns="0" rIns="0" bIns="0" rtlCol="0" anchor="t"/>
          <a:lstStyle/>
          <a:p>
            <a:pPr indent="0" marL="0">
              <a:buNone/>
            </a:pPr>
            <a:r>
              <a:rPr lang="en-US" sz="1700" b="1" dirty="0">
                <a:solidFill>
                  <a:srgbClr val="14183D"/>
                </a:solidFill>
                <a:latin typeface="Montserrat" pitchFamily="34" charset="0"/>
                <a:ea typeface="Montserrat" pitchFamily="34" charset="-122"/>
                <a:cs typeface="Montserrat" pitchFamily="34" charset="-120"/>
              </a:rPr>
              <a:t>Ce que voit l'IA compte plus que la taille du réseau</a:t>
            </a:r>
            <a:endParaRPr lang="en-US" sz="1700" dirty="0"/>
          </a:p>
        </p:txBody>
      </p:sp>
      <p:sp>
        <p:nvSpPr>
          <p:cNvPr id="14" name="Text 12"/>
          <p:cNvSpPr txBox="1"/>
          <p:nvPr/>
        </p:nvSpPr>
        <p:spPr>
          <a:xfrm>
            <a:off x="4562856" y="3383280"/>
            <a:ext cx="3063240" cy="1463040"/>
          </a:xfrm>
          <a:prstGeom prst="rect">
            <a:avLst/>
          </a:prstGeom>
          <a:noFill/>
          <a:ln/>
        </p:spPr>
        <p:txBody>
          <a:bodyPr wrap="square" lIns="0" tIns="0" rIns="0" bIns="0" rtlCol="0" anchor="t"/>
          <a:lstStyle/>
          <a:p>
            <a:pPr indent="0" marL="0">
              <a:buNone/>
            </a:pPr>
            <a:r>
              <a:rPr lang="en-US" sz="1400" dirty="0">
                <a:solidFill>
                  <a:srgbClr val="14183D"/>
                </a:solidFill>
                <a:latin typeface="Montserrat" pitchFamily="34" charset="0"/>
                <a:ea typeface="Montserrat" pitchFamily="34" charset="-122"/>
                <a:cs typeface="Montserrat" pitchFamily="34" charset="-120"/>
              </a:rPr>
              <a:t>Notre DQN passe de 40 % à 94 % grâce à la vue complète ; le réseau convolutif, bien plus coûteux, n'apporte rien.</a:t>
            </a:r>
            <a:endParaRPr lang="en-US" sz="1400" dirty="0"/>
          </a:p>
        </p:txBody>
      </p:sp>
      <p:sp>
        <p:nvSpPr>
          <p:cNvPr id="15" name="carte"/>
          <p:cNvSpPr/>
          <p:nvPr/>
        </p:nvSpPr>
        <p:spPr>
          <a:xfrm>
            <a:off x="8119872" y="1371600"/>
            <a:ext cx="3520440" cy="3611880"/>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6" name="Text 14"/>
          <p:cNvSpPr txBox="1"/>
          <p:nvPr/>
        </p:nvSpPr>
        <p:spPr>
          <a:xfrm>
            <a:off x="8348472" y="1600200"/>
            <a:ext cx="685800" cy="685800"/>
          </a:xfrm>
          <a:prstGeom prst="rect">
            <a:avLst/>
          </a:prstGeom>
          <a:solidFill>
            <a:srgbClr val="FFC703"/>
          </a:solidFill>
          <a:ln w="15875">
            <a:solidFill>
              <a:srgbClr val="000000"/>
            </a:solidFill>
          </a:ln>
        </p:spPr>
        <p:txBody>
          <a:bodyPr wrap="square" lIns="0" tIns="0" rIns="0" bIns="0" rtlCol="0" anchor="ctr"/>
          <a:lstStyle/>
          <a:p>
            <a:pPr algn="ctr" indent="0" marL="0">
              <a:buNone/>
            </a:pPr>
            <a:r>
              <a:rPr lang="en-US" sz="2800" dirty="0">
                <a:solidFill>
                  <a:srgbClr val="14183D"/>
                </a:solidFill>
                <a:latin typeface="Arcade Gamer" pitchFamily="34" charset="0"/>
                <a:ea typeface="Arcade Gamer" pitchFamily="34" charset="-122"/>
                <a:cs typeface="Arcade Gamer" pitchFamily="34" charset="-120"/>
              </a:rPr>
              <a:t>3</a:t>
            </a:r>
            <a:endParaRPr lang="en-US" sz="2800" dirty="0"/>
          </a:p>
        </p:txBody>
      </p:sp>
      <p:sp>
        <p:nvSpPr>
          <p:cNvPr id="17" name="Text 15"/>
          <p:cNvSpPr txBox="1"/>
          <p:nvPr/>
        </p:nvSpPr>
        <p:spPr>
          <a:xfrm>
            <a:off x="8348472" y="2468880"/>
            <a:ext cx="3063240" cy="868680"/>
          </a:xfrm>
          <a:prstGeom prst="rect">
            <a:avLst/>
          </a:prstGeom>
          <a:noFill/>
          <a:ln/>
        </p:spPr>
        <p:txBody>
          <a:bodyPr wrap="square" lIns="0" tIns="0" rIns="0" bIns="0" rtlCol="0" anchor="t"/>
          <a:lstStyle/>
          <a:p>
            <a:pPr indent="0" marL="0">
              <a:buNone/>
            </a:pPr>
            <a:r>
              <a:rPr lang="en-US" sz="1700" b="1" dirty="0">
                <a:solidFill>
                  <a:srgbClr val="14183D"/>
                </a:solidFill>
                <a:latin typeface="Montserrat" pitchFamily="34" charset="0"/>
                <a:ea typeface="Montserrat" pitchFamily="34" charset="-122"/>
                <a:cs typeface="Montserrat" pitchFamily="34" charset="-120"/>
              </a:rPr>
              <a:t>Sur le vrai jeu, le deep RL prend le relais</a:t>
            </a:r>
            <a:endParaRPr lang="en-US" sz="1700" dirty="0"/>
          </a:p>
        </p:txBody>
      </p:sp>
      <p:sp>
        <p:nvSpPr>
          <p:cNvPr id="18" name="Text 16"/>
          <p:cNvSpPr txBox="1"/>
          <p:nvPr/>
        </p:nvSpPr>
        <p:spPr>
          <a:xfrm>
            <a:off x="8348472" y="3383280"/>
            <a:ext cx="3063240" cy="1463040"/>
          </a:xfrm>
          <a:prstGeom prst="rect">
            <a:avLst/>
          </a:prstGeom>
          <a:noFill/>
          <a:ln/>
        </p:spPr>
        <p:txBody>
          <a:bodyPr wrap="square" lIns="0" tIns="0" rIns="0" bIns="0" rtlCol="0" anchor="t"/>
          <a:lstStyle/>
          <a:p>
            <a:pPr indent="0" marL="0">
              <a:buNone/>
            </a:pPr>
            <a:r>
              <a:rPr lang="en-US" sz="1400" dirty="0">
                <a:solidFill>
                  <a:srgbClr val="14183D"/>
                </a:solidFill>
                <a:latin typeface="Montserrat" pitchFamily="34" charset="0"/>
                <a:ea typeface="Montserrat" pitchFamily="34" charset="-122"/>
                <a:cs typeface="Montserrat" pitchFamily="34" charset="-120"/>
              </a:rPr>
              <a:t>PPO : 81 % sur le niveau, 91 % sur la Route A. Et c'est la récompense qui décide du comportement.</a:t>
            </a:r>
            <a:endParaRPr lang="en-US" sz="1400" dirty="0"/>
          </a:p>
        </p:txBody>
      </p:sp>
      <p:sp>
        <p:nvSpPr>
          <p:cNvPr id="19" name="Shape 17"/>
          <p:cNvSpPr/>
          <p:nvPr/>
        </p:nvSpPr>
        <p:spPr>
          <a:xfrm>
            <a:off x="548640" y="5257800"/>
            <a:ext cx="11091672" cy="1024128"/>
          </a:xfrm>
          <a:prstGeom prst="rect">
            <a:avLst/>
          </a:prstGeom>
          <a:solidFill>
            <a:srgbClr val="14183D"/>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20" name="Text 18"/>
          <p:cNvSpPr txBox="1"/>
          <p:nvPr/>
        </p:nvSpPr>
        <p:spPr>
          <a:xfrm>
            <a:off x="777240" y="5303520"/>
            <a:ext cx="10698480" cy="932688"/>
          </a:xfrm>
          <a:prstGeom prst="rect">
            <a:avLst/>
          </a:prstGeom>
          <a:noFill/>
          <a:ln/>
        </p:spPr>
        <p:txBody>
          <a:bodyPr wrap="square" lIns="0" tIns="0" rIns="0" bIns="0" rtlCol="0" anchor="ctr"/>
          <a:lstStyle/>
          <a:p>
            <a:pPr indent="0" marL="0">
              <a:buNone/>
            </a:pPr>
            <a:r>
              <a:rPr lang="en-US" sz="1500" b="1" dirty="0">
                <a:solidFill>
                  <a:srgbClr val="FFC703"/>
                </a:solidFill>
                <a:latin typeface="Montserrat" pitchFamily="34" charset="0"/>
                <a:ea typeface="Montserrat" pitchFamily="34" charset="-122"/>
                <a:cs typeface="Montserrat" pitchFamily="34" charset="-120"/>
              </a:rPr>
              <a:t>Et l'article ? </a:t>
            </a:r>
            <a:r>
              <a:rPr lang="en-US" sz="1500" dirty="0">
                <a:solidFill>
                  <a:srgbClr val="FFFFFF"/>
                </a:solidFill>
                <a:latin typeface="Montserrat" pitchFamily="34" charset="0"/>
                <a:ea typeface="Montserrat" pitchFamily="34" charset="-122"/>
                <a:cs typeface="Montserrat" pitchFamily="34" charset="-120"/>
              </a:rPr>
              <a:t>Ses grandes tendances tiennent (Monte Carlo au moins aussi bon, son DQN sous les tableaux), mais ses chiffres et sa conclusion sur DQN dépendent de détails qu'il ne publie pas.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5A99ED"/>
        </a:solidFill>
      </p:bgPr>
    </p:bg>
    <p:spTree>
      <p:nvGrpSpPr>
        <p:cNvPr id="1" name=""/>
        <p:cNvGrpSpPr/>
        <p:nvPr/>
      </p:nvGrpSpPr>
      <p:grpSpPr>
        <a:xfrm>
          <a:off x="0" y="0"/>
          <a:ext cx="0" cy="0"/>
          <a:chOff x="0" y="0"/>
          <a:chExt cx="0" cy="0"/>
        </a:xfrm>
      </p:grpSpPr>
      <p:pic>
        <p:nvPicPr>
          <p:cNvPr id="2" name="castle" descr="/home/user/MarioRL_FinalWork/docs/oral/fabrication/assets/sprites/castle.png">    </p:cNvPr>
          <p:cNvPicPr>
            <a:picLocks noChangeAspect="1"/>
          </p:cNvPicPr>
          <p:nvPr/>
        </p:nvPicPr>
        <p:blipFill>
          <a:blip r:embed="rId1"/>
          <a:stretch>
            <a:fillRect/>
          </a:stretch>
        </p:blipFill>
        <p:spPr>
          <a:xfrm>
            <a:off x="9973727" y="1020196"/>
            <a:ext cx="2146280" cy="4982657"/>
          </a:xfrm>
          <a:prstGeom prst="rect">
            <a:avLst/>
          </a:prstGeom>
        </p:spPr>
      </p:pic>
      <p:pic>
        <p:nvPicPr>
          <p:cNvPr id="3" name="flag_mario" descr="/home/user/MarioRL_FinalWork/docs/oral/fabrication/assets/sprites/flag_mario.png">    </p:cNvPr>
          <p:cNvPicPr>
            <a:picLocks noChangeAspect="1"/>
          </p:cNvPicPr>
          <p:nvPr/>
        </p:nvPicPr>
        <p:blipFill>
          <a:blip r:embed="rId2"/>
          <a:stretch>
            <a:fillRect/>
          </a:stretch>
        </p:blipFill>
        <p:spPr>
          <a:xfrm>
            <a:off x="7835859" y="1938894"/>
            <a:ext cx="1138794" cy="4063959"/>
          </a:xfrm>
          <a:prstGeom prst="rect">
            <a:avLst/>
          </a:prstGeom>
        </p:spPr>
      </p:pic>
      <p:pic>
        <p:nvPicPr>
          <p:cNvPr id="4" name="ground" descr="/home/user/MarioRL_FinalWork/docs/oral/fabrication/assets/sprites/ground.png">    </p:cNvPr>
          <p:cNvPicPr>
            <a:picLocks noChangeAspect="1"/>
          </p:cNvPicPr>
          <p:nvPr/>
        </p:nvPicPr>
        <p:blipFill>
          <a:blip r:embed="rId3"/>
          <a:stretch>
            <a:fillRect/>
          </a:stretch>
        </p:blipFill>
        <p:spPr>
          <a:xfrm>
            <a:off x="0" y="5977433"/>
            <a:ext cx="12191970" cy="880567"/>
          </a:xfrm>
          <a:prstGeom prst="rect">
            <a:avLst/>
          </a:prstGeom>
        </p:spPr>
      </p:pic>
      <p:sp>
        <p:nvSpPr>
          <p:cNvPr id="5" name="grand_titre"/>
          <p:cNvSpPr txBox="1"/>
          <p:nvPr/>
        </p:nvSpPr>
        <p:spPr>
          <a:xfrm>
            <a:off x="731520" y="2148840"/>
            <a:ext cx="6309360" cy="1463040"/>
          </a:xfrm>
          <a:prstGeom prst="rect">
            <a:avLst/>
          </a:prstGeom>
          <a:noFill/>
          <a:ln/>
          <a:effectLst>
            <a:outerShdw sx="100000" sy="100000" kx="0" ky="0" algn="bl" rotWithShape="0" blurRad="101600" dist="27750" dir="2700000">
              <a:srgbClr val="2E1B5B">
                <a:alpha val="100000"/>
              </a:srgbClr>
            </a:outerShdw>
          </a:effectLst>
        </p:spPr>
        <p:txBody>
          <a:bodyPr wrap="square" lIns="0" tIns="0" rIns="0" bIns="0" rtlCol="0" anchor="ctr"/>
          <a:lstStyle/>
          <a:p>
            <a:pPr algn="ctr" indent="0" marL="0">
              <a:lnSpc>
                <a:spcPct val="100000"/>
              </a:lnSpc>
              <a:buNone/>
            </a:pPr>
            <a:r>
              <a:rPr lang="en-US" sz="4370" dirty="0">
                <a:solidFill>
                  <a:srgbClr val="FFFFFF"/>
                </a:solidFill>
                <a:latin typeface="Arcade Gamer" pitchFamily="34" charset="0"/>
                <a:ea typeface="Arcade Gamer" pitchFamily="34" charset="-122"/>
                <a:cs typeface="Arcade Gamer" pitchFamily="34" charset="-120"/>
              </a:rPr>
              <a:t>MERCI POUR</a:t>
            </a:r>
            <a:endParaRPr lang="en-US" sz="4370" dirty="0"/>
          </a:p>
          <a:p>
            <a:pPr algn="ctr" indent="0" marL="0">
              <a:lnSpc>
                <a:spcPct val="100000"/>
              </a:lnSpc>
              <a:buNone/>
            </a:pPr>
            <a:r>
              <a:rPr lang="en-US" sz="4370" dirty="0">
                <a:solidFill>
                  <a:srgbClr val="FFFFFF"/>
                </a:solidFill>
                <a:latin typeface="Arcade Gamer" pitchFamily="34" charset="0"/>
                <a:ea typeface="Arcade Gamer" pitchFamily="34" charset="-122"/>
                <a:cs typeface="Arcade Gamer" pitchFamily="34" charset="-120"/>
              </a:rPr>
              <a:t>VOTRE ÉCOUTE</a:t>
            </a:r>
            <a:endParaRPr lang="en-US" sz="437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5A99ED"/>
        </a:solidFill>
      </p:bgPr>
    </p:bg>
    <p:spTree>
      <p:nvGrpSpPr>
        <p:cNvPr id="1" name=""/>
        <p:cNvGrpSpPr/>
        <p:nvPr/>
      </p:nvGrpSpPr>
      <p:grpSpPr>
        <a:xfrm>
          <a:off x="0" y="0"/>
          <a:ext cx="0" cy="0"/>
          <a:chOff x="0" y="0"/>
          <a:chExt cx="0" cy="0"/>
        </a:xfrm>
      </p:grpSpPr>
      <p:pic>
        <p:nvPicPr>
          <p:cNvPr id="2" name="duo" descr="/home/user/MarioRL_FinalWork/docs/oral/fabrication/assets/sprites/duo.png">    </p:cNvPr>
          <p:cNvPicPr>
            <a:picLocks noChangeAspect="1"/>
          </p:cNvPicPr>
          <p:nvPr/>
        </p:nvPicPr>
        <p:blipFill>
          <a:blip r:embed="rId1"/>
          <a:stretch>
            <a:fillRect/>
          </a:stretch>
        </p:blipFill>
        <p:spPr>
          <a:xfrm>
            <a:off x="1938894" y="4872563"/>
            <a:ext cx="1159916" cy="1130290"/>
          </a:xfrm>
          <a:prstGeom prst="rect">
            <a:avLst/>
          </a:prstGeom>
        </p:spPr>
      </p:pic>
      <p:pic>
        <p:nvPicPr>
          <p:cNvPr id="3" name="bowser" descr="/home/user/MarioRL_FinalWork/docs/oral/fabrication/assets/sprites/bowser.png">    </p:cNvPr>
          <p:cNvPicPr>
            <a:picLocks noChangeAspect="1"/>
          </p:cNvPicPr>
          <p:nvPr/>
        </p:nvPicPr>
        <p:blipFill>
          <a:blip r:embed="rId2"/>
          <a:stretch>
            <a:fillRect/>
          </a:stretch>
        </p:blipFill>
        <p:spPr>
          <a:xfrm>
            <a:off x="8873063" y="3996294"/>
            <a:ext cx="2992923" cy="2006559"/>
          </a:xfrm>
          <a:prstGeom prst="rect">
            <a:avLst/>
          </a:prstGeom>
        </p:spPr>
      </p:pic>
      <p:pic>
        <p:nvPicPr>
          <p:cNvPr id="4" name="ground" descr="/home/user/MarioRL_FinalWork/docs/oral/fabrication/assets/sprites/ground.png">    </p:cNvPr>
          <p:cNvPicPr>
            <a:picLocks noChangeAspect="1"/>
          </p:cNvPicPr>
          <p:nvPr/>
        </p:nvPicPr>
        <p:blipFill>
          <a:blip r:embed="rId3"/>
          <a:stretch>
            <a:fillRect/>
          </a:stretch>
        </p:blipFill>
        <p:spPr>
          <a:xfrm>
            <a:off x="0" y="5977433"/>
            <a:ext cx="12191970" cy="880567"/>
          </a:xfrm>
          <a:prstGeom prst="rect">
            <a:avLst/>
          </a:prstGeom>
        </p:spPr>
      </p:pic>
      <p:sp>
        <p:nvSpPr>
          <p:cNvPr id="5" name="grand_titre"/>
          <p:cNvSpPr txBox="1"/>
          <p:nvPr/>
        </p:nvSpPr>
        <p:spPr>
          <a:xfrm>
            <a:off x="2377440" y="1188720"/>
            <a:ext cx="7436815" cy="1463040"/>
          </a:xfrm>
          <a:prstGeom prst="rect">
            <a:avLst/>
          </a:prstGeom>
          <a:noFill/>
          <a:ln/>
          <a:effectLst>
            <a:outerShdw sx="100000" sy="100000" kx="0" ky="0" algn="bl" rotWithShape="0" blurRad="101600" dist="27750" dir="2700000">
              <a:srgbClr val="2E1B5B">
                <a:alpha val="100000"/>
              </a:srgbClr>
            </a:outerShdw>
          </a:effectLst>
        </p:spPr>
        <p:txBody>
          <a:bodyPr wrap="square" lIns="0" tIns="0" rIns="0" bIns="0" rtlCol="0" anchor="ctr"/>
          <a:lstStyle/>
          <a:p>
            <a:pPr algn="ctr" indent="0" marL="0">
              <a:lnSpc>
                <a:spcPct val="100000"/>
              </a:lnSpc>
              <a:buNone/>
            </a:pPr>
            <a:r>
              <a:rPr lang="en-US" sz="4370" dirty="0">
                <a:solidFill>
                  <a:srgbClr val="FFFFFF"/>
                </a:solidFill>
                <a:latin typeface="Arcade Gamer" pitchFamily="34" charset="0"/>
                <a:ea typeface="Arcade Gamer" pitchFamily="34" charset="-122"/>
                <a:cs typeface="Arcade Gamer" pitchFamily="34" charset="-120"/>
              </a:rPr>
              <a:t>AVEZ-VOUS DES</a:t>
            </a:r>
            <a:endParaRPr lang="en-US" sz="4370" dirty="0"/>
          </a:p>
          <a:p>
            <a:pPr algn="ctr" indent="0" marL="0">
              <a:lnSpc>
                <a:spcPct val="100000"/>
              </a:lnSpc>
              <a:buNone/>
            </a:pPr>
            <a:r>
              <a:rPr lang="en-US" sz="4370" dirty="0">
                <a:solidFill>
                  <a:srgbClr val="FFFFFF"/>
                </a:solidFill>
                <a:latin typeface="Arcade Gamer" pitchFamily="34" charset="0"/>
                <a:ea typeface="Arcade Gamer" pitchFamily="34" charset="-122"/>
                <a:cs typeface="Arcade Gamer" pitchFamily="34" charset="-120"/>
              </a:rPr>
              <a:t>QUESTIONS ?</a:t>
            </a:r>
            <a:endParaRPr lang="en-US" sz="437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ANNEXE A</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COMPORTEMENT EN JEU</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Par partie, 500 dernières parties (v3, 6000 épisodes, 5 graines).</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23</a:t>
            </a:r>
            <a:endParaRPr lang="en-US" sz="1000" dirty="0"/>
          </a:p>
        </p:txBody>
      </p:sp>
      <p:sp>
        <p:nvSpPr>
          <p:cNvPr id="8" name="tableau_fond"/>
          <p:cNvSpPr/>
          <p:nvPr/>
        </p:nvSpPr>
        <p:spPr>
          <a:xfrm>
            <a:off x="530352" y="1764792"/>
            <a:ext cx="11128248" cy="3255264"/>
          </a:xfrm>
          <a:prstGeom prst="rect">
            <a:avLst/>
          </a:prstGeom>
          <a:solidFill>
            <a:srgbClr val="14183D"/>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9" name="entete"/>
          <p:cNvSpPr txBox="1"/>
          <p:nvPr/>
        </p:nvSpPr>
        <p:spPr>
          <a:xfrm>
            <a:off x="548640" y="1783080"/>
            <a:ext cx="2514600" cy="566928"/>
          </a:xfrm>
          <a:prstGeom prst="rect">
            <a:avLst/>
          </a:prstGeom>
          <a:solidFill>
            <a:srgbClr val="14183D"/>
          </a:solidFill>
          <a:ln/>
        </p:spPr>
        <p:txBody>
          <a:bodyPr wrap="square" lIns="127000" tIns="25400" rIns="76200" bIns="25400" rtlCol="0" anchor="ctr"/>
          <a:lstStyle/>
          <a:p>
            <a:pPr algn="l" indent="0" marL="0">
              <a:buNone/>
            </a:pPr>
            <a:r>
              <a:rPr lang="en-US" sz="1150" b="1" dirty="0">
                <a:solidFill>
                  <a:srgbClr val="FFFFFF"/>
                </a:solidFill>
                <a:latin typeface="Montserrat" pitchFamily="34" charset="0"/>
                <a:ea typeface="Montserrat" pitchFamily="34" charset="-122"/>
                <a:cs typeface="Montserrat" pitchFamily="34" charset="-120"/>
              </a:rPr>
              <a:t>Algorithme</a:t>
            </a:r>
            <a:endParaRPr lang="en-US" sz="1150" dirty="0"/>
          </a:p>
        </p:txBody>
      </p:sp>
      <p:sp>
        <p:nvSpPr>
          <p:cNvPr id="10" name="entete"/>
          <p:cNvSpPr txBox="1"/>
          <p:nvPr/>
        </p:nvSpPr>
        <p:spPr>
          <a:xfrm>
            <a:off x="3063240" y="1783080"/>
            <a:ext cx="1737360" cy="566928"/>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Ennemis</a:t>
            </a:r>
            <a:endParaRPr lang="en-US" sz="1150" dirty="0"/>
          </a:p>
          <a:p>
            <a:pPr algn="ctr" indent="0" marL="0">
              <a:buNone/>
            </a:pPr>
            <a:r>
              <a:rPr lang="en-US" sz="1150" b="1" dirty="0">
                <a:solidFill>
                  <a:srgbClr val="FFFFFF"/>
                </a:solidFill>
                <a:latin typeface="Montserrat" pitchFamily="34" charset="0"/>
                <a:ea typeface="Montserrat" pitchFamily="34" charset="-122"/>
                <a:cs typeface="Montserrat" pitchFamily="34" charset="-120"/>
              </a:rPr>
              <a:t>écrasés</a:t>
            </a:r>
            <a:endParaRPr lang="en-US" sz="1150" dirty="0"/>
          </a:p>
        </p:txBody>
      </p:sp>
      <p:sp>
        <p:nvSpPr>
          <p:cNvPr id="11" name="entete"/>
          <p:cNvSpPr txBox="1"/>
          <p:nvPr/>
        </p:nvSpPr>
        <p:spPr>
          <a:xfrm>
            <a:off x="4800600" y="1783080"/>
            <a:ext cx="1737360" cy="566928"/>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Briques</a:t>
            </a:r>
            <a:endParaRPr lang="en-US" sz="1150" dirty="0"/>
          </a:p>
          <a:p>
            <a:pPr algn="ctr" indent="0" marL="0">
              <a:buNone/>
            </a:pPr>
            <a:r>
              <a:rPr lang="en-US" sz="1150" b="1" dirty="0">
                <a:solidFill>
                  <a:srgbClr val="FFFFFF"/>
                </a:solidFill>
                <a:latin typeface="Montserrat" pitchFamily="34" charset="0"/>
                <a:ea typeface="Montserrat" pitchFamily="34" charset="-122"/>
                <a:cs typeface="Montserrat" pitchFamily="34" charset="-120"/>
              </a:rPr>
              <a:t>cassées</a:t>
            </a:r>
            <a:endParaRPr lang="en-US" sz="1150" dirty="0"/>
          </a:p>
        </p:txBody>
      </p:sp>
      <p:sp>
        <p:nvSpPr>
          <p:cNvPr id="12" name="entete"/>
          <p:cNvSpPr txBox="1"/>
          <p:nvPr/>
        </p:nvSpPr>
        <p:spPr>
          <a:xfrm>
            <a:off x="6537960" y="1783080"/>
            <a:ext cx="1737360" cy="566928"/>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Blocs ?</a:t>
            </a:r>
            <a:endParaRPr lang="en-US" sz="1150" dirty="0"/>
          </a:p>
          <a:p>
            <a:pPr algn="ctr" indent="0" marL="0">
              <a:buNone/>
            </a:pPr>
            <a:r>
              <a:rPr lang="en-US" sz="1150" b="1" dirty="0">
                <a:solidFill>
                  <a:srgbClr val="FFFFFF"/>
                </a:solidFill>
                <a:latin typeface="Montserrat" pitchFamily="34" charset="0"/>
                <a:ea typeface="Montserrat" pitchFamily="34" charset="-122"/>
                <a:cs typeface="Montserrat" pitchFamily="34" charset="-120"/>
              </a:rPr>
              <a:t>frappés</a:t>
            </a:r>
            <a:endParaRPr lang="en-US" sz="1150" dirty="0"/>
          </a:p>
        </p:txBody>
      </p:sp>
      <p:sp>
        <p:nvSpPr>
          <p:cNvPr id="13" name="entete"/>
          <p:cNvSpPr txBox="1"/>
          <p:nvPr/>
        </p:nvSpPr>
        <p:spPr>
          <a:xfrm>
            <a:off x="8275320" y="1783080"/>
            <a:ext cx="1719072" cy="566928"/>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Pas par</a:t>
            </a:r>
            <a:endParaRPr lang="en-US" sz="1150" dirty="0"/>
          </a:p>
          <a:p>
            <a:pPr algn="ctr" indent="0" marL="0">
              <a:buNone/>
            </a:pPr>
            <a:r>
              <a:rPr lang="en-US" sz="1150" b="1" dirty="0">
                <a:solidFill>
                  <a:srgbClr val="FFFFFF"/>
                </a:solidFill>
                <a:latin typeface="Montserrat" pitchFamily="34" charset="0"/>
                <a:ea typeface="Montserrat" pitchFamily="34" charset="-122"/>
                <a:cs typeface="Montserrat" pitchFamily="34" charset="-120"/>
              </a:rPr>
              <a:t>partie</a:t>
            </a:r>
            <a:endParaRPr lang="en-US" sz="1150" dirty="0"/>
          </a:p>
        </p:txBody>
      </p:sp>
      <p:sp>
        <p:nvSpPr>
          <p:cNvPr id="14" name="entete"/>
          <p:cNvSpPr txBox="1"/>
          <p:nvPr/>
        </p:nvSpPr>
        <p:spPr>
          <a:xfrm>
            <a:off x="9994392" y="1783080"/>
            <a:ext cx="1645920" cy="566928"/>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1re victoire</a:t>
            </a:r>
            <a:endParaRPr lang="en-US" sz="1150" dirty="0"/>
          </a:p>
          <a:p>
            <a:pPr algn="ctr" indent="0" marL="0">
              <a:buNone/>
            </a:pPr>
            <a:r>
              <a:rPr lang="en-US" sz="1150" b="1" dirty="0">
                <a:solidFill>
                  <a:srgbClr val="FFFFFF"/>
                </a:solidFill>
                <a:latin typeface="Montserrat" pitchFamily="34" charset="0"/>
                <a:ea typeface="Montserrat" pitchFamily="34" charset="-122"/>
                <a:cs typeface="Montserrat" pitchFamily="34" charset="-120"/>
              </a:rPr>
              <a:t>(épisode)</a:t>
            </a:r>
            <a:endParaRPr lang="en-US" sz="1150" dirty="0"/>
          </a:p>
        </p:txBody>
      </p:sp>
      <p:sp>
        <p:nvSpPr>
          <p:cNvPr id="15" name="cellule"/>
          <p:cNvSpPr txBox="1"/>
          <p:nvPr/>
        </p:nvSpPr>
        <p:spPr>
          <a:xfrm>
            <a:off x="548640" y="2350008"/>
            <a:ext cx="2514600" cy="530352"/>
          </a:xfrm>
          <a:prstGeom prst="rect">
            <a:avLst/>
          </a:prstGeom>
          <a:solidFill>
            <a:srgbClr val="FFFFFF"/>
          </a:solidFill>
          <a:ln/>
        </p:spPr>
        <p:txBody>
          <a:bodyPr wrap="square" lIns="381000" tIns="0" rIns="5080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Q-Learning</a:t>
            </a:r>
            <a:endParaRPr lang="en-US" sz="1350" dirty="0"/>
          </a:p>
        </p:txBody>
      </p:sp>
      <p:sp>
        <p:nvSpPr>
          <p:cNvPr id="16" name="Shape 14"/>
          <p:cNvSpPr/>
          <p:nvPr/>
        </p:nvSpPr>
        <p:spPr>
          <a:xfrm>
            <a:off x="658368" y="2523744"/>
            <a:ext cx="182880" cy="182880"/>
          </a:xfrm>
          <a:prstGeom prst="rect">
            <a:avLst/>
          </a:prstGeom>
          <a:solidFill>
            <a:srgbClr val="2F6FE4"/>
          </a:solidFill>
          <a:ln w="9525">
            <a:solidFill>
              <a:srgbClr val="000000"/>
            </a:solidFill>
            <a:prstDash val="solid"/>
          </a:ln>
        </p:spPr>
      </p:sp>
      <p:sp>
        <p:nvSpPr>
          <p:cNvPr id="17" name="cellule"/>
          <p:cNvSpPr txBox="1"/>
          <p:nvPr/>
        </p:nvSpPr>
        <p:spPr>
          <a:xfrm>
            <a:off x="3063240" y="2350008"/>
            <a:ext cx="1737360" cy="530352"/>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6,1</a:t>
            </a:r>
            <a:endParaRPr lang="en-US" sz="1350" dirty="0"/>
          </a:p>
        </p:txBody>
      </p:sp>
      <p:sp>
        <p:nvSpPr>
          <p:cNvPr id="18" name="cellule"/>
          <p:cNvSpPr txBox="1"/>
          <p:nvPr/>
        </p:nvSpPr>
        <p:spPr>
          <a:xfrm>
            <a:off x="4800600" y="2350008"/>
            <a:ext cx="1737360" cy="530352"/>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2,9</a:t>
            </a:r>
            <a:endParaRPr lang="en-US" sz="1350" dirty="0"/>
          </a:p>
        </p:txBody>
      </p:sp>
      <p:sp>
        <p:nvSpPr>
          <p:cNvPr id="19" name="cellule"/>
          <p:cNvSpPr txBox="1"/>
          <p:nvPr/>
        </p:nvSpPr>
        <p:spPr>
          <a:xfrm>
            <a:off x="6537960" y="2350008"/>
            <a:ext cx="1737360" cy="530352"/>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4,3</a:t>
            </a:r>
            <a:endParaRPr lang="en-US" sz="1350" dirty="0"/>
          </a:p>
        </p:txBody>
      </p:sp>
      <p:sp>
        <p:nvSpPr>
          <p:cNvPr id="20" name="cellule"/>
          <p:cNvSpPr txBox="1"/>
          <p:nvPr/>
        </p:nvSpPr>
        <p:spPr>
          <a:xfrm>
            <a:off x="8275320" y="2350008"/>
            <a:ext cx="1719072" cy="530352"/>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268</a:t>
            </a:r>
            <a:endParaRPr lang="en-US" sz="1350" dirty="0"/>
          </a:p>
        </p:txBody>
      </p:sp>
      <p:sp>
        <p:nvSpPr>
          <p:cNvPr id="21" name="cellule"/>
          <p:cNvSpPr txBox="1"/>
          <p:nvPr/>
        </p:nvSpPr>
        <p:spPr>
          <a:xfrm>
            <a:off x="9994392" y="2350008"/>
            <a:ext cx="1645920" cy="530352"/>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1322 ± 356</a:t>
            </a:r>
            <a:endParaRPr lang="en-US" sz="1350" dirty="0"/>
          </a:p>
        </p:txBody>
      </p:sp>
      <p:sp>
        <p:nvSpPr>
          <p:cNvPr id="22" name="cellule"/>
          <p:cNvSpPr txBox="1"/>
          <p:nvPr/>
        </p:nvSpPr>
        <p:spPr>
          <a:xfrm>
            <a:off x="548640" y="2880360"/>
            <a:ext cx="2514600" cy="530352"/>
          </a:xfrm>
          <a:prstGeom prst="rect">
            <a:avLst/>
          </a:prstGeom>
          <a:solidFill>
            <a:srgbClr val="EAF1FE"/>
          </a:solidFill>
          <a:ln/>
        </p:spPr>
        <p:txBody>
          <a:bodyPr wrap="square" lIns="381000" tIns="0" rIns="5080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SARSA</a:t>
            </a:r>
            <a:endParaRPr lang="en-US" sz="1350" dirty="0"/>
          </a:p>
        </p:txBody>
      </p:sp>
      <p:sp>
        <p:nvSpPr>
          <p:cNvPr id="23" name="Shape 21"/>
          <p:cNvSpPr/>
          <p:nvPr/>
        </p:nvSpPr>
        <p:spPr>
          <a:xfrm>
            <a:off x="658368" y="3054096"/>
            <a:ext cx="182880" cy="182880"/>
          </a:xfrm>
          <a:prstGeom prst="rect">
            <a:avLst/>
          </a:prstGeom>
          <a:solidFill>
            <a:srgbClr val="15911F"/>
          </a:solidFill>
          <a:ln w="9525">
            <a:solidFill>
              <a:srgbClr val="000000"/>
            </a:solidFill>
            <a:prstDash val="solid"/>
          </a:ln>
        </p:spPr>
      </p:sp>
      <p:sp>
        <p:nvSpPr>
          <p:cNvPr id="24" name="cellule"/>
          <p:cNvSpPr txBox="1"/>
          <p:nvPr/>
        </p:nvSpPr>
        <p:spPr>
          <a:xfrm>
            <a:off x="3063240" y="2880360"/>
            <a:ext cx="1737360" cy="530352"/>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6,9</a:t>
            </a:r>
            <a:endParaRPr lang="en-US" sz="1350" dirty="0"/>
          </a:p>
        </p:txBody>
      </p:sp>
      <p:sp>
        <p:nvSpPr>
          <p:cNvPr id="25" name="cellule"/>
          <p:cNvSpPr txBox="1"/>
          <p:nvPr/>
        </p:nvSpPr>
        <p:spPr>
          <a:xfrm>
            <a:off x="4800600" y="2880360"/>
            <a:ext cx="1737360" cy="530352"/>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3,6</a:t>
            </a:r>
            <a:endParaRPr lang="en-US" sz="1350" dirty="0"/>
          </a:p>
        </p:txBody>
      </p:sp>
      <p:sp>
        <p:nvSpPr>
          <p:cNvPr id="26" name="cellule"/>
          <p:cNvSpPr txBox="1"/>
          <p:nvPr/>
        </p:nvSpPr>
        <p:spPr>
          <a:xfrm>
            <a:off x="6537960" y="2880360"/>
            <a:ext cx="1737360" cy="530352"/>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4,7</a:t>
            </a:r>
            <a:endParaRPr lang="en-US" sz="1350" dirty="0"/>
          </a:p>
        </p:txBody>
      </p:sp>
      <p:sp>
        <p:nvSpPr>
          <p:cNvPr id="27" name="cellule"/>
          <p:cNvSpPr txBox="1"/>
          <p:nvPr/>
        </p:nvSpPr>
        <p:spPr>
          <a:xfrm>
            <a:off x="8275320" y="2880360"/>
            <a:ext cx="1719072" cy="530352"/>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266</a:t>
            </a:r>
            <a:endParaRPr lang="en-US" sz="1350" dirty="0"/>
          </a:p>
        </p:txBody>
      </p:sp>
      <p:sp>
        <p:nvSpPr>
          <p:cNvPr id="28" name="cellule"/>
          <p:cNvSpPr txBox="1"/>
          <p:nvPr/>
        </p:nvSpPr>
        <p:spPr>
          <a:xfrm>
            <a:off x="9994392" y="2880360"/>
            <a:ext cx="1645920" cy="530352"/>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1178 ± 293</a:t>
            </a:r>
            <a:endParaRPr lang="en-US" sz="1350" dirty="0"/>
          </a:p>
        </p:txBody>
      </p:sp>
      <p:sp>
        <p:nvSpPr>
          <p:cNvPr id="29" name="cellule"/>
          <p:cNvSpPr txBox="1"/>
          <p:nvPr/>
        </p:nvSpPr>
        <p:spPr>
          <a:xfrm>
            <a:off x="548640" y="3410712"/>
            <a:ext cx="2514600" cy="530352"/>
          </a:xfrm>
          <a:prstGeom prst="rect">
            <a:avLst/>
          </a:prstGeom>
          <a:solidFill>
            <a:srgbClr val="FFFFFF"/>
          </a:solidFill>
          <a:ln/>
        </p:spPr>
        <p:txBody>
          <a:bodyPr wrap="square" lIns="381000" tIns="0" rIns="5080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Monte Carlo</a:t>
            </a:r>
            <a:endParaRPr lang="en-US" sz="1350" dirty="0"/>
          </a:p>
        </p:txBody>
      </p:sp>
      <p:sp>
        <p:nvSpPr>
          <p:cNvPr id="30" name="Shape 28"/>
          <p:cNvSpPr/>
          <p:nvPr/>
        </p:nvSpPr>
        <p:spPr>
          <a:xfrm>
            <a:off x="658368" y="3584448"/>
            <a:ext cx="182880" cy="182880"/>
          </a:xfrm>
          <a:prstGeom prst="rect">
            <a:avLst/>
          </a:prstGeom>
          <a:solidFill>
            <a:srgbClr val="E8790C"/>
          </a:solidFill>
          <a:ln w="9525">
            <a:solidFill>
              <a:srgbClr val="000000"/>
            </a:solidFill>
            <a:prstDash val="solid"/>
          </a:ln>
        </p:spPr>
      </p:sp>
      <p:sp>
        <p:nvSpPr>
          <p:cNvPr id="31" name="cellule"/>
          <p:cNvSpPr txBox="1"/>
          <p:nvPr/>
        </p:nvSpPr>
        <p:spPr>
          <a:xfrm>
            <a:off x="3063240" y="3410712"/>
            <a:ext cx="1737360" cy="530352"/>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12,1</a:t>
            </a:r>
            <a:endParaRPr lang="en-US" sz="1350" dirty="0"/>
          </a:p>
        </p:txBody>
      </p:sp>
      <p:sp>
        <p:nvSpPr>
          <p:cNvPr id="32" name="cellule"/>
          <p:cNvSpPr txBox="1"/>
          <p:nvPr/>
        </p:nvSpPr>
        <p:spPr>
          <a:xfrm>
            <a:off x="4800600" y="3410712"/>
            <a:ext cx="1737360" cy="530352"/>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4,9</a:t>
            </a:r>
            <a:endParaRPr lang="en-US" sz="1350" dirty="0"/>
          </a:p>
        </p:txBody>
      </p:sp>
      <p:sp>
        <p:nvSpPr>
          <p:cNvPr id="33" name="cellule"/>
          <p:cNvSpPr txBox="1"/>
          <p:nvPr/>
        </p:nvSpPr>
        <p:spPr>
          <a:xfrm>
            <a:off x="6537960" y="3410712"/>
            <a:ext cx="1737360" cy="530352"/>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5,3</a:t>
            </a:r>
            <a:endParaRPr lang="en-US" sz="1350" dirty="0"/>
          </a:p>
        </p:txBody>
      </p:sp>
      <p:sp>
        <p:nvSpPr>
          <p:cNvPr id="34" name="cellule"/>
          <p:cNvSpPr txBox="1"/>
          <p:nvPr/>
        </p:nvSpPr>
        <p:spPr>
          <a:xfrm>
            <a:off x="8275320" y="3410712"/>
            <a:ext cx="1719072" cy="530352"/>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503</a:t>
            </a:r>
            <a:endParaRPr lang="en-US" sz="1350" dirty="0"/>
          </a:p>
        </p:txBody>
      </p:sp>
      <p:sp>
        <p:nvSpPr>
          <p:cNvPr id="35" name="cellule"/>
          <p:cNvSpPr txBox="1"/>
          <p:nvPr/>
        </p:nvSpPr>
        <p:spPr>
          <a:xfrm>
            <a:off x="9994392" y="3410712"/>
            <a:ext cx="1645920" cy="530352"/>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1108 ± 443</a:t>
            </a:r>
            <a:endParaRPr lang="en-US" sz="1350" dirty="0"/>
          </a:p>
        </p:txBody>
      </p:sp>
      <p:sp>
        <p:nvSpPr>
          <p:cNvPr id="36" name="cellule"/>
          <p:cNvSpPr txBox="1"/>
          <p:nvPr/>
        </p:nvSpPr>
        <p:spPr>
          <a:xfrm>
            <a:off x="548640" y="3941064"/>
            <a:ext cx="2514600" cy="530352"/>
          </a:xfrm>
          <a:prstGeom prst="rect">
            <a:avLst/>
          </a:prstGeom>
          <a:solidFill>
            <a:srgbClr val="EAF1FE"/>
          </a:solidFill>
          <a:ln/>
        </p:spPr>
        <p:txBody>
          <a:bodyPr wrap="square" lIns="381000" tIns="0" rIns="5080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DQN de l'article</a:t>
            </a:r>
            <a:endParaRPr lang="en-US" sz="1350" dirty="0"/>
          </a:p>
        </p:txBody>
      </p:sp>
      <p:sp>
        <p:nvSpPr>
          <p:cNvPr id="37" name="Shape 35"/>
          <p:cNvSpPr/>
          <p:nvPr/>
        </p:nvSpPr>
        <p:spPr>
          <a:xfrm>
            <a:off x="658368" y="4114800"/>
            <a:ext cx="182880" cy="182880"/>
          </a:xfrm>
          <a:prstGeom prst="rect">
            <a:avLst/>
          </a:prstGeom>
          <a:solidFill>
            <a:srgbClr val="D62839"/>
          </a:solidFill>
          <a:ln w="9525">
            <a:solidFill>
              <a:srgbClr val="000000"/>
            </a:solidFill>
            <a:prstDash val="solid"/>
          </a:ln>
        </p:spPr>
      </p:sp>
      <p:sp>
        <p:nvSpPr>
          <p:cNvPr id="38" name="cellule"/>
          <p:cNvSpPr txBox="1"/>
          <p:nvPr/>
        </p:nvSpPr>
        <p:spPr>
          <a:xfrm>
            <a:off x="3063240" y="3941064"/>
            <a:ext cx="1737360" cy="530352"/>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6,0</a:t>
            </a:r>
            <a:endParaRPr lang="en-US" sz="1350" dirty="0"/>
          </a:p>
        </p:txBody>
      </p:sp>
      <p:sp>
        <p:nvSpPr>
          <p:cNvPr id="39" name="cellule"/>
          <p:cNvSpPr txBox="1"/>
          <p:nvPr/>
        </p:nvSpPr>
        <p:spPr>
          <a:xfrm>
            <a:off x="4800600" y="3941064"/>
            <a:ext cx="1737360" cy="530352"/>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2,2</a:t>
            </a:r>
            <a:endParaRPr lang="en-US" sz="1350" dirty="0"/>
          </a:p>
        </p:txBody>
      </p:sp>
      <p:sp>
        <p:nvSpPr>
          <p:cNvPr id="40" name="cellule"/>
          <p:cNvSpPr txBox="1"/>
          <p:nvPr/>
        </p:nvSpPr>
        <p:spPr>
          <a:xfrm>
            <a:off x="6537960" y="3941064"/>
            <a:ext cx="1737360" cy="530352"/>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5,1</a:t>
            </a:r>
            <a:endParaRPr lang="en-US" sz="1350" dirty="0"/>
          </a:p>
        </p:txBody>
      </p:sp>
      <p:sp>
        <p:nvSpPr>
          <p:cNvPr id="41" name="cellule"/>
          <p:cNvSpPr txBox="1"/>
          <p:nvPr/>
        </p:nvSpPr>
        <p:spPr>
          <a:xfrm>
            <a:off x="8275320" y="3941064"/>
            <a:ext cx="1719072" cy="530352"/>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205</a:t>
            </a:r>
            <a:endParaRPr lang="en-US" sz="1350" dirty="0"/>
          </a:p>
        </p:txBody>
      </p:sp>
      <p:sp>
        <p:nvSpPr>
          <p:cNvPr id="42" name="cellule"/>
          <p:cNvSpPr txBox="1"/>
          <p:nvPr/>
        </p:nvSpPr>
        <p:spPr>
          <a:xfrm>
            <a:off x="9994392" y="3941064"/>
            <a:ext cx="1645920" cy="530352"/>
          </a:xfrm>
          <a:prstGeom prst="rect">
            <a:avLst/>
          </a:prstGeom>
          <a:solidFill>
            <a:srgbClr val="EAF1FE"/>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628 ± 194</a:t>
            </a:r>
            <a:endParaRPr lang="en-US" sz="1350" dirty="0"/>
          </a:p>
        </p:txBody>
      </p:sp>
      <p:sp>
        <p:nvSpPr>
          <p:cNvPr id="43" name="cellule"/>
          <p:cNvSpPr txBox="1"/>
          <p:nvPr/>
        </p:nvSpPr>
        <p:spPr>
          <a:xfrm>
            <a:off x="548640" y="4471416"/>
            <a:ext cx="2514600" cy="530352"/>
          </a:xfrm>
          <a:prstGeom prst="rect">
            <a:avLst/>
          </a:prstGeom>
          <a:solidFill>
            <a:srgbClr val="FFFFFF"/>
          </a:solidFill>
          <a:ln/>
        </p:spPr>
        <p:txBody>
          <a:bodyPr wrap="square" lIns="381000" tIns="0" rIns="50800" bIns="0" rtlCol="0" anchor="ctr"/>
          <a:lstStyle/>
          <a:p>
            <a:pPr indent="0" marL="0">
              <a:buNone/>
            </a:pPr>
            <a:r>
              <a:rPr lang="en-US" sz="1350" b="1" dirty="0">
                <a:solidFill>
                  <a:srgbClr val="14183D"/>
                </a:solidFill>
                <a:latin typeface="Montserrat" pitchFamily="34" charset="0"/>
                <a:ea typeface="Montserrat" pitchFamily="34" charset="-122"/>
                <a:cs typeface="Montserrat" pitchFamily="34" charset="-120"/>
              </a:rPr>
              <a:t>Notre DQN</a:t>
            </a:r>
            <a:endParaRPr lang="en-US" sz="1350" dirty="0"/>
          </a:p>
        </p:txBody>
      </p:sp>
      <p:sp>
        <p:nvSpPr>
          <p:cNvPr id="44" name="Shape 42"/>
          <p:cNvSpPr/>
          <p:nvPr/>
        </p:nvSpPr>
        <p:spPr>
          <a:xfrm>
            <a:off x="658368" y="4645152"/>
            <a:ext cx="182880" cy="182880"/>
          </a:xfrm>
          <a:prstGeom prst="rect">
            <a:avLst/>
          </a:prstGeom>
          <a:solidFill>
            <a:srgbClr val="7B3FE4"/>
          </a:solidFill>
          <a:ln w="9525">
            <a:solidFill>
              <a:srgbClr val="000000"/>
            </a:solidFill>
            <a:prstDash val="solid"/>
          </a:ln>
        </p:spPr>
      </p:sp>
      <p:sp>
        <p:nvSpPr>
          <p:cNvPr id="45" name="cellule"/>
          <p:cNvSpPr txBox="1"/>
          <p:nvPr/>
        </p:nvSpPr>
        <p:spPr>
          <a:xfrm>
            <a:off x="3063240" y="4471416"/>
            <a:ext cx="1737360" cy="530352"/>
          </a:xfrm>
          <a:prstGeom prst="rect">
            <a:avLst/>
          </a:prstGeom>
          <a:solidFill>
            <a:srgbClr val="FFE27A"/>
          </a:solidFill>
          <a:ln/>
        </p:spPr>
        <p:txBody>
          <a:bodyPr wrap="square" lIns="25400" tIns="25400" rIns="25400" bIns="25400" rtlCol="0" anchor="ctr"/>
          <a:lstStyle/>
          <a:p>
            <a:pPr algn="ctr" indent="0" marL="0">
              <a:buNone/>
            </a:pPr>
            <a:r>
              <a:rPr lang="en-US" sz="1350" b="1" dirty="0">
                <a:solidFill>
                  <a:srgbClr val="14183D"/>
                </a:solidFill>
                <a:latin typeface="Montserrat" pitchFamily="34" charset="0"/>
                <a:ea typeface="Montserrat" pitchFamily="34" charset="-122"/>
                <a:cs typeface="Montserrat" pitchFamily="34" charset="-120"/>
              </a:rPr>
              <a:t>12,6</a:t>
            </a:r>
            <a:endParaRPr lang="en-US" sz="1350" dirty="0"/>
          </a:p>
        </p:txBody>
      </p:sp>
      <p:sp>
        <p:nvSpPr>
          <p:cNvPr id="46" name="cellule"/>
          <p:cNvSpPr txBox="1"/>
          <p:nvPr/>
        </p:nvSpPr>
        <p:spPr>
          <a:xfrm>
            <a:off x="4800600" y="4471416"/>
            <a:ext cx="1737360" cy="530352"/>
          </a:xfrm>
          <a:prstGeom prst="rect">
            <a:avLst/>
          </a:prstGeom>
          <a:solidFill>
            <a:srgbClr val="FFE27A"/>
          </a:solidFill>
          <a:ln/>
        </p:spPr>
        <p:txBody>
          <a:bodyPr wrap="square" lIns="25400" tIns="25400" rIns="25400" bIns="25400" rtlCol="0" anchor="ctr"/>
          <a:lstStyle/>
          <a:p>
            <a:pPr algn="ctr" indent="0" marL="0">
              <a:buNone/>
            </a:pPr>
            <a:r>
              <a:rPr lang="en-US" sz="1350" b="1" dirty="0">
                <a:solidFill>
                  <a:srgbClr val="14183D"/>
                </a:solidFill>
                <a:latin typeface="Montserrat" pitchFamily="34" charset="0"/>
                <a:ea typeface="Montserrat" pitchFamily="34" charset="-122"/>
                <a:cs typeface="Montserrat" pitchFamily="34" charset="-120"/>
              </a:rPr>
              <a:t>5,0</a:t>
            </a:r>
            <a:endParaRPr lang="en-US" sz="1350" dirty="0"/>
          </a:p>
        </p:txBody>
      </p:sp>
      <p:sp>
        <p:nvSpPr>
          <p:cNvPr id="47" name="cellule"/>
          <p:cNvSpPr txBox="1"/>
          <p:nvPr/>
        </p:nvSpPr>
        <p:spPr>
          <a:xfrm>
            <a:off x="6537960" y="4471416"/>
            <a:ext cx="1737360" cy="530352"/>
          </a:xfrm>
          <a:prstGeom prst="rect">
            <a:avLst/>
          </a:prstGeom>
          <a:solidFill>
            <a:srgbClr val="FFE27A"/>
          </a:solidFill>
          <a:ln/>
        </p:spPr>
        <p:txBody>
          <a:bodyPr wrap="square" lIns="25400" tIns="25400" rIns="25400" bIns="25400" rtlCol="0" anchor="ctr"/>
          <a:lstStyle/>
          <a:p>
            <a:pPr algn="ctr" indent="0" marL="0">
              <a:buNone/>
            </a:pPr>
            <a:r>
              <a:rPr lang="en-US" sz="1350" b="1" dirty="0">
                <a:solidFill>
                  <a:srgbClr val="14183D"/>
                </a:solidFill>
                <a:latin typeface="Montserrat" pitchFamily="34" charset="0"/>
                <a:ea typeface="Montserrat" pitchFamily="34" charset="-122"/>
                <a:cs typeface="Montserrat" pitchFamily="34" charset="-120"/>
              </a:rPr>
              <a:t>7,1</a:t>
            </a:r>
            <a:endParaRPr lang="en-US" sz="1350" dirty="0"/>
          </a:p>
        </p:txBody>
      </p:sp>
      <p:sp>
        <p:nvSpPr>
          <p:cNvPr id="48" name="cellule"/>
          <p:cNvSpPr txBox="1"/>
          <p:nvPr/>
        </p:nvSpPr>
        <p:spPr>
          <a:xfrm>
            <a:off x="8275320" y="4471416"/>
            <a:ext cx="1719072" cy="530352"/>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246</a:t>
            </a:r>
            <a:endParaRPr lang="en-US" sz="1350" dirty="0"/>
          </a:p>
        </p:txBody>
      </p:sp>
      <p:sp>
        <p:nvSpPr>
          <p:cNvPr id="49" name="cellule"/>
          <p:cNvSpPr txBox="1"/>
          <p:nvPr/>
        </p:nvSpPr>
        <p:spPr>
          <a:xfrm>
            <a:off x="9994392" y="4471416"/>
            <a:ext cx="1645920" cy="530352"/>
          </a:xfrm>
          <a:prstGeom prst="rect">
            <a:avLst/>
          </a:prstGeom>
          <a:solidFill>
            <a:srgbClr val="FFFFFF"/>
          </a:solidFill>
          <a:ln/>
        </p:spPr>
        <p:txBody>
          <a:bodyPr wrap="square" lIns="25400" tIns="25400" rIns="25400" bIns="25400" rtlCol="0" anchor="ctr"/>
          <a:lstStyle/>
          <a:p>
            <a:pPr algn="ctr" indent="0" marL="0">
              <a:buNone/>
            </a:pPr>
            <a:r>
              <a:rPr lang="en-US" sz="1350" dirty="0">
                <a:solidFill>
                  <a:srgbClr val="14183D"/>
                </a:solidFill>
                <a:latin typeface="Montserrat" pitchFamily="34" charset="0"/>
                <a:ea typeface="Montserrat" pitchFamily="34" charset="-122"/>
                <a:cs typeface="Montserrat" pitchFamily="34" charset="-120"/>
              </a:rPr>
              <a:t>632 ± 117</a:t>
            </a:r>
            <a:endParaRPr lang="en-US" sz="1350" dirty="0"/>
          </a:p>
        </p:txBody>
      </p:sp>
      <p:sp>
        <p:nvSpPr>
          <p:cNvPr id="50" name="carte"/>
          <p:cNvSpPr/>
          <p:nvPr/>
        </p:nvSpPr>
        <p:spPr>
          <a:xfrm>
            <a:off x="548640" y="5166360"/>
            <a:ext cx="11091672" cy="1097280"/>
          </a:xfrm>
          <a:prstGeom prst="rect">
            <a:avLst/>
          </a:prstGeom>
          <a:solidFill>
            <a:srgbClr val="FFF4C2"/>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51" name="Text 49"/>
          <p:cNvSpPr txBox="1"/>
          <p:nvPr/>
        </p:nvSpPr>
        <p:spPr>
          <a:xfrm>
            <a:off x="777240" y="5212080"/>
            <a:ext cx="10698480" cy="1005840"/>
          </a:xfrm>
          <a:prstGeom prst="rect">
            <a:avLst/>
          </a:prstGeom>
          <a:noFill/>
          <a:ln/>
        </p:spPr>
        <p:txBody>
          <a:bodyPr wrap="square" lIns="0" tIns="0" rIns="0" bIns="0" rtlCol="0" anchor="ctr"/>
          <a:lstStyle/>
          <a:p>
            <a:pPr indent="0" marL="0">
              <a:buNone/>
            </a:pPr>
            <a:r>
              <a:rPr lang="en-US" sz="1350" dirty="0">
                <a:solidFill>
                  <a:srgbClr val="14183D"/>
                </a:solidFill>
                <a:latin typeface="Montserrat" pitchFamily="34" charset="0"/>
                <a:ea typeface="Montserrat" pitchFamily="34" charset="-122"/>
                <a:cs typeface="Montserrat" pitchFamily="34" charset="-120"/>
              </a:rPr>
              <a:t>Article : 3,3 à 3,8 ennemis par partie pour les tableaux, 1,4 pour DQN. Nos agents en écrasent 2 à 4 fois plus : l'article ne précise pas les règles des ennemis (activation, rebond, chute), nos choix les rendent sans doute plus faciles à écraser.</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ANNEXE B</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LES RÉGLAGES</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Ceux de l'article, et ce que nous avons changé.</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24</a:t>
            </a:r>
            <a:endParaRPr lang="en-US" sz="1000" dirty="0"/>
          </a:p>
        </p:txBody>
      </p:sp>
      <p:sp>
        <p:nvSpPr>
          <p:cNvPr id="8" name="tableau_fond"/>
          <p:cNvSpPr/>
          <p:nvPr/>
        </p:nvSpPr>
        <p:spPr>
          <a:xfrm>
            <a:off x="530352" y="1764792"/>
            <a:ext cx="11128248" cy="4608576"/>
          </a:xfrm>
          <a:prstGeom prst="rect">
            <a:avLst/>
          </a:prstGeom>
          <a:solidFill>
            <a:srgbClr val="14183D"/>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9" name="entete"/>
          <p:cNvSpPr txBox="1"/>
          <p:nvPr/>
        </p:nvSpPr>
        <p:spPr>
          <a:xfrm>
            <a:off x="548640" y="1783080"/>
            <a:ext cx="2743200" cy="457200"/>
          </a:xfrm>
          <a:prstGeom prst="rect">
            <a:avLst/>
          </a:prstGeom>
          <a:solidFill>
            <a:srgbClr val="14183D"/>
          </a:solidFill>
          <a:ln/>
        </p:spPr>
        <p:txBody>
          <a:bodyPr wrap="square" lIns="127000" tIns="25400" rIns="76200" bIns="25400" rtlCol="0" anchor="ctr"/>
          <a:lstStyle/>
          <a:p>
            <a:pPr algn="l" indent="0" marL="0">
              <a:buNone/>
            </a:pPr>
            <a:r>
              <a:rPr lang="en-US" sz="1150" b="1" dirty="0">
                <a:solidFill>
                  <a:srgbClr val="FFFFFF"/>
                </a:solidFill>
                <a:latin typeface="Montserrat" pitchFamily="34" charset="0"/>
                <a:ea typeface="Montserrat" pitchFamily="34" charset="-122"/>
                <a:cs typeface="Montserrat" pitchFamily="34" charset="-120"/>
              </a:rPr>
              <a:t>Réglage</a:t>
            </a:r>
            <a:endParaRPr lang="en-US" sz="1150" dirty="0"/>
          </a:p>
        </p:txBody>
      </p:sp>
      <p:sp>
        <p:nvSpPr>
          <p:cNvPr id="10" name="entete"/>
          <p:cNvSpPr txBox="1"/>
          <p:nvPr/>
        </p:nvSpPr>
        <p:spPr>
          <a:xfrm>
            <a:off x="3291840" y="1783080"/>
            <a:ext cx="4023360" cy="457200"/>
          </a:xfrm>
          <a:prstGeom prst="rect">
            <a:avLst/>
          </a:prstGeom>
          <a:solidFill>
            <a:srgbClr val="14183D"/>
          </a:solidFill>
          <a:ln/>
        </p:spPr>
        <p:txBody>
          <a:bodyPr wrap="square" lIns="127000" tIns="25400" rIns="76200" bIns="25400" rtlCol="0" anchor="ctr"/>
          <a:lstStyle/>
          <a:p>
            <a:pPr algn="l" indent="0" marL="0">
              <a:buNone/>
            </a:pPr>
            <a:r>
              <a:rPr lang="en-US" sz="1150" b="1" dirty="0">
                <a:solidFill>
                  <a:srgbClr val="FFFFFF"/>
                </a:solidFill>
                <a:latin typeface="Montserrat" pitchFamily="34" charset="0"/>
                <a:ea typeface="Montserrat" pitchFamily="34" charset="-122"/>
                <a:cs typeface="Montserrat" pitchFamily="34" charset="-120"/>
              </a:rPr>
              <a:t>Article (et nos tableaux)</a:t>
            </a:r>
            <a:endParaRPr lang="en-US" sz="1150" dirty="0"/>
          </a:p>
        </p:txBody>
      </p:sp>
      <p:sp>
        <p:nvSpPr>
          <p:cNvPr id="11" name="entete"/>
          <p:cNvSpPr txBox="1"/>
          <p:nvPr/>
        </p:nvSpPr>
        <p:spPr>
          <a:xfrm>
            <a:off x="7315200" y="1783080"/>
            <a:ext cx="4325112" cy="457200"/>
          </a:xfrm>
          <a:prstGeom prst="rect">
            <a:avLst/>
          </a:prstGeom>
          <a:solidFill>
            <a:srgbClr val="14183D"/>
          </a:solidFill>
          <a:ln/>
        </p:spPr>
        <p:txBody>
          <a:bodyPr wrap="square" lIns="127000" tIns="25400" rIns="76200" bIns="25400" rtlCol="0" anchor="ctr"/>
          <a:lstStyle/>
          <a:p>
            <a:pPr algn="l" indent="0" marL="0">
              <a:buNone/>
            </a:pPr>
            <a:r>
              <a:rPr lang="en-US" sz="1150" b="1" dirty="0">
                <a:solidFill>
                  <a:srgbClr val="FFFFFF"/>
                </a:solidFill>
                <a:latin typeface="Montserrat" pitchFamily="34" charset="0"/>
                <a:ea typeface="Montserrat" pitchFamily="34" charset="-122"/>
                <a:cs typeface="Montserrat" pitchFamily="34" charset="-120"/>
              </a:rPr>
              <a:t>Notre DQN (étape 4)</a:t>
            </a:r>
            <a:endParaRPr lang="en-US" sz="1150" dirty="0"/>
          </a:p>
        </p:txBody>
      </p:sp>
      <p:sp>
        <p:nvSpPr>
          <p:cNvPr id="12" name="cellule"/>
          <p:cNvSpPr txBox="1"/>
          <p:nvPr/>
        </p:nvSpPr>
        <p:spPr>
          <a:xfrm>
            <a:off x="548640" y="2240280"/>
            <a:ext cx="2743200" cy="457200"/>
          </a:xfrm>
          <a:prstGeom prst="rect">
            <a:avLst/>
          </a:prstGeom>
          <a:solidFill>
            <a:srgbClr val="FFFFFF"/>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Épisodes</a:t>
            </a:r>
            <a:endParaRPr lang="en-US" sz="1300" dirty="0"/>
          </a:p>
        </p:txBody>
      </p:sp>
      <p:sp>
        <p:nvSpPr>
          <p:cNvPr id="13" name="cellule"/>
          <p:cNvSpPr txBox="1"/>
          <p:nvPr/>
        </p:nvSpPr>
        <p:spPr>
          <a:xfrm>
            <a:off x="3291840" y="2240280"/>
            <a:ext cx="4023360" cy="457200"/>
          </a:xfrm>
          <a:prstGeom prst="rect">
            <a:avLst/>
          </a:prstGeom>
          <a:solidFill>
            <a:srgbClr val="FFFFFF"/>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10 000 (nous : 6000 pour tous)</a:t>
            </a:r>
            <a:endParaRPr lang="en-US" sz="1300" dirty="0"/>
          </a:p>
        </p:txBody>
      </p:sp>
      <p:sp>
        <p:nvSpPr>
          <p:cNvPr id="14" name="cellule"/>
          <p:cNvSpPr txBox="1"/>
          <p:nvPr/>
        </p:nvSpPr>
        <p:spPr>
          <a:xfrm>
            <a:off x="7315200" y="2240280"/>
            <a:ext cx="4325112" cy="457200"/>
          </a:xfrm>
          <a:prstGeom prst="rect">
            <a:avLst/>
          </a:prstGeom>
          <a:solidFill>
            <a:srgbClr val="FFFFFF"/>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6000</a:t>
            </a:r>
            <a:endParaRPr lang="en-US" sz="1300" dirty="0"/>
          </a:p>
        </p:txBody>
      </p:sp>
      <p:sp>
        <p:nvSpPr>
          <p:cNvPr id="15" name="cellule"/>
          <p:cNvSpPr txBox="1"/>
          <p:nvPr/>
        </p:nvSpPr>
        <p:spPr>
          <a:xfrm>
            <a:off x="548640" y="2697480"/>
            <a:ext cx="2743200" cy="457200"/>
          </a:xfrm>
          <a:prstGeom prst="rect">
            <a:avLst/>
          </a:prstGeom>
          <a:solidFill>
            <a:srgbClr val="EAF1FE"/>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Graines</a:t>
            </a:r>
            <a:endParaRPr lang="en-US" sz="1300" dirty="0"/>
          </a:p>
        </p:txBody>
      </p:sp>
      <p:sp>
        <p:nvSpPr>
          <p:cNvPr id="16" name="cellule"/>
          <p:cNvSpPr txBox="1"/>
          <p:nvPr/>
        </p:nvSpPr>
        <p:spPr>
          <a:xfrm>
            <a:off x="3291840" y="2697480"/>
            <a:ext cx="4023360" cy="457200"/>
          </a:xfrm>
          <a:prstGeom prst="rect">
            <a:avLst/>
          </a:prstGeom>
          <a:solidFill>
            <a:srgbClr val="EAF1FE"/>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5 (42 à 46)</a:t>
            </a:r>
            <a:endParaRPr lang="en-US" sz="1300" dirty="0"/>
          </a:p>
        </p:txBody>
      </p:sp>
      <p:sp>
        <p:nvSpPr>
          <p:cNvPr id="17" name="cellule"/>
          <p:cNvSpPr txBox="1"/>
          <p:nvPr/>
        </p:nvSpPr>
        <p:spPr>
          <a:xfrm>
            <a:off x="7315200" y="2697480"/>
            <a:ext cx="4325112" cy="457200"/>
          </a:xfrm>
          <a:prstGeom prst="rect">
            <a:avLst/>
          </a:prstGeom>
          <a:solidFill>
            <a:srgbClr val="EAF1FE"/>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5 (42 à 46)</a:t>
            </a:r>
            <a:endParaRPr lang="en-US" sz="1300" dirty="0"/>
          </a:p>
        </p:txBody>
      </p:sp>
      <p:sp>
        <p:nvSpPr>
          <p:cNvPr id="18" name="cellule"/>
          <p:cNvSpPr txBox="1"/>
          <p:nvPr/>
        </p:nvSpPr>
        <p:spPr>
          <a:xfrm>
            <a:off x="548640" y="3154680"/>
            <a:ext cx="2743200" cy="457200"/>
          </a:xfrm>
          <a:prstGeom prst="rect">
            <a:avLst/>
          </a:prstGeom>
          <a:solidFill>
            <a:srgbClr val="FFFFFF"/>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Exploration ε</a:t>
            </a:r>
            <a:endParaRPr lang="en-US" sz="1300" dirty="0"/>
          </a:p>
        </p:txBody>
      </p:sp>
      <p:sp>
        <p:nvSpPr>
          <p:cNvPr id="19" name="cellule"/>
          <p:cNvSpPr txBox="1"/>
          <p:nvPr/>
        </p:nvSpPr>
        <p:spPr>
          <a:xfrm>
            <a:off x="3291840" y="3154680"/>
            <a:ext cx="4023360" cy="457200"/>
          </a:xfrm>
          <a:prstGeom prst="rect">
            <a:avLst/>
          </a:prstGeom>
          <a:solidFill>
            <a:srgbClr val="FFFFFF"/>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1 → ×0,999 par épisode → 0,01 (DQN : 0,05)</a:t>
            </a:r>
            <a:endParaRPr lang="en-US" sz="1300" dirty="0"/>
          </a:p>
        </p:txBody>
      </p:sp>
      <p:sp>
        <p:nvSpPr>
          <p:cNvPr id="20" name="cellule"/>
          <p:cNvSpPr txBox="1"/>
          <p:nvPr/>
        </p:nvSpPr>
        <p:spPr>
          <a:xfrm>
            <a:off x="7315200" y="3154680"/>
            <a:ext cx="4325112" cy="457200"/>
          </a:xfrm>
          <a:prstGeom prst="rect">
            <a:avLst/>
          </a:prstGeom>
          <a:solidFill>
            <a:srgbClr val="FFFFFF"/>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 plancher 0,02</a:t>
            </a:r>
            <a:endParaRPr lang="en-US" sz="1300" dirty="0"/>
          </a:p>
        </p:txBody>
      </p:sp>
      <p:sp>
        <p:nvSpPr>
          <p:cNvPr id="21" name="cellule"/>
          <p:cNvSpPr txBox="1"/>
          <p:nvPr/>
        </p:nvSpPr>
        <p:spPr>
          <a:xfrm>
            <a:off x="548640" y="3611880"/>
            <a:ext cx="2743200" cy="457200"/>
          </a:xfrm>
          <a:prstGeom prst="rect">
            <a:avLst/>
          </a:prstGeom>
          <a:solidFill>
            <a:srgbClr val="EAF1FE"/>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γ (actualisation)</a:t>
            </a:r>
            <a:endParaRPr lang="en-US" sz="1300" dirty="0"/>
          </a:p>
        </p:txBody>
      </p:sp>
      <p:sp>
        <p:nvSpPr>
          <p:cNvPr id="22" name="cellule"/>
          <p:cNvSpPr txBox="1"/>
          <p:nvPr/>
        </p:nvSpPr>
        <p:spPr>
          <a:xfrm>
            <a:off x="3291840" y="3611880"/>
            <a:ext cx="4023360" cy="457200"/>
          </a:xfrm>
          <a:prstGeom prst="rect">
            <a:avLst/>
          </a:prstGeom>
          <a:solidFill>
            <a:srgbClr val="EAF1FE"/>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0,99</a:t>
            </a:r>
            <a:endParaRPr lang="en-US" sz="1300" dirty="0"/>
          </a:p>
        </p:txBody>
      </p:sp>
      <p:sp>
        <p:nvSpPr>
          <p:cNvPr id="23" name="cellule"/>
          <p:cNvSpPr txBox="1"/>
          <p:nvPr/>
        </p:nvSpPr>
        <p:spPr>
          <a:xfrm>
            <a:off x="7315200" y="3611880"/>
            <a:ext cx="4325112" cy="457200"/>
          </a:xfrm>
          <a:prstGeom prst="rect">
            <a:avLst/>
          </a:prstGeom>
          <a:solidFill>
            <a:srgbClr val="EAF1FE"/>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0,99</a:t>
            </a:r>
            <a:endParaRPr lang="en-US" sz="1300" dirty="0"/>
          </a:p>
        </p:txBody>
      </p:sp>
      <p:sp>
        <p:nvSpPr>
          <p:cNvPr id="24" name="cellule"/>
          <p:cNvSpPr txBox="1"/>
          <p:nvPr/>
        </p:nvSpPr>
        <p:spPr>
          <a:xfrm>
            <a:off x="548640" y="4069080"/>
            <a:ext cx="2743200" cy="457200"/>
          </a:xfrm>
          <a:prstGeom prst="rect">
            <a:avLst/>
          </a:prstGeom>
          <a:solidFill>
            <a:srgbClr val="FFFFFF"/>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α (tableaux)</a:t>
            </a:r>
            <a:endParaRPr lang="en-US" sz="1300" dirty="0"/>
          </a:p>
        </p:txBody>
      </p:sp>
      <p:sp>
        <p:nvSpPr>
          <p:cNvPr id="25" name="cellule"/>
          <p:cNvSpPr txBox="1"/>
          <p:nvPr/>
        </p:nvSpPr>
        <p:spPr>
          <a:xfrm>
            <a:off x="3291840" y="4069080"/>
            <a:ext cx="4023360" cy="457200"/>
          </a:xfrm>
          <a:prstGeom prst="rect">
            <a:avLst/>
          </a:prstGeom>
          <a:solidFill>
            <a:srgbClr val="FFFFFF"/>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0,1</a:t>
            </a:r>
            <a:endParaRPr lang="en-US" sz="1300" dirty="0"/>
          </a:p>
        </p:txBody>
      </p:sp>
      <p:sp>
        <p:nvSpPr>
          <p:cNvPr id="26" name="cellule"/>
          <p:cNvSpPr txBox="1"/>
          <p:nvPr/>
        </p:nvSpPr>
        <p:spPr>
          <a:xfrm>
            <a:off x="7315200" y="4069080"/>
            <a:ext cx="4325112" cy="457200"/>
          </a:xfrm>
          <a:prstGeom prst="rect">
            <a:avLst/>
          </a:prstGeom>
          <a:solidFill>
            <a:srgbClr val="FFFFFF"/>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a:t>
            </a:r>
            <a:endParaRPr lang="en-US" sz="1300" dirty="0"/>
          </a:p>
        </p:txBody>
      </p:sp>
      <p:sp>
        <p:nvSpPr>
          <p:cNvPr id="27" name="cellule"/>
          <p:cNvSpPr txBox="1"/>
          <p:nvPr/>
        </p:nvSpPr>
        <p:spPr>
          <a:xfrm>
            <a:off x="548640" y="4526280"/>
            <a:ext cx="2743200" cy="457200"/>
          </a:xfrm>
          <a:prstGeom prst="rect">
            <a:avLst/>
          </a:prstGeom>
          <a:solidFill>
            <a:srgbClr val="EAF1FE"/>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Ce que voit l'IA</a:t>
            </a:r>
            <a:endParaRPr lang="en-US" sz="1300" dirty="0"/>
          </a:p>
        </p:txBody>
      </p:sp>
      <p:sp>
        <p:nvSpPr>
          <p:cNvPr id="28" name="cellule"/>
          <p:cNvSpPr txBox="1"/>
          <p:nvPr/>
        </p:nvSpPr>
        <p:spPr>
          <a:xfrm>
            <a:off x="3291840" y="4526280"/>
            <a:ext cx="4023360" cy="457200"/>
          </a:xfrm>
          <a:prstGeom prst="rect">
            <a:avLst/>
          </a:prstGeom>
          <a:solidFill>
            <a:srgbClr val="EAF1FE"/>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115 nombres (case + 4 lignes)</a:t>
            </a:r>
            <a:endParaRPr lang="en-US" sz="1300" dirty="0"/>
          </a:p>
        </p:txBody>
      </p:sp>
      <p:sp>
        <p:nvSpPr>
          <p:cNvPr id="29" name="cellule"/>
          <p:cNvSpPr txBox="1"/>
          <p:nvPr/>
        </p:nvSpPr>
        <p:spPr>
          <a:xfrm>
            <a:off x="7315200" y="4526280"/>
            <a:ext cx="4325112" cy="457200"/>
          </a:xfrm>
          <a:prstGeom prst="rect">
            <a:avLst/>
          </a:prstGeom>
          <a:solidFill>
            <a:srgbClr val="EAF1FE"/>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vue complète 14 × 28 en 6 calques</a:t>
            </a:r>
            <a:endParaRPr lang="en-US" sz="1300" dirty="0"/>
          </a:p>
        </p:txBody>
      </p:sp>
      <p:sp>
        <p:nvSpPr>
          <p:cNvPr id="30" name="cellule"/>
          <p:cNvSpPr txBox="1"/>
          <p:nvPr/>
        </p:nvSpPr>
        <p:spPr>
          <a:xfrm>
            <a:off x="548640" y="4983480"/>
            <a:ext cx="2743200" cy="457200"/>
          </a:xfrm>
          <a:prstGeom prst="rect">
            <a:avLst/>
          </a:prstGeom>
          <a:solidFill>
            <a:srgbClr val="FFFFFF"/>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Réseau DQN</a:t>
            </a:r>
            <a:endParaRPr lang="en-US" sz="1300" dirty="0"/>
          </a:p>
        </p:txBody>
      </p:sp>
      <p:sp>
        <p:nvSpPr>
          <p:cNvPr id="31" name="cellule"/>
          <p:cNvSpPr txBox="1"/>
          <p:nvPr/>
        </p:nvSpPr>
        <p:spPr>
          <a:xfrm>
            <a:off x="3291840" y="4983480"/>
            <a:ext cx="4023360" cy="457200"/>
          </a:xfrm>
          <a:prstGeom prst="rect">
            <a:avLst/>
          </a:prstGeom>
          <a:solidFill>
            <a:srgbClr val="FFFFFF"/>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115 → 128 → 128 → 3</a:t>
            </a:r>
            <a:endParaRPr lang="en-US" sz="1300" dirty="0"/>
          </a:p>
        </p:txBody>
      </p:sp>
      <p:sp>
        <p:nvSpPr>
          <p:cNvPr id="32" name="cellule"/>
          <p:cNvSpPr txBox="1"/>
          <p:nvPr/>
        </p:nvSpPr>
        <p:spPr>
          <a:xfrm>
            <a:off x="7315200" y="4983480"/>
            <a:ext cx="4325112" cy="457200"/>
          </a:xfrm>
          <a:prstGeom prst="rect">
            <a:avLst/>
          </a:prstGeom>
          <a:solidFill>
            <a:srgbClr val="FFFFFF"/>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~2 400 → 128 → 128 → 3 (319 363 poids)</a:t>
            </a:r>
            <a:endParaRPr lang="en-US" sz="1300" dirty="0"/>
          </a:p>
        </p:txBody>
      </p:sp>
      <p:sp>
        <p:nvSpPr>
          <p:cNvPr id="33" name="cellule"/>
          <p:cNvSpPr txBox="1"/>
          <p:nvPr/>
        </p:nvSpPr>
        <p:spPr>
          <a:xfrm>
            <a:off x="548640" y="5440680"/>
            <a:ext cx="2743200" cy="457200"/>
          </a:xfrm>
          <a:prstGeom prst="rect">
            <a:avLst/>
          </a:prstGeom>
          <a:solidFill>
            <a:srgbClr val="EAF1FE"/>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Mémoire de rejeu</a:t>
            </a:r>
            <a:endParaRPr lang="en-US" sz="1300" dirty="0"/>
          </a:p>
        </p:txBody>
      </p:sp>
      <p:sp>
        <p:nvSpPr>
          <p:cNvPr id="34" name="cellule"/>
          <p:cNvSpPr txBox="1"/>
          <p:nvPr/>
        </p:nvSpPr>
        <p:spPr>
          <a:xfrm>
            <a:off x="3291840" y="5440680"/>
            <a:ext cx="4023360" cy="457200"/>
          </a:xfrm>
          <a:prstGeom prst="rect">
            <a:avLst/>
          </a:prstGeom>
          <a:solidFill>
            <a:srgbClr val="EAF1FE"/>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50 000 coups, paquets de 64</a:t>
            </a:r>
            <a:endParaRPr lang="en-US" sz="1300" dirty="0"/>
          </a:p>
        </p:txBody>
      </p:sp>
      <p:sp>
        <p:nvSpPr>
          <p:cNvPr id="35" name="cellule"/>
          <p:cNvSpPr txBox="1"/>
          <p:nvPr/>
        </p:nvSpPr>
        <p:spPr>
          <a:xfrm>
            <a:off x="7315200" y="5440680"/>
            <a:ext cx="4325112" cy="457200"/>
          </a:xfrm>
          <a:prstGeom prst="rect">
            <a:avLst/>
          </a:prstGeom>
          <a:solidFill>
            <a:srgbClr val="EAF1FE"/>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100 000 coups, paquets de 64</a:t>
            </a:r>
            <a:endParaRPr lang="en-US" sz="1300" dirty="0"/>
          </a:p>
        </p:txBody>
      </p:sp>
      <p:sp>
        <p:nvSpPr>
          <p:cNvPr id="36" name="cellule"/>
          <p:cNvSpPr txBox="1"/>
          <p:nvPr/>
        </p:nvSpPr>
        <p:spPr>
          <a:xfrm>
            <a:off x="548640" y="5897880"/>
            <a:ext cx="2743200" cy="457200"/>
          </a:xfrm>
          <a:prstGeom prst="rect">
            <a:avLst/>
          </a:prstGeom>
          <a:solidFill>
            <a:srgbClr val="FFFFFF"/>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Apprentissage</a:t>
            </a:r>
            <a:endParaRPr lang="en-US" sz="1300" dirty="0"/>
          </a:p>
        </p:txBody>
      </p:sp>
      <p:sp>
        <p:nvSpPr>
          <p:cNvPr id="37" name="cellule"/>
          <p:cNvSpPr txBox="1"/>
          <p:nvPr/>
        </p:nvSpPr>
        <p:spPr>
          <a:xfrm>
            <a:off x="3291840" y="5897880"/>
            <a:ext cx="4023360" cy="457200"/>
          </a:xfrm>
          <a:prstGeom prst="rect">
            <a:avLst/>
          </a:prstGeom>
          <a:solidFill>
            <a:srgbClr val="FFFFFF"/>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lr 0,0001, cible copiée tous les 500 pas</a:t>
            </a:r>
            <a:endParaRPr lang="en-US" sz="1300" dirty="0"/>
          </a:p>
        </p:txBody>
      </p:sp>
      <p:sp>
        <p:nvSpPr>
          <p:cNvPr id="38" name="cellule"/>
          <p:cNvSpPr txBox="1"/>
          <p:nvPr/>
        </p:nvSpPr>
        <p:spPr>
          <a:xfrm>
            <a:off x="7315200" y="5897880"/>
            <a:ext cx="4325112" cy="457200"/>
          </a:xfrm>
          <a:prstGeom prst="rect">
            <a:avLst/>
          </a:prstGeom>
          <a:solidFill>
            <a:srgbClr val="FFFFFF"/>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idem, corrections limitées, meilleure version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ANNEXE C</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CE QUE VOIT LE DQN DE L'ARTICLE</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Seules 4 lignes de 28 cases autour de Mario, plus sa position : ni trous ni sens des ennemis.</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25</a:t>
            </a:r>
            <a:endParaRPr lang="en-US" sz="1000" dirty="0"/>
          </a:p>
        </p:txBody>
      </p:sp>
      <p:sp>
        <p:nvSpPr>
          <p:cNvPr id="8" name="carte"/>
          <p:cNvSpPr/>
          <p:nvPr/>
        </p:nvSpPr>
        <p:spPr>
          <a:xfrm>
            <a:off x="2575408" y="1709928"/>
            <a:ext cx="7040880" cy="4718304"/>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pic>
        <p:nvPicPr>
          <p:cNvPr id="9" name="observation_v3" descr="/home/user/MarioRL_FinalWork/docs/oral/fabrication/assets/observation_v3.png">    </p:cNvPr>
          <p:cNvPicPr>
            <a:picLocks noChangeAspect="1"/>
          </p:cNvPicPr>
          <p:nvPr/>
        </p:nvPicPr>
        <p:blipFill>
          <a:blip r:embed="rId1"/>
          <a:stretch>
            <a:fillRect/>
          </a:stretch>
        </p:blipFill>
        <p:spPr>
          <a:xfrm>
            <a:off x="2666848" y="1783080"/>
            <a:ext cx="6858000" cy="4572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ANNEXE D</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NOTRE DQN, ÉTAPE PAR ÉTAPE</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Graines 42 et 43, 6000 épisodes (étude d'ablation).</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26</a:t>
            </a:r>
            <a:endParaRPr lang="en-US" sz="1000" dirty="0"/>
          </a:p>
        </p:txBody>
      </p:sp>
      <p:sp>
        <p:nvSpPr>
          <p:cNvPr id="8" name="tableau_fond"/>
          <p:cNvSpPr/>
          <p:nvPr/>
        </p:nvSpPr>
        <p:spPr>
          <a:xfrm>
            <a:off x="530352" y="1764792"/>
            <a:ext cx="11128248" cy="3346704"/>
          </a:xfrm>
          <a:prstGeom prst="rect">
            <a:avLst/>
          </a:prstGeom>
          <a:solidFill>
            <a:srgbClr val="14183D"/>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9" name="entete"/>
          <p:cNvSpPr txBox="1"/>
          <p:nvPr/>
        </p:nvSpPr>
        <p:spPr>
          <a:xfrm>
            <a:off x="548640" y="1783080"/>
            <a:ext cx="731520" cy="566928"/>
          </a:xfrm>
          <a:prstGeom prst="rect">
            <a:avLst/>
          </a:prstGeom>
          <a:solidFill>
            <a:srgbClr val="14183D"/>
          </a:solidFill>
          <a:ln/>
        </p:spPr>
        <p:txBody>
          <a:bodyPr wrap="square" lIns="127000" tIns="25400" rIns="76200" bIns="25400" rtlCol="0" anchor="ctr"/>
          <a:lstStyle/>
          <a:p>
            <a:pPr algn="l" indent="0" marL="0">
              <a:buNone/>
            </a:pPr>
            <a:r>
              <a:rPr lang="en-US" sz="1150" b="1" dirty="0">
                <a:solidFill>
                  <a:srgbClr val="FFFFFF"/>
                </a:solidFill>
                <a:latin typeface="Montserrat" pitchFamily="34" charset="0"/>
                <a:ea typeface="Montserrat" pitchFamily="34" charset="-122"/>
                <a:cs typeface="Montserrat" pitchFamily="34" charset="-120"/>
              </a:rPr>
              <a:t>Étape</a:t>
            </a:r>
            <a:endParaRPr lang="en-US" sz="1150" dirty="0"/>
          </a:p>
        </p:txBody>
      </p:sp>
      <p:sp>
        <p:nvSpPr>
          <p:cNvPr id="10" name="entete"/>
          <p:cNvSpPr txBox="1"/>
          <p:nvPr/>
        </p:nvSpPr>
        <p:spPr>
          <a:xfrm>
            <a:off x="1280160" y="1783080"/>
            <a:ext cx="4754880" cy="566928"/>
          </a:xfrm>
          <a:prstGeom prst="rect">
            <a:avLst/>
          </a:prstGeom>
          <a:solidFill>
            <a:srgbClr val="14183D"/>
          </a:solidFill>
          <a:ln/>
        </p:spPr>
        <p:txBody>
          <a:bodyPr wrap="square" lIns="127000" tIns="25400" rIns="76200" bIns="25400" rtlCol="0" anchor="ctr"/>
          <a:lstStyle/>
          <a:p>
            <a:pPr algn="l" indent="0" marL="0">
              <a:buNone/>
            </a:pPr>
            <a:r>
              <a:rPr lang="en-US" sz="1150" b="1" dirty="0">
                <a:solidFill>
                  <a:srgbClr val="FFFFFF"/>
                </a:solidFill>
                <a:latin typeface="Montserrat" pitchFamily="34" charset="0"/>
                <a:ea typeface="Montserrat" pitchFamily="34" charset="-122"/>
                <a:cs typeface="Montserrat" pitchFamily="34" charset="-120"/>
              </a:rPr>
              <a:t>Changement</a:t>
            </a:r>
            <a:endParaRPr lang="en-US" sz="1150" dirty="0"/>
          </a:p>
        </p:txBody>
      </p:sp>
      <p:sp>
        <p:nvSpPr>
          <p:cNvPr id="11" name="entete"/>
          <p:cNvSpPr txBox="1"/>
          <p:nvPr/>
        </p:nvSpPr>
        <p:spPr>
          <a:xfrm>
            <a:off x="6035040" y="1783080"/>
            <a:ext cx="1463040" cy="566928"/>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Victoires</a:t>
            </a:r>
            <a:endParaRPr lang="en-US" sz="1150" dirty="0"/>
          </a:p>
        </p:txBody>
      </p:sp>
      <p:sp>
        <p:nvSpPr>
          <p:cNvPr id="12" name="entete"/>
          <p:cNvSpPr txBox="1"/>
          <p:nvPr/>
        </p:nvSpPr>
        <p:spPr>
          <a:xfrm>
            <a:off x="7498080" y="1783080"/>
            <a:ext cx="1600200" cy="566928"/>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Robustesse</a:t>
            </a:r>
            <a:endParaRPr lang="en-US" sz="1150" dirty="0"/>
          </a:p>
          <a:p>
            <a:pPr algn="ctr" indent="0" marL="0">
              <a:buNone/>
            </a:pPr>
            <a:r>
              <a:rPr lang="en-US" sz="1150" b="1" dirty="0">
                <a:solidFill>
                  <a:srgbClr val="FFFFFF"/>
                </a:solidFill>
                <a:latin typeface="Montserrat" pitchFamily="34" charset="0"/>
                <a:ea typeface="Montserrat" pitchFamily="34" charset="-122"/>
                <a:cs typeface="Montserrat" pitchFamily="34" charset="-120"/>
              </a:rPr>
              <a:t>(42 / 43)</a:t>
            </a:r>
            <a:endParaRPr lang="en-US" sz="1150" dirty="0"/>
          </a:p>
        </p:txBody>
      </p:sp>
      <p:sp>
        <p:nvSpPr>
          <p:cNvPr id="13" name="entete"/>
          <p:cNvSpPr txBox="1"/>
          <p:nvPr/>
        </p:nvSpPr>
        <p:spPr>
          <a:xfrm>
            <a:off x="9098280" y="1783080"/>
            <a:ext cx="1234440" cy="566928"/>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Parties</a:t>
            </a:r>
            <a:endParaRPr lang="en-US" sz="1150" dirty="0"/>
          </a:p>
          <a:p>
            <a:pPr algn="ctr" indent="0" marL="0">
              <a:buNone/>
            </a:pPr>
            <a:r>
              <a:rPr lang="en-US" sz="1150" b="1" dirty="0">
                <a:solidFill>
                  <a:srgbClr val="FFFFFF"/>
                </a:solidFill>
                <a:latin typeface="Montserrat" pitchFamily="34" charset="0"/>
                <a:ea typeface="Montserrat" pitchFamily="34" charset="-122"/>
                <a:cs typeface="Montserrat" pitchFamily="34" charset="-120"/>
              </a:rPr>
              <a:t>pour 50 %</a:t>
            </a:r>
            <a:endParaRPr lang="en-US" sz="1150" dirty="0"/>
          </a:p>
        </p:txBody>
      </p:sp>
      <p:sp>
        <p:nvSpPr>
          <p:cNvPr id="14" name="entete"/>
          <p:cNvSpPr txBox="1"/>
          <p:nvPr/>
        </p:nvSpPr>
        <p:spPr>
          <a:xfrm>
            <a:off x="10332720" y="1783080"/>
            <a:ext cx="1307592" cy="566928"/>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Parties</a:t>
            </a:r>
            <a:endParaRPr lang="en-US" sz="1150" dirty="0"/>
          </a:p>
          <a:p>
            <a:pPr algn="ctr" indent="0" marL="0">
              <a:buNone/>
            </a:pPr>
            <a:r>
              <a:rPr lang="en-US" sz="1150" b="1" dirty="0">
                <a:solidFill>
                  <a:srgbClr val="FFFFFF"/>
                </a:solidFill>
                <a:latin typeface="Montserrat" pitchFamily="34" charset="0"/>
                <a:ea typeface="Montserrat" pitchFamily="34" charset="-122"/>
                <a:cs typeface="Montserrat" pitchFamily="34" charset="-120"/>
              </a:rPr>
              <a:t>pour 80 %</a:t>
            </a:r>
            <a:endParaRPr lang="en-US" sz="1150" dirty="0"/>
          </a:p>
        </p:txBody>
      </p:sp>
      <p:sp>
        <p:nvSpPr>
          <p:cNvPr id="15" name="cellule"/>
          <p:cNvSpPr txBox="1"/>
          <p:nvPr/>
        </p:nvSpPr>
        <p:spPr>
          <a:xfrm>
            <a:off x="548640" y="2350008"/>
            <a:ext cx="731520" cy="548640"/>
          </a:xfrm>
          <a:prstGeom prst="rect">
            <a:avLst/>
          </a:prstGeom>
          <a:solidFill>
            <a:srgbClr val="FFFFFF"/>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0</a:t>
            </a:r>
            <a:endParaRPr lang="en-US" sz="1300" dirty="0"/>
          </a:p>
        </p:txBody>
      </p:sp>
      <p:sp>
        <p:nvSpPr>
          <p:cNvPr id="16" name="cellule"/>
          <p:cNvSpPr txBox="1"/>
          <p:nvPr/>
        </p:nvSpPr>
        <p:spPr>
          <a:xfrm>
            <a:off x="1280160" y="2350008"/>
            <a:ext cx="4754880" cy="548640"/>
          </a:xfrm>
          <a:prstGeom prst="rect">
            <a:avLst/>
          </a:prstGeom>
          <a:solidFill>
            <a:srgbClr val="FFFFFF"/>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DQN de l'article (sa vue)</a:t>
            </a:r>
            <a:endParaRPr lang="en-US" sz="1300" dirty="0"/>
          </a:p>
        </p:txBody>
      </p:sp>
      <p:sp>
        <p:nvSpPr>
          <p:cNvPr id="17" name="cellule"/>
          <p:cNvSpPr txBox="1"/>
          <p:nvPr/>
        </p:nvSpPr>
        <p:spPr>
          <a:xfrm>
            <a:off x="6035040" y="2350008"/>
            <a:ext cx="1463040" cy="54864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44,2 ± 6,8 %</a:t>
            </a:r>
            <a:endParaRPr lang="en-US" sz="1300" dirty="0"/>
          </a:p>
        </p:txBody>
      </p:sp>
      <p:sp>
        <p:nvSpPr>
          <p:cNvPr id="18" name="cellule"/>
          <p:cNvSpPr txBox="1"/>
          <p:nvPr/>
        </p:nvSpPr>
        <p:spPr>
          <a:xfrm>
            <a:off x="7498080" y="2350008"/>
            <a:ext cx="1600200" cy="54864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62 / 74 %</a:t>
            </a:r>
            <a:endParaRPr lang="en-US" sz="1300" dirty="0"/>
          </a:p>
        </p:txBody>
      </p:sp>
      <p:sp>
        <p:nvSpPr>
          <p:cNvPr id="19" name="cellule"/>
          <p:cNvSpPr txBox="1"/>
          <p:nvPr/>
        </p:nvSpPr>
        <p:spPr>
          <a:xfrm>
            <a:off x="9098280" y="2350008"/>
            <a:ext cx="1234440" cy="54864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5047</a:t>
            </a:r>
            <a:endParaRPr lang="en-US" sz="1300" dirty="0"/>
          </a:p>
        </p:txBody>
      </p:sp>
      <p:sp>
        <p:nvSpPr>
          <p:cNvPr id="20" name="cellule"/>
          <p:cNvSpPr txBox="1"/>
          <p:nvPr/>
        </p:nvSpPr>
        <p:spPr>
          <a:xfrm>
            <a:off x="10332720" y="2350008"/>
            <a:ext cx="1307592" cy="54864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jamais</a:t>
            </a:r>
            <a:endParaRPr lang="en-US" sz="1300" dirty="0"/>
          </a:p>
        </p:txBody>
      </p:sp>
      <p:sp>
        <p:nvSpPr>
          <p:cNvPr id="21" name="cellule"/>
          <p:cNvSpPr txBox="1"/>
          <p:nvPr/>
        </p:nvSpPr>
        <p:spPr>
          <a:xfrm>
            <a:off x="548640" y="2898648"/>
            <a:ext cx="731520" cy="548640"/>
          </a:xfrm>
          <a:prstGeom prst="rect">
            <a:avLst/>
          </a:prstGeom>
          <a:solidFill>
            <a:srgbClr val="EAF1FE"/>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1</a:t>
            </a:r>
            <a:endParaRPr lang="en-US" sz="1300" dirty="0"/>
          </a:p>
        </p:txBody>
      </p:sp>
      <p:sp>
        <p:nvSpPr>
          <p:cNvPr id="22" name="cellule"/>
          <p:cNvSpPr txBox="1"/>
          <p:nvPr/>
        </p:nvSpPr>
        <p:spPr>
          <a:xfrm>
            <a:off x="1280160" y="2898648"/>
            <a:ext cx="4754880" cy="548640"/>
          </a:xfrm>
          <a:prstGeom prst="rect">
            <a:avLst/>
          </a:prstGeom>
          <a:solidFill>
            <a:srgbClr val="EAF1FE"/>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 vue complète (14 × 28 cases, 6 calques)</a:t>
            </a:r>
            <a:endParaRPr lang="en-US" sz="1300" dirty="0"/>
          </a:p>
        </p:txBody>
      </p:sp>
      <p:sp>
        <p:nvSpPr>
          <p:cNvPr id="23" name="cellule"/>
          <p:cNvSpPr txBox="1"/>
          <p:nvPr/>
        </p:nvSpPr>
        <p:spPr>
          <a:xfrm>
            <a:off x="6035040" y="2898648"/>
            <a:ext cx="1463040" cy="54864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81,8 ± 0,0 %</a:t>
            </a:r>
            <a:endParaRPr lang="en-US" sz="1300" dirty="0"/>
          </a:p>
        </p:txBody>
      </p:sp>
      <p:sp>
        <p:nvSpPr>
          <p:cNvPr id="24" name="cellule"/>
          <p:cNvSpPr txBox="1"/>
          <p:nvPr/>
        </p:nvSpPr>
        <p:spPr>
          <a:xfrm>
            <a:off x="7498080" y="2898648"/>
            <a:ext cx="1600200" cy="54864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96 / 78 %</a:t>
            </a:r>
            <a:endParaRPr lang="en-US" sz="1300" dirty="0"/>
          </a:p>
        </p:txBody>
      </p:sp>
      <p:sp>
        <p:nvSpPr>
          <p:cNvPr id="25" name="cellule"/>
          <p:cNvSpPr txBox="1"/>
          <p:nvPr/>
        </p:nvSpPr>
        <p:spPr>
          <a:xfrm>
            <a:off x="9098280" y="2898648"/>
            <a:ext cx="1234440" cy="54864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1999</a:t>
            </a:r>
            <a:endParaRPr lang="en-US" sz="1300" dirty="0"/>
          </a:p>
        </p:txBody>
      </p:sp>
      <p:sp>
        <p:nvSpPr>
          <p:cNvPr id="26" name="cellule"/>
          <p:cNvSpPr txBox="1"/>
          <p:nvPr/>
        </p:nvSpPr>
        <p:spPr>
          <a:xfrm>
            <a:off x="10332720" y="2898648"/>
            <a:ext cx="1307592" cy="54864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2900</a:t>
            </a:r>
            <a:endParaRPr lang="en-US" sz="1300" dirty="0"/>
          </a:p>
        </p:txBody>
      </p:sp>
      <p:sp>
        <p:nvSpPr>
          <p:cNvPr id="27" name="cellule"/>
          <p:cNvSpPr txBox="1"/>
          <p:nvPr/>
        </p:nvSpPr>
        <p:spPr>
          <a:xfrm>
            <a:off x="548640" y="3447288"/>
            <a:ext cx="731520" cy="548640"/>
          </a:xfrm>
          <a:prstGeom prst="rect">
            <a:avLst/>
          </a:prstGeom>
          <a:solidFill>
            <a:srgbClr val="FFFFFF"/>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2</a:t>
            </a:r>
            <a:endParaRPr lang="en-US" sz="1300" dirty="0"/>
          </a:p>
        </p:txBody>
      </p:sp>
      <p:sp>
        <p:nvSpPr>
          <p:cNvPr id="28" name="cellule"/>
          <p:cNvSpPr txBox="1"/>
          <p:nvPr/>
        </p:nvSpPr>
        <p:spPr>
          <a:xfrm>
            <a:off x="1280160" y="3447288"/>
            <a:ext cx="4754880" cy="548640"/>
          </a:xfrm>
          <a:prstGeom prst="rect">
            <a:avLst/>
          </a:prstGeom>
          <a:solidFill>
            <a:srgbClr val="FFFFFF"/>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1 + Double DQN, 3 pas, cible douce, corrections limitées, meilleure version</a:t>
            </a:r>
            <a:endParaRPr lang="en-US" sz="1300" dirty="0"/>
          </a:p>
        </p:txBody>
      </p:sp>
      <p:sp>
        <p:nvSpPr>
          <p:cNvPr id="29" name="cellule"/>
          <p:cNvSpPr txBox="1"/>
          <p:nvPr/>
        </p:nvSpPr>
        <p:spPr>
          <a:xfrm>
            <a:off x="6035040" y="3447288"/>
            <a:ext cx="1463040" cy="54864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78,2 ± 9,6 %</a:t>
            </a:r>
            <a:endParaRPr lang="en-US" sz="1300" dirty="0"/>
          </a:p>
        </p:txBody>
      </p:sp>
      <p:sp>
        <p:nvSpPr>
          <p:cNvPr id="30" name="cellule"/>
          <p:cNvSpPr txBox="1"/>
          <p:nvPr/>
        </p:nvSpPr>
        <p:spPr>
          <a:xfrm>
            <a:off x="7498080" y="3447288"/>
            <a:ext cx="1600200" cy="54864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80 / 90 %</a:t>
            </a:r>
            <a:endParaRPr lang="en-US" sz="1300" dirty="0"/>
          </a:p>
        </p:txBody>
      </p:sp>
      <p:sp>
        <p:nvSpPr>
          <p:cNvPr id="31" name="cellule"/>
          <p:cNvSpPr txBox="1"/>
          <p:nvPr/>
        </p:nvSpPr>
        <p:spPr>
          <a:xfrm>
            <a:off x="9098280" y="3447288"/>
            <a:ext cx="1234440" cy="54864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2730</a:t>
            </a:r>
            <a:endParaRPr lang="en-US" sz="1300" dirty="0"/>
          </a:p>
        </p:txBody>
      </p:sp>
      <p:sp>
        <p:nvSpPr>
          <p:cNvPr id="32" name="cellule"/>
          <p:cNvSpPr txBox="1"/>
          <p:nvPr/>
        </p:nvSpPr>
        <p:spPr>
          <a:xfrm>
            <a:off x="10332720" y="3447288"/>
            <a:ext cx="1307592" cy="54864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4330</a:t>
            </a:r>
            <a:endParaRPr lang="en-US" sz="1300" dirty="0"/>
          </a:p>
        </p:txBody>
      </p:sp>
      <p:sp>
        <p:nvSpPr>
          <p:cNvPr id="33" name="cellule"/>
          <p:cNvSpPr txBox="1"/>
          <p:nvPr/>
        </p:nvSpPr>
        <p:spPr>
          <a:xfrm>
            <a:off x="548640" y="3995928"/>
            <a:ext cx="731520" cy="548640"/>
          </a:xfrm>
          <a:prstGeom prst="rect">
            <a:avLst/>
          </a:prstGeom>
          <a:solidFill>
            <a:srgbClr val="EAF1FE"/>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3</a:t>
            </a:r>
            <a:endParaRPr lang="en-US" sz="1300" dirty="0"/>
          </a:p>
        </p:txBody>
      </p:sp>
      <p:sp>
        <p:nvSpPr>
          <p:cNvPr id="34" name="cellule"/>
          <p:cNvSpPr txBox="1"/>
          <p:nvPr/>
        </p:nvSpPr>
        <p:spPr>
          <a:xfrm>
            <a:off x="1280160" y="3995928"/>
            <a:ext cx="4754880" cy="548640"/>
          </a:xfrm>
          <a:prstGeom prst="rect">
            <a:avLst/>
          </a:prstGeom>
          <a:solidFill>
            <a:srgbClr val="EAF1FE"/>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1 + réseau convolutif (CNN), carte graphique</a:t>
            </a:r>
            <a:endParaRPr lang="en-US" sz="1300" dirty="0"/>
          </a:p>
        </p:txBody>
      </p:sp>
      <p:sp>
        <p:nvSpPr>
          <p:cNvPr id="35" name="cellule"/>
          <p:cNvSpPr txBox="1"/>
          <p:nvPr/>
        </p:nvSpPr>
        <p:spPr>
          <a:xfrm>
            <a:off x="6035040" y="3995928"/>
            <a:ext cx="1463040" cy="54864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76,6 ± 8,5 %</a:t>
            </a:r>
            <a:endParaRPr lang="en-US" sz="1300" dirty="0"/>
          </a:p>
        </p:txBody>
      </p:sp>
      <p:sp>
        <p:nvSpPr>
          <p:cNvPr id="36" name="cellule"/>
          <p:cNvSpPr txBox="1"/>
          <p:nvPr/>
        </p:nvSpPr>
        <p:spPr>
          <a:xfrm>
            <a:off x="7498080" y="3995928"/>
            <a:ext cx="1600200" cy="54864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 (poids perdus)</a:t>
            </a:r>
            <a:endParaRPr lang="en-US" sz="1300" dirty="0"/>
          </a:p>
        </p:txBody>
      </p:sp>
      <p:sp>
        <p:nvSpPr>
          <p:cNvPr id="37" name="cellule"/>
          <p:cNvSpPr txBox="1"/>
          <p:nvPr/>
        </p:nvSpPr>
        <p:spPr>
          <a:xfrm>
            <a:off x="9098280" y="3995928"/>
            <a:ext cx="1234440" cy="54864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2210</a:t>
            </a:r>
            <a:endParaRPr lang="en-US" sz="1300" dirty="0"/>
          </a:p>
        </p:txBody>
      </p:sp>
      <p:sp>
        <p:nvSpPr>
          <p:cNvPr id="38" name="cellule"/>
          <p:cNvSpPr txBox="1"/>
          <p:nvPr/>
        </p:nvSpPr>
        <p:spPr>
          <a:xfrm>
            <a:off x="10332720" y="3995928"/>
            <a:ext cx="1307592" cy="54864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3351</a:t>
            </a:r>
            <a:endParaRPr lang="en-US" sz="1300" dirty="0"/>
          </a:p>
        </p:txBody>
      </p:sp>
      <p:sp>
        <p:nvSpPr>
          <p:cNvPr id="39" name="cellule"/>
          <p:cNvSpPr txBox="1"/>
          <p:nvPr/>
        </p:nvSpPr>
        <p:spPr>
          <a:xfrm>
            <a:off x="548640" y="4544568"/>
            <a:ext cx="731520" cy="548640"/>
          </a:xfrm>
          <a:prstGeom prst="rect">
            <a:avLst/>
          </a:prstGeom>
          <a:solidFill>
            <a:srgbClr val="FFFFFF"/>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4</a:t>
            </a:r>
            <a:endParaRPr lang="en-US" sz="1300" dirty="0"/>
          </a:p>
        </p:txBody>
      </p:sp>
      <p:sp>
        <p:nvSpPr>
          <p:cNvPr id="40" name="cellule"/>
          <p:cNvSpPr txBox="1"/>
          <p:nvPr/>
        </p:nvSpPr>
        <p:spPr>
          <a:xfrm>
            <a:off x="1280160" y="4544568"/>
            <a:ext cx="4754880" cy="548640"/>
          </a:xfrm>
          <a:prstGeom prst="rect">
            <a:avLst/>
          </a:prstGeom>
          <a:solidFill>
            <a:srgbClr val="FFFFFF"/>
          </a:solidFill>
          <a:ln/>
        </p:spPr>
        <p:txBody>
          <a:bodyPr wrap="square" lIns="127000" tIns="25400" rIns="76200" bIns="25400" rtlCol="0" anchor="ctr"/>
          <a:lstStyle/>
          <a:p>
            <a:pPr algn="l" indent="0" marL="0">
              <a:buNone/>
            </a:pPr>
            <a:r>
              <a:rPr lang="en-US" sz="1300" dirty="0">
                <a:solidFill>
                  <a:srgbClr val="14183D"/>
                </a:solidFill>
                <a:latin typeface="Montserrat" pitchFamily="34" charset="0"/>
                <a:ea typeface="Montserrat" pitchFamily="34" charset="-122"/>
                <a:cs typeface="Montserrat" pitchFamily="34" charset="-120"/>
              </a:rPr>
              <a:t>1 + ε plancher 0,02, mémoire 100 000, corrections limitées, meilleure version</a:t>
            </a:r>
            <a:endParaRPr lang="en-US" sz="1300" dirty="0"/>
          </a:p>
        </p:txBody>
      </p:sp>
      <p:sp>
        <p:nvSpPr>
          <p:cNvPr id="41" name="cellule"/>
          <p:cNvSpPr txBox="1"/>
          <p:nvPr/>
        </p:nvSpPr>
        <p:spPr>
          <a:xfrm>
            <a:off x="6035040" y="4544568"/>
            <a:ext cx="1463040" cy="548640"/>
          </a:xfrm>
          <a:prstGeom prst="rect">
            <a:avLst/>
          </a:prstGeom>
          <a:solidFill>
            <a:srgbClr val="FFE27A"/>
          </a:solidFill>
          <a:ln/>
        </p:spPr>
        <p:txBody>
          <a:bodyPr wrap="square" lIns="25400" tIns="25400" rIns="25400" bIns="25400" rtlCol="0" anchor="ctr"/>
          <a:lstStyle/>
          <a:p>
            <a:pPr algn="ctr" indent="0" marL="0">
              <a:buNone/>
            </a:pPr>
            <a:r>
              <a:rPr lang="en-US" sz="1300" b="1" dirty="0">
                <a:solidFill>
                  <a:srgbClr val="14183D"/>
                </a:solidFill>
                <a:latin typeface="Montserrat" pitchFamily="34" charset="0"/>
                <a:ea typeface="Montserrat" pitchFamily="34" charset="-122"/>
                <a:cs typeface="Montserrat" pitchFamily="34" charset="-120"/>
              </a:rPr>
              <a:t>94,5 ± 1,8 %</a:t>
            </a:r>
            <a:endParaRPr lang="en-US" sz="1300" dirty="0"/>
          </a:p>
        </p:txBody>
      </p:sp>
      <p:sp>
        <p:nvSpPr>
          <p:cNvPr id="42" name="cellule"/>
          <p:cNvSpPr txBox="1"/>
          <p:nvPr/>
        </p:nvSpPr>
        <p:spPr>
          <a:xfrm>
            <a:off x="7498080" y="4544568"/>
            <a:ext cx="1600200" cy="548640"/>
          </a:xfrm>
          <a:prstGeom prst="rect">
            <a:avLst/>
          </a:prstGeom>
          <a:solidFill>
            <a:srgbClr val="FFE27A"/>
          </a:solidFill>
          <a:ln/>
        </p:spPr>
        <p:txBody>
          <a:bodyPr wrap="square" lIns="25400" tIns="25400" rIns="25400" bIns="25400" rtlCol="0" anchor="ctr"/>
          <a:lstStyle/>
          <a:p>
            <a:pPr algn="ctr" indent="0" marL="0">
              <a:buNone/>
            </a:pPr>
            <a:r>
              <a:rPr lang="en-US" sz="1300" b="1" dirty="0">
                <a:solidFill>
                  <a:srgbClr val="14183D"/>
                </a:solidFill>
                <a:latin typeface="Montserrat" pitchFamily="34" charset="0"/>
                <a:ea typeface="Montserrat" pitchFamily="34" charset="-122"/>
                <a:cs typeface="Montserrat" pitchFamily="34" charset="-120"/>
              </a:rPr>
              <a:t>94 / 94 %</a:t>
            </a:r>
            <a:endParaRPr lang="en-US" sz="1300" dirty="0"/>
          </a:p>
        </p:txBody>
      </p:sp>
      <p:sp>
        <p:nvSpPr>
          <p:cNvPr id="43" name="cellule"/>
          <p:cNvSpPr txBox="1"/>
          <p:nvPr/>
        </p:nvSpPr>
        <p:spPr>
          <a:xfrm>
            <a:off x="9098280" y="4544568"/>
            <a:ext cx="1234440" cy="548640"/>
          </a:xfrm>
          <a:prstGeom prst="rect">
            <a:avLst/>
          </a:prstGeom>
          <a:solidFill>
            <a:srgbClr val="FFE27A"/>
          </a:solidFill>
          <a:ln/>
        </p:spPr>
        <p:txBody>
          <a:bodyPr wrap="square" lIns="25400" tIns="25400" rIns="25400" bIns="25400" rtlCol="0" anchor="ctr"/>
          <a:lstStyle/>
          <a:p>
            <a:pPr algn="ctr" indent="0" marL="0">
              <a:buNone/>
            </a:pPr>
            <a:r>
              <a:rPr lang="en-US" sz="1300" b="1" dirty="0">
                <a:solidFill>
                  <a:srgbClr val="14183D"/>
                </a:solidFill>
                <a:latin typeface="Montserrat" pitchFamily="34" charset="0"/>
                <a:ea typeface="Montserrat" pitchFamily="34" charset="-122"/>
                <a:cs typeface="Montserrat" pitchFamily="34" charset="-120"/>
              </a:rPr>
              <a:t>1959</a:t>
            </a:r>
            <a:endParaRPr lang="en-US" sz="1300" dirty="0"/>
          </a:p>
        </p:txBody>
      </p:sp>
      <p:sp>
        <p:nvSpPr>
          <p:cNvPr id="44" name="cellule"/>
          <p:cNvSpPr txBox="1"/>
          <p:nvPr/>
        </p:nvSpPr>
        <p:spPr>
          <a:xfrm>
            <a:off x="10332720" y="4544568"/>
            <a:ext cx="1307592" cy="54864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3022</a:t>
            </a:r>
            <a:endParaRPr lang="en-US" sz="1300" dirty="0"/>
          </a:p>
        </p:txBody>
      </p:sp>
      <p:sp>
        <p:nvSpPr>
          <p:cNvPr id="45" name="carte"/>
          <p:cNvSpPr/>
          <p:nvPr/>
        </p:nvSpPr>
        <p:spPr>
          <a:xfrm>
            <a:off x="548640" y="5349240"/>
            <a:ext cx="11091672" cy="914400"/>
          </a:xfrm>
          <a:prstGeom prst="rect">
            <a:avLst/>
          </a:prstGeom>
          <a:solidFill>
            <a:srgbClr val="FFF4C2"/>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46" name="Text 44"/>
          <p:cNvSpPr txBox="1"/>
          <p:nvPr/>
        </p:nvSpPr>
        <p:spPr>
          <a:xfrm>
            <a:off x="777240" y="5394960"/>
            <a:ext cx="10698480" cy="822960"/>
          </a:xfrm>
          <a:prstGeom prst="rect">
            <a:avLst/>
          </a:prstGeom>
          <a:noFill/>
          <a:ln/>
        </p:spPr>
        <p:txBody>
          <a:bodyPr wrap="square" lIns="0" tIns="0" rIns="0" bIns="0" rtlCol="0" anchor="ctr"/>
          <a:lstStyle/>
          <a:p>
            <a:pPr indent="0" marL="0">
              <a:buNone/>
            </a:pPr>
            <a:r>
              <a:rPr lang="en-US" sz="1350" dirty="0">
                <a:solidFill>
                  <a:srgbClr val="14183D"/>
                </a:solidFill>
                <a:latin typeface="Montserrat" pitchFamily="34" charset="0"/>
                <a:ea typeface="Montserrat" pitchFamily="34" charset="-122"/>
                <a:cs typeface="Montserrat" pitchFamily="34" charset="-120"/>
              </a:rPr>
              <a:t>Ce qui compte : la vue complète (+38 points). Les améliorations connues de DQN et le CNN n'apportent rien ici ; l'étape 4 apporte la stabilité. Sur les 5 graines : 93,7 % de victoires, 94,4 % de robustesse.</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ANNEXE E</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PPO PAR GRAINE</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Vrai jeu NES, 3 M de pas par graine.</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27</a:t>
            </a:r>
            <a:endParaRPr lang="en-US" sz="1000" dirty="0"/>
          </a:p>
        </p:txBody>
      </p:sp>
      <p:sp>
        <p:nvSpPr>
          <p:cNvPr id="8" name="tableau_fond"/>
          <p:cNvSpPr/>
          <p:nvPr/>
        </p:nvSpPr>
        <p:spPr>
          <a:xfrm>
            <a:off x="530352" y="1764792"/>
            <a:ext cx="5431536" cy="3328416"/>
          </a:xfrm>
          <a:prstGeom prst="rect">
            <a:avLst/>
          </a:prstGeom>
          <a:solidFill>
            <a:srgbClr val="14183D"/>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9" name="entete"/>
          <p:cNvSpPr txBox="1"/>
          <p:nvPr/>
        </p:nvSpPr>
        <p:spPr>
          <a:xfrm>
            <a:off x="548640" y="1783080"/>
            <a:ext cx="1097280" cy="548640"/>
          </a:xfrm>
          <a:prstGeom prst="rect">
            <a:avLst/>
          </a:prstGeom>
          <a:solidFill>
            <a:srgbClr val="14183D"/>
          </a:solidFill>
          <a:ln/>
        </p:spPr>
        <p:txBody>
          <a:bodyPr wrap="square" lIns="127000" tIns="25400" rIns="76200" bIns="25400" rtlCol="0" anchor="ctr"/>
          <a:lstStyle/>
          <a:p>
            <a:pPr algn="l" indent="0" marL="0">
              <a:buNone/>
            </a:pPr>
            <a:r>
              <a:rPr lang="en-US" sz="1150" b="1" dirty="0">
                <a:solidFill>
                  <a:srgbClr val="FFFFFF"/>
                </a:solidFill>
                <a:latin typeface="Montserrat" pitchFamily="34" charset="0"/>
                <a:ea typeface="Montserrat" pitchFamily="34" charset="-122"/>
                <a:cs typeface="Montserrat" pitchFamily="34" charset="-120"/>
              </a:rPr>
              <a:t>Graine</a:t>
            </a:r>
            <a:endParaRPr lang="en-US" sz="1150" dirty="0"/>
          </a:p>
        </p:txBody>
      </p:sp>
      <p:sp>
        <p:nvSpPr>
          <p:cNvPr id="10" name="entete"/>
          <p:cNvSpPr txBox="1"/>
          <p:nvPr/>
        </p:nvSpPr>
        <p:spPr>
          <a:xfrm>
            <a:off x="1645920" y="1783080"/>
            <a:ext cx="1417320" cy="548640"/>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Victoires</a:t>
            </a:r>
            <a:endParaRPr lang="en-US" sz="1150" dirty="0"/>
          </a:p>
        </p:txBody>
      </p:sp>
      <p:sp>
        <p:nvSpPr>
          <p:cNvPr id="11" name="entete"/>
          <p:cNvSpPr txBox="1"/>
          <p:nvPr/>
        </p:nvSpPr>
        <p:spPr>
          <a:xfrm>
            <a:off x="3063240" y="1783080"/>
            <a:ext cx="1417320" cy="548640"/>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Robustesse</a:t>
            </a:r>
            <a:endParaRPr lang="en-US" sz="1150" dirty="0"/>
          </a:p>
        </p:txBody>
      </p:sp>
      <p:sp>
        <p:nvSpPr>
          <p:cNvPr id="12" name="entete"/>
          <p:cNvSpPr txBox="1"/>
          <p:nvPr/>
        </p:nvSpPr>
        <p:spPr>
          <a:xfrm>
            <a:off x="4480560" y="1783080"/>
            <a:ext cx="1463040" cy="548640"/>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Sans hasard</a:t>
            </a:r>
            <a:endParaRPr lang="en-US" sz="1150" dirty="0"/>
          </a:p>
        </p:txBody>
      </p:sp>
      <p:sp>
        <p:nvSpPr>
          <p:cNvPr id="13" name="cellule"/>
          <p:cNvSpPr txBox="1"/>
          <p:nvPr/>
        </p:nvSpPr>
        <p:spPr>
          <a:xfrm>
            <a:off x="548640" y="2331720"/>
            <a:ext cx="1097280" cy="457200"/>
          </a:xfrm>
          <a:prstGeom prst="rect">
            <a:avLst/>
          </a:prstGeom>
          <a:solidFill>
            <a:srgbClr val="FFFFFF"/>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42</a:t>
            </a:r>
            <a:endParaRPr lang="en-US" sz="1300" dirty="0"/>
          </a:p>
        </p:txBody>
      </p:sp>
      <p:sp>
        <p:nvSpPr>
          <p:cNvPr id="14" name="cellule"/>
          <p:cNvSpPr txBox="1"/>
          <p:nvPr/>
        </p:nvSpPr>
        <p:spPr>
          <a:xfrm>
            <a:off x="1645920" y="2331720"/>
            <a:ext cx="141732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87,6 %</a:t>
            </a:r>
            <a:endParaRPr lang="en-US" sz="1300" dirty="0"/>
          </a:p>
        </p:txBody>
      </p:sp>
      <p:sp>
        <p:nvSpPr>
          <p:cNvPr id="15" name="cellule"/>
          <p:cNvSpPr txBox="1"/>
          <p:nvPr/>
        </p:nvSpPr>
        <p:spPr>
          <a:xfrm>
            <a:off x="3063240" y="2331720"/>
            <a:ext cx="141732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54 %</a:t>
            </a:r>
            <a:endParaRPr lang="en-US" sz="1300" dirty="0"/>
          </a:p>
        </p:txBody>
      </p:sp>
      <p:sp>
        <p:nvSpPr>
          <p:cNvPr id="16" name="cellule"/>
          <p:cNvSpPr txBox="1"/>
          <p:nvPr/>
        </p:nvSpPr>
        <p:spPr>
          <a:xfrm>
            <a:off x="4480560" y="2331720"/>
            <a:ext cx="146304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336 pas</a:t>
            </a:r>
            <a:endParaRPr lang="en-US" sz="1300" dirty="0"/>
          </a:p>
        </p:txBody>
      </p:sp>
      <p:sp>
        <p:nvSpPr>
          <p:cNvPr id="17" name="cellule"/>
          <p:cNvSpPr txBox="1"/>
          <p:nvPr/>
        </p:nvSpPr>
        <p:spPr>
          <a:xfrm>
            <a:off x="548640" y="2788920"/>
            <a:ext cx="1097280" cy="457200"/>
          </a:xfrm>
          <a:prstGeom prst="rect">
            <a:avLst/>
          </a:prstGeom>
          <a:solidFill>
            <a:srgbClr val="EAF1FE"/>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43</a:t>
            </a:r>
            <a:endParaRPr lang="en-US" sz="1300" dirty="0"/>
          </a:p>
        </p:txBody>
      </p:sp>
      <p:sp>
        <p:nvSpPr>
          <p:cNvPr id="18" name="cellule"/>
          <p:cNvSpPr txBox="1"/>
          <p:nvPr/>
        </p:nvSpPr>
        <p:spPr>
          <a:xfrm>
            <a:off x="1645920" y="2788920"/>
            <a:ext cx="141732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74,8 %</a:t>
            </a:r>
            <a:endParaRPr lang="en-US" sz="1300" dirty="0"/>
          </a:p>
        </p:txBody>
      </p:sp>
      <p:sp>
        <p:nvSpPr>
          <p:cNvPr id="19" name="cellule"/>
          <p:cNvSpPr txBox="1"/>
          <p:nvPr/>
        </p:nvSpPr>
        <p:spPr>
          <a:xfrm>
            <a:off x="3063240" y="2788920"/>
            <a:ext cx="141732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64 %</a:t>
            </a:r>
            <a:endParaRPr lang="en-US" sz="1300" dirty="0"/>
          </a:p>
        </p:txBody>
      </p:sp>
      <p:sp>
        <p:nvSpPr>
          <p:cNvPr id="20" name="cellule"/>
          <p:cNvSpPr txBox="1"/>
          <p:nvPr/>
        </p:nvSpPr>
        <p:spPr>
          <a:xfrm>
            <a:off x="4480560" y="2788920"/>
            <a:ext cx="146304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326 pas</a:t>
            </a:r>
            <a:endParaRPr lang="en-US" sz="1300" dirty="0"/>
          </a:p>
        </p:txBody>
      </p:sp>
      <p:sp>
        <p:nvSpPr>
          <p:cNvPr id="21" name="cellule"/>
          <p:cNvSpPr txBox="1"/>
          <p:nvPr/>
        </p:nvSpPr>
        <p:spPr>
          <a:xfrm>
            <a:off x="548640" y="3246120"/>
            <a:ext cx="1097280" cy="457200"/>
          </a:xfrm>
          <a:prstGeom prst="rect">
            <a:avLst/>
          </a:prstGeom>
          <a:solidFill>
            <a:srgbClr val="FFFFFF"/>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44</a:t>
            </a:r>
            <a:endParaRPr lang="en-US" sz="1300" dirty="0"/>
          </a:p>
        </p:txBody>
      </p:sp>
      <p:sp>
        <p:nvSpPr>
          <p:cNvPr id="22" name="cellule"/>
          <p:cNvSpPr txBox="1"/>
          <p:nvPr/>
        </p:nvSpPr>
        <p:spPr>
          <a:xfrm>
            <a:off x="1645920" y="3246120"/>
            <a:ext cx="141732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77,0 %</a:t>
            </a:r>
            <a:endParaRPr lang="en-US" sz="1300" dirty="0"/>
          </a:p>
        </p:txBody>
      </p:sp>
      <p:sp>
        <p:nvSpPr>
          <p:cNvPr id="23" name="cellule"/>
          <p:cNvSpPr txBox="1"/>
          <p:nvPr/>
        </p:nvSpPr>
        <p:spPr>
          <a:xfrm>
            <a:off x="3063240" y="3246120"/>
            <a:ext cx="141732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52 %</a:t>
            </a:r>
            <a:endParaRPr lang="en-US" sz="1300" dirty="0"/>
          </a:p>
        </p:txBody>
      </p:sp>
      <p:sp>
        <p:nvSpPr>
          <p:cNvPr id="24" name="cellule"/>
          <p:cNvSpPr txBox="1"/>
          <p:nvPr/>
        </p:nvSpPr>
        <p:spPr>
          <a:xfrm>
            <a:off x="4480560" y="3246120"/>
            <a:ext cx="146304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347 pas</a:t>
            </a:r>
            <a:endParaRPr lang="en-US" sz="1300" dirty="0"/>
          </a:p>
        </p:txBody>
      </p:sp>
      <p:sp>
        <p:nvSpPr>
          <p:cNvPr id="25" name="cellule"/>
          <p:cNvSpPr txBox="1"/>
          <p:nvPr/>
        </p:nvSpPr>
        <p:spPr>
          <a:xfrm>
            <a:off x="548640" y="3703320"/>
            <a:ext cx="1097280" cy="457200"/>
          </a:xfrm>
          <a:prstGeom prst="rect">
            <a:avLst/>
          </a:prstGeom>
          <a:solidFill>
            <a:srgbClr val="EAF1FE"/>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45</a:t>
            </a:r>
            <a:endParaRPr lang="en-US" sz="1300" dirty="0"/>
          </a:p>
        </p:txBody>
      </p:sp>
      <p:sp>
        <p:nvSpPr>
          <p:cNvPr id="26" name="cellule"/>
          <p:cNvSpPr txBox="1"/>
          <p:nvPr/>
        </p:nvSpPr>
        <p:spPr>
          <a:xfrm>
            <a:off x="1645920" y="3703320"/>
            <a:ext cx="141732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86,4 %</a:t>
            </a:r>
            <a:endParaRPr lang="en-US" sz="1300" dirty="0"/>
          </a:p>
        </p:txBody>
      </p:sp>
      <p:sp>
        <p:nvSpPr>
          <p:cNvPr id="27" name="cellule"/>
          <p:cNvSpPr txBox="1"/>
          <p:nvPr/>
        </p:nvSpPr>
        <p:spPr>
          <a:xfrm>
            <a:off x="3063240" y="3703320"/>
            <a:ext cx="141732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46 %</a:t>
            </a:r>
            <a:endParaRPr lang="en-US" sz="1300" dirty="0"/>
          </a:p>
        </p:txBody>
      </p:sp>
      <p:sp>
        <p:nvSpPr>
          <p:cNvPr id="28" name="cellule"/>
          <p:cNvSpPr txBox="1"/>
          <p:nvPr/>
        </p:nvSpPr>
        <p:spPr>
          <a:xfrm>
            <a:off x="4480560" y="3703320"/>
            <a:ext cx="146304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361 pas</a:t>
            </a:r>
            <a:endParaRPr lang="en-US" sz="1300" dirty="0"/>
          </a:p>
        </p:txBody>
      </p:sp>
      <p:sp>
        <p:nvSpPr>
          <p:cNvPr id="29" name="cellule"/>
          <p:cNvSpPr txBox="1"/>
          <p:nvPr/>
        </p:nvSpPr>
        <p:spPr>
          <a:xfrm>
            <a:off x="548640" y="4160520"/>
            <a:ext cx="1097280" cy="457200"/>
          </a:xfrm>
          <a:prstGeom prst="rect">
            <a:avLst/>
          </a:prstGeom>
          <a:solidFill>
            <a:srgbClr val="FFFFFF"/>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46</a:t>
            </a:r>
            <a:endParaRPr lang="en-US" sz="1300" dirty="0"/>
          </a:p>
        </p:txBody>
      </p:sp>
      <p:sp>
        <p:nvSpPr>
          <p:cNvPr id="30" name="cellule"/>
          <p:cNvSpPr txBox="1"/>
          <p:nvPr/>
        </p:nvSpPr>
        <p:spPr>
          <a:xfrm>
            <a:off x="1645920" y="4160520"/>
            <a:ext cx="141732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81,2 %</a:t>
            </a:r>
            <a:endParaRPr lang="en-US" sz="1300" dirty="0"/>
          </a:p>
        </p:txBody>
      </p:sp>
      <p:sp>
        <p:nvSpPr>
          <p:cNvPr id="31" name="cellule"/>
          <p:cNvSpPr txBox="1"/>
          <p:nvPr/>
        </p:nvSpPr>
        <p:spPr>
          <a:xfrm>
            <a:off x="3063240" y="4160520"/>
            <a:ext cx="141732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82 %</a:t>
            </a:r>
            <a:endParaRPr lang="en-US" sz="1300" dirty="0"/>
          </a:p>
        </p:txBody>
      </p:sp>
      <p:sp>
        <p:nvSpPr>
          <p:cNvPr id="32" name="cellule"/>
          <p:cNvSpPr txBox="1"/>
          <p:nvPr/>
        </p:nvSpPr>
        <p:spPr>
          <a:xfrm>
            <a:off x="4480560" y="4160520"/>
            <a:ext cx="1463040" cy="457200"/>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375 pas</a:t>
            </a:r>
            <a:endParaRPr lang="en-US" sz="1300" dirty="0"/>
          </a:p>
        </p:txBody>
      </p:sp>
      <p:sp>
        <p:nvSpPr>
          <p:cNvPr id="33" name="cellule"/>
          <p:cNvSpPr txBox="1"/>
          <p:nvPr/>
        </p:nvSpPr>
        <p:spPr>
          <a:xfrm>
            <a:off x="548640" y="4617720"/>
            <a:ext cx="1097280" cy="457200"/>
          </a:xfrm>
          <a:prstGeom prst="rect">
            <a:avLst/>
          </a:prstGeom>
          <a:solidFill>
            <a:srgbClr val="EAF1FE"/>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Moy.</a:t>
            </a:r>
            <a:endParaRPr lang="en-US" sz="1300" dirty="0"/>
          </a:p>
        </p:txBody>
      </p:sp>
      <p:sp>
        <p:nvSpPr>
          <p:cNvPr id="34" name="cellule"/>
          <p:cNvSpPr txBox="1"/>
          <p:nvPr/>
        </p:nvSpPr>
        <p:spPr>
          <a:xfrm>
            <a:off x="1645920" y="4617720"/>
            <a:ext cx="141732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81,4 %</a:t>
            </a:r>
            <a:endParaRPr lang="en-US" sz="1300" dirty="0"/>
          </a:p>
        </p:txBody>
      </p:sp>
      <p:sp>
        <p:nvSpPr>
          <p:cNvPr id="35" name="cellule"/>
          <p:cNvSpPr txBox="1"/>
          <p:nvPr/>
        </p:nvSpPr>
        <p:spPr>
          <a:xfrm>
            <a:off x="3063240" y="4617720"/>
            <a:ext cx="141732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59,6 %</a:t>
            </a:r>
            <a:endParaRPr lang="en-US" sz="1300" dirty="0"/>
          </a:p>
        </p:txBody>
      </p:sp>
      <p:sp>
        <p:nvSpPr>
          <p:cNvPr id="36" name="cellule"/>
          <p:cNvSpPr txBox="1"/>
          <p:nvPr/>
        </p:nvSpPr>
        <p:spPr>
          <a:xfrm>
            <a:off x="4480560" y="4617720"/>
            <a:ext cx="1463040" cy="457200"/>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5 / 5</a:t>
            </a:r>
            <a:endParaRPr lang="en-US" sz="1300" dirty="0"/>
          </a:p>
        </p:txBody>
      </p:sp>
      <p:sp>
        <p:nvSpPr>
          <p:cNvPr id="37" name="Text 35"/>
          <p:cNvSpPr txBox="1"/>
          <p:nvPr/>
        </p:nvSpPr>
        <p:spPr>
          <a:xfrm>
            <a:off x="548640" y="5166360"/>
            <a:ext cx="5394960" cy="274320"/>
          </a:xfrm>
          <a:prstGeom prst="rect">
            <a:avLst/>
          </a:prstGeom>
          <a:noFill/>
          <a:ln/>
        </p:spPr>
        <p:txBody>
          <a:bodyPr wrap="square" lIns="0" tIns="0" rIns="0" bIns="0" rtlCol="0" anchor="t"/>
          <a:lstStyle/>
          <a:p>
            <a:pPr indent="0" marL="0">
              <a:buNone/>
            </a:pPr>
            <a:r>
              <a:rPr lang="en-US" sz="1300" b="1" dirty="0">
                <a:solidFill>
                  <a:srgbClr val="14183D"/>
                </a:solidFill>
                <a:latin typeface="Montserrat" pitchFamily="34" charset="0"/>
                <a:ea typeface="Montserrat" pitchFamily="34" charset="-122"/>
                <a:cs typeface="Montserrat" pitchFamily="34" charset="-120"/>
              </a:rPr>
              <a:t>PPO sur le niveau v3 du vrai jeu</a:t>
            </a:r>
            <a:endParaRPr lang="en-US" sz="1300" dirty="0"/>
          </a:p>
        </p:txBody>
      </p:sp>
      <p:sp>
        <p:nvSpPr>
          <p:cNvPr id="38" name="tableau_fond"/>
          <p:cNvSpPr/>
          <p:nvPr/>
        </p:nvSpPr>
        <p:spPr>
          <a:xfrm>
            <a:off x="6245352" y="1764792"/>
            <a:ext cx="5413248" cy="3328416"/>
          </a:xfrm>
          <a:prstGeom prst="rect">
            <a:avLst/>
          </a:prstGeom>
          <a:solidFill>
            <a:srgbClr val="14183D"/>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39" name="entete"/>
          <p:cNvSpPr txBox="1"/>
          <p:nvPr/>
        </p:nvSpPr>
        <p:spPr>
          <a:xfrm>
            <a:off x="6263640" y="1783080"/>
            <a:ext cx="777240" cy="548640"/>
          </a:xfrm>
          <a:prstGeom prst="rect">
            <a:avLst/>
          </a:prstGeom>
          <a:solidFill>
            <a:srgbClr val="14183D"/>
          </a:solidFill>
          <a:ln/>
        </p:spPr>
        <p:txBody>
          <a:bodyPr wrap="square" lIns="127000" tIns="25400" rIns="76200" bIns="25400" rtlCol="0" anchor="ctr"/>
          <a:lstStyle/>
          <a:p>
            <a:pPr algn="l" indent="0" marL="0">
              <a:buNone/>
            </a:pPr>
            <a:r>
              <a:rPr lang="en-US" sz="1100" b="1" dirty="0">
                <a:solidFill>
                  <a:srgbClr val="FFFFFF"/>
                </a:solidFill>
                <a:latin typeface="Montserrat" pitchFamily="34" charset="0"/>
                <a:ea typeface="Montserrat" pitchFamily="34" charset="-122"/>
                <a:cs typeface="Montserrat" pitchFamily="34" charset="-120"/>
              </a:rPr>
              <a:t>Graine</a:t>
            </a:r>
            <a:endParaRPr lang="en-US" sz="1100" dirty="0"/>
          </a:p>
        </p:txBody>
      </p:sp>
      <p:sp>
        <p:nvSpPr>
          <p:cNvPr id="40" name="entete"/>
          <p:cNvSpPr txBox="1"/>
          <p:nvPr/>
        </p:nvSpPr>
        <p:spPr>
          <a:xfrm>
            <a:off x="7040880" y="1783080"/>
            <a:ext cx="1005840" cy="548640"/>
          </a:xfrm>
          <a:prstGeom prst="rect">
            <a:avLst/>
          </a:prstGeom>
          <a:solidFill>
            <a:srgbClr val="14183D"/>
          </a:solidFill>
          <a:ln/>
        </p:spPr>
        <p:txBody>
          <a:bodyPr wrap="square" lIns="76200" tIns="25400" rIns="76200" bIns="2540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Victoires</a:t>
            </a:r>
            <a:endParaRPr lang="en-US" sz="1100" dirty="0"/>
          </a:p>
        </p:txBody>
      </p:sp>
      <p:sp>
        <p:nvSpPr>
          <p:cNvPr id="41" name="entete"/>
          <p:cNvSpPr txBox="1"/>
          <p:nvPr/>
        </p:nvSpPr>
        <p:spPr>
          <a:xfrm>
            <a:off x="8046720" y="1783080"/>
            <a:ext cx="1005840" cy="548640"/>
          </a:xfrm>
          <a:prstGeom prst="rect">
            <a:avLst/>
          </a:prstGeom>
          <a:solidFill>
            <a:srgbClr val="14183D"/>
          </a:solidFill>
          <a:ln/>
        </p:spPr>
        <p:txBody>
          <a:bodyPr wrap="square" lIns="76200" tIns="25400" rIns="76200" bIns="2540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Salle bonus</a:t>
            </a:r>
            <a:endParaRPr lang="en-US" sz="1100" dirty="0"/>
          </a:p>
        </p:txBody>
      </p:sp>
      <p:sp>
        <p:nvSpPr>
          <p:cNvPr id="42" name="entete"/>
          <p:cNvSpPr txBox="1"/>
          <p:nvPr/>
        </p:nvSpPr>
        <p:spPr>
          <a:xfrm>
            <a:off x="9052560" y="1783080"/>
            <a:ext cx="1005840" cy="548640"/>
          </a:xfrm>
          <a:prstGeom prst="rect">
            <a:avLst/>
          </a:prstGeom>
          <a:solidFill>
            <a:srgbClr val="14183D"/>
          </a:solidFill>
          <a:ln/>
        </p:spPr>
        <p:txBody>
          <a:bodyPr wrap="square" lIns="76200" tIns="25400" rIns="76200" bIns="2540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Champi-</a:t>
            </a:r>
            <a:endParaRPr lang="en-US" sz="1100" dirty="0"/>
          </a:p>
          <a:p>
            <a:pPr algn="ctr" indent="0" marL="0">
              <a:buNone/>
            </a:pPr>
            <a:r>
              <a:rPr lang="en-US" sz="1100" b="1" dirty="0">
                <a:solidFill>
                  <a:srgbClr val="FFFFFF"/>
                </a:solidFill>
                <a:latin typeface="Montserrat" pitchFamily="34" charset="0"/>
                <a:ea typeface="Montserrat" pitchFamily="34" charset="-122"/>
                <a:cs typeface="Montserrat" pitchFamily="34" charset="-120"/>
              </a:rPr>
              <a:t>gnon</a:t>
            </a:r>
            <a:endParaRPr lang="en-US" sz="1100" dirty="0"/>
          </a:p>
        </p:txBody>
      </p:sp>
      <p:sp>
        <p:nvSpPr>
          <p:cNvPr id="43" name="entete"/>
          <p:cNvSpPr txBox="1"/>
          <p:nvPr/>
        </p:nvSpPr>
        <p:spPr>
          <a:xfrm>
            <a:off x="10058400" y="1783080"/>
            <a:ext cx="868680" cy="548640"/>
          </a:xfrm>
          <a:prstGeom prst="rect">
            <a:avLst/>
          </a:prstGeom>
          <a:solidFill>
            <a:srgbClr val="14183D"/>
          </a:solidFill>
          <a:ln/>
        </p:spPr>
        <p:txBody>
          <a:bodyPr wrap="square" lIns="76200" tIns="25400" rIns="76200" bIns="2540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Fleur</a:t>
            </a:r>
            <a:endParaRPr lang="en-US" sz="1100" dirty="0"/>
          </a:p>
        </p:txBody>
      </p:sp>
      <p:sp>
        <p:nvSpPr>
          <p:cNvPr id="44" name="entete"/>
          <p:cNvSpPr txBox="1"/>
          <p:nvPr/>
        </p:nvSpPr>
        <p:spPr>
          <a:xfrm>
            <a:off x="10927080" y="1783080"/>
            <a:ext cx="713232" cy="548640"/>
          </a:xfrm>
          <a:prstGeom prst="rect">
            <a:avLst/>
          </a:prstGeom>
          <a:solidFill>
            <a:srgbClr val="14183D"/>
          </a:solidFill>
          <a:ln/>
        </p:spPr>
        <p:txBody>
          <a:bodyPr wrap="square" lIns="76200" tIns="25400" rIns="76200" bIns="2540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Robus-</a:t>
            </a:r>
            <a:endParaRPr lang="en-US" sz="1100" dirty="0"/>
          </a:p>
          <a:p>
            <a:pPr algn="ctr" indent="0" marL="0">
              <a:buNone/>
            </a:pPr>
            <a:r>
              <a:rPr lang="en-US" sz="1100" b="1" dirty="0">
                <a:solidFill>
                  <a:srgbClr val="FFFFFF"/>
                </a:solidFill>
                <a:latin typeface="Montserrat" pitchFamily="34" charset="0"/>
                <a:ea typeface="Montserrat" pitchFamily="34" charset="-122"/>
                <a:cs typeface="Montserrat" pitchFamily="34" charset="-120"/>
              </a:rPr>
              <a:t>tesse</a:t>
            </a:r>
            <a:endParaRPr lang="en-US" sz="1100" dirty="0"/>
          </a:p>
        </p:txBody>
      </p:sp>
      <p:sp>
        <p:nvSpPr>
          <p:cNvPr id="45" name="cellule"/>
          <p:cNvSpPr txBox="1"/>
          <p:nvPr/>
        </p:nvSpPr>
        <p:spPr>
          <a:xfrm>
            <a:off x="6263640" y="2331720"/>
            <a:ext cx="777240" cy="457200"/>
          </a:xfrm>
          <a:prstGeom prst="rect">
            <a:avLst/>
          </a:prstGeom>
          <a:solidFill>
            <a:srgbClr val="FFFFFF"/>
          </a:solidFill>
          <a:ln/>
        </p:spPr>
        <p:txBody>
          <a:bodyPr wrap="square" lIns="127000" tIns="0" rIns="50800" bIns="0" rtlCol="0" anchor="ctr"/>
          <a:lstStyle/>
          <a:p>
            <a:pPr indent="0" marL="0">
              <a:buNone/>
            </a:pPr>
            <a:r>
              <a:rPr lang="en-US" sz="1250" b="1" dirty="0">
                <a:solidFill>
                  <a:srgbClr val="14183D"/>
                </a:solidFill>
                <a:latin typeface="Montserrat" pitchFamily="34" charset="0"/>
                <a:ea typeface="Montserrat" pitchFamily="34" charset="-122"/>
                <a:cs typeface="Montserrat" pitchFamily="34" charset="-120"/>
              </a:rPr>
              <a:t>42</a:t>
            </a:r>
            <a:endParaRPr lang="en-US" sz="1250" dirty="0"/>
          </a:p>
        </p:txBody>
      </p:sp>
      <p:sp>
        <p:nvSpPr>
          <p:cNvPr id="46" name="cellule"/>
          <p:cNvSpPr txBox="1"/>
          <p:nvPr/>
        </p:nvSpPr>
        <p:spPr>
          <a:xfrm>
            <a:off x="7040880" y="2331720"/>
            <a:ext cx="1005840" cy="457200"/>
          </a:xfrm>
          <a:prstGeom prst="rect">
            <a:avLst/>
          </a:prstGeom>
          <a:solidFill>
            <a:srgbClr val="FFFFFF"/>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87,4 %</a:t>
            </a:r>
            <a:endParaRPr lang="en-US" sz="1250" dirty="0"/>
          </a:p>
        </p:txBody>
      </p:sp>
      <p:sp>
        <p:nvSpPr>
          <p:cNvPr id="47" name="cellule"/>
          <p:cNvSpPr txBox="1"/>
          <p:nvPr/>
        </p:nvSpPr>
        <p:spPr>
          <a:xfrm>
            <a:off x="8046720" y="2331720"/>
            <a:ext cx="1005840" cy="457200"/>
          </a:xfrm>
          <a:prstGeom prst="rect">
            <a:avLst/>
          </a:prstGeom>
          <a:solidFill>
            <a:srgbClr val="FFFFFF"/>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90,4 %</a:t>
            </a:r>
            <a:endParaRPr lang="en-US" sz="1250" dirty="0"/>
          </a:p>
        </p:txBody>
      </p:sp>
      <p:sp>
        <p:nvSpPr>
          <p:cNvPr id="48" name="cellule"/>
          <p:cNvSpPr txBox="1"/>
          <p:nvPr/>
        </p:nvSpPr>
        <p:spPr>
          <a:xfrm>
            <a:off x="9052560" y="2331720"/>
            <a:ext cx="1005840" cy="457200"/>
          </a:xfrm>
          <a:prstGeom prst="rect">
            <a:avLst/>
          </a:prstGeom>
          <a:solidFill>
            <a:srgbClr val="FFFFFF"/>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97,6 %</a:t>
            </a:r>
            <a:endParaRPr lang="en-US" sz="1250" dirty="0"/>
          </a:p>
        </p:txBody>
      </p:sp>
      <p:sp>
        <p:nvSpPr>
          <p:cNvPr id="49" name="cellule"/>
          <p:cNvSpPr txBox="1"/>
          <p:nvPr/>
        </p:nvSpPr>
        <p:spPr>
          <a:xfrm>
            <a:off x="10058400" y="2331720"/>
            <a:ext cx="868680" cy="457200"/>
          </a:xfrm>
          <a:prstGeom prst="rect">
            <a:avLst/>
          </a:prstGeom>
          <a:solidFill>
            <a:srgbClr val="FFFFFF"/>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91,4 %</a:t>
            </a:r>
            <a:endParaRPr lang="en-US" sz="1250" dirty="0"/>
          </a:p>
        </p:txBody>
      </p:sp>
      <p:sp>
        <p:nvSpPr>
          <p:cNvPr id="50" name="cellule"/>
          <p:cNvSpPr txBox="1"/>
          <p:nvPr/>
        </p:nvSpPr>
        <p:spPr>
          <a:xfrm>
            <a:off x="10927080" y="2331720"/>
            <a:ext cx="713232" cy="457200"/>
          </a:xfrm>
          <a:prstGeom prst="rect">
            <a:avLst/>
          </a:prstGeom>
          <a:solidFill>
            <a:srgbClr val="FFFFFF"/>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66 %</a:t>
            </a:r>
            <a:endParaRPr lang="en-US" sz="1250" dirty="0"/>
          </a:p>
        </p:txBody>
      </p:sp>
      <p:sp>
        <p:nvSpPr>
          <p:cNvPr id="51" name="cellule"/>
          <p:cNvSpPr txBox="1"/>
          <p:nvPr/>
        </p:nvSpPr>
        <p:spPr>
          <a:xfrm>
            <a:off x="6263640" y="2788920"/>
            <a:ext cx="777240" cy="457200"/>
          </a:xfrm>
          <a:prstGeom prst="rect">
            <a:avLst/>
          </a:prstGeom>
          <a:solidFill>
            <a:srgbClr val="EAF1FE"/>
          </a:solidFill>
          <a:ln/>
        </p:spPr>
        <p:txBody>
          <a:bodyPr wrap="square" lIns="127000" tIns="0" rIns="50800" bIns="0" rtlCol="0" anchor="ctr"/>
          <a:lstStyle/>
          <a:p>
            <a:pPr indent="0" marL="0">
              <a:buNone/>
            </a:pPr>
            <a:r>
              <a:rPr lang="en-US" sz="1250" b="1" dirty="0">
                <a:solidFill>
                  <a:srgbClr val="14183D"/>
                </a:solidFill>
                <a:latin typeface="Montserrat" pitchFamily="34" charset="0"/>
                <a:ea typeface="Montserrat" pitchFamily="34" charset="-122"/>
                <a:cs typeface="Montserrat" pitchFamily="34" charset="-120"/>
              </a:rPr>
              <a:t>43</a:t>
            </a:r>
            <a:endParaRPr lang="en-US" sz="1250" dirty="0"/>
          </a:p>
        </p:txBody>
      </p:sp>
      <p:sp>
        <p:nvSpPr>
          <p:cNvPr id="52" name="cellule"/>
          <p:cNvSpPr txBox="1"/>
          <p:nvPr/>
        </p:nvSpPr>
        <p:spPr>
          <a:xfrm>
            <a:off x="7040880" y="2788920"/>
            <a:ext cx="1005840" cy="457200"/>
          </a:xfrm>
          <a:prstGeom prst="rect">
            <a:avLst/>
          </a:prstGeom>
          <a:solidFill>
            <a:srgbClr val="EAF1FE"/>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89,8 %</a:t>
            </a:r>
            <a:endParaRPr lang="en-US" sz="1250" dirty="0"/>
          </a:p>
        </p:txBody>
      </p:sp>
      <p:sp>
        <p:nvSpPr>
          <p:cNvPr id="53" name="cellule"/>
          <p:cNvSpPr txBox="1"/>
          <p:nvPr/>
        </p:nvSpPr>
        <p:spPr>
          <a:xfrm>
            <a:off x="8046720" y="2788920"/>
            <a:ext cx="1005840" cy="457200"/>
          </a:xfrm>
          <a:prstGeom prst="rect">
            <a:avLst/>
          </a:prstGeom>
          <a:solidFill>
            <a:srgbClr val="EAF1FE"/>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92,0 %</a:t>
            </a:r>
            <a:endParaRPr lang="en-US" sz="1250" dirty="0"/>
          </a:p>
        </p:txBody>
      </p:sp>
      <p:sp>
        <p:nvSpPr>
          <p:cNvPr id="54" name="cellule"/>
          <p:cNvSpPr txBox="1"/>
          <p:nvPr/>
        </p:nvSpPr>
        <p:spPr>
          <a:xfrm>
            <a:off x="9052560" y="2788920"/>
            <a:ext cx="1005840" cy="457200"/>
          </a:xfrm>
          <a:prstGeom prst="rect">
            <a:avLst/>
          </a:prstGeom>
          <a:solidFill>
            <a:srgbClr val="EAF1FE"/>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95,6 %</a:t>
            </a:r>
            <a:endParaRPr lang="en-US" sz="1250" dirty="0"/>
          </a:p>
        </p:txBody>
      </p:sp>
      <p:sp>
        <p:nvSpPr>
          <p:cNvPr id="55" name="cellule"/>
          <p:cNvSpPr txBox="1"/>
          <p:nvPr/>
        </p:nvSpPr>
        <p:spPr>
          <a:xfrm>
            <a:off x="10058400" y="2788920"/>
            <a:ext cx="868680" cy="457200"/>
          </a:xfrm>
          <a:prstGeom prst="rect">
            <a:avLst/>
          </a:prstGeom>
          <a:solidFill>
            <a:srgbClr val="EAF1FE"/>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93,6 %</a:t>
            </a:r>
            <a:endParaRPr lang="en-US" sz="1250" dirty="0"/>
          </a:p>
        </p:txBody>
      </p:sp>
      <p:sp>
        <p:nvSpPr>
          <p:cNvPr id="56" name="cellule"/>
          <p:cNvSpPr txBox="1"/>
          <p:nvPr/>
        </p:nvSpPr>
        <p:spPr>
          <a:xfrm>
            <a:off x="10927080" y="2788920"/>
            <a:ext cx="713232" cy="457200"/>
          </a:xfrm>
          <a:prstGeom prst="rect">
            <a:avLst/>
          </a:prstGeom>
          <a:solidFill>
            <a:srgbClr val="EAF1FE"/>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78 %</a:t>
            </a:r>
            <a:endParaRPr lang="en-US" sz="1250" dirty="0"/>
          </a:p>
        </p:txBody>
      </p:sp>
      <p:sp>
        <p:nvSpPr>
          <p:cNvPr id="57" name="cellule"/>
          <p:cNvSpPr txBox="1"/>
          <p:nvPr/>
        </p:nvSpPr>
        <p:spPr>
          <a:xfrm>
            <a:off x="6263640" y="3246120"/>
            <a:ext cx="777240" cy="457200"/>
          </a:xfrm>
          <a:prstGeom prst="rect">
            <a:avLst/>
          </a:prstGeom>
          <a:solidFill>
            <a:srgbClr val="FFFFFF"/>
          </a:solidFill>
          <a:ln/>
        </p:spPr>
        <p:txBody>
          <a:bodyPr wrap="square" lIns="127000" tIns="0" rIns="50800" bIns="0" rtlCol="0" anchor="ctr"/>
          <a:lstStyle/>
          <a:p>
            <a:pPr indent="0" marL="0">
              <a:buNone/>
            </a:pPr>
            <a:r>
              <a:rPr lang="en-US" sz="1250" b="1" dirty="0">
                <a:solidFill>
                  <a:srgbClr val="14183D"/>
                </a:solidFill>
                <a:latin typeface="Montserrat" pitchFamily="34" charset="0"/>
                <a:ea typeface="Montserrat" pitchFamily="34" charset="-122"/>
                <a:cs typeface="Montserrat" pitchFamily="34" charset="-120"/>
              </a:rPr>
              <a:t>44</a:t>
            </a:r>
            <a:endParaRPr lang="en-US" sz="1250" dirty="0"/>
          </a:p>
        </p:txBody>
      </p:sp>
      <p:sp>
        <p:nvSpPr>
          <p:cNvPr id="58" name="cellule"/>
          <p:cNvSpPr txBox="1"/>
          <p:nvPr/>
        </p:nvSpPr>
        <p:spPr>
          <a:xfrm>
            <a:off x="7040880" y="3246120"/>
            <a:ext cx="1005840" cy="457200"/>
          </a:xfrm>
          <a:prstGeom prst="rect">
            <a:avLst/>
          </a:prstGeom>
          <a:solidFill>
            <a:srgbClr val="FFFFFF"/>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95,8 %</a:t>
            </a:r>
            <a:endParaRPr lang="en-US" sz="1250" dirty="0"/>
          </a:p>
        </p:txBody>
      </p:sp>
      <p:sp>
        <p:nvSpPr>
          <p:cNvPr id="59" name="cellule"/>
          <p:cNvSpPr txBox="1"/>
          <p:nvPr/>
        </p:nvSpPr>
        <p:spPr>
          <a:xfrm>
            <a:off x="8046720" y="3246120"/>
            <a:ext cx="1005840" cy="457200"/>
          </a:xfrm>
          <a:prstGeom prst="rect">
            <a:avLst/>
          </a:prstGeom>
          <a:solidFill>
            <a:srgbClr val="FFFFFF"/>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96,2 %</a:t>
            </a:r>
            <a:endParaRPr lang="en-US" sz="1250" dirty="0"/>
          </a:p>
        </p:txBody>
      </p:sp>
      <p:sp>
        <p:nvSpPr>
          <p:cNvPr id="60" name="cellule"/>
          <p:cNvSpPr txBox="1"/>
          <p:nvPr/>
        </p:nvSpPr>
        <p:spPr>
          <a:xfrm>
            <a:off x="9052560" y="3246120"/>
            <a:ext cx="1005840" cy="457200"/>
          </a:xfrm>
          <a:prstGeom prst="rect">
            <a:avLst/>
          </a:prstGeom>
          <a:solidFill>
            <a:srgbClr val="FFFFFF"/>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98,2 %</a:t>
            </a:r>
            <a:endParaRPr lang="en-US" sz="1250" dirty="0"/>
          </a:p>
        </p:txBody>
      </p:sp>
      <p:sp>
        <p:nvSpPr>
          <p:cNvPr id="61" name="cellule"/>
          <p:cNvSpPr txBox="1"/>
          <p:nvPr/>
        </p:nvSpPr>
        <p:spPr>
          <a:xfrm>
            <a:off x="10058400" y="3246120"/>
            <a:ext cx="868680" cy="457200"/>
          </a:xfrm>
          <a:prstGeom prst="rect">
            <a:avLst/>
          </a:prstGeom>
          <a:solidFill>
            <a:srgbClr val="FFFFFF"/>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97,8 %</a:t>
            </a:r>
            <a:endParaRPr lang="en-US" sz="1250" dirty="0"/>
          </a:p>
        </p:txBody>
      </p:sp>
      <p:sp>
        <p:nvSpPr>
          <p:cNvPr id="62" name="cellule"/>
          <p:cNvSpPr txBox="1"/>
          <p:nvPr/>
        </p:nvSpPr>
        <p:spPr>
          <a:xfrm>
            <a:off x="10927080" y="3246120"/>
            <a:ext cx="713232" cy="457200"/>
          </a:xfrm>
          <a:prstGeom prst="rect">
            <a:avLst/>
          </a:prstGeom>
          <a:solidFill>
            <a:srgbClr val="FFFFFF"/>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78 %</a:t>
            </a:r>
            <a:endParaRPr lang="en-US" sz="1250" dirty="0"/>
          </a:p>
        </p:txBody>
      </p:sp>
      <p:sp>
        <p:nvSpPr>
          <p:cNvPr id="63" name="cellule"/>
          <p:cNvSpPr txBox="1"/>
          <p:nvPr/>
        </p:nvSpPr>
        <p:spPr>
          <a:xfrm>
            <a:off x="6263640" y="3703320"/>
            <a:ext cx="777240" cy="457200"/>
          </a:xfrm>
          <a:prstGeom prst="rect">
            <a:avLst/>
          </a:prstGeom>
          <a:solidFill>
            <a:srgbClr val="EAF1FE"/>
          </a:solidFill>
          <a:ln/>
        </p:spPr>
        <p:txBody>
          <a:bodyPr wrap="square" lIns="127000" tIns="0" rIns="50800" bIns="0" rtlCol="0" anchor="ctr"/>
          <a:lstStyle/>
          <a:p>
            <a:pPr indent="0" marL="0">
              <a:buNone/>
            </a:pPr>
            <a:r>
              <a:rPr lang="en-US" sz="1250" b="1" dirty="0">
                <a:solidFill>
                  <a:srgbClr val="14183D"/>
                </a:solidFill>
                <a:latin typeface="Montserrat" pitchFamily="34" charset="0"/>
                <a:ea typeface="Montserrat" pitchFamily="34" charset="-122"/>
                <a:cs typeface="Montserrat" pitchFamily="34" charset="-120"/>
              </a:rPr>
              <a:t>45</a:t>
            </a:r>
            <a:endParaRPr lang="en-US" sz="1250" dirty="0"/>
          </a:p>
        </p:txBody>
      </p:sp>
      <p:sp>
        <p:nvSpPr>
          <p:cNvPr id="64" name="cellule"/>
          <p:cNvSpPr txBox="1"/>
          <p:nvPr/>
        </p:nvSpPr>
        <p:spPr>
          <a:xfrm>
            <a:off x="7040880" y="3703320"/>
            <a:ext cx="1005840" cy="457200"/>
          </a:xfrm>
          <a:prstGeom prst="rect">
            <a:avLst/>
          </a:prstGeom>
          <a:solidFill>
            <a:srgbClr val="EAF1FE"/>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93,6 %</a:t>
            </a:r>
            <a:endParaRPr lang="en-US" sz="1250" dirty="0"/>
          </a:p>
        </p:txBody>
      </p:sp>
      <p:sp>
        <p:nvSpPr>
          <p:cNvPr id="65" name="cellule"/>
          <p:cNvSpPr txBox="1"/>
          <p:nvPr/>
        </p:nvSpPr>
        <p:spPr>
          <a:xfrm>
            <a:off x="8046720" y="3703320"/>
            <a:ext cx="1005840" cy="457200"/>
          </a:xfrm>
          <a:prstGeom prst="rect">
            <a:avLst/>
          </a:prstGeom>
          <a:solidFill>
            <a:srgbClr val="EAF1FE"/>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95,6 %</a:t>
            </a:r>
            <a:endParaRPr lang="en-US" sz="1250" dirty="0"/>
          </a:p>
        </p:txBody>
      </p:sp>
      <p:sp>
        <p:nvSpPr>
          <p:cNvPr id="66" name="cellule"/>
          <p:cNvSpPr txBox="1"/>
          <p:nvPr/>
        </p:nvSpPr>
        <p:spPr>
          <a:xfrm>
            <a:off x="9052560" y="3703320"/>
            <a:ext cx="1005840" cy="457200"/>
          </a:xfrm>
          <a:prstGeom prst="rect">
            <a:avLst/>
          </a:prstGeom>
          <a:solidFill>
            <a:srgbClr val="EAF1FE"/>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99,2 %</a:t>
            </a:r>
            <a:endParaRPr lang="en-US" sz="1250" dirty="0"/>
          </a:p>
        </p:txBody>
      </p:sp>
      <p:sp>
        <p:nvSpPr>
          <p:cNvPr id="67" name="cellule"/>
          <p:cNvSpPr txBox="1"/>
          <p:nvPr/>
        </p:nvSpPr>
        <p:spPr>
          <a:xfrm>
            <a:off x="10058400" y="3703320"/>
            <a:ext cx="868680" cy="457200"/>
          </a:xfrm>
          <a:prstGeom prst="rect">
            <a:avLst/>
          </a:prstGeom>
          <a:solidFill>
            <a:srgbClr val="EAF1FE"/>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96,6 %</a:t>
            </a:r>
            <a:endParaRPr lang="en-US" sz="1250" dirty="0"/>
          </a:p>
        </p:txBody>
      </p:sp>
      <p:sp>
        <p:nvSpPr>
          <p:cNvPr id="68" name="cellule"/>
          <p:cNvSpPr txBox="1"/>
          <p:nvPr/>
        </p:nvSpPr>
        <p:spPr>
          <a:xfrm>
            <a:off x="10927080" y="3703320"/>
            <a:ext cx="713232" cy="457200"/>
          </a:xfrm>
          <a:prstGeom prst="rect">
            <a:avLst/>
          </a:prstGeom>
          <a:solidFill>
            <a:srgbClr val="EAF1FE"/>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92 %</a:t>
            </a:r>
            <a:endParaRPr lang="en-US" sz="1250" dirty="0"/>
          </a:p>
        </p:txBody>
      </p:sp>
      <p:sp>
        <p:nvSpPr>
          <p:cNvPr id="69" name="cellule"/>
          <p:cNvSpPr txBox="1"/>
          <p:nvPr/>
        </p:nvSpPr>
        <p:spPr>
          <a:xfrm>
            <a:off x="6263640" y="4160520"/>
            <a:ext cx="777240" cy="457200"/>
          </a:xfrm>
          <a:prstGeom prst="rect">
            <a:avLst/>
          </a:prstGeom>
          <a:solidFill>
            <a:srgbClr val="FFFFFF"/>
          </a:solidFill>
          <a:ln/>
        </p:spPr>
        <p:txBody>
          <a:bodyPr wrap="square" lIns="127000" tIns="0" rIns="50800" bIns="0" rtlCol="0" anchor="ctr"/>
          <a:lstStyle/>
          <a:p>
            <a:pPr indent="0" marL="0">
              <a:buNone/>
            </a:pPr>
            <a:r>
              <a:rPr lang="en-US" sz="1250" b="1" dirty="0">
                <a:solidFill>
                  <a:srgbClr val="14183D"/>
                </a:solidFill>
                <a:latin typeface="Montserrat" pitchFamily="34" charset="0"/>
                <a:ea typeface="Montserrat" pitchFamily="34" charset="-122"/>
                <a:cs typeface="Montserrat" pitchFamily="34" charset="-120"/>
              </a:rPr>
              <a:t>46</a:t>
            </a:r>
            <a:endParaRPr lang="en-US" sz="1250" dirty="0"/>
          </a:p>
        </p:txBody>
      </p:sp>
      <p:sp>
        <p:nvSpPr>
          <p:cNvPr id="70" name="cellule"/>
          <p:cNvSpPr txBox="1"/>
          <p:nvPr/>
        </p:nvSpPr>
        <p:spPr>
          <a:xfrm>
            <a:off x="7040880" y="4160520"/>
            <a:ext cx="1005840" cy="457200"/>
          </a:xfrm>
          <a:prstGeom prst="rect">
            <a:avLst/>
          </a:prstGeom>
          <a:solidFill>
            <a:srgbClr val="FFFFFF"/>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89,4 %</a:t>
            </a:r>
            <a:endParaRPr lang="en-US" sz="1250" dirty="0"/>
          </a:p>
        </p:txBody>
      </p:sp>
      <p:sp>
        <p:nvSpPr>
          <p:cNvPr id="71" name="cellule"/>
          <p:cNvSpPr txBox="1"/>
          <p:nvPr/>
        </p:nvSpPr>
        <p:spPr>
          <a:xfrm>
            <a:off x="8046720" y="4160520"/>
            <a:ext cx="1005840" cy="457200"/>
          </a:xfrm>
          <a:prstGeom prst="rect">
            <a:avLst/>
          </a:prstGeom>
          <a:solidFill>
            <a:srgbClr val="FFFFFF"/>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95,0 %</a:t>
            </a:r>
            <a:endParaRPr lang="en-US" sz="1250" dirty="0"/>
          </a:p>
        </p:txBody>
      </p:sp>
      <p:sp>
        <p:nvSpPr>
          <p:cNvPr id="72" name="cellule"/>
          <p:cNvSpPr txBox="1"/>
          <p:nvPr/>
        </p:nvSpPr>
        <p:spPr>
          <a:xfrm>
            <a:off x="9052560" y="4160520"/>
            <a:ext cx="1005840" cy="457200"/>
          </a:xfrm>
          <a:prstGeom prst="rect">
            <a:avLst/>
          </a:prstGeom>
          <a:solidFill>
            <a:srgbClr val="FFFFFF"/>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95,8 %</a:t>
            </a:r>
            <a:endParaRPr lang="en-US" sz="1250" dirty="0"/>
          </a:p>
        </p:txBody>
      </p:sp>
      <p:sp>
        <p:nvSpPr>
          <p:cNvPr id="73" name="cellule"/>
          <p:cNvSpPr txBox="1"/>
          <p:nvPr/>
        </p:nvSpPr>
        <p:spPr>
          <a:xfrm>
            <a:off x="10058400" y="4160520"/>
            <a:ext cx="868680" cy="457200"/>
          </a:xfrm>
          <a:prstGeom prst="rect">
            <a:avLst/>
          </a:prstGeom>
          <a:solidFill>
            <a:srgbClr val="FFFFFF"/>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85,8 %</a:t>
            </a:r>
            <a:endParaRPr lang="en-US" sz="1250" dirty="0"/>
          </a:p>
        </p:txBody>
      </p:sp>
      <p:sp>
        <p:nvSpPr>
          <p:cNvPr id="74" name="cellule"/>
          <p:cNvSpPr txBox="1"/>
          <p:nvPr/>
        </p:nvSpPr>
        <p:spPr>
          <a:xfrm>
            <a:off x="10927080" y="4160520"/>
            <a:ext cx="713232" cy="457200"/>
          </a:xfrm>
          <a:prstGeom prst="rect">
            <a:avLst/>
          </a:prstGeom>
          <a:solidFill>
            <a:srgbClr val="FFFFFF"/>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88 %</a:t>
            </a:r>
            <a:endParaRPr lang="en-US" sz="1250" dirty="0"/>
          </a:p>
        </p:txBody>
      </p:sp>
      <p:sp>
        <p:nvSpPr>
          <p:cNvPr id="75" name="cellule"/>
          <p:cNvSpPr txBox="1"/>
          <p:nvPr/>
        </p:nvSpPr>
        <p:spPr>
          <a:xfrm>
            <a:off x="6263640" y="4617720"/>
            <a:ext cx="777240" cy="457200"/>
          </a:xfrm>
          <a:prstGeom prst="rect">
            <a:avLst/>
          </a:prstGeom>
          <a:solidFill>
            <a:srgbClr val="EAF1FE"/>
          </a:solidFill>
          <a:ln/>
        </p:spPr>
        <p:txBody>
          <a:bodyPr wrap="square" lIns="127000" tIns="0" rIns="50800" bIns="0" rtlCol="0" anchor="ctr"/>
          <a:lstStyle/>
          <a:p>
            <a:pPr indent="0" marL="0">
              <a:buNone/>
            </a:pPr>
            <a:r>
              <a:rPr lang="en-US" sz="1250" b="1" dirty="0">
                <a:solidFill>
                  <a:srgbClr val="14183D"/>
                </a:solidFill>
                <a:latin typeface="Montserrat" pitchFamily="34" charset="0"/>
                <a:ea typeface="Montserrat" pitchFamily="34" charset="-122"/>
                <a:cs typeface="Montserrat" pitchFamily="34" charset="-120"/>
              </a:rPr>
              <a:t>Moy.</a:t>
            </a:r>
            <a:endParaRPr lang="en-US" sz="1250" dirty="0"/>
          </a:p>
        </p:txBody>
      </p:sp>
      <p:sp>
        <p:nvSpPr>
          <p:cNvPr id="76" name="cellule"/>
          <p:cNvSpPr txBox="1"/>
          <p:nvPr/>
        </p:nvSpPr>
        <p:spPr>
          <a:xfrm>
            <a:off x="7040880" y="4617720"/>
            <a:ext cx="1005840" cy="457200"/>
          </a:xfrm>
          <a:prstGeom prst="rect">
            <a:avLst/>
          </a:prstGeom>
          <a:solidFill>
            <a:srgbClr val="EAF1FE"/>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91,2 %</a:t>
            </a:r>
            <a:endParaRPr lang="en-US" sz="1250" dirty="0"/>
          </a:p>
        </p:txBody>
      </p:sp>
      <p:sp>
        <p:nvSpPr>
          <p:cNvPr id="77" name="cellule"/>
          <p:cNvSpPr txBox="1"/>
          <p:nvPr/>
        </p:nvSpPr>
        <p:spPr>
          <a:xfrm>
            <a:off x="8046720" y="4617720"/>
            <a:ext cx="1005840" cy="457200"/>
          </a:xfrm>
          <a:prstGeom prst="rect">
            <a:avLst/>
          </a:prstGeom>
          <a:solidFill>
            <a:srgbClr val="EAF1FE"/>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93,8 %</a:t>
            </a:r>
            <a:endParaRPr lang="en-US" sz="1250" dirty="0"/>
          </a:p>
        </p:txBody>
      </p:sp>
      <p:sp>
        <p:nvSpPr>
          <p:cNvPr id="78" name="cellule"/>
          <p:cNvSpPr txBox="1"/>
          <p:nvPr/>
        </p:nvSpPr>
        <p:spPr>
          <a:xfrm>
            <a:off x="9052560" y="4617720"/>
            <a:ext cx="1005840" cy="457200"/>
          </a:xfrm>
          <a:prstGeom prst="rect">
            <a:avLst/>
          </a:prstGeom>
          <a:solidFill>
            <a:srgbClr val="EAF1FE"/>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97,3 %</a:t>
            </a:r>
            <a:endParaRPr lang="en-US" sz="1250" dirty="0"/>
          </a:p>
        </p:txBody>
      </p:sp>
      <p:sp>
        <p:nvSpPr>
          <p:cNvPr id="79" name="cellule"/>
          <p:cNvSpPr txBox="1"/>
          <p:nvPr/>
        </p:nvSpPr>
        <p:spPr>
          <a:xfrm>
            <a:off x="10058400" y="4617720"/>
            <a:ext cx="868680" cy="457200"/>
          </a:xfrm>
          <a:prstGeom prst="rect">
            <a:avLst/>
          </a:prstGeom>
          <a:solidFill>
            <a:srgbClr val="EAF1FE"/>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93,0 %</a:t>
            </a:r>
            <a:endParaRPr lang="en-US" sz="1250" dirty="0"/>
          </a:p>
        </p:txBody>
      </p:sp>
      <p:sp>
        <p:nvSpPr>
          <p:cNvPr id="80" name="cellule"/>
          <p:cNvSpPr txBox="1"/>
          <p:nvPr/>
        </p:nvSpPr>
        <p:spPr>
          <a:xfrm>
            <a:off x="10927080" y="4617720"/>
            <a:ext cx="713232" cy="457200"/>
          </a:xfrm>
          <a:prstGeom prst="rect">
            <a:avLst/>
          </a:prstGeom>
          <a:solidFill>
            <a:srgbClr val="EAF1FE"/>
          </a:solidFill>
          <a:ln/>
        </p:spPr>
        <p:txBody>
          <a:bodyPr wrap="square" lIns="25400" tIns="25400" rIns="25400" bIns="25400" rtlCol="0" anchor="ctr"/>
          <a:lstStyle/>
          <a:p>
            <a:pPr algn="ctr" indent="0" marL="0">
              <a:buNone/>
            </a:pPr>
            <a:r>
              <a:rPr lang="en-US" sz="1250" dirty="0">
                <a:solidFill>
                  <a:srgbClr val="14183D"/>
                </a:solidFill>
                <a:latin typeface="Montserrat" pitchFamily="34" charset="0"/>
                <a:ea typeface="Montserrat" pitchFamily="34" charset="-122"/>
                <a:cs typeface="Montserrat" pitchFamily="34" charset="-120"/>
              </a:rPr>
              <a:t>80,4 %</a:t>
            </a:r>
            <a:endParaRPr lang="en-US" sz="1250" dirty="0"/>
          </a:p>
        </p:txBody>
      </p:sp>
      <p:sp>
        <p:nvSpPr>
          <p:cNvPr id="81" name="Text 79"/>
          <p:cNvSpPr txBox="1"/>
          <p:nvPr/>
        </p:nvSpPr>
        <p:spPr>
          <a:xfrm>
            <a:off x="6263640" y="5166360"/>
            <a:ext cx="5394960" cy="274320"/>
          </a:xfrm>
          <a:prstGeom prst="rect">
            <a:avLst/>
          </a:prstGeom>
          <a:noFill/>
          <a:ln/>
        </p:spPr>
        <p:txBody>
          <a:bodyPr wrap="square" lIns="0" tIns="0" rIns="0" bIns="0" rtlCol="0" anchor="t"/>
          <a:lstStyle/>
          <a:p>
            <a:pPr indent="0" marL="0">
              <a:buNone/>
            </a:pPr>
            <a:r>
              <a:rPr lang="en-US" sz="1300" b="1" dirty="0">
                <a:solidFill>
                  <a:srgbClr val="14183D"/>
                </a:solidFill>
                <a:latin typeface="Montserrat" pitchFamily="34" charset="0"/>
                <a:ea typeface="Montserrat" pitchFamily="34" charset="-122"/>
                <a:cs typeface="Montserrat" pitchFamily="34" charset="-120"/>
              </a:rPr>
              <a:t>PPO Route A (tuyau, champignon, fleur) : 5 / 5 sans hasard</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ANNEXE F</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ROUTE A : LES RÉGLAGES</a:t>
            </a:r>
            <a:endParaRPr lang="en-US" sz="2800" dirty="0"/>
          </a:p>
        </p:txBody>
      </p:sp>
      <p:sp>
        <p:nvSpPr>
          <p:cNvPr id="6" name="message"/>
          <p:cNvSpPr txBox="1"/>
          <p:nvPr/>
        </p:nvSpPr>
        <p:spPr>
          <a:xfrm>
            <a:off x="548640" y="1161288"/>
            <a:ext cx="11091672" cy="384048"/>
          </a:xfrm>
          <a:prstGeom prst="rect">
            <a:avLst/>
          </a:prstGeom>
          <a:noFill/>
          <a:ln/>
        </p:spPr>
        <p:txBody>
          <a:bodyPr wrap="square" lIns="0" tIns="0" rIns="0" bIns="0" rtlCol="0" anchor="ctr"/>
          <a:lstStyle/>
          <a:p>
            <a:pPr indent="0" marL="0">
              <a:buNone/>
            </a:pPr>
            <a:r>
              <a:rPr lang="en-US" sz="1600" b="1" dirty="0">
                <a:solidFill>
                  <a:srgbClr val="14183D"/>
                </a:solidFill>
                <a:latin typeface="Montserrat" pitchFamily="34" charset="0"/>
                <a:ea typeface="Montserrat" pitchFamily="34" charset="-122"/>
                <a:cs typeface="Montserrat" pitchFamily="34" charset="-120"/>
              </a:rPr>
              <a:t>Niveau, boutons et récompense de la version finale.</a:t>
            </a:r>
            <a:endParaRPr lang="en-US" sz="1600" dirty="0"/>
          </a:p>
        </p:txBody>
      </p:sp>
      <p:sp>
        <p:nvSpPr>
          <p:cNvPr id="7" name="Text 5"/>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28</a:t>
            </a:r>
            <a:endParaRPr lang="en-US" sz="1000" dirty="0"/>
          </a:p>
        </p:txBody>
      </p:sp>
      <p:sp>
        <p:nvSpPr>
          <p:cNvPr id="8" name="carte"/>
          <p:cNvSpPr/>
          <p:nvPr/>
        </p:nvSpPr>
        <p:spPr>
          <a:xfrm>
            <a:off x="548640" y="1783080"/>
            <a:ext cx="5394960" cy="4480560"/>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9" name="etiquette"/>
          <p:cNvSpPr txBox="1"/>
          <p:nvPr/>
        </p:nvSpPr>
        <p:spPr>
          <a:xfrm>
            <a:off x="548640" y="1783080"/>
            <a:ext cx="2377440" cy="329184"/>
          </a:xfrm>
          <a:prstGeom prst="rect">
            <a:avLst/>
          </a:prstGeom>
          <a:solidFill>
            <a:srgbClr val="14183D"/>
          </a:solidFill>
          <a:ln/>
        </p:spPr>
        <p:txBody>
          <a:bodyPr wrap="square" lIns="101600" tIns="0" rIns="101600" bIns="0" rtlCol="0" anchor="ctr"/>
          <a:lstStyle/>
          <a:p>
            <a:pPr indent="0" marL="0">
              <a:buNone/>
            </a:pPr>
            <a:r>
              <a:rPr lang="en-US" sz="1200" b="1" spc="50" kern="0" dirty="0">
                <a:solidFill>
                  <a:srgbClr val="FFFFFF"/>
                </a:solidFill>
                <a:latin typeface="Montserrat" pitchFamily="34" charset="0"/>
                <a:ea typeface="Montserrat" pitchFamily="34" charset="-122"/>
                <a:cs typeface="Montserrat" pitchFamily="34" charset="-120"/>
              </a:rPr>
              <a:t>CONFIGURATION FINALE</a:t>
            </a:r>
            <a:endParaRPr lang="en-US" sz="1200" dirty="0"/>
          </a:p>
        </p:txBody>
      </p:sp>
      <p:sp>
        <p:nvSpPr>
          <p:cNvPr id="10" name="Text 8"/>
          <p:cNvSpPr txBox="1"/>
          <p:nvPr/>
        </p:nvSpPr>
        <p:spPr>
          <a:xfrm>
            <a:off x="749808" y="2286000"/>
            <a:ext cx="5029200" cy="3840480"/>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300" b="1" dirty="0">
                <a:solidFill>
                  <a:srgbClr val="14183D"/>
                </a:solidFill>
                <a:latin typeface="Montserrat" pitchFamily="34" charset="0"/>
                <a:ea typeface="Montserrat" pitchFamily="34" charset="-122"/>
                <a:cs typeface="Montserrat" pitchFamily="34" charset="-120"/>
              </a:rPr>
              <a:t>Niveau : </a:t>
            </a:r>
            <a:r>
              <a:rPr lang="en-US" sz="1300" dirty="0">
                <a:solidFill>
                  <a:srgbClr val="14183D"/>
                </a:solidFill>
                <a:latin typeface="Montserrat" pitchFamily="34" charset="0"/>
                <a:ea typeface="Montserrat" pitchFamily="34" charset="-122"/>
                <a:cs typeface="Montserrat" pitchFamily="34" charset="-120"/>
              </a:rPr>
              <a:t>complet, avec salle bonus ; bloc champignon (col. 34) et bloc fleur pour Mario grand (col. 36) ajoutés</a:t>
            </a:r>
            <a:endParaRPr lang="en-US" sz="1300" dirty="0"/>
          </a:p>
          <a:p>
            <a:pPr marL="177800" indent="-177800">
              <a:lnSpc>
                <a:spcPct val="105000"/>
              </a:lnSpc>
              <a:spcAft>
                <a:spcPts val="900"/>
              </a:spcAft>
              <a:buSzPct val="100000"/>
              <a:buChar char="•"/>
            </a:pPr>
            <a:r>
              <a:rPr lang="en-US" sz="1300" b="1" dirty="0">
                <a:solidFill>
                  <a:srgbClr val="14183D"/>
                </a:solidFill>
                <a:latin typeface="Montserrat" pitchFamily="34" charset="0"/>
                <a:ea typeface="Montserrat" pitchFamily="34" charset="-122"/>
                <a:cs typeface="Montserrat" pitchFamily="34" charset="-120"/>
              </a:rPr>
              <a:t>Vue : </a:t>
            </a:r>
            <a:r>
              <a:rPr lang="en-US" sz="1300" dirty="0">
                <a:solidFill>
                  <a:srgbClr val="14183D"/>
                </a:solidFill>
                <a:latin typeface="Montserrat" pitchFamily="34" charset="0"/>
                <a:ea typeface="Montserrat" pitchFamily="34" charset="-122"/>
                <a:cs typeface="Montserrat" pitchFamily="34" charset="-120"/>
              </a:rPr>
              <a:t>91 nombres (objets, pièces, tuyaux, boutons du pas précédent)</a:t>
            </a:r>
            <a:endParaRPr lang="en-US" sz="1300" dirty="0"/>
          </a:p>
          <a:p>
            <a:pPr marL="177800" indent="-177800">
              <a:lnSpc>
                <a:spcPct val="105000"/>
              </a:lnSpc>
              <a:spcAft>
                <a:spcPts val="900"/>
              </a:spcAft>
              <a:buSzPct val="100000"/>
              <a:buChar char="•"/>
            </a:pPr>
            <a:r>
              <a:rPr lang="en-US" sz="1300" b="1" dirty="0">
                <a:solidFill>
                  <a:srgbClr val="14183D"/>
                </a:solidFill>
                <a:latin typeface="Montserrat" pitchFamily="34" charset="0"/>
                <a:ea typeface="Montserrat" pitchFamily="34" charset="-122"/>
                <a:cs typeface="Montserrat" pitchFamily="34" charset="-120"/>
              </a:rPr>
              <a:t>8 boutons : </a:t>
            </a:r>
            <a:r>
              <a:rPr lang="en-US" sz="1300" dirty="0">
                <a:solidFill>
                  <a:srgbClr val="14183D"/>
                </a:solidFill>
                <a:latin typeface="Montserrat" pitchFamily="34" charset="0"/>
                <a:ea typeface="Montserrat" pitchFamily="34" charset="-122"/>
                <a:cs typeface="Montserrat" pitchFamily="34" charset="-120"/>
              </a:rPr>
              <a:t>rien, droite, droite + saut, droite + course, droite + saut + course, bas, gauche, gauche + saut</a:t>
            </a:r>
            <a:endParaRPr lang="en-US" sz="1300" dirty="0"/>
          </a:p>
          <a:p>
            <a:pPr marL="177800" indent="-177800">
              <a:lnSpc>
                <a:spcPct val="105000"/>
              </a:lnSpc>
              <a:spcAft>
                <a:spcPts val="900"/>
              </a:spcAft>
              <a:buSzPct val="100000"/>
              <a:buChar char="•"/>
            </a:pPr>
            <a:r>
              <a:rPr lang="en-US" sz="1300" b="1" dirty="0">
                <a:solidFill>
                  <a:srgbClr val="14183D"/>
                </a:solidFill>
                <a:latin typeface="Montserrat" pitchFamily="34" charset="0"/>
                <a:ea typeface="Montserrat" pitchFamily="34" charset="-122"/>
                <a:cs typeface="Montserrat" pitchFamily="34" charset="-120"/>
              </a:rPr>
              <a:t>Règle du blocage : </a:t>
            </a:r>
            <a:r>
              <a:rPr lang="en-US" sz="1300" dirty="0">
                <a:solidFill>
                  <a:srgbClr val="14183D"/>
                </a:solidFill>
                <a:latin typeface="Montserrat" pitchFamily="34" charset="0"/>
                <a:ea typeface="Montserrat" pitchFamily="34" charset="-122"/>
                <a:cs typeface="Montserrat" pitchFamily="34" charset="-120"/>
              </a:rPr>
              <a:t>150 pas sans rien de neuf = partie perdue</a:t>
            </a:r>
            <a:endParaRPr lang="en-US" sz="1300" dirty="0"/>
          </a:p>
        </p:txBody>
      </p:sp>
      <p:sp>
        <p:nvSpPr>
          <p:cNvPr id="11" name="tableau_fond"/>
          <p:cNvSpPr/>
          <p:nvPr/>
        </p:nvSpPr>
        <p:spPr>
          <a:xfrm>
            <a:off x="6245352" y="1764792"/>
            <a:ext cx="5413248" cy="3858768"/>
          </a:xfrm>
          <a:prstGeom prst="rect">
            <a:avLst/>
          </a:prstGeom>
          <a:solidFill>
            <a:srgbClr val="14183D"/>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12" name="entete"/>
          <p:cNvSpPr txBox="1"/>
          <p:nvPr/>
        </p:nvSpPr>
        <p:spPr>
          <a:xfrm>
            <a:off x="6263640" y="1783080"/>
            <a:ext cx="3520440" cy="457200"/>
          </a:xfrm>
          <a:prstGeom prst="rect">
            <a:avLst/>
          </a:prstGeom>
          <a:solidFill>
            <a:srgbClr val="14183D"/>
          </a:solidFill>
          <a:ln/>
        </p:spPr>
        <p:txBody>
          <a:bodyPr wrap="square" lIns="127000" tIns="25400" rIns="76200" bIns="25400" rtlCol="0" anchor="ctr"/>
          <a:lstStyle/>
          <a:p>
            <a:pPr algn="l" indent="0" marL="0">
              <a:buNone/>
            </a:pPr>
            <a:r>
              <a:rPr lang="en-US" sz="1150" b="1" dirty="0">
                <a:solidFill>
                  <a:srgbClr val="FFFFFF"/>
                </a:solidFill>
                <a:latin typeface="Montserrat" pitchFamily="34" charset="0"/>
                <a:ea typeface="Montserrat" pitchFamily="34" charset="-122"/>
                <a:cs typeface="Montserrat" pitchFamily="34" charset="-120"/>
              </a:rPr>
              <a:t>Événement</a:t>
            </a:r>
            <a:endParaRPr lang="en-US" sz="1150" dirty="0"/>
          </a:p>
        </p:txBody>
      </p:sp>
      <p:sp>
        <p:nvSpPr>
          <p:cNvPr id="13" name="entete"/>
          <p:cNvSpPr txBox="1"/>
          <p:nvPr/>
        </p:nvSpPr>
        <p:spPr>
          <a:xfrm>
            <a:off x="9784080" y="1783080"/>
            <a:ext cx="1856232" cy="457200"/>
          </a:xfrm>
          <a:prstGeom prst="rect">
            <a:avLst/>
          </a:prstGeom>
          <a:solidFill>
            <a:srgbClr val="14183D"/>
          </a:solidFill>
          <a:ln/>
        </p:spPr>
        <p:txBody>
          <a:bodyPr wrap="square" lIns="76200" tIns="25400" rIns="76200" bIns="25400" rtlCol="0" anchor="ct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Récompense</a:t>
            </a:r>
            <a:endParaRPr lang="en-US" sz="1150" dirty="0"/>
          </a:p>
        </p:txBody>
      </p:sp>
      <p:sp>
        <p:nvSpPr>
          <p:cNvPr id="14" name="cellule"/>
          <p:cNvSpPr txBox="1"/>
          <p:nvPr/>
        </p:nvSpPr>
        <p:spPr>
          <a:xfrm>
            <a:off x="6263640" y="2240280"/>
            <a:ext cx="3520440" cy="420624"/>
          </a:xfrm>
          <a:prstGeom prst="rect">
            <a:avLst/>
          </a:prstGeom>
          <a:solidFill>
            <a:srgbClr val="FFFFFF"/>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Pièce</a:t>
            </a:r>
            <a:endParaRPr lang="en-US" sz="1300" dirty="0"/>
          </a:p>
        </p:txBody>
      </p:sp>
      <p:sp>
        <p:nvSpPr>
          <p:cNvPr id="15" name="cellule"/>
          <p:cNvSpPr txBox="1"/>
          <p:nvPr/>
        </p:nvSpPr>
        <p:spPr>
          <a:xfrm>
            <a:off x="9784080" y="2240280"/>
            <a:ext cx="1856232" cy="420624"/>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+10</a:t>
            </a:r>
            <a:endParaRPr lang="en-US" sz="1300" dirty="0"/>
          </a:p>
        </p:txBody>
      </p:sp>
      <p:sp>
        <p:nvSpPr>
          <p:cNvPr id="16" name="cellule"/>
          <p:cNvSpPr txBox="1"/>
          <p:nvPr/>
        </p:nvSpPr>
        <p:spPr>
          <a:xfrm>
            <a:off x="6263640" y="2660904"/>
            <a:ext cx="3520440" cy="420624"/>
          </a:xfrm>
          <a:prstGeom prst="rect">
            <a:avLst/>
          </a:prstGeom>
          <a:solidFill>
            <a:srgbClr val="EAF1FE"/>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Entrer dans la salle bonus</a:t>
            </a:r>
            <a:endParaRPr lang="en-US" sz="1300" dirty="0"/>
          </a:p>
        </p:txBody>
      </p:sp>
      <p:sp>
        <p:nvSpPr>
          <p:cNvPr id="17" name="cellule"/>
          <p:cNvSpPr txBox="1"/>
          <p:nvPr/>
        </p:nvSpPr>
        <p:spPr>
          <a:xfrm>
            <a:off x="9784080" y="2660904"/>
            <a:ext cx="1856232" cy="420624"/>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+200</a:t>
            </a:r>
            <a:endParaRPr lang="en-US" sz="1300" dirty="0"/>
          </a:p>
        </p:txBody>
      </p:sp>
      <p:sp>
        <p:nvSpPr>
          <p:cNvPr id="18" name="cellule"/>
          <p:cNvSpPr txBox="1"/>
          <p:nvPr/>
        </p:nvSpPr>
        <p:spPr>
          <a:xfrm>
            <a:off x="6263640" y="3081528"/>
            <a:ext cx="3520440" cy="420624"/>
          </a:xfrm>
          <a:prstGeom prst="rect">
            <a:avLst/>
          </a:prstGeom>
          <a:solidFill>
            <a:srgbClr val="FFFFFF"/>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Champignon ou fleur</a:t>
            </a:r>
            <a:endParaRPr lang="en-US" sz="1300" dirty="0"/>
          </a:p>
        </p:txBody>
      </p:sp>
      <p:sp>
        <p:nvSpPr>
          <p:cNvPr id="19" name="cellule"/>
          <p:cNvSpPr txBox="1"/>
          <p:nvPr/>
        </p:nvSpPr>
        <p:spPr>
          <a:xfrm>
            <a:off x="9784080" y="3081528"/>
            <a:ext cx="1856232" cy="420624"/>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+150</a:t>
            </a:r>
            <a:endParaRPr lang="en-US" sz="1300" dirty="0"/>
          </a:p>
        </p:txBody>
      </p:sp>
      <p:sp>
        <p:nvSpPr>
          <p:cNvPr id="20" name="cellule"/>
          <p:cNvSpPr txBox="1"/>
          <p:nvPr/>
        </p:nvSpPr>
        <p:spPr>
          <a:xfrm>
            <a:off x="6263640" y="3502152"/>
            <a:ext cx="3520440" cy="420624"/>
          </a:xfrm>
          <a:prstGeom prst="rect">
            <a:avLst/>
          </a:prstGeom>
          <a:solidFill>
            <a:srgbClr val="EAF1FE"/>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Bloc power-up frappé</a:t>
            </a:r>
            <a:endParaRPr lang="en-US" sz="1300" dirty="0"/>
          </a:p>
        </p:txBody>
      </p:sp>
      <p:sp>
        <p:nvSpPr>
          <p:cNvPr id="21" name="cellule"/>
          <p:cNvSpPr txBox="1"/>
          <p:nvPr/>
        </p:nvSpPr>
        <p:spPr>
          <a:xfrm>
            <a:off x="9784080" y="3502152"/>
            <a:ext cx="1856232" cy="420624"/>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+25</a:t>
            </a:r>
            <a:endParaRPr lang="en-US" sz="1300" dirty="0"/>
          </a:p>
        </p:txBody>
      </p:sp>
      <p:sp>
        <p:nvSpPr>
          <p:cNvPr id="22" name="cellule"/>
          <p:cNvSpPr txBox="1"/>
          <p:nvPr/>
        </p:nvSpPr>
        <p:spPr>
          <a:xfrm>
            <a:off x="6263640" y="3922776"/>
            <a:ext cx="3520440" cy="420624"/>
          </a:xfrm>
          <a:prstGeom prst="rect">
            <a:avLst/>
          </a:prstGeom>
          <a:solidFill>
            <a:srgbClr val="FFFFFF"/>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Se rapprocher d'un objet visible</a:t>
            </a:r>
            <a:endParaRPr lang="en-US" sz="1300" dirty="0"/>
          </a:p>
        </p:txBody>
      </p:sp>
      <p:sp>
        <p:nvSpPr>
          <p:cNvPr id="23" name="cellule"/>
          <p:cNvSpPr txBox="1"/>
          <p:nvPr/>
        </p:nvSpPr>
        <p:spPr>
          <a:xfrm>
            <a:off x="9784080" y="3922776"/>
            <a:ext cx="1856232" cy="420624"/>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+2 par case</a:t>
            </a:r>
            <a:endParaRPr lang="en-US" sz="1300" dirty="0"/>
          </a:p>
        </p:txBody>
      </p:sp>
      <p:sp>
        <p:nvSpPr>
          <p:cNvPr id="24" name="cellule"/>
          <p:cNvSpPr txBox="1"/>
          <p:nvPr/>
        </p:nvSpPr>
        <p:spPr>
          <a:xfrm>
            <a:off x="6263640" y="4343400"/>
            <a:ext cx="3520440" cy="420624"/>
          </a:xfrm>
          <a:prstGeom prst="rect">
            <a:avLst/>
          </a:prstGeom>
          <a:solidFill>
            <a:srgbClr val="EAF1FE"/>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Chaque seconde du chrono</a:t>
            </a:r>
            <a:endParaRPr lang="en-US" sz="1300" dirty="0"/>
          </a:p>
        </p:txBody>
      </p:sp>
      <p:sp>
        <p:nvSpPr>
          <p:cNvPr id="25" name="cellule"/>
          <p:cNvSpPr txBox="1"/>
          <p:nvPr/>
        </p:nvSpPr>
        <p:spPr>
          <a:xfrm>
            <a:off x="9784080" y="4343400"/>
            <a:ext cx="1856232" cy="420624"/>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-0,5</a:t>
            </a:r>
            <a:endParaRPr lang="en-US" sz="1300" dirty="0"/>
          </a:p>
        </p:txBody>
      </p:sp>
      <p:sp>
        <p:nvSpPr>
          <p:cNvPr id="26" name="cellule"/>
          <p:cNvSpPr txBox="1"/>
          <p:nvPr/>
        </p:nvSpPr>
        <p:spPr>
          <a:xfrm>
            <a:off x="6263640" y="4764024"/>
            <a:ext cx="3520440" cy="420624"/>
          </a:xfrm>
          <a:prstGeom prst="rect">
            <a:avLst/>
          </a:prstGeom>
          <a:solidFill>
            <a:srgbClr val="FFFFFF"/>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Mort ou blocage</a:t>
            </a:r>
            <a:endParaRPr lang="en-US" sz="1300" dirty="0"/>
          </a:p>
        </p:txBody>
      </p:sp>
      <p:sp>
        <p:nvSpPr>
          <p:cNvPr id="27" name="cellule"/>
          <p:cNvSpPr txBox="1"/>
          <p:nvPr/>
        </p:nvSpPr>
        <p:spPr>
          <a:xfrm>
            <a:off x="9784080" y="4764024"/>
            <a:ext cx="1856232" cy="420624"/>
          </a:xfrm>
          <a:prstGeom prst="rect">
            <a:avLst/>
          </a:prstGeom>
          <a:solidFill>
            <a:srgbClr val="FFFFFF"/>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-50</a:t>
            </a:r>
            <a:endParaRPr lang="en-US" sz="1300" dirty="0"/>
          </a:p>
        </p:txBody>
      </p:sp>
      <p:sp>
        <p:nvSpPr>
          <p:cNvPr id="28" name="cellule"/>
          <p:cNvSpPr txBox="1"/>
          <p:nvPr/>
        </p:nvSpPr>
        <p:spPr>
          <a:xfrm>
            <a:off x="6263640" y="5184648"/>
            <a:ext cx="3520440" cy="420624"/>
          </a:xfrm>
          <a:prstGeom prst="rect">
            <a:avLst/>
          </a:prstGeom>
          <a:solidFill>
            <a:srgbClr val="EAF1FE"/>
          </a:solidFill>
          <a:ln/>
        </p:spPr>
        <p:txBody>
          <a:bodyPr wrap="square" lIns="127000" tIns="0" rIns="50800" bIns="0" rtlCol="0" anchor="ctr"/>
          <a:lstStyle/>
          <a:p>
            <a:pPr indent="0" marL="0">
              <a:buNone/>
            </a:pPr>
            <a:r>
              <a:rPr lang="en-US" sz="1300" b="1" dirty="0">
                <a:solidFill>
                  <a:srgbClr val="14183D"/>
                </a:solidFill>
                <a:latin typeface="Montserrat" pitchFamily="34" charset="0"/>
                <a:ea typeface="Montserrat" pitchFamily="34" charset="-122"/>
                <a:cs typeface="Montserrat" pitchFamily="34" charset="-120"/>
              </a:rPr>
              <a:t>Drapeau</a:t>
            </a:r>
            <a:endParaRPr lang="en-US" sz="1300" dirty="0"/>
          </a:p>
        </p:txBody>
      </p:sp>
      <p:sp>
        <p:nvSpPr>
          <p:cNvPr id="29" name="cellule"/>
          <p:cNvSpPr txBox="1"/>
          <p:nvPr/>
        </p:nvSpPr>
        <p:spPr>
          <a:xfrm>
            <a:off x="9784080" y="5184648"/>
            <a:ext cx="1856232" cy="420624"/>
          </a:xfrm>
          <a:prstGeom prst="rect">
            <a:avLst/>
          </a:prstGeom>
          <a:solidFill>
            <a:srgbClr val="EAF1FE"/>
          </a:solidFill>
          <a:ln/>
        </p:spPr>
        <p:txBody>
          <a:bodyPr wrap="square" lIns="25400" tIns="25400" rIns="25400" bIns="25400" rtlCol="0" anchor="ctr"/>
          <a:lstStyle/>
          <a:p>
            <a:pPr algn="ctr" indent="0" marL="0">
              <a:buNone/>
            </a:pPr>
            <a:r>
              <a:rPr lang="en-US" sz="1300" dirty="0">
                <a:solidFill>
                  <a:srgbClr val="14183D"/>
                </a:solidFill>
                <a:latin typeface="Montserrat" pitchFamily="34" charset="0"/>
                <a:ea typeface="Montserrat" pitchFamily="34" charset="-122"/>
                <a:cs typeface="Montserrat" pitchFamily="34" charset="-120"/>
              </a:rPr>
              <a:t>+100</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5A99ED"/>
        </a:solidFill>
      </p:bgPr>
    </p:bg>
    <p:spTree>
      <p:nvGrpSpPr>
        <p:cNvPr id="1" name=""/>
        <p:cNvGrpSpPr/>
        <p:nvPr/>
      </p:nvGrpSpPr>
      <p:grpSpPr>
        <a:xfrm>
          <a:off x="0" y="0"/>
          <a:ext cx="0" cy="0"/>
          <a:chOff x="0" y="0"/>
          <a:chExt cx="0" cy="0"/>
        </a:xfrm>
      </p:grpSpPr>
      <p:sp>
        <p:nvSpPr>
          <p:cNvPr id="2" name="sol_haut"/>
          <p:cNvSpPr/>
          <p:nvPr/>
        </p:nvSpPr>
        <p:spPr>
          <a:xfrm>
            <a:off x="0" y="6583680"/>
            <a:ext cx="12191695" cy="64008"/>
          </a:xfrm>
          <a:prstGeom prst="rect">
            <a:avLst/>
          </a:prstGeom>
          <a:solidFill>
            <a:srgbClr val="6FC72E"/>
          </a:solidFill>
          <a:ln/>
        </p:spPr>
      </p:sp>
      <p:sp>
        <p:nvSpPr>
          <p:cNvPr id="3" name="sol"/>
          <p:cNvSpPr/>
          <p:nvPr/>
        </p:nvSpPr>
        <p:spPr>
          <a:xfrm>
            <a:off x="0" y="6647688"/>
            <a:ext cx="12191695" cy="210312"/>
          </a:xfrm>
          <a:prstGeom prst="rect">
            <a:avLst/>
          </a:prstGeom>
          <a:solidFill>
            <a:srgbClr val="1AA703"/>
          </a:solidFill>
          <a:ln/>
        </p:spPr>
      </p:sp>
      <p:sp>
        <p:nvSpPr>
          <p:cNvPr id="4" name="monde"/>
          <p:cNvSpPr txBox="1"/>
          <p:nvPr/>
        </p:nvSpPr>
        <p:spPr>
          <a:xfrm>
            <a:off x="548640" y="274320"/>
            <a:ext cx="8229600" cy="274320"/>
          </a:xfrm>
          <a:prstGeom prst="rect">
            <a:avLst/>
          </a:prstGeom>
          <a:noFill/>
          <a:ln/>
          <a:effectLst>
            <a:outerShdw sx="100000" sy="100000" kx="0" ky="0" algn="bl" rotWithShape="0" blurRad="101600" dist="19050" dir="2700000">
              <a:srgbClr val="2E1B5B">
                <a:alpha val="100000"/>
              </a:srgbClr>
            </a:outerShdw>
          </a:effectLst>
        </p:spPr>
        <p:txBody>
          <a:bodyPr wrap="square" lIns="0" tIns="0" rIns="0" bIns="0" rtlCol="0" anchor="ctr"/>
          <a:lstStyle/>
          <a:p>
            <a:pPr indent="0" marL="0">
              <a:buNone/>
            </a:pPr>
            <a:r>
              <a:rPr lang="en-US" sz="1200" dirty="0">
                <a:solidFill>
                  <a:srgbClr val="FFC703"/>
                </a:solidFill>
                <a:latin typeface="Arcade Gamer" pitchFamily="34" charset="0"/>
                <a:ea typeface="Arcade Gamer" pitchFamily="34" charset="-122"/>
                <a:cs typeface="Arcade Gamer" pitchFamily="34" charset="-120"/>
              </a:rPr>
              <a:t>ANNEXE G</a:t>
            </a:r>
            <a:endParaRPr lang="en-US" sz="1200" dirty="0"/>
          </a:p>
        </p:txBody>
      </p:sp>
      <p:sp>
        <p:nvSpPr>
          <p:cNvPr id="5" name="titre"/>
          <p:cNvSpPr txBox="1"/>
          <p:nvPr/>
        </p:nvSpPr>
        <p:spPr>
          <a:xfrm>
            <a:off x="548640" y="566928"/>
            <a:ext cx="11091672" cy="548640"/>
          </a:xfrm>
          <a:prstGeom prst="rect">
            <a:avLst/>
          </a:prstGeom>
          <a:noFill/>
          <a:ln/>
          <a:effectLst>
            <a:outerShdw sx="100000" sy="100000" kx="0" ky="0" algn="bl" rotWithShape="0" blurRad="101600" dist="31750" dir="2700000">
              <a:srgbClr val="2E1B5B">
                <a:alpha val="100000"/>
              </a:srgbClr>
            </a:outerShdw>
          </a:effectLst>
        </p:spPr>
        <p:txBody>
          <a:bodyPr wrap="square" lIns="0" tIns="0" rIns="0" bIns="0" rtlCol="0" anchor="ctr"/>
          <a:lstStyle/>
          <a:p>
            <a:pPr indent="0" marL="0">
              <a:buNone/>
            </a:pPr>
            <a:r>
              <a:rPr lang="en-US" sz="2800" dirty="0">
                <a:solidFill>
                  <a:srgbClr val="FFFFFF"/>
                </a:solidFill>
                <a:latin typeface="Arcade Gamer" pitchFamily="34" charset="0"/>
                <a:ea typeface="Arcade Gamer" pitchFamily="34" charset="-122"/>
                <a:cs typeface="Arcade Gamer" pitchFamily="34" charset="-120"/>
              </a:rPr>
              <a:t>RÉFÉRENCES</a:t>
            </a:r>
            <a:endParaRPr lang="en-US" sz="2800" dirty="0"/>
          </a:p>
        </p:txBody>
      </p:sp>
      <p:sp>
        <p:nvSpPr>
          <p:cNvPr id="6" name="Text 4"/>
          <p:cNvSpPr txBox="1"/>
          <p:nvPr/>
        </p:nvSpPr>
        <p:spPr>
          <a:xfrm>
            <a:off x="11277295" y="6647688"/>
            <a:ext cx="566928" cy="210312"/>
          </a:xfrm>
          <a:prstGeom prst="rect">
            <a:avLst/>
          </a:prstGeom>
          <a:noFill/>
          <a:ln/>
        </p:spPr>
        <p:txBody>
          <a:bodyPr wrap="square" lIns="0" tIns="0" rIns="0" bIns="0" rtlCol="0" anchor="ctr"/>
          <a:lstStyle/>
          <a:p>
            <a:pPr algn="r" indent="0" marL="0">
              <a:buNone/>
            </a:pPr>
            <a:r>
              <a:rPr lang="en-US" sz="1000" b="1" dirty="0">
                <a:solidFill>
                  <a:srgbClr val="FFFFFF"/>
                </a:solidFill>
                <a:latin typeface="Montserrat" pitchFamily="34" charset="0"/>
                <a:ea typeface="Montserrat" pitchFamily="34" charset="-122"/>
                <a:cs typeface="Montserrat" pitchFamily="34" charset="-120"/>
              </a:rPr>
              <a:t>29</a:t>
            </a:r>
            <a:endParaRPr lang="en-US" sz="1000" dirty="0"/>
          </a:p>
        </p:txBody>
      </p:sp>
      <p:sp>
        <p:nvSpPr>
          <p:cNvPr id="7" name="carte"/>
          <p:cNvSpPr/>
          <p:nvPr/>
        </p:nvSpPr>
        <p:spPr>
          <a:xfrm>
            <a:off x="548640" y="1371600"/>
            <a:ext cx="11091672" cy="4919472"/>
          </a:xfrm>
          <a:prstGeom prst="rect">
            <a:avLst/>
          </a:prstGeom>
          <a:solidFill>
            <a:srgbClr val="FFFFFF"/>
          </a:solidFill>
          <a:ln w="19050">
            <a:solidFill>
              <a:srgbClr val="000000"/>
            </a:solidFill>
            <a:prstDash val="solid"/>
          </a:ln>
          <a:effectLst>
            <a:outerShdw sx="100000" sy="100000" kx="0" ky="0" algn="bl" rotWithShape="0" blurRad="101600" dist="44450" dir="2700000">
              <a:srgbClr val="2E1B5B">
                <a:alpha val="100000"/>
              </a:srgbClr>
            </a:outerShdw>
          </a:effectLst>
        </p:spPr>
      </p:sp>
      <p:sp>
        <p:nvSpPr>
          <p:cNvPr id="8" name="Text 6"/>
          <p:cNvSpPr txBox="1"/>
          <p:nvPr/>
        </p:nvSpPr>
        <p:spPr>
          <a:xfrm>
            <a:off x="777240" y="1554480"/>
            <a:ext cx="10698480" cy="466344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350" dirty="0">
                <a:solidFill>
                  <a:srgbClr val="14183D"/>
                </a:solidFill>
                <a:latin typeface="Montserrat" pitchFamily="34" charset="0"/>
                <a:ea typeface="Montserrat" pitchFamily="34" charset="-122"/>
                <a:cs typeface="Montserrat" pitchFamily="34" charset="-120"/>
              </a:rPr>
              <a:t>J. Ponnock, L. Ho. Reinforcement Learning in Super Mario Bros: Curriculum, Pedagogy, and Optimal Level Design in World 1-1. arXiv:2606.29511, 2026.</a:t>
            </a:r>
            <a:endParaRPr lang="en-US" sz="1350" dirty="0"/>
          </a:p>
          <a:p>
            <a:pPr marL="177800" indent="-177800">
              <a:lnSpc>
                <a:spcPct val="105000"/>
              </a:lnSpc>
              <a:spcAft>
                <a:spcPts val="500"/>
              </a:spcAft>
              <a:buSzPct val="100000"/>
              <a:buChar char="•"/>
            </a:pPr>
            <a:r>
              <a:rPr lang="en-US" sz="1350" dirty="0">
                <a:solidFill>
                  <a:srgbClr val="14183D"/>
                </a:solidFill>
                <a:latin typeface="Montserrat" pitchFamily="34" charset="0"/>
                <a:ea typeface="Montserrat" pitchFamily="34" charset="-122"/>
                <a:cs typeface="Montserrat" pitchFamily="34" charset="-120"/>
              </a:rPr>
              <a:t>R. S. Sutton, A. G. Barto. Reinforcement Learning: An Introduction, 2e éd. MIT Press, 2018.</a:t>
            </a:r>
            <a:endParaRPr lang="en-US" sz="1350" dirty="0"/>
          </a:p>
          <a:p>
            <a:pPr marL="177800" indent="-177800">
              <a:lnSpc>
                <a:spcPct val="105000"/>
              </a:lnSpc>
              <a:spcAft>
                <a:spcPts val="500"/>
              </a:spcAft>
              <a:buSzPct val="100000"/>
              <a:buChar char="•"/>
            </a:pPr>
            <a:r>
              <a:rPr lang="en-US" sz="1350" dirty="0">
                <a:solidFill>
                  <a:srgbClr val="14183D"/>
                </a:solidFill>
                <a:latin typeface="Montserrat" pitchFamily="34" charset="0"/>
                <a:ea typeface="Montserrat" pitchFamily="34" charset="-122"/>
                <a:cs typeface="Montserrat" pitchFamily="34" charset="-120"/>
              </a:rPr>
              <a:t>C. J. C. H. Watkins, P. Dayan. Q-learning. Machine Learning 8(3-4), 1992.</a:t>
            </a:r>
            <a:endParaRPr lang="en-US" sz="1350" dirty="0"/>
          </a:p>
          <a:p>
            <a:pPr marL="177800" indent="-177800">
              <a:lnSpc>
                <a:spcPct val="105000"/>
              </a:lnSpc>
              <a:spcAft>
                <a:spcPts val="500"/>
              </a:spcAft>
              <a:buSzPct val="100000"/>
              <a:buChar char="•"/>
            </a:pPr>
            <a:r>
              <a:rPr lang="en-US" sz="1350" dirty="0">
                <a:solidFill>
                  <a:srgbClr val="14183D"/>
                </a:solidFill>
                <a:latin typeface="Montserrat" pitchFamily="34" charset="0"/>
                <a:ea typeface="Montserrat" pitchFamily="34" charset="-122"/>
                <a:cs typeface="Montserrat" pitchFamily="34" charset="-120"/>
              </a:rPr>
              <a:t>G. A. Rummery, M. Niranjan. On-line Q-learning using connectionist systems. Cambridge, 1994.</a:t>
            </a:r>
            <a:endParaRPr lang="en-US" sz="1350" dirty="0"/>
          </a:p>
          <a:p>
            <a:pPr marL="177800" indent="-177800">
              <a:lnSpc>
                <a:spcPct val="105000"/>
              </a:lnSpc>
              <a:spcAft>
                <a:spcPts val="500"/>
              </a:spcAft>
              <a:buSzPct val="100000"/>
              <a:buChar char="•"/>
            </a:pPr>
            <a:r>
              <a:rPr lang="en-US" sz="1350" dirty="0">
                <a:solidFill>
                  <a:srgbClr val="14183D"/>
                </a:solidFill>
                <a:latin typeface="Montserrat" pitchFamily="34" charset="0"/>
                <a:ea typeface="Montserrat" pitchFamily="34" charset="-122"/>
                <a:cs typeface="Montserrat" pitchFamily="34" charset="-120"/>
              </a:rPr>
              <a:t>Y. Bengio, J. Louradour, R. Collobert, J. Weston. Curriculum learning. ICML, 2009.</a:t>
            </a:r>
            <a:endParaRPr lang="en-US" sz="1350" dirty="0"/>
          </a:p>
          <a:p>
            <a:pPr marL="177800" indent="-177800">
              <a:lnSpc>
                <a:spcPct val="105000"/>
              </a:lnSpc>
              <a:spcAft>
                <a:spcPts val="500"/>
              </a:spcAft>
              <a:buSzPct val="100000"/>
              <a:buChar char="•"/>
            </a:pPr>
            <a:r>
              <a:rPr lang="en-US" sz="1350" dirty="0">
                <a:solidFill>
                  <a:srgbClr val="14183D"/>
                </a:solidFill>
                <a:latin typeface="Montserrat" pitchFamily="34" charset="0"/>
                <a:ea typeface="Montserrat" pitchFamily="34" charset="-122"/>
                <a:cs typeface="Montserrat" pitchFamily="34" charset="-120"/>
              </a:rPr>
              <a:t>V. Mnih et al. Human-level control through deep reinforcement learning. Nature 518, 2015.</a:t>
            </a:r>
            <a:endParaRPr lang="en-US" sz="1350" dirty="0"/>
          </a:p>
          <a:p>
            <a:pPr marL="177800" indent="-177800">
              <a:lnSpc>
                <a:spcPct val="105000"/>
              </a:lnSpc>
              <a:spcAft>
                <a:spcPts val="500"/>
              </a:spcAft>
              <a:buSzPct val="100000"/>
              <a:buChar char="•"/>
            </a:pPr>
            <a:r>
              <a:rPr lang="en-US" sz="1350" dirty="0">
                <a:solidFill>
                  <a:srgbClr val="14183D"/>
                </a:solidFill>
                <a:latin typeface="Montserrat" pitchFamily="34" charset="0"/>
                <a:ea typeface="Montserrat" pitchFamily="34" charset="-122"/>
                <a:cs typeface="Montserrat" pitchFamily="34" charset="-120"/>
              </a:rPr>
              <a:t>H. van Hasselt, A. Guez, D. Silver. Deep reinforcement learning with double Q-learning. AAAI, 2016.</a:t>
            </a:r>
            <a:endParaRPr lang="en-US" sz="1350" dirty="0"/>
          </a:p>
          <a:p>
            <a:pPr marL="177800" indent="-177800">
              <a:lnSpc>
                <a:spcPct val="105000"/>
              </a:lnSpc>
              <a:spcAft>
                <a:spcPts val="500"/>
              </a:spcAft>
              <a:buSzPct val="100000"/>
              <a:buChar char="•"/>
            </a:pPr>
            <a:r>
              <a:rPr lang="en-US" sz="1350" dirty="0">
                <a:solidFill>
                  <a:srgbClr val="14183D"/>
                </a:solidFill>
                <a:latin typeface="Montserrat" pitchFamily="34" charset="0"/>
                <a:ea typeface="Montserrat" pitchFamily="34" charset="-122"/>
                <a:cs typeface="Montserrat" pitchFamily="34" charset="-120"/>
              </a:rPr>
              <a:t>J. Schulman et al. Proximal Policy Optimization Algorithms. arXiv:1707.06347, 2017.</a:t>
            </a:r>
            <a:endParaRPr lang="en-US" sz="1350" dirty="0"/>
          </a:p>
          <a:p>
            <a:pPr marL="177800" indent="-177800">
              <a:lnSpc>
                <a:spcPct val="105000"/>
              </a:lnSpc>
              <a:spcAft>
                <a:spcPts val="500"/>
              </a:spcAft>
              <a:buSzPct val="100000"/>
              <a:buChar char="•"/>
            </a:pPr>
            <a:r>
              <a:rPr lang="en-US" sz="1350" dirty="0">
                <a:solidFill>
                  <a:srgbClr val="14183D"/>
                </a:solidFill>
                <a:latin typeface="Montserrat" pitchFamily="34" charset="0"/>
                <a:ea typeface="Montserrat" pitchFamily="34" charset="-122"/>
                <a:cs typeface="Montserrat" pitchFamily="34" charset="-120"/>
              </a:rPr>
              <a:t>D. Pathak et al. Curiosity-driven exploration by self-supervised prediction. ICML, 2017 (agent testé sur Super Mario Bros).</a:t>
            </a:r>
            <a:endParaRPr lang="en-US" sz="1350" dirty="0"/>
          </a:p>
          <a:p>
            <a:pPr marL="177800" indent="-177800">
              <a:lnSpc>
                <a:spcPct val="105000"/>
              </a:lnSpc>
              <a:spcAft>
                <a:spcPts val="500"/>
              </a:spcAft>
              <a:buSzPct val="100000"/>
              <a:buChar char="•"/>
            </a:pPr>
            <a:r>
              <a:rPr lang="en-US" sz="1350" dirty="0">
                <a:solidFill>
                  <a:srgbClr val="14183D"/>
                </a:solidFill>
                <a:latin typeface="Montserrat" pitchFamily="34" charset="0"/>
                <a:ea typeface="Montserrat" pitchFamily="34" charset="-122"/>
                <a:cs typeface="Montserrat" pitchFamily="34" charset="-120"/>
              </a:rPr>
              <a:t>C. Kautenja. gym-super-mario-bros. GitHub, 2018.</a:t>
            </a:r>
            <a:endParaRPr lang="en-US" sz="1350" dirty="0"/>
          </a:p>
          <a:p>
            <a:pPr marL="177800" indent="-177800">
              <a:lnSpc>
                <a:spcPct val="105000"/>
              </a:lnSpc>
              <a:spcAft>
                <a:spcPts val="500"/>
              </a:spcAft>
              <a:buSzPct val="100000"/>
              <a:buChar char="•"/>
            </a:pPr>
            <a:r>
              <a:rPr lang="en-US" sz="1350" dirty="0">
                <a:solidFill>
                  <a:srgbClr val="14183D"/>
                </a:solidFill>
                <a:latin typeface="Montserrat" pitchFamily="34" charset="0"/>
                <a:ea typeface="Montserrat" pitchFamily="34" charset="-122"/>
                <a:cs typeface="Montserrat" pitchFamily="34" charset="-120"/>
              </a:rPr>
              <a:t>S. Dahlskog, J. Togelius. Patterns and procedural content generation: revisiting Mario in World 1 Level 1. DPG, 2012.</a:t>
            </a:r>
            <a:endParaRPr lang="en-US" sz="1350" dirty="0"/>
          </a:p>
          <a:p>
            <a:pPr marL="177800" indent="-177800">
              <a:lnSpc>
                <a:spcPct val="105000"/>
              </a:lnSpc>
              <a:spcAft>
                <a:spcPts val="500"/>
              </a:spcAft>
              <a:buSzPct val="100000"/>
              <a:buChar char="•"/>
            </a:pPr>
            <a:r>
              <a:rPr lang="en-US" sz="1350" dirty="0">
                <a:solidFill>
                  <a:srgbClr val="14183D"/>
                </a:solidFill>
                <a:latin typeface="Montserrat" pitchFamily="34" charset="0"/>
                <a:ea typeface="Montserrat" pitchFamily="34" charset="-122"/>
                <a:cs typeface="Montserrat" pitchFamily="34" charset="-120"/>
              </a:rPr>
              <a:t>E. Strubell, A. Ganesh, A. McCallum. Energy and policy considerations for deep learning in NLP. ACL, 2019.</a:t>
            </a:r>
            <a:endParaRPr lang="en-US" sz="1350" dirty="0"/>
          </a:p>
          <a:p>
            <a:pPr marL="177800" indent="-177800">
              <a:lnSpc>
                <a:spcPct val="105000"/>
              </a:lnSpc>
              <a:spcAft>
                <a:spcPts val="500"/>
              </a:spcAft>
              <a:buSzPct val="100000"/>
              <a:buChar char="•"/>
            </a:pPr>
            <a:r>
              <a:rPr lang="en-US" sz="1350" dirty="0">
                <a:solidFill>
                  <a:srgbClr val="14183D"/>
                </a:solidFill>
                <a:latin typeface="Montserrat" pitchFamily="34" charset="0"/>
                <a:ea typeface="Montserrat" pitchFamily="34" charset="-122"/>
                <a:cs typeface="Montserrat" pitchFamily="34" charset="-120"/>
              </a:rPr>
              <a:t>CodeCarbon : outil de mesure de l'empreinte carbone du calcul (codecarbon.io).</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cade Gam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HPDA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Reinforcement Learning in Super Mario Bros - oral final</dc:title>
  <dc:subject>Veille scientifique : Ponnock et Ho (2026)</dc:subject>
  <dc:creator>Chris, Ewen, Chloé</dc:creator>
  <cp:lastModifiedBy>Chris, Ewen, Chloé</cp:lastModifiedBy>
  <cp:revision>1</cp:revision>
  <dcterms:created xsi:type="dcterms:W3CDTF">2026-10-05T12:20:22Z</dcterms:created>
  <dcterms:modified xsi:type="dcterms:W3CDTF">2026-10-05T12:20:22Z</dcterms:modified>
</cp:coreProperties>
</file>