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5f6134c-d9a7-50f2-b1d5-a7e35f8509d3}">
          <p14:sldIdLst>
            <p14:sldId id="256"/>
            <p14:sldId id="257"/>
          </p14:sldIdLst>
        </p14:section>
        <p14:section name="1-1 La veille" id="{efacf076-7089-8f22-226a-15bf9342e62e}">
          <p14:sldIdLst>
            <p14:sldId id="258"/>
            <p14:sldId id="259"/>
            <p14:sldId id="260"/>
            <p14:sldId id="261"/>
            <p14:sldId id="262"/>
            <p14:sldId id="263"/>
          </p14:sldIdLst>
        </p14:section>
        <p14:section name="1-2 Le duel sur v3" id="{645e10c0-0d2b-c074-65bd-2d76d955dd13}">
          <p14:sldIdLst>
            <p14:sldId id="264"/>
            <p14:sldId id="265"/>
            <p14:sldId id="266"/>
            <p14:sldId id="267"/>
            <p14:sldId id="268"/>
          </p14:sldIdLst>
        </p14:section>
        <p14:section name="1-3 Le vrai jeu NES" id="{334d0bac-0aef-609e-1c04-ba8d580011fa}">
          <p14:sldIdLst>
            <p14:sldId id="269"/>
            <p14:sldId id="270"/>
            <p14:sldId id="271"/>
            <p14:sldId id="272"/>
          </p14:sldIdLst>
        </p14:section>
        <p14:section name="1-4 Le recul" id="{fecfc308-e567-3d2d-5191-caf959c163c7}">
          <p14:sldIdLst>
            <p14:sldId id="273"/>
            <p14:sldId id="274"/>
            <p14:sldId id="275"/>
            <p14:sldId id="276"/>
          </p14:sldIdLst>
        </p14:section>
        <p14:section name="Fin" id="{1ad8efe5-9d5a-a594-0e0a-69ea90551427}">
          <p14:sldIdLst>
            <p14:sldId id="277"/>
            <p14:sldId id="278"/>
          </p14:sldIdLst>
        </p14:section>
        <p14:section name="Annexes" id="{2520cb81-49c5-7885-6521-5075892b8697}">
          <p14:sldIdLst>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Bonjour à tous. Nous sommes Chris, Ewen et Chloé. Notre veille porte sur un article publié en juin 2026 : « Reinforcement Learning in Super Mario Bros », de Ponnock et Ho. On ne s'est pas contentés de le lire : on a recréé le niveau 1-1, on a refait leurs expériences, puis on est allés plus loin, jusqu'au vrai jeu 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Notre parcours suit quatre mondes, comme dans le jeu.
Monde 1-1 : la veille, c'est-à-dire l'article, ses résultats et notre lecture critique.
Monde 1-2 : le duel des algorithmes sur le niveau v3, avec notre tableau final.
Monde 1-3 : le vrai jeu NES, où nos meilleurs modèles jouent avec la vraie physique.
Monde 1-4 : le recul, avec l'énergie consommée, notre auto-critique et la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Commençons par la veille : l'article.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L'article part d'une idée connue des game designers : le niveau 1-1 serait une leçon cachée. Il commence par un sol plat et un seul ennemi, introduit ensuite les tuyaux et les trous, et garde les groupes d'ennemis pour la fin.
Les auteurs, de Johns Hopkins, se demandent si on peut le mesurer avec des IA. Deux questions : quel algorithme apprend le mieux ce niveau, et est-ce que ça dépend de sa difficulté ? Et est-ce que l'ordre d'origine des morceaux du niveau accélère l'apprentissage ? En tout, 120 entraînements.
Attention : c'est une prépublication arXiv, pas encore relue par des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Pour situer l'article : il s'appuie sur des méthodes classiques (Q-Learning en 1992, DQN en 2015, PPO en 2017) et sur le curriculum learning de Bengio en 2009, l'idée qu'on apprend mieux du plus simple au plus difficile. Sa nouveauté : utiliser ces IA pour mesurer si un niveau de jeu est pédagogique.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Le terrain : le niveau est une grille de 212 colonnes sur 14 lignes, en trois versions : v1 avec le terrain seul, v2 avec les blocs, v3 avec 17 ennemis. C'est la v3 qui nous intéresse.
Mario n'a que trois boutons : rien, avancer, sauter. Les récompenses : +100 au drapeau, -50 à la mort, +0,5 par pas vers la droite, plus des bonus pour les blocs et les Goombas.
Quatre joueurs s'affrontent. Q-Learning et SARSA corrigent leur tableau de notes à chaque pas ; SARSA tient compte du coup qu'il va vraiment jouer, hasard compris, donc il est plus prudent. Monte Carlo attend la fin de la partie pour tout corriger d'un coup. DQN remplace le tableau par un réseau de neurones, avec une mémoire des 50 000 derniers coups.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Sur la v3, Monte Carlo gagne : près de 95 % de victoires, devant Q-Learning, SARSA, et DQN à 76 %. DQN s'effondre en v1 (10 %) puis remonte à 93 % en v2 : sans blocs à frapper, il ne reçoit presque que des morts. Les auteurs parlent de densité de récompense.
Deuxième question : l'ordre. Ils découpent la v3 en 6 morceaux et les mélangent. Avec l'ordre d'origine, Monte Carlo atteint 94,7 % ; avec l'ordre inversé, 48,5 %, et 4 entraînements sur 10 échouent complètement. Pour DQN, l'ordre ne change rien : sa mémoire mélange toutes les parties.
Leur conclusion : le 1-1 a une vraie structure pédagogique.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Notre lecture critique. De vraies forces : une question originale, un environnement codé de zéro, et une expérience de contrôle avec DQN qui isole bien le rôle de la mémoire.
Mais on a relevé cinq erreurs factuelles. Exemple : le texte donne 94,7 % pour l'ordre inversé, alors que leur propre tableau dit 48,5 %.
Et des faiblesses de méthode : 10 ordres testés sur 720 possibles, des effectifs inégaux, un effet géant (d = 7) calculé sur 5 graines, aucun code publié.
Surtout : une IA qui apprend plus vite ne prouve pas qu'un humain apprend mieux. C'est pour ça qu'on a voulu vérifier par nous-mêmes.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Place au duel sur la v3.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Pour vérifier, il fallait le jeu. On a recréé le niveau 1-1 en Python, avec la physique NES au sous-pixel près ; la carte et les ennemis sont vérifiés case par case contre les données du jeu d'origine. Deux environnements : la grille de l'article et le vrai jeu. Un menu permet de regarder jouer nos IA.
Ensuite le protocole : pour une comparaison juste, tous les algorithmes ont eu les mêmes conditions : v3, 6000 épisodes, 5 graines, la même machine, l'énergie mesurée avec CodeCarbon.
On a ajouté deux tests absents de l'article : une partie sans aucun hasard, et un test de robustesse, 50 parties avec 2 % de boutons au hasard. Le même pour tout le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(Lancer la vidéo.) Voici la même IA, Q-Learning, à quatre moments de son entraînement. Épisode 100 : elle tombe dans le premier trou. Épisode 1000 : dans le deuxième. Épisode 2200 : elle meurt presque au bout. Épisode 6000 : drapeau.
Les trois méthodes à tableau gagnent 94 à 96 % des parties, et réussissent toutes la partie sans hasard.
Elles n'ont pas le même style : Monte Carlo met presque deux fois plus de pas, parce qu'il attend que les Goombas arrivent pour leur sauter dessus. C'est sa logique : dans une partie gagnée, tous les coups sont récompensés, même les attentes inutiles. Et c'est une stratégie sûre : il meurt peu.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(Lancer la vidéo.) Le DQN de l'article, lui, échoue chez nous : 40 % de victoires au lieu de 76. Sur la même graine, il meurt colonne 154, le nôtre atteint le drapeau.
Pourquoi ? Le DQN de l'article ne voit que 4 lignes de l'écran et son numéro de colonne : ni les trous, ni le sens des ennemis. Il doit apprendre le niveau par cœur.
On a donc amélioré DQN étape par étape, avec l'aide de Claude, un assistant d'IA, en mesurant chaque étape. Ce qui change tout, c'est la vue complète : +38 points. Les améliorations connues de DQN ou un réseau convolutif n'apportent rien de plus. Les derniers réglages apportent la stabilité : 94,5 %.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Le tableau final, sur 5 graines. Attention à la 1re colonne : les victoires sont mesurées pendant l'entraînement, avec une part de hasard différente selon l'algorithme. La colonne à comparer, c'est la robustesse, le même test pour tous.
Les trois tableaux sont à 88,8 %, notre DQN à 94,4 % : le plus robuste, le plus rapide à atteindre 80 %, celui qui marque le plus de points. Le DQN de l'article est loin derrière et très instable d'une graine à l'autre.
Face à l'article : les tendances tiennent (Monte Carlo au moins aussi bon que les autres, leur DQN sous les tableaux), mais nos victoires sont plus hautes : l'article ne précise pas les règles des ennemis, et nos agents en écrasent 2 à 4 fois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Et maintenant, le vrai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La grille de l'article simplifie énormément : un pas égale une case, le saut est toujours le même. Dans le vrai jeu, Mario a de l'élan, il accélère, il peut courir, et son saut dépend de sa vitesse. Un tableau ne peut plus tout retenir case par case : un Q-Learning de l'article plafonne vers 35 %.
Il faut une IA qui généralise. On a choisi PPO, publié par OpenAI en 2017 : un acteur donne la probabilité de chaque bouton, un critique juge si la situation est bonne, et il s'améliore par petits pas, d'où « proximal ». Comme pour DQN, ses réglages ont été optimisés avec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(Lancer la vidéo.) Sur le vrai niveau, PPO gagne 81 % des parties, et la partie sans hasard est gagnée par les 5 graines. Il apprend en 3 millions de pas, environ 9 500 parties, en 11 minutes par graine.
La courbe plafonne vers 80 % dès 2 millions de pas : pendant l'entraînement, il tire ses boutons au sort. Son point faible, c'est la robustesse, 60 % : quand on perturbe un bouton, il rattrape mal l'erreur.
Ces chiffres ne se comparent pas directement à la grille : le vrai jeu est beaucoup plus difficile.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(Lancer la vidéo.) Pour finir, on a voulu que l'IA joue comme un humain qui connaît le jeu : champignon, fleur, tuyau secret et pièces de la salle bonus.
Leçon la plus importante du projet : l'IA fait ce qu'on récompense, pas ce qu'on veut. Elle restait dans la salle bonus jusqu'à la fin du temps. Elle appuyait 866 fois sur « bas » devant la sortie. Elle restait collée à un tuyau en tenant droite et saut. À chaque fois, il a fallu corriger la récompense ou ce qu'elle voit : une dizaine de variantes en tout.
Résultat : 91 % de victoires, la salle bonus dans 94 % des parties, le champignon et la fleur dans plus de 93 %. Dans la vidéo, sans aucun hasard, elle fait tout le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Dernier monde : prendre du recul.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Combien tout cela coûte-t-il ? Mesuré avec CodeCarbon, une graine de Q-Learning, c'est 16 secondes et 0,03 Wh, une ampoule LED allumée 10 secondes. Notre DQN consomme 88 fois plus, pour 5 points de robustesse en plus.
Au total, tous nos entraînements finaux font 113 Wh : l'énergie pour faire bouillir un litre d'eau, environ 7 charges de smartphone, 6 grammes de CO2 avec l'électricité française.
C'est peu. Mais une seule expérience, le réseau convolutif sur carte graphique, représente 75 % de ce total, pour un moins bon résultat. Plus gros n'est pas mieux.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Notre auto-critique. Nos limites : 6000 épisodes au lieu de 10 000, pour tout faire tourner sur un portable. Nous n'avons pas refait l'expérience sur l'ordre du niveau. Les règles des ennemis sont devinées, ce qui gonfle nos scores. Notre DQN a été réglé sur les graines 42 et 43, gardées ensuite pour l'évaluer, et on garde sa meilleure version, ce qui l'avantage au test de robustesse. L'énergie est estimée, pas mesurée par un capteur. La Route A est façonnée à la main.
L'IA comme outil : Claude nous a fait gagner énormément de temps sur DQN et PPO, mais il fallait comprendre et vérifier chaque choix ; c'est pour ça qu'on a avancé étape par étape.
Avec plus de temps : refaire l'expérience de l'ordre avec Q-Learning et SARSA, et tester avec de vrais joueurs.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Trois choses à retenir. Un : sur un niveau discret, les méthodes à tableau suffisent, 95 % en 16 secondes, reproductible à l'identique. Deux : ce que voit l'IA compte plus que la taille du réseau, notre DQN passe de 40 à 94 % grâce à la vue complète. Trois : sur le vrai jeu, le deep learning prend le relais, et c'est la récompense qui décide du comportement.
Et pour l'article : ses grandes tendances tiennent, mais ses chiffres dépendent de détails qu'il ne publie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Merci pour votre écoute.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probables (réponses courtes) :
- Pourquoi DQN échoue en v1 ? Récompenses rares : sa mémoire se remplit de morts (-50), il ne voit presque jamais de coups positifs.
- Pourquoi Monte Carlo prend plus de blocs et attend les Goombas ? Il crédite tous les coups d'une partie gagnée avec le score final, y compris les détours et les attentes.
- Pourquoi la mémoire de rejeu efface l'effet de l'ordre ? DQN apprend sur des souvenirs tirés au hasard parmi 50 000 : une partie de l'épisode 1 et une de l'épisode 5000 se ressemblent pour lui.
- Notre travail change-t-il la conclusion de l'article ? Les tendances tiennent, mais « DQN est moins bon » dépend surtout de ce qu'on lui montre (vue complète : 94 %).
- Pourquoi nos chiffres diffèrent ? 6000 épisodes au lieu de 10 000, règles des ennemis non précisées, détails du DQN absents.
- Pourquoi la robustesse plutôt que les victoires ? Les victoires sont mesurées avec des parts de hasard différentes (1 %, 2 %, 5 %) ; la robustesse est le même test pour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 à montrer si le jury demande pourquoi nos retours sont plus élevés que ceux de l'article.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 réglages de l'article et de notre DQN.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 pourquoi le DQN de l'article apprend le niveau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 détail de l'étude étape par étape de notre DQN.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 détail de PPO par graine.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 réglages de la Route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 références citées.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slideLayout" Target="../slideLayouts/slideLayout1.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5.png"/><Relationship Id="rId7" Type="http://schemas.openxmlformats.org/officeDocument/2006/relationships/image" Target="../media/image-2-5.png"/><Relationship Id="rId8" Type="http://schemas.openxmlformats.org/officeDocument/2006/relationships/image" Target="../media/image-2-5.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3-5.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video" Target="../media/media-11-2.mp4"/><Relationship Id="rId3" Type="http://schemas.microsoft.com/office/2007/relationships/media" Target="../media/media-11-2.mp4"/><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video" Target="../media/media-12-2.mp4"/><Relationship Id="rId3" Type="http://schemas.microsoft.com/office/2007/relationships/media" Target="../media/media-12-2.mp4"/><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video" Target="../media/media-16-2.mp4"/><Relationship Id="rId3" Type="http://schemas.microsoft.com/office/2007/relationships/media" Target="../media/media-16-2.mp4"/><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video" Target="../media/media-17-2.mp4"/><Relationship Id="rId3" Type="http://schemas.microsoft.com/office/2007/relationships/media" Target="../media/media-17-2.mp4"/><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A99ED"/>
        </a:solidFill>
      </p:bgPr>
    </p:bg>
    <p:spTree>
      <p:nvGrpSpPr>
        <p:cNvPr id="1" name=""/>
        <p:cNvGrpSpPr/>
        <p:nvPr/>
      </p:nvGrpSpPr>
      <p:grpSpPr>
        <a:xfrm>
          <a:off x="0" y="0"/>
          <a:ext cx="0" cy="0"/>
          <a:chOff x="0" y="0"/>
          <a:chExt cx="0" cy="0"/>
        </a:xfrm>
      </p:grpSpPr>
      <p:pic>
        <p:nvPicPr>
          <p:cNvPr id="2" name="hearts" descr="/home/user/MarioRL_FinalWork/docs/oral/fabrication/assets/sprites/hearts.png">    </p:cNvPr>
          <p:cNvPicPr>
            <a:picLocks noChangeAspect="1"/>
          </p:cNvPicPr>
          <p:nvPr/>
        </p:nvPicPr>
        <p:blipFill>
          <a:blip r:embed="rId1"/>
          <a:stretch>
            <a:fillRect/>
          </a:stretch>
        </p:blipFill>
        <p:spPr>
          <a:xfrm>
            <a:off x="110094" y="177759"/>
            <a:ext cx="1363096" cy="423367"/>
          </a:xfrm>
          <a:prstGeom prst="rect">
            <a:avLst/>
          </a:prstGeom>
        </p:spPr>
      </p:pic>
      <p:pic>
        <p:nvPicPr>
          <p:cNvPr id="3" name="coin_pipe" descr="/home/user/MarioRL_FinalWork/docs/oral/fabrication/assets/sprites/coin_pipe.png">    </p:cNvPr>
          <p:cNvPicPr>
            <a:picLocks noChangeAspect="1"/>
          </p:cNvPicPr>
          <p:nvPr/>
        </p:nvPicPr>
        <p:blipFill>
          <a:blip r:embed="rId2"/>
          <a:stretch>
            <a:fillRect/>
          </a:stretch>
        </p:blipFill>
        <p:spPr>
          <a:xfrm>
            <a:off x="287853" y="3039557"/>
            <a:ext cx="901690" cy="2959090"/>
          </a:xfrm>
          <a:prstGeom prst="rect">
            <a:avLst/>
          </a:prstGeom>
        </p:spPr>
      </p:pic>
      <p:pic>
        <p:nvPicPr>
          <p:cNvPr id="4" name="pipe_short" descr="/home/user/MarioRL_FinalWork/docs/oral/fabrication/assets/sprites/pipe_short.png">    </p:cNvPr>
          <p:cNvPicPr>
            <a:picLocks noChangeAspect="1"/>
          </p:cNvPicPr>
          <p:nvPr/>
        </p:nvPicPr>
        <p:blipFill>
          <a:blip r:embed="rId3"/>
          <a:stretch>
            <a:fillRect/>
          </a:stretch>
        </p:blipFill>
        <p:spPr>
          <a:xfrm>
            <a:off x="1371600" y="4538167"/>
            <a:ext cx="795894" cy="1460480"/>
          </a:xfrm>
          <a:prstGeom prst="rect">
            <a:avLst/>
          </a:prstGeom>
        </p:spPr>
      </p:pic>
      <p:pic>
        <p:nvPicPr>
          <p:cNvPr id="5" name="goomba" descr="/home/user/MarioRL_FinalWork/docs/oral/fabrication/assets/sprites/goomba.png">    </p:cNvPr>
          <p:cNvPicPr>
            <a:picLocks noChangeAspect="1"/>
          </p:cNvPicPr>
          <p:nvPr/>
        </p:nvPicPr>
        <p:blipFill>
          <a:blip r:embed="rId4"/>
          <a:stretch>
            <a:fillRect/>
          </a:stretch>
        </p:blipFill>
        <p:spPr>
          <a:xfrm>
            <a:off x="2353757" y="5359390"/>
            <a:ext cx="664677" cy="643463"/>
          </a:xfrm>
          <a:prstGeom prst="rect">
            <a:avLst/>
          </a:prstGeom>
        </p:spPr>
      </p:pic>
      <p:pic>
        <p:nvPicPr>
          <p:cNvPr id="6" name="mario" descr="/home/user/MarioRL_FinalWork/docs/oral/fabrication/assets/sprites/mario.png">    </p:cNvPr>
          <p:cNvPicPr>
            <a:picLocks noChangeAspect="1"/>
          </p:cNvPicPr>
          <p:nvPr/>
        </p:nvPicPr>
        <p:blipFill>
          <a:blip r:embed="rId5"/>
          <a:stretch>
            <a:fillRect/>
          </a:stretch>
        </p:blipFill>
        <p:spPr>
          <a:xfrm>
            <a:off x="3839657" y="5240884"/>
            <a:ext cx="596920" cy="761970"/>
          </a:xfrm>
          <a:prstGeom prst="rect">
            <a:avLst/>
          </a:prstGeom>
        </p:spPr>
      </p:pic>
      <p:pic>
        <p:nvPicPr>
          <p:cNvPr id="7" name="tree" descr="/home/user/MarioRL_FinalWork/docs/oral/fabrication/assets/sprites/tree.png">    </p:cNvPr>
          <p:cNvPicPr>
            <a:picLocks noChangeAspect="1"/>
          </p:cNvPicPr>
          <p:nvPr/>
        </p:nvPicPr>
        <p:blipFill>
          <a:blip r:embed="rId6"/>
          <a:stretch>
            <a:fillRect/>
          </a:stretch>
        </p:blipFill>
        <p:spPr>
          <a:xfrm>
            <a:off x="8868766" y="4102090"/>
            <a:ext cx="1515527" cy="1900763"/>
          </a:xfrm>
          <a:prstGeom prst="rect">
            <a:avLst/>
          </a:prstGeom>
        </p:spPr>
      </p:pic>
      <p:pic>
        <p:nvPicPr>
          <p:cNvPr id="8" name="castle_peach" descr="/home/user/MarioRL_FinalWork/docs/oral/fabrication/assets/sprites/castle_peach.png">    </p:cNvPr>
          <p:cNvPicPr>
            <a:picLocks noChangeAspect="1"/>
          </p:cNvPicPr>
          <p:nvPr/>
        </p:nvPicPr>
        <p:blipFill>
          <a:blip r:embed="rId7"/>
          <a:stretch>
            <a:fillRect/>
          </a:stretch>
        </p:blipFill>
        <p:spPr>
          <a:xfrm>
            <a:off x="10083820" y="1011784"/>
            <a:ext cx="2108149" cy="4991070"/>
          </a:xfrm>
          <a:prstGeom prst="rect">
            <a:avLst/>
          </a:prstGeom>
        </p:spPr>
      </p:pic>
      <p:pic>
        <p:nvPicPr>
          <p:cNvPr id="9" name="pill" descr="/home/user/MarioRL_FinalWork/docs/oral/fabrication/assets/sprites/pill.png">    </p:cNvPr>
          <p:cNvPicPr>
            <a:picLocks noChangeAspect="1"/>
          </p:cNvPicPr>
          <p:nvPr/>
        </p:nvPicPr>
        <p:blipFill>
          <a:blip r:embed="rId8"/>
          <a:stretch>
            <a:fillRect/>
          </a:stretch>
        </p:blipFill>
        <p:spPr>
          <a:xfrm>
            <a:off x="4533870" y="3793023"/>
            <a:ext cx="2772827" cy="639257"/>
          </a:xfrm>
          <a:prstGeom prst="rect">
            <a:avLst/>
          </a:prstGeom>
        </p:spPr>
      </p:pic>
      <p:pic>
        <p:nvPicPr>
          <p:cNvPr id="10" name="ground" descr="/home/user/MarioRL_FinalWork/docs/oral/fabrication/assets/sprites/ground.png">    </p:cNvPr>
          <p:cNvPicPr>
            <a:picLocks noChangeAspect="1"/>
          </p:cNvPicPr>
          <p:nvPr/>
        </p:nvPicPr>
        <p:blipFill>
          <a:blip r:embed="rId9"/>
          <a:stretch>
            <a:fillRect/>
          </a:stretch>
        </p:blipFill>
        <p:spPr>
          <a:xfrm>
            <a:off x="0" y="5977433"/>
            <a:ext cx="12191970" cy="880567"/>
          </a:xfrm>
          <a:prstGeom prst="rect">
            <a:avLst/>
          </a:prstGeom>
        </p:spPr>
      </p:pic>
      <p:sp>
        <p:nvSpPr>
          <p:cNvPr id="11" name="grand_titre"/>
          <p:cNvSpPr txBox="1"/>
          <p:nvPr/>
        </p:nvSpPr>
        <p:spPr>
          <a:xfrm>
            <a:off x="457200" y="822960"/>
            <a:ext cx="11277295" cy="1737360"/>
          </a:xfrm>
          <a:prstGeom prst="rect">
            <a:avLst/>
          </a:prstGeom>
          <a:noFill/>
          <a:ln/>
          <a:effectLst>
            <a:outerShdw sx="100000" sy="100000" kx="0" ky="0" algn="bl" rotWithShape="0" blurRad="101600" dist="34290" dir="2700000">
              <a:srgbClr val="2E1B5B">
                <a:alpha val="100000"/>
              </a:srgbClr>
            </a:outerShdw>
          </a:effectLst>
        </p:spPr>
        <p:txBody>
          <a:bodyPr wrap="square" lIns="0" tIns="0" rIns="0" bIns="0" rtlCol="0" anchor="ctr"/>
          <a:lstStyle/>
          <a:p>
            <a:pPr algn="ctr" indent="0" marL="0">
              <a:lnSpc>
                <a:spcPct val="100000"/>
              </a:lnSpc>
              <a:buNone/>
            </a:pPr>
            <a:r>
              <a:rPr lang="en-US" sz="5400" dirty="0">
                <a:solidFill>
                  <a:srgbClr val="FFFFFF"/>
                </a:solidFill>
                <a:latin typeface="Arcade Gamer" pitchFamily="34" charset="0"/>
                <a:ea typeface="Arcade Gamer" pitchFamily="34" charset="-122"/>
                <a:cs typeface="Arcade Gamer" pitchFamily="34" charset="-120"/>
              </a:rPr>
              <a:t>REINFORCEMENT</a:t>
            </a:r>
            <a:endParaRPr lang="en-US" sz="5400" dirty="0"/>
          </a:p>
          <a:p>
            <a:pPr algn="ctr" indent="0" marL="0">
              <a:lnSpc>
                <a:spcPct val="100000"/>
              </a:lnSpc>
              <a:buNone/>
            </a:pPr>
            <a:r>
              <a:rPr lang="en-US" sz="5400" dirty="0">
                <a:solidFill>
                  <a:srgbClr val="FFFFFF"/>
                </a:solidFill>
                <a:latin typeface="Arcade Gamer" pitchFamily="34" charset="0"/>
                <a:ea typeface="Arcade Gamer" pitchFamily="34" charset="-122"/>
                <a:cs typeface="Arcade Gamer" pitchFamily="34" charset="-120"/>
              </a:rPr>
              <a:t>LEARNING</a:t>
            </a:r>
            <a:endParaRPr lang="en-US" sz="5400" dirty="0"/>
          </a:p>
        </p:txBody>
      </p:sp>
      <p:sp>
        <p:nvSpPr>
          <p:cNvPr id="12" name="sous_titre"/>
          <p:cNvSpPr txBox="1"/>
          <p:nvPr/>
        </p:nvSpPr>
        <p:spPr>
          <a:xfrm>
            <a:off x="914400" y="2697480"/>
            <a:ext cx="10362895" cy="566928"/>
          </a:xfrm>
          <a:prstGeom prst="rect">
            <a:avLst/>
          </a:prstGeom>
          <a:noFill/>
          <a:ln/>
          <a:effectLst>
            <a:outerShdw sx="100000" sy="100000" kx="0" ky="0" algn="bl" rotWithShape="0" blurRad="101600" dist="15240" dir="2700000">
              <a:srgbClr val="2E1B5B">
                <a:alpha val="100000"/>
              </a:srgbClr>
            </a:outerShdw>
          </a:effectLst>
        </p:spPr>
        <p:txBody>
          <a:bodyPr wrap="square" lIns="0" tIns="0" rIns="0" bIns="0" rtlCol="0" anchor="ctr"/>
          <a:lstStyle/>
          <a:p>
            <a:pPr algn="ctr" indent="0" marL="0">
              <a:buNone/>
            </a:pPr>
            <a:r>
              <a:rPr lang="en-US" sz="1580" dirty="0">
                <a:solidFill>
                  <a:srgbClr val="FFFFFF"/>
                </a:solidFill>
                <a:latin typeface="Disket Mono" pitchFamily="34" charset="0"/>
                <a:ea typeface="Disket Mono" pitchFamily="34" charset="-122"/>
                <a:cs typeface="Disket Mono" pitchFamily="34" charset="-120"/>
              </a:rPr>
              <a:t>IN SUPER MARIO BROS : CURRICULUM, PEDAGOGY, AND OPTIMAL</a:t>
            </a:r>
            <a:endParaRPr lang="en-US" sz="1580" dirty="0"/>
          </a:p>
          <a:p>
            <a:pPr algn="ctr" indent="0" marL="0">
              <a:buNone/>
            </a:pPr>
            <a:r>
              <a:rPr lang="en-US" sz="1580" dirty="0">
                <a:solidFill>
                  <a:srgbClr val="FFFFFF"/>
                </a:solidFill>
                <a:latin typeface="Disket Mono" pitchFamily="34" charset="0"/>
                <a:ea typeface="Disket Mono" pitchFamily="34" charset="-122"/>
                <a:cs typeface="Disket Mono" pitchFamily="34" charset="-120"/>
              </a:rPr>
              <a:t>LEVEL DESIGN IN WORLD 1-1</a:t>
            </a:r>
            <a:endParaRPr lang="en-US" sz="1580" dirty="0"/>
          </a:p>
        </p:txBody>
      </p:sp>
      <p:sp>
        <p:nvSpPr>
          <p:cNvPr id="13" name="Text 2"/>
          <p:cNvSpPr txBox="1"/>
          <p:nvPr/>
        </p:nvSpPr>
        <p:spPr>
          <a:xfrm>
            <a:off x="3200400" y="3310128"/>
            <a:ext cx="5790895" cy="310896"/>
          </a:xfrm>
          <a:prstGeom prst="rect">
            <a:avLst/>
          </a:prstGeom>
          <a:noFill/>
          <a:ln/>
        </p:spPr>
        <p:txBody>
          <a:bodyPr wrap="square" lIns="0" tIns="0" rIns="0" bIns="0" rtlCol="0" anchor="ctr"/>
          <a:lstStyle/>
          <a:p>
            <a:pPr algn="ctr" indent="0" marL="0">
              <a:buNone/>
            </a:pPr>
            <a:r>
              <a:rPr lang="en-US" sz="1300" b="1" dirty="0">
                <a:solidFill>
                  <a:srgbClr val="14183D"/>
                </a:solidFill>
                <a:latin typeface="Montserrat" pitchFamily="34" charset="0"/>
                <a:ea typeface="Montserrat" pitchFamily="34" charset="-122"/>
                <a:cs typeface="Montserrat" pitchFamily="34" charset="-120"/>
              </a:rPr>
              <a:t>Veille scientifique · Ponnock &amp; Ho (2026)</a:t>
            </a:r>
            <a:endParaRPr lang="en-US" sz="1300" dirty="0"/>
          </a:p>
        </p:txBody>
      </p:sp>
      <p:sp>
        <p:nvSpPr>
          <p:cNvPr id="14" name="noms"/>
          <p:cNvSpPr txBox="1"/>
          <p:nvPr/>
        </p:nvSpPr>
        <p:spPr>
          <a:xfrm>
            <a:off x="4533870" y="3793023"/>
            <a:ext cx="2772827" cy="639257"/>
          </a:xfrm>
          <a:prstGeom prst="rect">
            <a:avLst/>
          </a:prstGeom>
          <a:noFill/>
          <a:ln/>
        </p:spPr>
        <p:txBody>
          <a:bodyPr wrap="square" lIns="0" tIns="0" rIns="0" bIns="0" rtlCol="0" anchor="ctr"/>
          <a:lstStyle/>
          <a:p>
            <a:pPr algn="ctr" indent="0" marL="0">
              <a:buNone/>
            </a:pPr>
            <a:r>
              <a:rPr lang="en-US" sz="1250" dirty="0">
                <a:solidFill>
                  <a:srgbClr val="000000"/>
                </a:solidFill>
                <a:latin typeface="Arcade Gamer" pitchFamily="34" charset="0"/>
                <a:ea typeface="Arcade Gamer" pitchFamily="34" charset="-122"/>
                <a:cs typeface="Arcade Gamer" pitchFamily="34" charset="-120"/>
              </a:rPr>
              <a:t>CHRIS, EWEN, CHLOÉ</a:t>
            </a:r>
            <a:endParaRPr lang="en-US" sz="1250" dirty="0"/>
          </a:p>
        </p:txBody>
      </p:sp>
      <p:sp>
        <p:nvSpPr>
          <p:cNvPr id="15" name="Text 4"/>
          <p:cNvSpPr txBox="1"/>
          <p:nvPr/>
        </p:nvSpPr>
        <p:spPr>
          <a:xfrm>
            <a:off x="4754880" y="6464808"/>
            <a:ext cx="2679192" cy="292608"/>
          </a:xfrm>
          <a:prstGeom prst="rect">
            <a:avLst/>
          </a:prstGeom>
          <a:noFill/>
          <a:ln/>
        </p:spPr>
        <p:txBody>
          <a:bodyPr wrap="square" lIns="0" tIns="0" rIns="0" bIns="0" rtlCol="0" anchor="ctr"/>
          <a:lstStyle/>
          <a:p>
            <a:pPr algn="ctr" indent="0" marL="0">
              <a:buNone/>
            </a:pPr>
            <a:r>
              <a:rPr lang="en-US" sz="1350" dirty="0">
                <a:solidFill>
                  <a:srgbClr val="FFFFFF"/>
                </a:solidFill>
                <a:latin typeface="Arcade Gamer" pitchFamily="34" charset="0"/>
                <a:ea typeface="Arcade Gamer" pitchFamily="34" charset="-122"/>
                <a:cs typeface="Arcade Gamer" pitchFamily="34" charset="-120"/>
              </a:rPr>
              <a:t>HPDA 2026</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5A99ED"/>
        </a:solidFill>
      </p:bgPr>
    </p:bg>
    <p:spTree>
      <p:nvGrpSpPr>
        <p:cNvPr id="1" name=""/>
        <p:cNvGrpSpPr/>
        <p:nvPr/>
      </p:nvGrpSpPr>
      <p:grpSpPr>
        <a:xfrm>
          <a:off x="0" y="0"/>
          <a:ext cx="0" cy="0"/>
          <a:chOff x="0" y="0"/>
          <a:chExt cx="0" cy="0"/>
        </a:xfrm>
      </p:grpSpPr>
      <p:pic>
        <p:nvPicPr>
          <p:cNvPr id="2" name="star_brick" descr="/home/user/MarioRL_FinalWork/docs/oral/fabrication/assets/sprites/star_brick.png">    </p:cNvPr>
          <p:cNvPicPr>
            <a:picLocks noChangeAspect="1"/>
          </p:cNvPicPr>
          <p:nvPr/>
        </p:nvPicPr>
        <p:blipFill>
          <a:blip r:embed="rId1"/>
          <a:stretch>
            <a:fillRect/>
          </a:stretch>
        </p:blipFill>
        <p:spPr>
          <a:xfrm>
            <a:off x="914400" y="1803380"/>
            <a:ext cx="901690" cy="1739920"/>
          </a:xfrm>
          <a:prstGeom prst="rect">
            <a:avLst/>
          </a:prstGeom>
        </p:spPr>
      </p:pic>
      <p:pic>
        <p:nvPicPr>
          <p:cNvPr id="3" name="coin_pipe2" descr="/home/user/MarioRL_FinalWork/docs/oral/fabrication/assets/sprites/coin_pipe2.png">    </p:cNvPr>
          <p:cNvPicPr>
            <a:picLocks noChangeAspect="1"/>
          </p:cNvPicPr>
          <p:nvPr/>
        </p:nvPicPr>
        <p:blipFill>
          <a:blip r:embed="rId2"/>
          <a:stretch>
            <a:fillRect/>
          </a:stretch>
        </p:blipFill>
        <p:spPr>
          <a:xfrm>
            <a:off x="10109149" y="3784610"/>
            <a:ext cx="812810" cy="2218243"/>
          </a:xfrm>
          <a:prstGeom prst="rect">
            <a:avLst/>
          </a:prstGeom>
        </p:spPr>
      </p:pic>
      <p:pic>
        <p:nvPicPr>
          <p:cNvPr id="4" name="pipe_tall" descr="/home/user/MarioRL_FinalWork/docs/oral/fabrication/assets/sprites/pipe_tall.png">    </p:cNvPr>
          <p:cNvPicPr>
            <a:picLocks noChangeAspect="1"/>
          </p:cNvPicPr>
          <p:nvPr/>
        </p:nvPicPr>
        <p:blipFill>
          <a:blip r:embed="rId3"/>
          <a:stretch>
            <a:fillRect/>
          </a:stretch>
        </p:blipFill>
        <p:spPr>
          <a:xfrm>
            <a:off x="10998129" y="3031053"/>
            <a:ext cx="897484" cy="2971800"/>
          </a:xfrm>
          <a:prstGeom prst="rect">
            <a:avLst/>
          </a:prstGeom>
        </p:spPr>
      </p:pic>
      <p:pic>
        <p:nvPicPr>
          <p:cNvPr id="5" name="ground" descr="/home/user/MarioRL_FinalWork/docs/oral/fabrication/assets/sprites/ground.png">    </p:cNvPr>
          <p:cNvPicPr>
            <a:picLocks noChangeAspect="1"/>
          </p:cNvPicPr>
          <p:nvPr/>
        </p:nvPicPr>
        <p:blipFill>
          <a:blip r:embed="rId4"/>
          <a:stretch>
            <a:fillRect/>
          </a:stretch>
        </p:blipFill>
        <p:spPr>
          <a:xfrm>
            <a:off x="0" y="5977433"/>
            <a:ext cx="12191970" cy="880567"/>
          </a:xfrm>
          <a:prstGeom prst="rect">
            <a:avLst/>
          </a:prstGeom>
        </p:spPr>
      </p:pic>
      <p:sp>
        <p:nvSpPr>
          <p:cNvPr id="6" name="grand_titre"/>
          <p:cNvSpPr txBox="1"/>
          <p:nvPr/>
        </p:nvSpPr>
        <p:spPr>
          <a:xfrm>
            <a:off x="1828800" y="1691640"/>
            <a:ext cx="8534095" cy="713232"/>
          </a:xfrm>
          <a:prstGeom prst="rect">
            <a:avLst/>
          </a:prstGeom>
          <a:noFill/>
          <a:ln/>
          <a:effectLst>
            <a:outerShdw sx="100000" sy="100000" kx="0" ky="0" algn="bl" rotWithShape="0" blurRad="101600" dist="29210" dir="2700000">
              <a:srgbClr val="2E1B5B">
                <a:alpha val="100000"/>
              </a:srgbClr>
            </a:outerShdw>
          </a:effectLst>
        </p:spPr>
        <p:txBody>
          <a:bodyPr wrap="square" lIns="0" tIns="0" rIns="0" bIns="0" rtlCol="0" anchor="ctr"/>
          <a:lstStyle/>
          <a:p>
            <a:pPr algn="ctr" indent="0" marL="0">
              <a:lnSpc>
                <a:spcPct val="100000"/>
              </a:lnSpc>
              <a:buNone/>
            </a:pPr>
            <a:r>
              <a:rPr lang="en-US" sz="4600" dirty="0">
                <a:solidFill>
                  <a:srgbClr val="FFFFFF"/>
                </a:solidFill>
                <a:latin typeface="Arcade Gamer" pitchFamily="34" charset="0"/>
                <a:ea typeface="Arcade Gamer" pitchFamily="34" charset="-122"/>
                <a:cs typeface="Arcade Gamer" pitchFamily="34" charset="-120"/>
              </a:rPr>
              <a:t>LE PARCOURS</a:t>
            </a:r>
            <a:endParaRPr lang="en-US" sz="4600" dirty="0"/>
          </a:p>
        </p:txBody>
      </p:sp>
      <p:sp>
        <p:nvSpPr>
          <p:cNvPr id="7" name="Text 1"/>
          <p:cNvSpPr txBox="1"/>
          <p:nvPr/>
        </p:nvSpPr>
        <p:spPr>
          <a:xfrm>
            <a:off x="2286000" y="2487168"/>
            <a:ext cx="7619695" cy="384048"/>
          </a:xfrm>
          <a:prstGeom prst="rect">
            <a:avLst/>
          </a:prstGeom>
          <a:noFill/>
          <a:ln/>
          <a:effectLst>
            <a:outerShdw sx="100000" sy="100000" kx="0" ky="0" algn="bl" rotWithShape="0" blurRad="101600" dist="19050" dir="2700000">
              <a:srgbClr val="2E1B5B">
                <a:alpha val="100000"/>
              </a:srgbClr>
            </a:outerShdw>
          </a:effectLst>
        </p:spPr>
        <p:txBody>
          <a:bodyPr wrap="square" lIns="0" tIns="0" rIns="0" bIns="0" rtlCol="0" anchor="ctr"/>
          <a:lstStyle/>
          <a:p>
            <a:pPr algn="ctr" indent="0" marL="0">
              <a:buNone/>
            </a:pPr>
            <a:r>
              <a:rPr lang="en-US" sz="1700" dirty="0">
                <a:solidFill>
                  <a:srgbClr val="FFFFFF"/>
                </a:solidFill>
                <a:latin typeface="Arcade Gamer" pitchFamily="34" charset="0"/>
                <a:ea typeface="Arcade Gamer" pitchFamily="34" charset="-122"/>
                <a:cs typeface="Arcade Gamer" pitchFamily="34" charset="-120"/>
              </a:rPr>
              <a:t>4 MONDES  -  20 MINUTES</a:t>
            </a:r>
            <a:endParaRPr lang="en-US" sz="1700" dirty="0"/>
          </a:p>
        </p:txBody>
      </p:sp>
      <p:pic>
        <p:nvPicPr>
          <p:cNvPr id="8" name="bloc_jaune" descr="/home/user/MarioRL_FinalWork/docs/oral/fabrication/assets/sprites/yellow_box.png">    </p:cNvPr>
          <p:cNvPicPr>
            <a:picLocks noChangeAspect="1"/>
          </p:cNvPicPr>
          <p:nvPr/>
        </p:nvPicPr>
        <p:blipFill>
          <a:blip r:embed="rId5"/>
          <a:stretch>
            <a:fillRect/>
          </a:stretch>
        </p:blipFill>
        <p:spPr>
          <a:xfrm>
            <a:off x="2136496" y="3611880"/>
            <a:ext cx="1828800" cy="994867"/>
          </a:xfrm>
          <a:prstGeom prst="rect">
            <a:avLst/>
          </a:prstGeom>
        </p:spPr>
      </p:pic>
      <p:sp>
        <p:nvSpPr>
          <p:cNvPr id="9" name="Text 2"/>
          <p:cNvSpPr txBox="1"/>
          <p:nvPr/>
        </p:nvSpPr>
        <p:spPr>
          <a:xfrm>
            <a:off x="2209648" y="3666744"/>
            <a:ext cx="1682496" cy="866851"/>
          </a:xfrm>
          <a:prstGeom prst="rect">
            <a:avLst/>
          </a:prstGeom>
          <a:noFill/>
          <a:ln/>
        </p:spPr>
        <p:txBody>
          <a:bodyPr wrap="square" lIns="0" tIns="0" rIns="0" bIns="0" rtlCol="0" anchor="ctr"/>
          <a:lstStyle/>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WORLD 1-1</a:t>
            </a:r>
            <a:endParaRPr lang="en-US" sz="1300" dirty="0"/>
          </a:p>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LA VEILLE</a:t>
            </a:r>
            <a:endParaRPr lang="en-US" sz="1300" dirty="0"/>
          </a:p>
        </p:txBody>
      </p:sp>
      <p:pic>
        <p:nvPicPr>
          <p:cNvPr id="10" name="bloc_jaune" descr="/home/user/MarioRL_FinalWork/docs/oral/fabrication/assets/sprites/yellow_box.png">    </p:cNvPr>
          <p:cNvPicPr>
            <a:picLocks noChangeAspect="1"/>
          </p:cNvPicPr>
          <p:nvPr/>
        </p:nvPicPr>
        <p:blipFill>
          <a:blip r:embed="rId6"/>
          <a:stretch>
            <a:fillRect/>
          </a:stretch>
        </p:blipFill>
        <p:spPr>
          <a:xfrm>
            <a:off x="4166464" y="3611880"/>
            <a:ext cx="1828800" cy="994867"/>
          </a:xfrm>
          <a:prstGeom prst="rect">
            <a:avLst/>
          </a:prstGeom>
        </p:spPr>
      </p:pic>
      <p:sp>
        <p:nvSpPr>
          <p:cNvPr id="11" name="Text 3"/>
          <p:cNvSpPr txBox="1"/>
          <p:nvPr/>
        </p:nvSpPr>
        <p:spPr>
          <a:xfrm>
            <a:off x="4239616" y="3666744"/>
            <a:ext cx="1682496" cy="866851"/>
          </a:xfrm>
          <a:prstGeom prst="rect">
            <a:avLst/>
          </a:prstGeom>
          <a:noFill/>
          <a:ln/>
        </p:spPr>
        <p:txBody>
          <a:bodyPr wrap="square" lIns="0" tIns="0" rIns="0" bIns="0" rtlCol="0" anchor="ctr"/>
          <a:lstStyle/>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WORLD 1-2</a:t>
            </a:r>
            <a:endParaRPr lang="en-US" sz="1300" dirty="0"/>
          </a:p>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LE DUEL</a:t>
            </a:r>
            <a:endParaRPr lang="en-US" sz="1300" dirty="0"/>
          </a:p>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SUR V3</a:t>
            </a:r>
            <a:endParaRPr lang="en-US" sz="1300" dirty="0"/>
          </a:p>
        </p:txBody>
      </p:sp>
      <p:pic>
        <p:nvPicPr>
          <p:cNvPr id="12" name="bloc_jaune" descr="/home/user/MarioRL_FinalWork/docs/oral/fabrication/assets/sprites/yellow_box.png">    </p:cNvPr>
          <p:cNvPicPr>
            <a:picLocks noChangeAspect="1"/>
          </p:cNvPicPr>
          <p:nvPr/>
        </p:nvPicPr>
        <p:blipFill>
          <a:blip r:embed="rId7"/>
          <a:stretch>
            <a:fillRect/>
          </a:stretch>
        </p:blipFill>
        <p:spPr>
          <a:xfrm>
            <a:off x="6196432" y="3611880"/>
            <a:ext cx="1828800" cy="994867"/>
          </a:xfrm>
          <a:prstGeom prst="rect">
            <a:avLst/>
          </a:prstGeom>
        </p:spPr>
      </p:pic>
      <p:sp>
        <p:nvSpPr>
          <p:cNvPr id="13" name="Text 4"/>
          <p:cNvSpPr txBox="1"/>
          <p:nvPr/>
        </p:nvSpPr>
        <p:spPr>
          <a:xfrm>
            <a:off x="6269584" y="3666744"/>
            <a:ext cx="1682496" cy="866851"/>
          </a:xfrm>
          <a:prstGeom prst="rect">
            <a:avLst/>
          </a:prstGeom>
          <a:noFill/>
          <a:ln/>
        </p:spPr>
        <p:txBody>
          <a:bodyPr wrap="square" lIns="0" tIns="0" rIns="0" bIns="0" rtlCol="0" anchor="ctr"/>
          <a:lstStyle/>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WORLD 1-3</a:t>
            </a:r>
            <a:endParaRPr lang="en-US" sz="1300" dirty="0"/>
          </a:p>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LE VRAI</a:t>
            </a:r>
            <a:endParaRPr lang="en-US" sz="1300" dirty="0"/>
          </a:p>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JEU NES</a:t>
            </a:r>
            <a:endParaRPr lang="en-US" sz="1300" dirty="0"/>
          </a:p>
        </p:txBody>
      </p:sp>
      <p:pic>
        <p:nvPicPr>
          <p:cNvPr id="14" name="bloc_jaune" descr="/home/user/MarioRL_FinalWork/docs/oral/fabrication/assets/sprites/yellow_box.png">    </p:cNvPr>
          <p:cNvPicPr>
            <a:picLocks noChangeAspect="1"/>
          </p:cNvPicPr>
          <p:nvPr/>
        </p:nvPicPr>
        <p:blipFill>
          <a:blip r:embed="rId8"/>
          <a:stretch>
            <a:fillRect/>
          </a:stretch>
        </p:blipFill>
        <p:spPr>
          <a:xfrm>
            <a:off x="8226400" y="3611880"/>
            <a:ext cx="1828800" cy="994867"/>
          </a:xfrm>
          <a:prstGeom prst="rect">
            <a:avLst/>
          </a:prstGeom>
        </p:spPr>
      </p:pic>
      <p:sp>
        <p:nvSpPr>
          <p:cNvPr id="15" name="Text 5"/>
          <p:cNvSpPr txBox="1"/>
          <p:nvPr/>
        </p:nvSpPr>
        <p:spPr>
          <a:xfrm>
            <a:off x="8299552" y="3666744"/>
            <a:ext cx="1682496" cy="866851"/>
          </a:xfrm>
          <a:prstGeom prst="rect">
            <a:avLst/>
          </a:prstGeom>
          <a:noFill/>
          <a:ln/>
        </p:spPr>
        <p:txBody>
          <a:bodyPr wrap="square" lIns="0" tIns="0" rIns="0" bIns="0" rtlCol="0" anchor="ctr"/>
          <a:lstStyle/>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WORLD 1-4</a:t>
            </a:r>
            <a:endParaRPr lang="en-US" sz="1300" dirty="0"/>
          </a:p>
          <a:p>
            <a:pPr algn="ctr" indent="0" marL="0">
              <a:lnSpc>
                <a:spcPct val="110000"/>
              </a:lnSpc>
              <a:buNone/>
            </a:pPr>
            <a:r>
              <a:rPr lang="en-US" sz="1300" dirty="0">
                <a:solidFill>
                  <a:srgbClr val="000000"/>
                </a:solidFill>
                <a:latin typeface="Arcade Gamer" pitchFamily="34" charset="0"/>
                <a:ea typeface="Arcade Gamer" pitchFamily="34" charset="-122"/>
                <a:cs typeface="Arcade Gamer" pitchFamily="34" charset="-120"/>
              </a:rPr>
              <a:t>LE RECUL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5A99ED"/>
        </a:solidFill>
      </p:bgPr>
    </p:bg>
    <p:spTree>
      <p:nvGrpSpPr>
        <p:cNvPr id="1" name=""/>
        <p:cNvGrpSpPr/>
        <p:nvPr/>
      </p:nvGrpSpPr>
      <p:grpSpPr>
        <a:xfrm>
          <a:off x="0" y="0"/>
          <a:ext cx="0" cy="0"/>
          <a:chOff x="0" y="0"/>
          <a:chExt cx="0" cy="0"/>
        </a:xfrm>
      </p:grpSpPr>
      <p:pic>
        <p:nvPicPr>
          <p:cNvPr id="2" name="piranha" descr="/home/user/MarioRL_FinalWork/docs/oral/fabrication/assets/sprites/piranha.png">    </p:cNvPr>
          <p:cNvPicPr>
            <a:picLocks noChangeAspect="1"/>
          </p:cNvPicPr>
          <p:nvPr/>
        </p:nvPicPr>
        <p:blipFill>
          <a:blip r:embed="rId1"/>
          <a:stretch>
            <a:fillRect/>
          </a:stretch>
        </p:blipFill>
        <p:spPr>
          <a:xfrm>
            <a:off x="465704" y="3831153"/>
            <a:ext cx="1413937" cy="2171700"/>
          </a:xfrm>
          <a:prstGeom prst="rect">
            <a:avLst/>
          </a:prstGeom>
        </p:spPr>
      </p:pic>
      <p:pic>
        <p:nvPicPr>
          <p:cNvPr id="3" name="pipe_short2" descr="/home/user/MarioRL_FinalWork/docs/oral/fabrication/assets/sprites/pipe_short2.png">    </p:cNvPr>
          <p:cNvPicPr>
            <a:picLocks noChangeAspect="1"/>
          </p:cNvPicPr>
          <p:nvPr/>
        </p:nvPicPr>
        <p:blipFill>
          <a:blip r:embed="rId2"/>
          <a:stretch>
            <a:fillRect/>
          </a:stretch>
        </p:blipFill>
        <p:spPr>
          <a:xfrm>
            <a:off x="2103943" y="4550786"/>
            <a:ext cx="795894" cy="1452067"/>
          </a:xfrm>
          <a:prstGeom prst="rect">
            <a:avLst/>
          </a:prstGeom>
        </p:spPr>
      </p:pic>
      <p:pic>
        <p:nvPicPr>
          <p:cNvPr id="4" name="pipe_tall2" descr="/home/user/MarioRL_FinalWork/docs/oral/fabrication/assets/sprites/pipe_tall2.png">    </p:cNvPr>
          <p:cNvPicPr>
            <a:picLocks noChangeAspect="1"/>
          </p:cNvPicPr>
          <p:nvPr/>
        </p:nvPicPr>
        <p:blipFill>
          <a:blip r:embed="rId3"/>
          <a:stretch>
            <a:fillRect/>
          </a:stretch>
        </p:blipFill>
        <p:spPr>
          <a:xfrm>
            <a:off x="9359890" y="3839657"/>
            <a:ext cx="901690" cy="2163196"/>
          </a:xfrm>
          <a:prstGeom prst="rect">
            <a:avLst/>
          </a:prstGeom>
        </p:spPr>
      </p:pic>
      <p:pic>
        <p:nvPicPr>
          <p:cNvPr id="5" name="star_brick" descr="/home/user/MarioRL_FinalWork/docs/oral/fabrication/assets/sprites/star_brick.png">    </p:cNvPr>
          <p:cNvPicPr>
            <a:picLocks noChangeAspect="1"/>
          </p:cNvPicPr>
          <p:nvPr/>
        </p:nvPicPr>
        <p:blipFill>
          <a:blip r:embed="rId4"/>
          <a:stretch>
            <a:fillRect/>
          </a:stretch>
        </p:blipFill>
        <p:spPr>
          <a:xfrm>
            <a:off x="10629900" y="1943100"/>
            <a:ext cx="901690" cy="1739920"/>
          </a:xfrm>
          <a:prstGeom prst="rect">
            <a:avLst/>
          </a:prstGeom>
        </p:spPr>
      </p:pic>
      <p:pic>
        <p:nvPicPr>
          <p:cNvPr id="6" name="coin" descr="/home/user/MarioRL_FinalWork/docs/oral/fabrication/assets/sprites/coin.png">    </p:cNvPr>
          <p:cNvPicPr>
            <a:picLocks noChangeAspect="1"/>
          </p:cNvPicPr>
          <p:nvPr/>
        </p:nvPicPr>
        <p:blipFill>
          <a:blip r:embed="rId5"/>
          <a:stretch>
            <a:fillRect/>
          </a:stretch>
        </p:blipFill>
        <p:spPr>
          <a:xfrm>
            <a:off x="4432097" y="4411066"/>
            <a:ext cx="673090" cy="673090"/>
          </a:xfrm>
          <a:prstGeom prst="rect">
            <a:avLst/>
          </a:prstGeom>
        </p:spPr>
      </p:pic>
      <p:pic>
        <p:nvPicPr>
          <p:cNvPr id="7" name="coin" descr="/home/user/MarioRL_FinalWork/docs/oral/fabrication/assets/sprites/coin.png">    </p:cNvPr>
          <p:cNvPicPr>
            <a:picLocks noChangeAspect="1"/>
          </p:cNvPicPr>
          <p:nvPr/>
        </p:nvPicPr>
        <p:blipFill>
          <a:blip r:embed="rId6"/>
          <a:stretch>
            <a:fillRect/>
          </a:stretch>
        </p:blipFill>
        <p:spPr>
          <a:xfrm>
            <a:off x="5266030" y="4411066"/>
            <a:ext cx="673090" cy="673090"/>
          </a:xfrm>
          <a:prstGeom prst="rect">
            <a:avLst/>
          </a:prstGeom>
        </p:spPr>
      </p:pic>
      <p:pic>
        <p:nvPicPr>
          <p:cNvPr id="8" name="coin" descr="/home/user/MarioRL_FinalWork/docs/oral/fabrication/assets/sprites/coin.png">    </p:cNvPr>
          <p:cNvPicPr>
            <a:picLocks noChangeAspect="1"/>
          </p:cNvPicPr>
          <p:nvPr/>
        </p:nvPicPr>
        <p:blipFill>
          <a:blip r:embed="rId7"/>
          <a:stretch>
            <a:fillRect/>
          </a:stretch>
        </p:blipFill>
        <p:spPr>
          <a:xfrm>
            <a:off x="6104534" y="4411066"/>
            <a:ext cx="673090" cy="673090"/>
          </a:xfrm>
          <a:prstGeom prst="rect">
            <a:avLst/>
          </a:prstGeom>
        </p:spPr>
      </p:pic>
      <p:pic>
        <p:nvPicPr>
          <p:cNvPr id="9" name="coin" descr="/home/user/MarioRL_FinalWork/docs/oral/fabrication/assets/sprites/coin.png">    </p:cNvPr>
          <p:cNvPicPr>
            <a:picLocks noChangeAspect="1"/>
          </p:cNvPicPr>
          <p:nvPr/>
        </p:nvPicPr>
        <p:blipFill>
          <a:blip r:embed="rId8"/>
          <a:stretch>
            <a:fillRect/>
          </a:stretch>
        </p:blipFill>
        <p:spPr>
          <a:xfrm>
            <a:off x="6938467" y="4411066"/>
            <a:ext cx="673090" cy="673090"/>
          </a:xfrm>
          <a:prstGeom prst="rect">
            <a:avLst/>
          </a:prstGeom>
        </p:spPr>
      </p:pic>
      <p:pic>
        <p:nvPicPr>
          <p:cNvPr id="10" name="ground" descr="/home/user/MarioRL_FinalWork/docs/oral/fabrication/assets/sprites/ground.png">    </p:cNvPr>
          <p:cNvPicPr>
            <a:picLocks noChangeAspect="1"/>
          </p:cNvPicPr>
          <p:nvPr/>
        </p:nvPicPr>
        <p:blipFill>
          <a:blip r:embed="rId9"/>
          <a:stretch>
            <a:fillRect/>
          </a:stretch>
        </p:blipFill>
        <p:spPr>
          <a:xfrm>
            <a:off x="0" y="5977433"/>
            <a:ext cx="12191970" cy="880567"/>
          </a:xfrm>
          <a:prstGeom prst="rect">
            <a:avLst/>
          </a:prstGeom>
        </p:spPr>
      </p:pic>
      <p:sp>
        <p:nvSpPr>
          <p:cNvPr id="11" name="grand_titre"/>
          <p:cNvSpPr txBox="1"/>
          <p:nvPr/>
        </p:nvSpPr>
        <p:spPr>
          <a:xfrm>
            <a:off x="2011680" y="1234440"/>
            <a:ext cx="8168335" cy="868680"/>
          </a:xfrm>
          <a:prstGeom prst="rect">
            <a:avLst/>
          </a:prstGeom>
          <a:noFill/>
          <a:ln/>
          <a:effectLst>
            <a:outerShdw sx="100000" sy="100000" kx="0" ky="0" algn="bl" rotWithShape="0" blurRad="101600" dist="34290" dir="2700000">
              <a:srgbClr val="2E1B5B">
                <a:alpha val="100000"/>
              </a:srgbClr>
            </a:outerShdw>
          </a:effectLst>
        </p:spPr>
        <p:txBody>
          <a:bodyPr wrap="square" lIns="0" tIns="0" rIns="0" bIns="0" rtlCol="0" anchor="ctr"/>
          <a:lstStyle/>
          <a:p>
            <a:pPr algn="ctr" indent="0" marL="0">
              <a:lnSpc>
                <a:spcPct val="100000"/>
              </a:lnSpc>
              <a:buNone/>
            </a:pPr>
            <a:r>
              <a:rPr lang="en-US" sz="5400" dirty="0">
                <a:solidFill>
                  <a:srgbClr val="FFFFFF"/>
                </a:solidFill>
                <a:latin typeface="Arcade Gamer" pitchFamily="34" charset="0"/>
                <a:ea typeface="Arcade Gamer" pitchFamily="34" charset="-122"/>
                <a:cs typeface="Arcade Gamer" pitchFamily="34" charset="-120"/>
              </a:rPr>
              <a:t>WORLD 1-1</a:t>
            </a:r>
            <a:endParaRPr lang="en-US" sz="5400" dirty="0"/>
          </a:p>
        </p:txBody>
      </p:sp>
      <p:sp>
        <p:nvSpPr>
          <p:cNvPr id="12" name="grand_titre"/>
          <p:cNvSpPr txBox="1"/>
          <p:nvPr/>
        </p:nvSpPr>
        <p:spPr>
          <a:xfrm>
            <a:off x="2011680" y="2121408"/>
            <a:ext cx="8168335" cy="640080"/>
          </a:xfrm>
          <a:prstGeom prst="rect">
            <a:avLst/>
          </a:prstGeom>
          <a:noFill/>
          <a:ln/>
          <a:effectLst>
            <a:outerShdw sx="100000" sy="100000" kx="0" ky="0" algn="bl" rotWithShape="0" blurRad="101600" dist="25400" dir="2700000">
              <a:srgbClr val="2E1B5B">
                <a:alpha val="100000"/>
              </a:srgbClr>
            </a:outerShdw>
          </a:effectLst>
        </p:spPr>
        <p:txBody>
          <a:bodyPr wrap="square" lIns="0" tIns="0" rIns="0" bIns="0" rtlCol="0" anchor="ctr"/>
          <a:lstStyle/>
          <a:p>
            <a:pPr algn="ctr" indent="0" marL="0">
              <a:lnSpc>
                <a:spcPct val="100000"/>
              </a:lnSpc>
              <a:buNone/>
            </a:pPr>
            <a:r>
              <a:rPr lang="en-US" sz="3200" dirty="0">
                <a:solidFill>
                  <a:srgbClr val="FFC703"/>
                </a:solidFill>
                <a:latin typeface="Arcade Gamer" pitchFamily="34" charset="0"/>
                <a:ea typeface="Arcade Gamer" pitchFamily="34" charset="-122"/>
                <a:cs typeface="Arcade Gamer" pitchFamily="34" charset="-120"/>
              </a:rPr>
              <a:t>LA VEILLE</a:t>
            </a:r>
            <a:endParaRPr lang="en-US" sz="3200" dirty="0"/>
          </a:p>
        </p:txBody>
      </p:sp>
      <p:sp>
        <p:nvSpPr>
          <p:cNvPr id="13" name="Text 2"/>
          <p:cNvSpPr txBox="1"/>
          <p:nvPr/>
        </p:nvSpPr>
        <p:spPr>
          <a:xfrm>
            <a:off x="2743200" y="2852928"/>
            <a:ext cx="6705295" cy="384048"/>
          </a:xfrm>
          <a:prstGeom prst="rect">
            <a:avLst/>
          </a:prstGeom>
          <a:noFill/>
          <a:ln/>
        </p:spPr>
        <p:txBody>
          <a:bodyPr wrap="square" lIns="0" tIns="0" rIns="0" bIns="0" rtlCol="0" anchor="ctr"/>
          <a:lstStyle/>
          <a:p>
            <a:pPr algn="ctr" indent="0" marL="0">
              <a:buNone/>
            </a:pPr>
            <a:r>
              <a:rPr lang="en-US" sz="1600" b="1" dirty="0">
                <a:solidFill>
                  <a:srgbClr val="14183D"/>
                </a:solidFill>
                <a:latin typeface="Montserrat" pitchFamily="34" charset="0"/>
                <a:ea typeface="Montserrat" pitchFamily="34" charset="-122"/>
                <a:cs typeface="Montserrat" pitchFamily="34" charset="-120"/>
              </a:rPr>
              <a:t>L'article, ses résultats, notre regard critique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1-1  -  LA VEILLE</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Le niveau 1-1 est-il une vraie leçon ?</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4</a:t>
            </a:r>
            <a:endParaRPr lang="en-US" sz="1100" dirty="0"/>
          </a:p>
        </p:txBody>
      </p:sp>
      <p:sp>
        <p:nvSpPr>
          <p:cNvPr id="6" name="carte"/>
          <p:cNvSpPr/>
          <p:nvPr/>
        </p:nvSpPr>
        <p:spPr>
          <a:xfrm>
            <a:off x="548640" y="1645920"/>
            <a:ext cx="5669280" cy="3017520"/>
          </a:xfrm>
          <a:prstGeom prst="roundRect">
            <a:avLst>
              <a:gd name="adj" fmla="val 2424"/>
            </a:avLst>
          </a:prstGeom>
          <a:solidFill>
            <a:srgbClr val="FFFFFF"/>
          </a:solidFill>
          <a:ln/>
          <a:effectLst>
            <a:outerShdw sx="100000" sy="100000" kx="0" ky="0" algn="bl" rotWithShape="0" blurRad="101600" dist="25400" dir="5400000">
              <a:srgbClr val="0B1F44">
                <a:alpha val="22000"/>
              </a:srgbClr>
            </a:outerShdw>
          </a:effectLst>
        </p:spPr>
      </p:sp>
      <p:sp>
        <p:nvSpPr>
          <p:cNvPr id="7" name="etiquette"/>
          <p:cNvSpPr txBox="1"/>
          <p:nvPr/>
        </p:nvSpPr>
        <p:spPr>
          <a:xfrm>
            <a:off x="822960" y="1847088"/>
            <a:ext cx="4572000" cy="274320"/>
          </a:xfrm>
          <a:prstGeom prst="rect">
            <a:avLst/>
          </a:prstGeom>
          <a:noFill/>
          <a:ln/>
        </p:spPr>
        <p:txBody>
          <a:bodyPr wrap="square" lIns="0" tIns="0" rIns="0" bIns="0" rtlCol="0" anchor="ctr"/>
          <a:lstStyle/>
          <a:p>
            <a:pPr indent="0" marL="0">
              <a:buNone/>
            </a:pPr>
            <a:r>
              <a:rPr lang="en-US" sz="1150" b="1" spc="100" kern="0" dirty="0">
                <a:solidFill>
                  <a:srgbClr val="4A5070"/>
                </a:solidFill>
                <a:latin typeface="Montserrat" pitchFamily="34" charset="0"/>
                <a:ea typeface="Montserrat" pitchFamily="34" charset="-122"/>
                <a:cs typeface="Montserrat" pitchFamily="34" charset="-120"/>
              </a:rPr>
              <a:t>PRÉPUBLICATION ARXIV · JUIN 2026</a:t>
            </a:r>
            <a:endParaRPr lang="en-US" sz="1150" dirty="0"/>
          </a:p>
        </p:txBody>
      </p:sp>
      <p:sp>
        <p:nvSpPr>
          <p:cNvPr id="8" name="Text 6"/>
          <p:cNvSpPr txBox="1"/>
          <p:nvPr/>
        </p:nvSpPr>
        <p:spPr>
          <a:xfrm>
            <a:off x="822960" y="2148840"/>
            <a:ext cx="5120640" cy="1463040"/>
          </a:xfrm>
          <a:prstGeom prst="rect">
            <a:avLst/>
          </a:prstGeom>
          <a:noFill/>
          <a:ln/>
        </p:spPr>
        <p:txBody>
          <a:bodyPr wrap="square" lIns="0" tIns="0" rIns="0" bIns="0" rtlCol="0" anchor="t"/>
          <a:lstStyle/>
          <a:p>
            <a:pPr indent="0" marL="0">
              <a:buNone/>
            </a:pPr>
            <a:r>
              <a:rPr lang="en-US" sz="1900" b="1" i="1" dirty="0">
                <a:solidFill>
                  <a:srgbClr val="14183D"/>
                </a:solidFill>
                <a:latin typeface="Montserrat" pitchFamily="34" charset="0"/>
                <a:ea typeface="Montserrat" pitchFamily="34" charset="-122"/>
                <a:cs typeface="Montserrat" pitchFamily="34" charset="-120"/>
              </a:rPr>
              <a:t>Reinforcement Learning in Super Mario Bros: Curriculum, Pedagogy, and Optimal Level Design in World 1-1</a:t>
            </a:r>
            <a:endParaRPr lang="en-US" sz="1900" dirty="0"/>
          </a:p>
        </p:txBody>
      </p:sp>
      <p:sp>
        <p:nvSpPr>
          <p:cNvPr id="9" name="Text 7"/>
          <p:cNvSpPr txBox="1"/>
          <p:nvPr/>
        </p:nvSpPr>
        <p:spPr>
          <a:xfrm>
            <a:off x="822960" y="3886200"/>
            <a:ext cx="5120640" cy="457200"/>
          </a:xfrm>
          <a:prstGeom prst="rect">
            <a:avLst/>
          </a:prstGeom>
          <a:noFill/>
          <a:ln/>
        </p:spPr>
        <p:txBody>
          <a:bodyPr wrap="square" lIns="0" tIns="0" rIns="0" bIns="0" rtlCol="0" anchor="t"/>
          <a:lstStyle/>
          <a:p>
            <a:pPr indent="0" marL="0">
              <a:buNone/>
            </a:pPr>
            <a:r>
              <a:rPr lang="en-US" sz="1500" dirty="0">
                <a:solidFill>
                  <a:srgbClr val="4A5070"/>
                </a:solidFill>
                <a:latin typeface="Montserrat" pitchFamily="34" charset="0"/>
                <a:ea typeface="Montserrat" pitchFamily="34" charset="-122"/>
                <a:cs typeface="Montserrat" pitchFamily="34" charset="-120"/>
              </a:rPr>
              <a:t>J. Ponnock &amp; L. Ho · Johns Hopkins University</a:t>
            </a:r>
            <a:endParaRPr lang="en-US" sz="1500" dirty="0"/>
          </a:p>
        </p:txBody>
      </p:sp>
      <p:sp>
        <p:nvSpPr>
          <p:cNvPr id="10" name="carte"/>
          <p:cNvSpPr/>
          <p:nvPr/>
        </p:nvSpPr>
        <p:spPr>
          <a:xfrm>
            <a:off x="6492240" y="1645920"/>
            <a:ext cx="5148072" cy="1444752"/>
          </a:xfrm>
          <a:prstGeom prst="roundRect">
            <a:avLst>
              <a:gd name="adj" fmla="val 5063"/>
            </a:avLst>
          </a:prstGeom>
          <a:solidFill>
            <a:srgbClr val="FFFFFF"/>
          </a:solidFill>
          <a:ln/>
          <a:effectLst>
            <a:outerShdw sx="100000" sy="100000" kx="0" ky="0" algn="bl" rotWithShape="0" blurRad="101600" dist="25400" dir="5400000">
              <a:srgbClr val="0B1F44">
                <a:alpha val="22000"/>
              </a:srgbClr>
            </a:outerShdw>
          </a:effectLst>
        </p:spPr>
      </p:sp>
      <p:sp>
        <p:nvSpPr>
          <p:cNvPr id="11" name="etiquette"/>
          <p:cNvSpPr txBox="1"/>
          <p:nvPr/>
        </p:nvSpPr>
        <p:spPr>
          <a:xfrm>
            <a:off x="6766560" y="1847088"/>
            <a:ext cx="2743200" cy="274320"/>
          </a:xfrm>
          <a:prstGeom prst="rect">
            <a:avLst/>
          </a:prstGeom>
          <a:noFill/>
          <a:ln/>
        </p:spPr>
        <p:txBody>
          <a:bodyPr wrap="square" lIns="0" tIns="0" rIns="0" bIns="0" rtlCol="0" anchor="ctr"/>
          <a:lstStyle/>
          <a:p>
            <a:pPr indent="0" marL="0">
              <a:buNone/>
            </a:pPr>
            <a:r>
              <a:rPr lang="en-US" sz="1150" b="1" spc="100" kern="0" dirty="0">
                <a:solidFill>
                  <a:srgbClr val="2F6FE4"/>
                </a:solidFill>
                <a:latin typeface="Montserrat" pitchFamily="34" charset="0"/>
                <a:ea typeface="Montserrat" pitchFamily="34" charset="-122"/>
                <a:cs typeface="Montserrat" pitchFamily="34" charset="-120"/>
              </a:rPr>
              <a:t>QUESTION 1</a:t>
            </a:r>
            <a:endParaRPr lang="en-US" sz="1150" dirty="0"/>
          </a:p>
        </p:txBody>
      </p:sp>
      <p:sp>
        <p:nvSpPr>
          <p:cNvPr id="12" name="Text 10"/>
          <p:cNvSpPr txBox="1"/>
          <p:nvPr/>
        </p:nvSpPr>
        <p:spPr>
          <a:xfrm>
            <a:off x="6766560" y="2148840"/>
            <a:ext cx="4663440" cy="822960"/>
          </a:xfrm>
          <a:prstGeom prst="rect">
            <a:avLst/>
          </a:prstGeom>
          <a:noFill/>
          <a:ln/>
        </p:spPr>
        <p:txBody>
          <a:bodyPr wrap="square" lIns="0" tIns="0" rIns="0" bIns="0" rtlCol="0" anchor="ctr"/>
          <a:lstStyle/>
          <a:p>
            <a:pPr indent="0" marL="0">
              <a:buNone/>
            </a:pPr>
            <a:r>
              <a:rPr lang="en-US" sz="1900" b="1" dirty="0">
                <a:solidFill>
                  <a:srgbClr val="14183D"/>
                </a:solidFill>
                <a:latin typeface="Montserrat" pitchFamily="34" charset="0"/>
                <a:ea typeface="Montserrat" pitchFamily="34" charset="-122"/>
                <a:cs typeface="Montserrat" pitchFamily="34" charset="-120"/>
              </a:rPr>
              <a:t>Quel algorithme apprend le mieux le niveau ?</a:t>
            </a:r>
            <a:endParaRPr lang="en-US" sz="1900" dirty="0"/>
          </a:p>
        </p:txBody>
      </p:sp>
      <p:sp>
        <p:nvSpPr>
          <p:cNvPr id="13" name="carte"/>
          <p:cNvSpPr/>
          <p:nvPr/>
        </p:nvSpPr>
        <p:spPr>
          <a:xfrm>
            <a:off x="6492240" y="3218688"/>
            <a:ext cx="5148072" cy="1444752"/>
          </a:xfrm>
          <a:prstGeom prst="roundRect">
            <a:avLst>
              <a:gd name="adj" fmla="val 5063"/>
            </a:avLst>
          </a:prstGeom>
          <a:solidFill>
            <a:srgbClr val="FFFFFF"/>
          </a:solidFill>
          <a:ln/>
          <a:effectLst>
            <a:outerShdw sx="100000" sy="100000" kx="0" ky="0" algn="bl" rotWithShape="0" blurRad="101600" dist="25400" dir="5400000">
              <a:srgbClr val="0B1F44">
                <a:alpha val="22000"/>
              </a:srgbClr>
            </a:outerShdw>
          </a:effectLst>
        </p:spPr>
      </p:sp>
      <p:sp>
        <p:nvSpPr>
          <p:cNvPr id="14" name="etiquette"/>
          <p:cNvSpPr txBox="1"/>
          <p:nvPr/>
        </p:nvSpPr>
        <p:spPr>
          <a:xfrm>
            <a:off x="6766560" y="3419856"/>
            <a:ext cx="2743200" cy="274320"/>
          </a:xfrm>
          <a:prstGeom prst="rect">
            <a:avLst/>
          </a:prstGeom>
          <a:noFill/>
          <a:ln/>
        </p:spPr>
        <p:txBody>
          <a:bodyPr wrap="square" lIns="0" tIns="0" rIns="0" bIns="0" rtlCol="0" anchor="ctr"/>
          <a:lstStyle/>
          <a:p>
            <a:pPr indent="0" marL="0">
              <a:buNone/>
            </a:pPr>
            <a:r>
              <a:rPr lang="en-US" sz="1150" b="1" spc="100" kern="0" dirty="0">
                <a:solidFill>
                  <a:srgbClr val="2F6FE4"/>
                </a:solidFill>
                <a:latin typeface="Montserrat" pitchFamily="34" charset="0"/>
                <a:ea typeface="Montserrat" pitchFamily="34" charset="-122"/>
                <a:cs typeface="Montserrat" pitchFamily="34" charset="-120"/>
              </a:rPr>
              <a:t>QUESTION 2</a:t>
            </a:r>
            <a:endParaRPr lang="en-US" sz="1150" dirty="0"/>
          </a:p>
        </p:txBody>
      </p:sp>
      <p:sp>
        <p:nvSpPr>
          <p:cNvPr id="15" name="Text 13"/>
          <p:cNvSpPr txBox="1"/>
          <p:nvPr/>
        </p:nvSpPr>
        <p:spPr>
          <a:xfrm>
            <a:off x="6766560" y="3721608"/>
            <a:ext cx="4663440" cy="822960"/>
          </a:xfrm>
          <a:prstGeom prst="rect">
            <a:avLst/>
          </a:prstGeom>
          <a:noFill/>
          <a:ln/>
        </p:spPr>
        <p:txBody>
          <a:bodyPr wrap="square" lIns="0" tIns="0" rIns="0" bIns="0" rtlCol="0" anchor="ctr"/>
          <a:lstStyle/>
          <a:p>
            <a:pPr indent="0" marL="0">
              <a:buNone/>
            </a:pPr>
            <a:r>
              <a:rPr lang="en-US" sz="1900" b="1" dirty="0">
                <a:solidFill>
                  <a:srgbClr val="14183D"/>
                </a:solidFill>
                <a:latin typeface="Montserrat" pitchFamily="34" charset="0"/>
                <a:ea typeface="Montserrat" pitchFamily="34" charset="-122"/>
                <a:cs typeface="Montserrat" pitchFamily="34" charset="-120"/>
              </a:rPr>
              <a:t>L'ordre d'origine du niveau accélère-t-il l'apprentissage ?</a:t>
            </a:r>
            <a:endParaRPr lang="en-US" sz="1900" dirty="0"/>
          </a:p>
        </p:txBody>
      </p:sp>
      <p:sp>
        <p:nvSpPr>
          <p:cNvPr id="16" name="Text 14"/>
          <p:cNvSpPr txBox="1"/>
          <p:nvPr/>
        </p:nvSpPr>
        <p:spPr>
          <a:xfrm>
            <a:off x="548640" y="4983480"/>
            <a:ext cx="3657600" cy="731520"/>
          </a:xfrm>
          <a:prstGeom prst="rect">
            <a:avLst/>
          </a:prstGeom>
          <a:noFill/>
          <a:ln/>
        </p:spPr>
        <p:txBody>
          <a:bodyPr wrap="square" lIns="0" tIns="0" rIns="0" bIns="0" rtlCol="0" anchor="ctr"/>
          <a:lstStyle/>
          <a:p>
            <a:pPr indent="0" marL="0">
              <a:buNone/>
            </a:pPr>
            <a:r>
              <a:rPr lang="en-US" sz="3400" b="1" dirty="0">
                <a:solidFill>
                  <a:srgbClr val="FFFFFF"/>
                </a:solidFill>
                <a:latin typeface="Montserrat" pitchFamily="34" charset="0"/>
                <a:ea typeface="Montserrat" pitchFamily="34" charset="-122"/>
                <a:cs typeface="Montserrat" pitchFamily="34" charset="-120"/>
              </a:rPr>
              <a:t>4 </a:t>
            </a:r>
            <a:r>
              <a:rPr lang="en-US" sz="1700" dirty="0">
                <a:solidFill>
                  <a:srgbClr val="FFFFFF"/>
                </a:solidFill>
                <a:latin typeface="Montserrat" pitchFamily="34" charset="0"/>
                <a:ea typeface="Montserrat" pitchFamily="34" charset="-122"/>
                <a:cs typeface="Montserrat" pitchFamily="34" charset="-120"/>
              </a:rPr>
              <a:t>algorithmes</a:t>
            </a:r>
            <a:endParaRPr lang="en-US" sz="1600" dirty="0"/>
          </a:p>
        </p:txBody>
      </p:sp>
      <p:sp>
        <p:nvSpPr>
          <p:cNvPr id="17" name="Text 15"/>
          <p:cNvSpPr txBox="1"/>
          <p:nvPr/>
        </p:nvSpPr>
        <p:spPr>
          <a:xfrm>
            <a:off x="4297680" y="4983480"/>
            <a:ext cx="3657600" cy="731520"/>
          </a:xfrm>
          <a:prstGeom prst="rect">
            <a:avLst/>
          </a:prstGeom>
          <a:noFill/>
          <a:ln/>
        </p:spPr>
        <p:txBody>
          <a:bodyPr wrap="square" lIns="0" tIns="0" rIns="0" bIns="0" rtlCol="0" anchor="ctr"/>
          <a:lstStyle/>
          <a:p>
            <a:pPr indent="0" marL="0">
              <a:buNone/>
            </a:pPr>
            <a:r>
              <a:rPr lang="en-US" sz="3400" b="1" dirty="0">
                <a:solidFill>
                  <a:srgbClr val="FFFFFF"/>
                </a:solidFill>
                <a:latin typeface="Montserrat" pitchFamily="34" charset="0"/>
                <a:ea typeface="Montserrat" pitchFamily="34" charset="-122"/>
                <a:cs typeface="Montserrat" pitchFamily="34" charset="-120"/>
              </a:rPr>
              <a:t>3 </a:t>
            </a:r>
            <a:r>
              <a:rPr lang="en-US" sz="1700" dirty="0">
                <a:solidFill>
                  <a:srgbClr val="FFFFFF"/>
                </a:solidFill>
                <a:latin typeface="Montserrat" pitchFamily="34" charset="0"/>
                <a:ea typeface="Montserrat" pitchFamily="34" charset="-122"/>
                <a:cs typeface="Montserrat" pitchFamily="34" charset="-120"/>
              </a:rPr>
              <a:t>versions du niveau</a:t>
            </a:r>
            <a:endParaRPr lang="en-US" sz="1600" dirty="0"/>
          </a:p>
        </p:txBody>
      </p:sp>
      <p:sp>
        <p:nvSpPr>
          <p:cNvPr id="18" name="Text 16"/>
          <p:cNvSpPr txBox="1"/>
          <p:nvPr/>
        </p:nvSpPr>
        <p:spPr>
          <a:xfrm>
            <a:off x="8046720" y="4983480"/>
            <a:ext cx="3657600" cy="731520"/>
          </a:xfrm>
          <a:prstGeom prst="rect">
            <a:avLst/>
          </a:prstGeom>
          <a:noFill/>
          <a:ln/>
        </p:spPr>
        <p:txBody>
          <a:bodyPr wrap="square" lIns="0" tIns="0" rIns="0" bIns="0" rtlCol="0" anchor="ctr"/>
          <a:lstStyle/>
          <a:p>
            <a:pPr indent="0" marL="0">
              <a:buNone/>
            </a:pPr>
            <a:r>
              <a:rPr lang="en-US" sz="3400" b="1" dirty="0">
                <a:solidFill>
                  <a:srgbClr val="FFFFFF"/>
                </a:solidFill>
                <a:latin typeface="Montserrat" pitchFamily="34" charset="0"/>
                <a:ea typeface="Montserrat" pitchFamily="34" charset="-122"/>
                <a:cs typeface="Montserrat" pitchFamily="34" charset="-120"/>
              </a:rPr>
              <a:t>120 </a:t>
            </a:r>
            <a:r>
              <a:rPr lang="en-US" sz="1700" dirty="0">
                <a:solidFill>
                  <a:srgbClr val="FFFFFF"/>
                </a:solidFill>
                <a:latin typeface="Montserrat" pitchFamily="34" charset="0"/>
                <a:ea typeface="Montserrat" pitchFamily="34" charset="-122"/>
                <a:cs typeface="Montserrat" pitchFamily="34" charset="-120"/>
              </a:rPr>
              <a:t>entraînements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1-1  -  LA VEILLE</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D'où vient l'article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5</a:t>
            </a:r>
            <a:endParaRPr lang="en-US" sz="1100" dirty="0"/>
          </a:p>
        </p:txBody>
      </p:sp>
      <p:sp>
        <p:nvSpPr>
          <p:cNvPr id="6" name="Shape 4"/>
          <p:cNvSpPr/>
          <p:nvPr/>
        </p:nvSpPr>
        <p:spPr>
          <a:xfrm>
            <a:off x="1280160" y="3566160"/>
            <a:ext cx="9646920" cy="45720"/>
          </a:xfrm>
          <a:prstGeom prst="rect">
            <a:avLst/>
          </a:prstGeom>
          <a:solidFill>
            <a:srgbClr val="FFFFFF"/>
          </a:solidFill>
          <a:ln/>
        </p:spPr>
      </p:sp>
      <p:sp>
        <p:nvSpPr>
          <p:cNvPr id="7" name="Shape 5"/>
          <p:cNvSpPr/>
          <p:nvPr/>
        </p:nvSpPr>
        <p:spPr>
          <a:xfrm>
            <a:off x="1161288" y="3465576"/>
            <a:ext cx="246888" cy="246888"/>
          </a:xfrm>
          <a:prstGeom prst="ellipse">
            <a:avLst/>
          </a:prstGeom>
          <a:solidFill>
            <a:srgbClr val="FFFFFF"/>
          </a:solidFill>
          <a:ln/>
        </p:spPr>
      </p:sp>
      <p:sp>
        <p:nvSpPr>
          <p:cNvPr id="8" name="Text 6"/>
          <p:cNvSpPr txBox="1"/>
          <p:nvPr/>
        </p:nvSpPr>
        <p:spPr>
          <a:xfrm>
            <a:off x="182880" y="2697480"/>
            <a:ext cx="219456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Montserrat" pitchFamily="34" charset="0"/>
                <a:ea typeface="Montserrat" pitchFamily="34" charset="-122"/>
                <a:cs typeface="Montserrat" pitchFamily="34" charset="-120"/>
              </a:rPr>
              <a:t>1992</a:t>
            </a:r>
            <a:endParaRPr lang="en-US" sz="2800" dirty="0"/>
          </a:p>
        </p:txBody>
      </p:sp>
      <p:sp>
        <p:nvSpPr>
          <p:cNvPr id="9" name="Text 7"/>
          <p:cNvSpPr txBox="1"/>
          <p:nvPr/>
        </p:nvSpPr>
        <p:spPr>
          <a:xfrm>
            <a:off x="182880" y="3931920"/>
            <a:ext cx="2194560" cy="411480"/>
          </a:xfrm>
          <a:prstGeom prst="rect">
            <a:avLst/>
          </a:prstGeom>
          <a:noFill/>
          <a:ln/>
        </p:spPr>
        <p:txBody>
          <a:bodyPr wrap="square" lIns="0" tIns="0" rIns="0" bIns="0" rtlCol="0" anchor="t"/>
          <a:lstStyle/>
          <a:p>
            <a:pPr algn="ctr" indent="0" marL="0">
              <a:buNone/>
            </a:pPr>
            <a:r>
              <a:rPr lang="en-US" sz="1700" b="1" dirty="0">
                <a:solidFill>
                  <a:srgbClr val="FFFFFF"/>
                </a:solidFill>
                <a:latin typeface="Montserrat" pitchFamily="34" charset="0"/>
                <a:ea typeface="Montserrat" pitchFamily="34" charset="-122"/>
                <a:cs typeface="Montserrat" pitchFamily="34" charset="-120"/>
              </a:rPr>
              <a:t>Q-Learning</a:t>
            </a:r>
            <a:endParaRPr lang="en-US" sz="1700" dirty="0"/>
          </a:p>
        </p:txBody>
      </p:sp>
      <p:sp>
        <p:nvSpPr>
          <p:cNvPr id="10" name="Text 8"/>
          <p:cNvSpPr txBox="1"/>
          <p:nvPr/>
        </p:nvSpPr>
        <p:spPr>
          <a:xfrm>
            <a:off x="182880" y="4343400"/>
            <a:ext cx="2194560" cy="365760"/>
          </a:xfrm>
          <a:prstGeom prst="rect">
            <a:avLst/>
          </a:prstGeom>
          <a:noFill/>
          <a:ln/>
        </p:spPr>
        <p:txBody>
          <a:bodyPr wrap="square" lIns="0" tIns="0" rIns="0" bIns="0" rtlCol="0" anchor="t"/>
          <a:lstStyle/>
          <a:p>
            <a:pPr algn="ctr" indent="0" marL="0">
              <a:buNone/>
            </a:pPr>
            <a:r>
              <a:rPr lang="en-US" sz="1300" dirty="0">
                <a:solidFill>
                  <a:srgbClr val="14183D"/>
                </a:solidFill>
                <a:latin typeface="Montserrat" pitchFamily="34" charset="0"/>
                <a:ea typeface="Montserrat" pitchFamily="34" charset="-122"/>
                <a:cs typeface="Montserrat" pitchFamily="34" charset="-120"/>
              </a:rPr>
              <a:t>Watkins &amp; Dayan</a:t>
            </a:r>
            <a:endParaRPr lang="en-US" sz="1300" dirty="0"/>
          </a:p>
        </p:txBody>
      </p:sp>
      <p:sp>
        <p:nvSpPr>
          <p:cNvPr id="11" name="Shape 9"/>
          <p:cNvSpPr/>
          <p:nvPr/>
        </p:nvSpPr>
        <p:spPr>
          <a:xfrm>
            <a:off x="3573018" y="3465576"/>
            <a:ext cx="246888" cy="246888"/>
          </a:xfrm>
          <a:prstGeom prst="ellipse">
            <a:avLst/>
          </a:prstGeom>
          <a:solidFill>
            <a:srgbClr val="FFFFFF"/>
          </a:solidFill>
          <a:ln/>
        </p:spPr>
      </p:sp>
      <p:sp>
        <p:nvSpPr>
          <p:cNvPr id="12" name="Text 10"/>
          <p:cNvSpPr txBox="1"/>
          <p:nvPr/>
        </p:nvSpPr>
        <p:spPr>
          <a:xfrm>
            <a:off x="2594610" y="2697480"/>
            <a:ext cx="219456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Montserrat" pitchFamily="34" charset="0"/>
                <a:ea typeface="Montserrat" pitchFamily="34" charset="-122"/>
                <a:cs typeface="Montserrat" pitchFamily="34" charset="-120"/>
              </a:rPr>
              <a:t>2009</a:t>
            </a:r>
            <a:endParaRPr lang="en-US" sz="2800" dirty="0"/>
          </a:p>
        </p:txBody>
      </p:sp>
      <p:sp>
        <p:nvSpPr>
          <p:cNvPr id="13" name="Text 11"/>
          <p:cNvSpPr txBox="1"/>
          <p:nvPr/>
        </p:nvSpPr>
        <p:spPr>
          <a:xfrm>
            <a:off x="2594610" y="3931920"/>
            <a:ext cx="2194560" cy="411480"/>
          </a:xfrm>
          <a:prstGeom prst="rect">
            <a:avLst/>
          </a:prstGeom>
          <a:noFill/>
          <a:ln/>
        </p:spPr>
        <p:txBody>
          <a:bodyPr wrap="square" lIns="0" tIns="0" rIns="0" bIns="0" rtlCol="0" anchor="t"/>
          <a:lstStyle/>
          <a:p>
            <a:pPr algn="ctr" indent="0" marL="0">
              <a:buNone/>
            </a:pPr>
            <a:r>
              <a:rPr lang="en-US" sz="1700" b="1" dirty="0">
                <a:solidFill>
                  <a:srgbClr val="FFFFFF"/>
                </a:solidFill>
                <a:latin typeface="Montserrat" pitchFamily="34" charset="0"/>
                <a:ea typeface="Montserrat" pitchFamily="34" charset="-122"/>
                <a:cs typeface="Montserrat" pitchFamily="34" charset="-120"/>
              </a:rPr>
              <a:t>Curriculum</a:t>
            </a:r>
            <a:endParaRPr lang="en-US" sz="1700" dirty="0"/>
          </a:p>
        </p:txBody>
      </p:sp>
      <p:sp>
        <p:nvSpPr>
          <p:cNvPr id="14" name="Text 12"/>
          <p:cNvSpPr txBox="1"/>
          <p:nvPr/>
        </p:nvSpPr>
        <p:spPr>
          <a:xfrm>
            <a:off x="2594610" y="4343400"/>
            <a:ext cx="2194560" cy="365760"/>
          </a:xfrm>
          <a:prstGeom prst="rect">
            <a:avLst/>
          </a:prstGeom>
          <a:noFill/>
          <a:ln/>
        </p:spPr>
        <p:txBody>
          <a:bodyPr wrap="square" lIns="0" tIns="0" rIns="0" bIns="0" rtlCol="0" anchor="t"/>
          <a:lstStyle/>
          <a:p>
            <a:pPr algn="ctr" indent="0" marL="0">
              <a:buNone/>
            </a:pPr>
            <a:r>
              <a:rPr lang="en-US" sz="1300" dirty="0">
                <a:solidFill>
                  <a:srgbClr val="14183D"/>
                </a:solidFill>
                <a:latin typeface="Montserrat" pitchFamily="34" charset="0"/>
                <a:ea typeface="Montserrat" pitchFamily="34" charset="-122"/>
                <a:cs typeface="Montserrat" pitchFamily="34" charset="-120"/>
              </a:rPr>
              <a:t>Bengio et al.</a:t>
            </a:r>
            <a:endParaRPr lang="en-US" sz="1300" dirty="0"/>
          </a:p>
        </p:txBody>
      </p:sp>
      <p:sp>
        <p:nvSpPr>
          <p:cNvPr id="15" name="Shape 13"/>
          <p:cNvSpPr/>
          <p:nvPr/>
        </p:nvSpPr>
        <p:spPr>
          <a:xfrm>
            <a:off x="5984748" y="3465576"/>
            <a:ext cx="246888" cy="246888"/>
          </a:xfrm>
          <a:prstGeom prst="ellipse">
            <a:avLst/>
          </a:prstGeom>
          <a:solidFill>
            <a:srgbClr val="FFFFFF"/>
          </a:solidFill>
          <a:ln/>
        </p:spPr>
      </p:sp>
      <p:sp>
        <p:nvSpPr>
          <p:cNvPr id="16" name="Text 14"/>
          <p:cNvSpPr txBox="1"/>
          <p:nvPr/>
        </p:nvSpPr>
        <p:spPr>
          <a:xfrm>
            <a:off x="5006340" y="2697480"/>
            <a:ext cx="219456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Montserrat" pitchFamily="34" charset="0"/>
                <a:ea typeface="Montserrat" pitchFamily="34" charset="-122"/>
                <a:cs typeface="Montserrat" pitchFamily="34" charset="-120"/>
              </a:rPr>
              <a:t>2015</a:t>
            </a:r>
            <a:endParaRPr lang="en-US" sz="2800" dirty="0"/>
          </a:p>
        </p:txBody>
      </p:sp>
      <p:sp>
        <p:nvSpPr>
          <p:cNvPr id="17" name="Text 15"/>
          <p:cNvSpPr txBox="1"/>
          <p:nvPr/>
        </p:nvSpPr>
        <p:spPr>
          <a:xfrm>
            <a:off x="5006340" y="3931920"/>
            <a:ext cx="2194560" cy="411480"/>
          </a:xfrm>
          <a:prstGeom prst="rect">
            <a:avLst/>
          </a:prstGeom>
          <a:noFill/>
          <a:ln/>
        </p:spPr>
        <p:txBody>
          <a:bodyPr wrap="square" lIns="0" tIns="0" rIns="0" bIns="0" rtlCol="0" anchor="t"/>
          <a:lstStyle/>
          <a:p>
            <a:pPr algn="ctr" indent="0" marL="0">
              <a:buNone/>
            </a:pPr>
            <a:r>
              <a:rPr lang="en-US" sz="1700" b="1" dirty="0">
                <a:solidFill>
                  <a:srgbClr val="FFFFFF"/>
                </a:solidFill>
                <a:latin typeface="Montserrat" pitchFamily="34" charset="0"/>
                <a:ea typeface="Montserrat" pitchFamily="34" charset="-122"/>
                <a:cs typeface="Montserrat" pitchFamily="34" charset="-120"/>
              </a:rPr>
              <a:t>DQN</a:t>
            </a:r>
            <a:endParaRPr lang="en-US" sz="1700" dirty="0"/>
          </a:p>
        </p:txBody>
      </p:sp>
      <p:sp>
        <p:nvSpPr>
          <p:cNvPr id="18" name="Text 16"/>
          <p:cNvSpPr txBox="1"/>
          <p:nvPr/>
        </p:nvSpPr>
        <p:spPr>
          <a:xfrm>
            <a:off x="5006340" y="4343400"/>
            <a:ext cx="2194560" cy="365760"/>
          </a:xfrm>
          <a:prstGeom prst="rect">
            <a:avLst/>
          </a:prstGeom>
          <a:noFill/>
          <a:ln/>
        </p:spPr>
        <p:txBody>
          <a:bodyPr wrap="square" lIns="0" tIns="0" rIns="0" bIns="0" rtlCol="0" anchor="t"/>
          <a:lstStyle/>
          <a:p>
            <a:pPr algn="ctr" indent="0" marL="0">
              <a:buNone/>
            </a:pPr>
            <a:r>
              <a:rPr lang="en-US" sz="1300" dirty="0">
                <a:solidFill>
                  <a:srgbClr val="14183D"/>
                </a:solidFill>
                <a:latin typeface="Montserrat" pitchFamily="34" charset="0"/>
                <a:ea typeface="Montserrat" pitchFamily="34" charset="-122"/>
                <a:cs typeface="Montserrat" pitchFamily="34" charset="-120"/>
              </a:rPr>
              <a:t>Mnih et al., Nature</a:t>
            </a:r>
            <a:endParaRPr lang="en-US" sz="1300" dirty="0"/>
          </a:p>
        </p:txBody>
      </p:sp>
      <p:sp>
        <p:nvSpPr>
          <p:cNvPr id="19" name="Shape 17"/>
          <p:cNvSpPr/>
          <p:nvPr/>
        </p:nvSpPr>
        <p:spPr>
          <a:xfrm>
            <a:off x="8396478" y="3465576"/>
            <a:ext cx="246888" cy="246888"/>
          </a:xfrm>
          <a:prstGeom prst="ellipse">
            <a:avLst/>
          </a:prstGeom>
          <a:solidFill>
            <a:srgbClr val="FFFFFF"/>
          </a:solidFill>
          <a:ln/>
        </p:spPr>
      </p:sp>
      <p:sp>
        <p:nvSpPr>
          <p:cNvPr id="20" name="Text 18"/>
          <p:cNvSpPr txBox="1"/>
          <p:nvPr/>
        </p:nvSpPr>
        <p:spPr>
          <a:xfrm>
            <a:off x="7418070" y="2697480"/>
            <a:ext cx="219456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Montserrat" pitchFamily="34" charset="0"/>
                <a:ea typeface="Montserrat" pitchFamily="34" charset="-122"/>
                <a:cs typeface="Montserrat" pitchFamily="34" charset="-120"/>
              </a:rPr>
              <a:t>2017</a:t>
            </a:r>
            <a:endParaRPr lang="en-US" sz="2800" dirty="0"/>
          </a:p>
        </p:txBody>
      </p:sp>
      <p:sp>
        <p:nvSpPr>
          <p:cNvPr id="21" name="Text 19"/>
          <p:cNvSpPr txBox="1"/>
          <p:nvPr/>
        </p:nvSpPr>
        <p:spPr>
          <a:xfrm>
            <a:off x="7418070" y="3931920"/>
            <a:ext cx="2194560" cy="411480"/>
          </a:xfrm>
          <a:prstGeom prst="rect">
            <a:avLst/>
          </a:prstGeom>
          <a:noFill/>
          <a:ln/>
        </p:spPr>
        <p:txBody>
          <a:bodyPr wrap="square" lIns="0" tIns="0" rIns="0" bIns="0" rtlCol="0" anchor="t"/>
          <a:lstStyle/>
          <a:p>
            <a:pPr algn="ctr" indent="0" marL="0">
              <a:buNone/>
            </a:pPr>
            <a:r>
              <a:rPr lang="en-US" sz="1700" b="1" dirty="0">
                <a:solidFill>
                  <a:srgbClr val="FFFFFF"/>
                </a:solidFill>
                <a:latin typeface="Montserrat" pitchFamily="34" charset="0"/>
                <a:ea typeface="Montserrat" pitchFamily="34" charset="-122"/>
                <a:cs typeface="Montserrat" pitchFamily="34" charset="-120"/>
              </a:rPr>
              <a:t>PPO</a:t>
            </a:r>
            <a:endParaRPr lang="en-US" sz="1700" dirty="0"/>
          </a:p>
        </p:txBody>
      </p:sp>
      <p:sp>
        <p:nvSpPr>
          <p:cNvPr id="22" name="Text 20"/>
          <p:cNvSpPr txBox="1"/>
          <p:nvPr/>
        </p:nvSpPr>
        <p:spPr>
          <a:xfrm>
            <a:off x="7418070" y="4343400"/>
            <a:ext cx="2194560" cy="365760"/>
          </a:xfrm>
          <a:prstGeom prst="rect">
            <a:avLst/>
          </a:prstGeom>
          <a:noFill/>
          <a:ln/>
        </p:spPr>
        <p:txBody>
          <a:bodyPr wrap="square" lIns="0" tIns="0" rIns="0" bIns="0" rtlCol="0" anchor="t"/>
          <a:lstStyle/>
          <a:p>
            <a:pPr algn="ctr" indent="0" marL="0">
              <a:buNone/>
            </a:pPr>
            <a:r>
              <a:rPr lang="en-US" sz="1300" dirty="0">
                <a:solidFill>
                  <a:srgbClr val="14183D"/>
                </a:solidFill>
                <a:latin typeface="Montserrat" pitchFamily="34" charset="0"/>
                <a:ea typeface="Montserrat" pitchFamily="34" charset="-122"/>
                <a:cs typeface="Montserrat" pitchFamily="34" charset="-120"/>
              </a:rPr>
              <a:t>Schulman et al.</a:t>
            </a:r>
            <a:endParaRPr lang="en-US" sz="1300" dirty="0"/>
          </a:p>
        </p:txBody>
      </p:sp>
      <p:sp>
        <p:nvSpPr>
          <p:cNvPr id="23" name="Shape 21"/>
          <p:cNvSpPr/>
          <p:nvPr/>
        </p:nvSpPr>
        <p:spPr>
          <a:xfrm>
            <a:off x="10808208" y="3465576"/>
            <a:ext cx="246888" cy="246888"/>
          </a:xfrm>
          <a:prstGeom prst="ellipse">
            <a:avLst/>
          </a:prstGeom>
          <a:solidFill>
            <a:srgbClr val="FFC703"/>
          </a:solidFill>
          <a:ln/>
        </p:spPr>
      </p:sp>
      <p:sp>
        <p:nvSpPr>
          <p:cNvPr id="24" name="Text 22"/>
          <p:cNvSpPr txBox="1"/>
          <p:nvPr/>
        </p:nvSpPr>
        <p:spPr>
          <a:xfrm>
            <a:off x="9829800" y="2697480"/>
            <a:ext cx="2194560" cy="548640"/>
          </a:xfrm>
          <a:prstGeom prst="rect">
            <a:avLst/>
          </a:prstGeom>
          <a:noFill/>
          <a:ln/>
        </p:spPr>
        <p:txBody>
          <a:bodyPr wrap="square" lIns="0" tIns="0" rIns="0" bIns="0" rtlCol="0" anchor="ctr"/>
          <a:lstStyle/>
          <a:p>
            <a:pPr algn="ctr" indent="0" marL="0">
              <a:buNone/>
            </a:pPr>
            <a:r>
              <a:rPr lang="en-US" sz="2800" b="1" dirty="0">
                <a:solidFill>
                  <a:srgbClr val="FFC703"/>
                </a:solidFill>
                <a:latin typeface="Montserrat" pitchFamily="34" charset="0"/>
                <a:ea typeface="Montserrat" pitchFamily="34" charset="-122"/>
                <a:cs typeface="Montserrat" pitchFamily="34" charset="-120"/>
              </a:rPr>
              <a:t>2026</a:t>
            </a:r>
            <a:endParaRPr lang="en-US" sz="2800" dirty="0"/>
          </a:p>
        </p:txBody>
      </p:sp>
      <p:sp>
        <p:nvSpPr>
          <p:cNvPr id="25" name="Text 23"/>
          <p:cNvSpPr txBox="1"/>
          <p:nvPr/>
        </p:nvSpPr>
        <p:spPr>
          <a:xfrm>
            <a:off x="9829800" y="3931920"/>
            <a:ext cx="2194560" cy="411480"/>
          </a:xfrm>
          <a:prstGeom prst="rect">
            <a:avLst/>
          </a:prstGeom>
          <a:noFill/>
          <a:ln/>
        </p:spPr>
        <p:txBody>
          <a:bodyPr wrap="square" lIns="0" tIns="0" rIns="0" bIns="0" rtlCol="0" anchor="t"/>
          <a:lstStyle/>
          <a:p>
            <a:pPr algn="ctr" indent="0" marL="0">
              <a:buNone/>
            </a:pPr>
            <a:r>
              <a:rPr lang="en-US" sz="1700" b="1" dirty="0">
                <a:solidFill>
                  <a:srgbClr val="FFFFFF"/>
                </a:solidFill>
                <a:latin typeface="Montserrat" pitchFamily="34" charset="0"/>
                <a:ea typeface="Montserrat" pitchFamily="34" charset="-122"/>
                <a:cs typeface="Montserrat" pitchFamily="34" charset="-120"/>
              </a:rPr>
              <a:t>L'article</a:t>
            </a:r>
            <a:endParaRPr lang="en-US" sz="1700" dirty="0"/>
          </a:p>
        </p:txBody>
      </p:sp>
      <p:sp>
        <p:nvSpPr>
          <p:cNvPr id="26" name="Text 24"/>
          <p:cNvSpPr txBox="1"/>
          <p:nvPr/>
        </p:nvSpPr>
        <p:spPr>
          <a:xfrm>
            <a:off x="9829800" y="4343400"/>
            <a:ext cx="2194560" cy="365760"/>
          </a:xfrm>
          <a:prstGeom prst="rect">
            <a:avLst/>
          </a:prstGeom>
          <a:noFill/>
          <a:ln/>
        </p:spPr>
        <p:txBody>
          <a:bodyPr wrap="square" lIns="0" tIns="0" rIns="0" bIns="0" rtlCol="0" anchor="t"/>
          <a:lstStyle/>
          <a:p>
            <a:pPr algn="ctr" indent="0" marL="0">
              <a:buNone/>
            </a:pPr>
            <a:r>
              <a:rPr lang="en-US" sz="1300" dirty="0">
                <a:solidFill>
                  <a:srgbClr val="14183D"/>
                </a:solidFill>
                <a:latin typeface="Montserrat" pitchFamily="34" charset="0"/>
                <a:ea typeface="Montserrat" pitchFamily="34" charset="-122"/>
                <a:cs typeface="Montserrat" pitchFamily="34" charset="-120"/>
              </a:rPr>
              <a:t>Ponnock &amp; Ho</a:t>
            </a:r>
            <a:endParaRPr lang="en-US" sz="1300" dirty="0"/>
          </a:p>
        </p:txBody>
      </p:sp>
      <p:sp>
        <p:nvSpPr>
          <p:cNvPr id="27" name="Text 25"/>
          <p:cNvSpPr txBox="1"/>
          <p:nvPr/>
        </p:nvSpPr>
        <p:spPr>
          <a:xfrm>
            <a:off x="548640" y="5486400"/>
            <a:ext cx="11091672" cy="457200"/>
          </a:xfrm>
          <a:prstGeom prst="rect">
            <a:avLst/>
          </a:prstGeom>
          <a:noFill/>
          <a:ln/>
        </p:spPr>
        <p:txBody>
          <a:bodyPr wrap="square" lIns="0" tIns="0" rIns="0" bIns="0"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Première tentative de mesurer la « pédagogie » d'un niveau avec des IA.</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1-1  -  LA VEILLE</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Le terrain et les 4 algorithmes</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6</a:t>
            </a:r>
            <a:endParaRPr lang="en-US" sz="1100" dirty="0"/>
          </a:p>
        </p:txBody>
      </p:sp>
      <p:sp>
        <p:nvSpPr>
          <p:cNvPr id="6" name="carte"/>
          <p:cNvSpPr/>
          <p:nvPr/>
        </p:nvSpPr>
        <p:spPr>
          <a:xfrm>
            <a:off x="548640" y="1645920"/>
            <a:ext cx="11091672" cy="1398471"/>
          </a:xfrm>
          <a:prstGeom prst="roundRect">
            <a:avLst>
              <a:gd name="adj" fmla="val 5231"/>
            </a:avLst>
          </a:prstGeom>
          <a:solidFill>
            <a:srgbClr val="FFFFFF"/>
          </a:solidFill>
          <a:ln/>
          <a:effectLst>
            <a:outerShdw sx="100000" sy="100000" kx="0" ky="0" algn="bl" rotWithShape="0" blurRad="101600" dist="25400" dir="5400000">
              <a:srgbClr val="0B1F44">
                <a:alpha val="22000"/>
              </a:srgbClr>
            </a:outerShdw>
          </a:effectLst>
        </p:spPr>
      </p:sp>
      <p:pic>
        <p:nvPicPr>
          <p:cNvPr id="7" name="niveau_v3" descr="/home/user/MarioRL_FinalWork/docs/oral/fabrication/assets/level_v3.png">    </p:cNvPr>
          <p:cNvPicPr>
            <a:picLocks noChangeAspect="1"/>
          </p:cNvPicPr>
          <p:nvPr/>
        </p:nvPicPr>
        <p:blipFill>
          <a:blip r:embed="rId1"/>
          <a:stretch>
            <a:fillRect/>
          </a:stretch>
        </p:blipFill>
        <p:spPr>
          <a:xfrm>
            <a:off x="548640" y="1645920"/>
            <a:ext cx="11091672" cy="575511"/>
          </a:xfrm>
          <a:prstGeom prst="rect">
            <a:avLst/>
          </a:prstGeom>
        </p:spPr>
      </p:pic>
      <p:sp>
        <p:nvSpPr>
          <p:cNvPr id="8" name="Text 5"/>
          <p:cNvSpPr txBox="1"/>
          <p:nvPr/>
        </p:nvSpPr>
        <p:spPr>
          <a:xfrm>
            <a:off x="822960" y="2386023"/>
            <a:ext cx="10607040" cy="45720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Grille 212 × 14  ·  3 boutons : rien, droite, saut  ·  +100 au drapeau, -50 à la mort</a:t>
            </a:r>
            <a:endParaRPr lang="en-US" sz="1500" dirty="0"/>
          </a:p>
        </p:txBody>
      </p:sp>
      <p:sp>
        <p:nvSpPr>
          <p:cNvPr id="9" name="carte"/>
          <p:cNvSpPr/>
          <p:nvPr/>
        </p:nvSpPr>
        <p:spPr>
          <a:xfrm>
            <a:off x="548640" y="3429000"/>
            <a:ext cx="2642616" cy="1920240"/>
          </a:xfrm>
          <a:prstGeom prst="roundRect">
            <a:avLst>
              <a:gd name="adj" fmla="val 3810"/>
            </a:avLst>
          </a:prstGeom>
          <a:solidFill>
            <a:srgbClr val="FFFFFF"/>
          </a:solidFill>
          <a:ln/>
          <a:effectLst>
            <a:outerShdw sx="100000" sy="100000" kx="0" ky="0" algn="bl" rotWithShape="0" blurRad="101600" dist="25400" dir="5400000">
              <a:srgbClr val="0B1F44">
                <a:alpha val="22000"/>
              </a:srgbClr>
            </a:outerShdw>
          </a:effectLst>
        </p:spPr>
      </p:sp>
      <p:sp>
        <p:nvSpPr>
          <p:cNvPr id="10" name="Text 7"/>
          <p:cNvSpPr txBox="1"/>
          <p:nvPr/>
        </p:nvSpPr>
        <p:spPr>
          <a:xfrm>
            <a:off x="822960" y="3639312"/>
            <a:ext cx="2194560" cy="502920"/>
          </a:xfrm>
          <a:prstGeom prst="rect">
            <a:avLst/>
          </a:prstGeom>
          <a:noFill/>
          <a:ln/>
        </p:spPr>
        <p:txBody>
          <a:bodyPr wrap="square" lIns="0" tIns="0" rIns="0" bIns="0" rtlCol="0" anchor="ctr"/>
          <a:lstStyle/>
          <a:p>
            <a:pPr indent="0" marL="0">
              <a:buNone/>
            </a:pPr>
            <a:r>
              <a:rPr lang="en-US" sz="2100" b="1" dirty="0">
                <a:solidFill>
                  <a:srgbClr val="2F6FE4"/>
                </a:solidFill>
                <a:latin typeface="Montserrat" pitchFamily="34" charset="0"/>
                <a:ea typeface="Montserrat" pitchFamily="34" charset="-122"/>
                <a:cs typeface="Montserrat" pitchFamily="34" charset="-120"/>
              </a:rPr>
              <a:t>Q-Learning</a:t>
            </a:r>
            <a:endParaRPr lang="en-US" sz="2100" dirty="0"/>
          </a:p>
        </p:txBody>
      </p:sp>
      <p:sp>
        <p:nvSpPr>
          <p:cNvPr id="11" name="Text 8"/>
          <p:cNvSpPr txBox="1"/>
          <p:nvPr/>
        </p:nvSpPr>
        <p:spPr>
          <a:xfrm>
            <a:off x="822960" y="4206240"/>
            <a:ext cx="2148840" cy="914400"/>
          </a:xfrm>
          <a:prstGeom prst="rect">
            <a:avLst/>
          </a:prstGeom>
          <a:noFill/>
          <a:ln/>
        </p:spPr>
        <p:txBody>
          <a:bodyPr wrap="square" lIns="0" tIns="0" rIns="0" bIns="0" rtlCol="0" anchor="t"/>
          <a:lstStyle/>
          <a:p>
            <a:pPr indent="0" marL="0">
              <a:buNone/>
            </a:pPr>
            <a:r>
              <a:rPr lang="en-US" sz="1600" dirty="0">
                <a:solidFill>
                  <a:srgbClr val="14183D"/>
                </a:solidFill>
                <a:latin typeface="Montserrat" pitchFamily="34" charset="0"/>
                <a:ea typeface="Montserrat" pitchFamily="34" charset="-122"/>
                <a:cs typeface="Montserrat" pitchFamily="34" charset="-120"/>
              </a:rPr>
              <a:t>Apprend à chaque pas</a:t>
            </a:r>
            <a:endParaRPr lang="en-US" sz="1600" dirty="0"/>
          </a:p>
        </p:txBody>
      </p:sp>
      <p:sp>
        <p:nvSpPr>
          <p:cNvPr id="12" name="carte"/>
          <p:cNvSpPr/>
          <p:nvPr/>
        </p:nvSpPr>
        <p:spPr>
          <a:xfrm>
            <a:off x="3364992" y="3429000"/>
            <a:ext cx="2642616" cy="1920240"/>
          </a:xfrm>
          <a:prstGeom prst="roundRect">
            <a:avLst>
              <a:gd name="adj" fmla="val 3810"/>
            </a:avLst>
          </a:prstGeom>
          <a:solidFill>
            <a:srgbClr val="FFFFFF"/>
          </a:solidFill>
          <a:ln/>
          <a:effectLst>
            <a:outerShdw sx="100000" sy="100000" kx="0" ky="0" algn="bl" rotWithShape="0" blurRad="101600" dist="25400" dir="5400000">
              <a:srgbClr val="0B1F44">
                <a:alpha val="22000"/>
              </a:srgbClr>
            </a:outerShdw>
          </a:effectLst>
        </p:spPr>
      </p:sp>
      <p:sp>
        <p:nvSpPr>
          <p:cNvPr id="13" name="Text 10"/>
          <p:cNvSpPr txBox="1"/>
          <p:nvPr/>
        </p:nvSpPr>
        <p:spPr>
          <a:xfrm>
            <a:off x="3639312" y="3639312"/>
            <a:ext cx="2194560" cy="502920"/>
          </a:xfrm>
          <a:prstGeom prst="rect">
            <a:avLst/>
          </a:prstGeom>
          <a:noFill/>
          <a:ln/>
        </p:spPr>
        <p:txBody>
          <a:bodyPr wrap="square" lIns="0" tIns="0" rIns="0" bIns="0" rtlCol="0" anchor="ctr"/>
          <a:lstStyle/>
          <a:p>
            <a:pPr indent="0" marL="0">
              <a:buNone/>
            </a:pPr>
            <a:r>
              <a:rPr lang="en-US" sz="2100" b="1" dirty="0">
                <a:solidFill>
                  <a:srgbClr val="15911F"/>
                </a:solidFill>
                <a:latin typeface="Montserrat" pitchFamily="34" charset="0"/>
                <a:ea typeface="Montserrat" pitchFamily="34" charset="-122"/>
                <a:cs typeface="Montserrat" pitchFamily="34" charset="-120"/>
              </a:rPr>
              <a:t>SARSA</a:t>
            </a:r>
            <a:endParaRPr lang="en-US" sz="2100" dirty="0"/>
          </a:p>
        </p:txBody>
      </p:sp>
      <p:sp>
        <p:nvSpPr>
          <p:cNvPr id="14" name="Text 11"/>
          <p:cNvSpPr txBox="1"/>
          <p:nvPr/>
        </p:nvSpPr>
        <p:spPr>
          <a:xfrm>
            <a:off x="3639312" y="4206240"/>
            <a:ext cx="2148840" cy="914400"/>
          </a:xfrm>
          <a:prstGeom prst="rect">
            <a:avLst/>
          </a:prstGeom>
          <a:noFill/>
          <a:ln/>
        </p:spPr>
        <p:txBody>
          <a:bodyPr wrap="square" lIns="0" tIns="0" rIns="0" bIns="0" rtlCol="0" anchor="t"/>
          <a:lstStyle/>
          <a:p>
            <a:pPr indent="0" marL="0">
              <a:buNone/>
            </a:pPr>
            <a:r>
              <a:rPr lang="en-US" sz="1600" dirty="0">
                <a:solidFill>
                  <a:srgbClr val="14183D"/>
                </a:solidFill>
                <a:latin typeface="Montserrat" pitchFamily="34" charset="0"/>
                <a:ea typeface="Montserrat" pitchFamily="34" charset="-122"/>
                <a:cs typeface="Montserrat" pitchFamily="34" charset="-120"/>
              </a:rPr>
              <a:t>À chaque pas, plus prudent</a:t>
            </a:r>
            <a:endParaRPr lang="en-US" sz="1600" dirty="0"/>
          </a:p>
        </p:txBody>
      </p:sp>
      <p:sp>
        <p:nvSpPr>
          <p:cNvPr id="15" name="carte"/>
          <p:cNvSpPr/>
          <p:nvPr/>
        </p:nvSpPr>
        <p:spPr>
          <a:xfrm>
            <a:off x="6181344" y="3429000"/>
            <a:ext cx="2642616" cy="1920240"/>
          </a:xfrm>
          <a:prstGeom prst="roundRect">
            <a:avLst>
              <a:gd name="adj" fmla="val 3810"/>
            </a:avLst>
          </a:prstGeom>
          <a:solidFill>
            <a:srgbClr val="FFFFFF"/>
          </a:solidFill>
          <a:ln/>
          <a:effectLst>
            <a:outerShdw sx="100000" sy="100000" kx="0" ky="0" algn="bl" rotWithShape="0" blurRad="101600" dist="25400" dir="5400000">
              <a:srgbClr val="0B1F44">
                <a:alpha val="22000"/>
              </a:srgbClr>
            </a:outerShdw>
          </a:effectLst>
        </p:spPr>
      </p:sp>
      <p:sp>
        <p:nvSpPr>
          <p:cNvPr id="16" name="Text 13"/>
          <p:cNvSpPr txBox="1"/>
          <p:nvPr/>
        </p:nvSpPr>
        <p:spPr>
          <a:xfrm>
            <a:off x="6455664" y="3639312"/>
            <a:ext cx="2194560" cy="502920"/>
          </a:xfrm>
          <a:prstGeom prst="rect">
            <a:avLst/>
          </a:prstGeom>
          <a:noFill/>
          <a:ln/>
        </p:spPr>
        <p:txBody>
          <a:bodyPr wrap="square" lIns="0" tIns="0" rIns="0" bIns="0" rtlCol="0" anchor="ctr"/>
          <a:lstStyle/>
          <a:p>
            <a:pPr indent="0" marL="0">
              <a:buNone/>
            </a:pPr>
            <a:r>
              <a:rPr lang="en-US" sz="2100" b="1" dirty="0">
                <a:solidFill>
                  <a:srgbClr val="E8790C"/>
                </a:solidFill>
                <a:latin typeface="Montserrat" pitchFamily="34" charset="0"/>
                <a:ea typeface="Montserrat" pitchFamily="34" charset="-122"/>
                <a:cs typeface="Montserrat" pitchFamily="34" charset="-120"/>
              </a:rPr>
              <a:t>Monte Carlo</a:t>
            </a:r>
            <a:endParaRPr lang="en-US" sz="2100" dirty="0"/>
          </a:p>
        </p:txBody>
      </p:sp>
      <p:sp>
        <p:nvSpPr>
          <p:cNvPr id="17" name="Text 14"/>
          <p:cNvSpPr txBox="1"/>
          <p:nvPr/>
        </p:nvSpPr>
        <p:spPr>
          <a:xfrm>
            <a:off x="6455664" y="4206240"/>
            <a:ext cx="2148840" cy="914400"/>
          </a:xfrm>
          <a:prstGeom prst="rect">
            <a:avLst/>
          </a:prstGeom>
          <a:noFill/>
          <a:ln/>
        </p:spPr>
        <p:txBody>
          <a:bodyPr wrap="square" lIns="0" tIns="0" rIns="0" bIns="0" rtlCol="0" anchor="t"/>
          <a:lstStyle/>
          <a:p>
            <a:pPr indent="0" marL="0">
              <a:buNone/>
            </a:pPr>
            <a:r>
              <a:rPr lang="en-US" sz="1600" dirty="0">
                <a:solidFill>
                  <a:srgbClr val="14183D"/>
                </a:solidFill>
                <a:latin typeface="Montserrat" pitchFamily="34" charset="0"/>
                <a:ea typeface="Montserrat" pitchFamily="34" charset="-122"/>
                <a:cs typeface="Montserrat" pitchFamily="34" charset="-120"/>
              </a:rPr>
              <a:t>Apprend en fin de partie</a:t>
            </a:r>
            <a:endParaRPr lang="en-US" sz="1600" dirty="0"/>
          </a:p>
        </p:txBody>
      </p:sp>
      <p:sp>
        <p:nvSpPr>
          <p:cNvPr id="18" name="carte"/>
          <p:cNvSpPr/>
          <p:nvPr/>
        </p:nvSpPr>
        <p:spPr>
          <a:xfrm>
            <a:off x="8997696" y="3429000"/>
            <a:ext cx="2642616" cy="1920240"/>
          </a:xfrm>
          <a:prstGeom prst="roundRect">
            <a:avLst>
              <a:gd name="adj" fmla="val 3810"/>
            </a:avLst>
          </a:prstGeom>
          <a:solidFill>
            <a:srgbClr val="FFFFFF"/>
          </a:solidFill>
          <a:ln/>
          <a:effectLst>
            <a:outerShdw sx="100000" sy="100000" kx="0" ky="0" algn="bl" rotWithShape="0" blurRad="101600" dist="25400" dir="5400000">
              <a:srgbClr val="0B1F44">
                <a:alpha val="22000"/>
              </a:srgbClr>
            </a:outerShdw>
          </a:effectLst>
        </p:spPr>
      </p:sp>
      <p:sp>
        <p:nvSpPr>
          <p:cNvPr id="19" name="Text 16"/>
          <p:cNvSpPr txBox="1"/>
          <p:nvPr/>
        </p:nvSpPr>
        <p:spPr>
          <a:xfrm>
            <a:off x="9272016" y="3639312"/>
            <a:ext cx="2194560" cy="502920"/>
          </a:xfrm>
          <a:prstGeom prst="rect">
            <a:avLst/>
          </a:prstGeom>
          <a:noFill/>
          <a:ln/>
        </p:spPr>
        <p:txBody>
          <a:bodyPr wrap="square" lIns="0" tIns="0" rIns="0" bIns="0" rtlCol="0" anchor="ctr"/>
          <a:lstStyle/>
          <a:p>
            <a:pPr indent="0" marL="0">
              <a:buNone/>
            </a:pPr>
            <a:r>
              <a:rPr lang="en-US" sz="2100" b="1" dirty="0">
                <a:solidFill>
                  <a:srgbClr val="D62839"/>
                </a:solidFill>
                <a:latin typeface="Montserrat" pitchFamily="34" charset="0"/>
                <a:ea typeface="Montserrat" pitchFamily="34" charset="-122"/>
                <a:cs typeface="Montserrat" pitchFamily="34" charset="-120"/>
              </a:rPr>
              <a:t>DQN</a:t>
            </a:r>
            <a:endParaRPr lang="en-US" sz="2100" dirty="0"/>
          </a:p>
        </p:txBody>
      </p:sp>
      <p:sp>
        <p:nvSpPr>
          <p:cNvPr id="20" name="Text 17"/>
          <p:cNvSpPr txBox="1"/>
          <p:nvPr/>
        </p:nvSpPr>
        <p:spPr>
          <a:xfrm>
            <a:off x="9272016" y="4206240"/>
            <a:ext cx="2148840" cy="914400"/>
          </a:xfrm>
          <a:prstGeom prst="rect">
            <a:avLst/>
          </a:prstGeom>
          <a:noFill/>
          <a:ln/>
        </p:spPr>
        <p:txBody>
          <a:bodyPr wrap="square" lIns="0" tIns="0" rIns="0" bIns="0" rtlCol="0" anchor="t"/>
          <a:lstStyle/>
          <a:p>
            <a:pPr indent="0" marL="0">
              <a:buNone/>
            </a:pPr>
            <a:r>
              <a:rPr lang="en-US" sz="1600" dirty="0">
                <a:solidFill>
                  <a:srgbClr val="14183D"/>
                </a:solidFill>
                <a:latin typeface="Montserrat" pitchFamily="34" charset="0"/>
                <a:ea typeface="Montserrat" pitchFamily="34" charset="-122"/>
                <a:cs typeface="Montserrat" pitchFamily="34" charset="-120"/>
              </a:rPr>
              <a:t>Un réseau de neurones</a:t>
            </a:r>
            <a:endParaRPr lang="en-US" sz="1600" dirty="0"/>
          </a:p>
        </p:txBody>
      </p:sp>
      <p:sp>
        <p:nvSpPr>
          <p:cNvPr id="21" name="Text 18"/>
          <p:cNvSpPr txBox="1"/>
          <p:nvPr/>
        </p:nvSpPr>
        <p:spPr>
          <a:xfrm>
            <a:off x="548640" y="5623560"/>
            <a:ext cx="11091672" cy="457200"/>
          </a:xfrm>
          <a:prstGeom prst="rect">
            <a:avLst/>
          </a:prstGeom>
          <a:noFill/>
          <a:ln/>
        </p:spPr>
        <p:txBody>
          <a:bodyPr wrap="square" lIns="0" tIns="0" rIns="0" bIns="0"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Les 3 premiers remplissent un tableau de notes ; DQN généralise.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1-1  -  LA VEILLE</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Ce que trouve l'article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7</a:t>
            </a:r>
            <a:endParaRPr lang="en-US" sz="1100" dirty="0"/>
          </a:p>
        </p:txBody>
      </p:sp>
      <p:sp>
        <p:nvSpPr>
          <p:cNvPr id="6" name="carte"/>
          <p:cNvSpPr/>
          <p:nvPr/>
        </p:nvSpPr>
        <p:spPr>
          <a:xfrm>
            <a:off x="548640" y="1645920"/>
            <a:ext cx="5669280" cy="4023360"/>
          </a:xfrm>
          <a:prstGeom prst="roundRect">
            <a:avLst>
              <a:gd name="adj" fmla="val 1818"/>
            </a:avLst>
          </a:prstGeom>
          <a:solidFill>
            <a:srgbClr val="FFFFFF"/>
          </a:solidFill>
          <a:ln/>
          <a:effectLst>
            <a:outerShdw sx="100000" sy="100000" kx="0" ky="0" algn="bl" rotWithShape="0" blurRad="101600" dist="25400" dir="5400000">
              <a:srgbClr val="0B1F44">
                <a:alpha val="22000"/>
              </a:srgbClr>
            </a:outerShdw>
          </a:effectLst>
        </p:spPr>
      </p:sp>
      <p:sp>
        <p:nvSpPr>
          <p:cNvPr id="7" name="etiquette"/>
          <p:cNvSpPr txBox="1"/>
          <p:nvPr/>
        </p:nvSpPr>
        <p:spPr>
          <a:xfrm>
            <a:off x="822960" y="1847088"/>
            <a:ext cx="5029200" cy="274320"/>
          </a:xfrm>
          <a:prstGeom prst="rect">
            <a:avLst/>
          </a:prstGeom>
          <a:noFill/>
          <a:ln/>
        </p:spPr>
        <p:txBody>
          <a:bodyPr wrap="square" lIns="0" tIns="0" rIns="0" bIns="0" rtlCol="0" anchor="ctr"/>
          <a:lstStyle/>
          <a:p>
            <a:pPr indent="0" marL="0">
              <a:buNone/>
            </a:pPr>
            <a:r>
              <a:rPr lang="en-US" sz="1150" b="1" spc="100" kern="0" dirty="0">
                <a:solidFill>
                  <a:srgbClr val="4A5070"/>
                </a:solidFill>
                <a:latin typeface="Montserrat" pitchFamily="34" charset="0"/>
                <a:ea typeface="Montserrat" pitchFamily="34" charset="-122"/>
                <a:cs typeface="Montserrat" pitchFamily="34" charset="-120"/>
              </a:rPr>
              <a:t>QUI APPREND LE MIEUX ? (VICTOIRES SUR V3)</a:t>
            </a:r>
            <a:endParaRPr lang="en-US" sz="1150" dirty="0"/>
          </a:p>
        </p:txBody>
      </p:sp>
      <p:sp>
        <p:nvSpPr>
          <p:cNvPr id="8" name="Text 6"/>
          <p:cNvSpPr txBox="1"/>
          <p:nvPr/>
        </p:nvSpPr>
        <p:spPr>
          <a:xfrm>
            <a:off x="822960" y="2240280"/>
            <a:ext cx="1600200" cy="77724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Monte Carlo</a:t>
            </a:r>
            <a:endParaRPr lang="en-US" sz="1500" dirty="0"/>
          </a:p>
        </p:txBody>
      </p:sp>
      <p:sp>
        <p:nvSpPr>
          <p:cNvPr id="9" name="Shape 7"/>
          <p:cNvSpPr/>
          <p:nvPr/>
        </p:nvSpPr>
        <p:spPr>
          <a:xfrm>
            <a:off x="2560320" y="2434590"/>
            <a:ext cx="2473132" cy="388620"/>
          </a:xfrm>
          <a:prstGeom prst="rect">
            <a:avLst/>
          </a:prstGeom>
          <a:solidFill>
            <a:srgbClr val="E8790C"/>
          </a:solidFill>
          <a:ln/>
        </p:spPr>
      </p:sp>
      <p:sp>
        <p:nvSpPr>
          <p:cNvPr id="10" name="Text 8"/>
          <p:cNvSpPr txBox="1"/>
          <p:nvPr/>
        </p:nvSpPr>
        <p:spPr>
          <a:xfrm>
            <a:off x="5143180" y="2240280"/>
            <a:ext cx="1188720" cy="77724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94,9 %</a:t>
            </a:r>
            <a:endParaRPr lang="en-US" sz="1500" dirty="0"/>
          </a:p>
        </p:txBody>
      </p:sp>
      <p:sp>
        <p:nvSpPr>
          <p:cNvPr id="11" name="Text 9"/>
          <p:cNvSpPr txBox="1"/>
          <p:nvPr/>
        </p:nvSpPr>
        <p:spPr>
          <a:xfrm>
            <a:off x="822960" y="3017520"/>
            <a:ext cx="1600200" cy="77724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Q-Learning</a:t>
            </a:r>
            <a:endParaRPr lang="en-US" sz="1500" dirty="0"/>
          </a:p>
        </p:txBody>
      </p:sp>
      <p:sp>
        <p:nvSpPr>
          <p:cNvPr id="12" name="Shape 10"/>
          <p:cNvSpPr/>
          <p:nvPr/>
        </p:nvSpPr>
        <p:spPr>
          <a:xfrm>
            <a:off x="2560320" y="3211830"/>
            <a:ext cx="2254225" cy="388620"/>
          </a:xfrm>
          <a:prstGeom prst="rect">
            <a:avLst/>
          </a:prstGeom>
          <a:solidFill>
            <a:srgbClr val="2F6FE4"/>
          </a:solidFill>
          <a:ln/>
        </p:spPr>
      </p:sp>
      <p:sp>
        <p:nvSpPr>
          <p:cNvPr id="13" name="Text 11"/>
          <p:cNvSpPr txBox="1"/>
          <p:nvPr/>
        </p:nvSpPr>
        <p:spPr>
          <a:xfrm>
            <a:off x="4924273" y="3017520"/>
            <a:ext cx="1188720" cy="77724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86,5 %</a:t>
            </a:r>
            <a:endParaRPr lang="en-US" sz="1500" dirty="0"/>
          </a:p>
        </p:txBody>
      </p:sp>
      <p:sp>
        <p:nvSpPr>
          <p:cNvPr id="14" name="Text 12"/>
          <p:cNvSpPr txBox="1"/>
          <p:nvPr/>
        </p:nvSpPr>
        <p:spPr>
          <a:xfrm>
            <a:off x="822960" y="3794760"/>
            <a:ext cx="1600200" cy="77724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SARSA</a:t>
            </a:r>
            <a:endParaRPr lang="en-US" sz="1500" dirty="0"/>
          </a:p>
        </p:txBody>
      </p:sp>
      <p:sp>
        <p:nvSpPr>
          <p:cNvPr id="15" name="Shape 13"/>
          <p:cNvSpPr/>
          <p:nvPr/>
        </p:nvSpPr>
        <p:spPr>
          <a:xfrm>
            <a:off x="2560320" y="3989070"/>
            <a:ext cx="2199498" cy="388620"/>
          </a:xfrm>
          <a:prstGeom prst="rect">
            <a:avLst/>
          </a:prstGeom>
          <a:solidFill>
            <a:srgbClr val="15911F"/>
          </a:solidFill>
          <a:ln/>
        </p:spPr>
      </p:sp>
      <p:sp>
        <p:nvSpPr>
          <p:cNvPr id="16" name="Text 14"/>
          <p:cNvSpPr txBox="1"/>
          <p:nvPr/>
        </p:nvSpPr>
        <p:spPr>
          <a:xfrm>
            <a:off x="4869546" y="3794760"/>
            <a:ext cx="1188720" cy="77724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84,4 %</a:t>
            </a:r>
            <a:endParaRPr lang="en-US" sz="1500" dirty="0"/>
          </a:p>
        </p:txBody>
      </p:sp>
      <p:sp>
        <p:nvSpPr>
          <p:cNvPr id="17" name="Text 15"/>
          <p:cNvSpPr txBox="1"/>
          <p:nvPr/>
        </p:nvSpPr>
        <p:spPr>
          <a:xfrm>
            <a:off x="822960" y="4572000"/>
            <a:ext cx="1600200" cy="77724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DQN</a:t>
            </a:r>
            <a:endParaRPr lang="en-US" sz="1500" dirty="0"/>
          </a:p>
        </p:txBody>
      </p:sp>
      <p:sp>
        <p:nvSpPr>
          <p:cNvPr id="18" name="Shape 16"/>
          <p:cNvSpPr/>
          <p:nvPr/>
        </p:nvSpPr>
        <p:spPr>
          <a:xfrm>
            <a:off x="2560320" y="4766310"/>
            <a:ext cx="1991015" cy="388620"/>
          </a:xfrm>
          <a:prstGeom prst="rect">
            <a:avLst/>
          </a:prstGeom>
          <a:solidFill>
            <a:srgbClr val="D62839"/>
          </a:solidFill>
          <a:ln/>
        </p:spPr>
      </p:sp>
      <p:sp>
        <p:nvSpPr>
          <p:cNvPr id="19" name="Text 17"/>
          <p:cNvSpPr txBox="1"/>
          <p:nvPr/>
        </p:nvSpPr>
        <p:spPr>
          <a:xfrm>
            <a:off x="4661063" y="4572000"/>
            <a:ext cx="1188720" cy="77724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76,4 %</a:t>
            </a:r>
            <a:endParaRPr lang="en-US" sz="1500" dirty="0"/>
          </a:p>
        </p:txBody>
      </p:sp>
      <p:sp>
        <p:nvSpPr>
          <p:cNvPr id="20" name="carte"/>
          <p:cNvSpPr/>
          <p:nvPr/>
        </p:nvSpPr>
        <p:spPr>
          <a:xfrm>
            <a:off x="6492240" y="1645920"/>
            <a:ext cx="5148072" cy="4023360"/>
          </a:xfrm>
          <a:prstGeom prst="roundRect">
            <a:avLst>
              <a:gd name="adj" fmla="val 1818"/>
            </a:avLst>
          </a:prstGeom>
          <a:solidFill>
            <a:srgbClr val="FFFFFF"/>
          </a:solidFill>
          <a:ln/>
          <a:effectLst>
            <a:outerShdw sx="100000" sy="100000" kx="0" ky="0" algn="bl" rotWithShape="0" blurRad="101600" dist="25400" dir="5400000">
              <a:srgbClr val="0B1F44">
                <a:alpha val="22000"/>
              </a:srgbClr>
            </a:outerShdw>
          </a:effectLst>
        </p:spPr>
      </p:sp>
      <p:sp>
        <p:nvSpPr>
          <p:cNvPr id="21" name="etiquette"/>
          <p:cNvSpPr txBox="1"/>
          <p:nvPr/>
        </p:nvSpPr>
        <p:spPr>
          <a:xfrm>
            <a:off x="6766560" y="1847088"/>
            <a:ext cx="4572000" cy="274320"/>
          </a:xfrm>
          <a:prstGeom prst="rect">
            <a:avLst/>
          </a:prstGeom>
          <a:noFill/>
          <a:ln/>
        </p:spPr>
        <p:txBody>
          <a:bodyPr wrap="square" lIns="0" tIns="0" rIns="0" bIns="0" rtlCol="0" anchor="ctr"/>
          <a:lstStyle/>
          <a:p>
            <a:pPr indent="0" marL="0">
              <a:buNone/>
            </a:pPr>
            <a:r>
              <a:rPr lang="en-US" sz="1150" b="1" spc="100" kern="0" dirty="0">
                <a:solidFill>
                  <a:srgbClr val="4A5070"/>
                </a:solidFill>
                <a:latin typeface="Montserrat" pitchFamily="34" charset="0"/>
                <a:ea typeface="Montserrat" pitchFamily="34" charset="-122"/>
                <a:cs typeface="Montserrat" pitchFamily="34" charset="-120"/>
              </a:rPr>
              <a:t>L'ORDRE DU NIVEAU COMPTE-T-IL ?</a:t>
            </a:r>
            <a:endParaRPr lang="en-US" sz="1150" dirty="0"/>
          </a:p>
        </p:txBody>
      </p:sp>
      <p:sp>
        <p:nvSpPr>
          <p:cNvPr id="22" name="Text 20"/>
          <p:cNvSpPr txBox="1"/>
          <p:nvPr/>
        </p:nvSpPr>
        <p:spPr>
          <a:xfrm>
            <a:off x="6766560" y="2240280"/>
            <a:ext cx="2560320" cy="822960"/>
          </a:xfrm>
          <a:prstGeom prst="rect">
            <a:avLst/>
          </a:prstGeom>
          <a:noFill/>
          <a:ln/>
        </p:spPr>
        <p:txBody>
          <a:bodyPr wrap="square" lIns="0" tIns="0" rIns="0" bIns="0" rtlCol="0" anchor="ctr"/>
          <a:lstStyle/>
          <a:p>
            <a:pPr indent="0" marL="0">
              <a:buNone/>
            </a:pPr>
            <a:r>
              <a:rPr lang="en-US" sz="1700" b="1" dirty="0">
                <a:solidFill>
                  <a:srgbClr val="14183D"/>
                </a:solidFill>
                <a:latin typeface="Montserrat" pitchFamily="34" charset="0"/>
                <a:ea typeface="Montserrat" pitchFamily="34" charset="-122"/>
                <a:cs typeface="Montserrat" pitchFamily="34" charset="-120"/>
              </a:rPr>
              <a:t>Ordre d'origine</a:t>
            </a:r>
            <a:endParaRPr lang="en-US" sz="1700" dirty="0"/>
          </a:p>
        </p:txBody>
      </p:sp>
      <p:sp>
        <p:nvSpPr>
          <p:cNvPr id="23" name="Text 21"/>
          <p:cNvSpPr txBox="1"/>
          <p:nvPr/>
        </p:nvSpPr>
        <p:spPr>
          <a:xfrm>
            <a:off x="9235440" y="2240280"/>
            <a:ext cx="2194560" cy="822960"/>
          </a:xfrm>
          <a:prstGeom prst="rect">
            <a:avLst/>
          </a:prstGeom>
          <a:noFill/>
          <a:ln/>
        </p:spPr>
        <p:txBody>
          <a:bodyPr wrap="square" lIns="0" tIns="0" rIns="0" bIns="0" rtlCol="0" anchor="ctr"/>
          <a:lstStyle/>
          <a:p>
            <a:pPr algn="r" indent="0" marL="0">
              <a:buNone/>
            </a:pPr>
            <a:r>
              <a:rPr lang="en-US" sz="3400" b="1" dirty="0">
                <a:solidFill>
                  <a:srgbClr val="15911F"/>
                </a:solidFill>
                <a:latin typeface="Montserrat" pitchFamily="34" charset="0"/>
                <a:ea typeface="Montserrat" pitchFamily="34" charset="-122"/>
                <a:cs typeface="Montserrat" pitchFamily="34" charset="-120"/>
              </a:rPr>
              <a:t>94,7 %</a:t>
            </a:r>
            <a:endParaRPr lang="en-US" sz="3400" dirty="0"/>
          </a:p>
        </p:txBody>
      </p:sp>
      <p:sp>
        <p:nvSpPr>
          <p:cNvPr id="24" name="Text 22"/>
          <p:cNvSpPr txBox="1"/>
          <p:nvPr/>
        </p:nvSpPr>
        <p:spPr>
          <a:xfrm>
            <a:off x="6766560" y="3264408"/>
            <a:ext cx="2560320" cy="822960"/>
          </a:xfrm>
          <a:prstGeom prst="rect">
            <a:avLst/>
          </a:prstGeom>
          <a:noFill/>
          <a:ln/>
        </p:spPr>
        <p:txBody>
          <a:bodyPr wrap="square" lIns="0" tIns="0" rIns="0" bIns="0" rtlCol="0" anchor="ctr"/>
          <a:lstStyle/>
          <a:p>
            <a:pPr indent="0" marL="0">
              <a:buNone/>
            </a:pPr>
            <a:r>
              <a:rPr lang="en-US" sz="1700" b="1" dirty="0">
                <a:solidFill>
                  <a:srgbClr val="14183D"/>
                </a:solidFill>
                <a:latin typeface="Montserrat" pitchFamily="34" charset="0"/>
                <a:ea typeface="Montserrat" pitchFamily="34" charset="-122"/>
                <a:cs typeface="Montserrat" pitchFamily="34" charset="-120"/>
              </a:rPr>
              <a:t>Ordres au hasard</a:t>
            </a:r>
            <a:endParaRPr lang="en-US" sz="1700" dirty="0"/>
          </a:p>
        </p:txBody>
      </p:sp>
      <p:sp>
        <p:nvSpPr>
          <p:cNvPr id="25" name="Text 23"/>
          <p:cNvSpPr txBox="1"/>
          <p:nvPr/>
        </p:nvSpPr>
        <p:spPr>
          <a:xfrm>
            <a:off x="9235440" y="3264408"/>
            <a:ext cx="2194560" cy="822960"/>
          </a:xfrm>
          <a:prstGeom prst="rect">
            <a:avLst/>
          </a:prstGeom>
          <a:noFill/>
          <a:ln/>
        </p:spPr>
        <p:txBody>
          <a:bodyPr wrap="square" lIns="0" tIns="0" rIns="0" bIns="0" rtlCol="0" anchor="ctr"/>
          <a:lstStyle/>
          <a:p>
            <a:pPr algn="r" indent="0" marL="0">
              <a:buNone/>
            </a:pPr>
            <a:r>
              <a:rPr lang="en-US" sz="3400" b="1" dirty="0">
                <a:solidFill>
                  <a:srgbClr val="E8790C"/>
                </a:solidFill>
                <a:latin typeface="Montserrat" pitchFamily="34" charset="0"/>
                <a:ea typeface="Montserrat" pitchFamily="34" charset="-122"/>
                <a:cs typeface="Montserrat" pitchFamily="34" charset="-120"/>
              </a:rPr>
              <a:t>89,0 %</a:t>
            </a:r>
            <a:endParaRPr lang="en-US" sz="3400" dirty="0"/>
          </a:p>
        </p:txBody>
      </p:sp>
      <p:sp>
        <p:nvSpPr>
          <p:cNvPr id="26" name="Text 24"/>
          <p:cNvSpPr txBox="1"/>
          <p:nvPr/>
        </p:nvSpPr>
        <p:spPr>
          <a:xfrm>
            <a:off x="6766560" y="4288536"/>
            <a:ext cx="2560320" cy="822960"/>
          </a:xfrm>
          <a:prstGeom prst="rect">
            <a:avLst/>
          </a:prstGeom>
          <a:noFill/>
          <a:ln/>
        </p:spPr>
        <p:txBody>
          <a:bodyPr wrap="square" lIns="0" tIns="0" rIns="0" bIns="0" rtlCol="0" anchor="ctr"/>
          <a:lstStyle/>
          <a:p>
            <a:pPr indent="0" marL="0">
              <a:buNone/>
            </a:pPr>
            <a:r>
              <a:rPr lang="en-US" sz="1700" b="1" dirty="0">
                <a:solidFill>
                  <a:srgbClr val="14183D"/>
                </a:solidFill>
                <a:latin typeface="Montserrat" pitchFamily="34" charset="0"/>
                <a:ea typeface="Montserrat" pitchFamily="34" charset="-122"/>
                <a:cs typeface="Montserrat" pitchFamily="34" charset="-120"/>
              </a:rPr>
              <a:t>Ordre inversé</a:t>
            </a:r>
            <a:endParaRPr lang="en-US" sz="1700" dirty="0"/>
          </a:p>
        </p:txBody>
      </p:sp>
      <p:sp>
        <p:nvSpPr>
          <p:cNvPr id="27" name="Text 25"/>
          <p:cNvSpPr txBox="1"/>
          <p:nvPr/>
        </p:nvSpPr>
        <p:spPr>
          <a:xfrm>
            <a:off x="9235440" y="4288536"/>
            <a:ext cx="2194560" cy="822960"/>
          </a:xfrm>
          <a:prstGeom prst="rect">
            <a:avLst/>
          </a:prstGeom>
          <a:noFill/>
          <a:ln/>
        </p:spPr>
        <p:txBody>
          <a:bodyPr wrap="square" lIns="0" tIns="0" rIns="0" bIns="0" rtlCol="0" anchor="ctr"/>
          <a:lstStyle/>
          <a:p>
            <a:pPr algn="r" indent="0" marL="0">
              <a:buNone/>
            </a:pPr>
            <a:r>
              <a:rPr lang="en-US" sz="3400" b="1" dirty="0">
                <a:solidFill>
                  <a:srgbClr val="D62839"/>
                </a:solidFill>
                <a:latin typeface="Montserrat" pitchFamily="34" charset="0"/>
                <a:ea typeface="Montserrat" pitchFamily="34" charset="-122"/>
                <a:cs typeface="Montserrat" pitchFamily="34" charset="-120"/>
              </a:rPr>
              <a:t>48,5 %</a:t>
            </a:r>
            <a:endParaRPr lang="en-US" sz="3400" dirty="0"/>
          </a:p>
        </p:txBody>
      </p:sp>
      <p:sp>
        <p:nvSpPr>
          <p:cNvPr id="28" name="Text 26"/>
          <p:cNvSpPr txBox="1"/>
          <p:nvPr/>
        </p:nvSpPr>
        <p:spPr>
          <a:xfrm>
            <a:off x="548640" y="5852160"/>
            <a:ext cx="11091672" cy="457200"/>
          </a:xfrm>
          <a:prstGeom prst="rect">
            <a:avLst/>
          </a:prstGeom>
          <a:noFill/>
          <a:ln/>
        </p:spPr>
        <p:txBody>
          <a:bodyPr wrap="square" lIns="0" tIns="0" rIns="0" bIns="0"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Leur conclusion : le 1-1 a une vraie structure pédagogique.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1-1  -  LA VEILLE</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Notre lecture critique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8</a:t>
            </a:r>
            <a:endParaRPr lang="en-US" sz="1100" dirty="0"/>
          </a:p>
        </p:txBody>
      </p:sp>
      <p:sp>
        <p:nvSpPr>
          <p:cNvPr id="6" name="carte"/>
          <p:cNvSpPr/>
          <p:nvPr/>
        </p:nvSpPr>
        <p:spPr>
          <a:xfrm>
            <a:off x="548640" y="1645920"/>
            <a:ext cx="3520440" cy="3749040"/>
          </a:xfrm>
          <a:prstGeom prst="roundRect">
            <a:avLst>
              <a:gd name="adj" fmla="val 2078"/>
            </a:avLst>
          </a:prstGeom>
          <a:solidFill>
            <a:srgbClr val="FFFFFF"/>
          </a:solidFill>
          <a:ln/>
          <a:effectLst>
            <a:outerShdw sx="100000" sy="100000" kx="0" ky="0" algn="bl" rotWithShape="0" blurRad="101600" dist="25400" dir="5400000">
              <a:srgbClr val="0B1F44">
                <a:alpha val="22000"/>
              </a:srgbClr>
            </a:outerShdw>
          </a:effectLst>
        </p:spPr>
      </p:sp>
      <p:sp>
        <p:nvSpPr>
          <p:cNvPr id="7" name="etiquette"/>
          <p:cNvSpPr txBox="1"/>
          <p:nvPr/>
        </p:nvSpPr>
        <p:spPr>
          <a:xfrm>
            <a:off x="822960" y="1847088"/>
            <a:ext cx="2743200" cy="274320"/>
          </a:xfrm>
          <a:prstGeom prst="rect">
            <a:avLst/>
          </a:prstGeom>
          <a:noFill/>
          <a:ln/>
        </p:spPr>
        <p:txBody>
          <a:bodyPr wrap="square" lIns="0" tIns="0" rIns="0" bIns="0" rtlCol="0" anchor="ctr"/>
          <a:lstStyle/>
          <a:p>
            <a:pPr indent="0" marL="0">
              <a:buNone/>
            </a:pPr>
            <a:r>
              <a:rPr lang="en-US" sz="1300" b="1" spc="100" kern="0" dirty="0">
                <a:solidFill>
                  <a:srgbClr val="15911F"/>
                </a:solidFill>
                <a:latin typeface="Montserrat" pitchFamily="34" charset="0"/>
                <a:ea typeface="Montserrat" pitchFamily="34" charset="-122"/>
                <a:cs typeface="Montserrat" pitchFamily="34" charset="-120"/>
              </a:rPr>
              <a:t>FORCES</a:t>
            </a:r>
            <a:endParaRPr lang="en-US" sz="1300" dirty="0"/>
          </a:p>
        </p:txBody>
      </p:sp>
      <p:sp>
        <p:nvSpPr>
          <p:cNvPr id="8" name="Text 6"/>
          <p:cNvSpPr txBox="1"/>
          <p:nvPr/>
        </p:nvSpPr>
        <p:spPr>
          <a:xfrm>
            <a:off x="822960" y="2240280"/>
            <a:ext cx="3017520" cy="3017520"/>
          </a:xfrm>
          <a:prstGeom prst="rect">
            <a:avLst/>
          </a:prstGeom>
          <a:noFill/>
          <a:ln/>
        </p:spPr>
        <p:txBody>
          <a:bodyPr wrap="square" lIns="0" tIns="0" rIns="0" bIns="0" rtlCol="0" anchor="t"/>
          <a:lstStyle/>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Question originale</a:t>
            </a:r>
            <a:endParaRPr lang="en-US" sz="1700" dirty="0"/>
          </a:p>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Environnement codé de zéro</a:t>
            </a:r>
            <a:endParaRPr lang="en-US" sz="1700" dirty="0"/>
          </a:p>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Contrôle avec DQN bien pensé</a:t>
            </a:r>
            <a:endParaRPr lang="en-US" sz="1700" dirty="0"/>
          </a:p>
        </p:txBody>
      </p:sp>
      <p:sp>
        <p:nvSpPr>
          <p:cNvPr id="9" name="carte"/>
          <p:cNvSpPr/>
          <p:nvPr/>
        </p:nvSpPr>
        <p:spPr>
          <a:xfrm>
            <a:off x="4334256" y="1645920"/>
            <a:ext cx="3520440" cy="3749040"/>
          </a:xfrm>
          <a:prstGeom prst="roundRect">
            <a:avLst>
              <a:gd name="adj" fmla="val 2078"/>
            </a:avLst>
          </a:prstGeom>
          <a:solidFill>
            <a:srgbClr val="FFFFFF"/>
          </a:solidFill>
          <a:ln/>
          <a:effectLst>
            <a:outerShdw sx="100000" sy="100000" kx="0" ky="0" algn="bl" rotWithShape="0" blurRad="101600" dist="25400" dir="5400000">
              <a:srgbClr val="0B1F44">
                <a:alpha val="22000"/>
              </a:srgbClr>
            </a:outerShdw>
          </a:effectLst>
        </p:spPr>
      </p:sp>
      <p:sp>
        <p:nvSpPr>
          <p:cNvPr id="10" name="etiquette"/>
          <p:cNvSpPr txBox="1"/>
          <p:nvPr/>
        </p:nvSpPr>
        <p:spPr>
          <a:xfrm>
            <a:off x="4608576" y="1847088"/>
            <a:ext cx="2743200" cy="274320"/>
          </a:xfrm>
          <a:prstGeom prst="rect">
            <a:avLst/>
          </a:prstGeom>
          <a:noFill/>
          <a:ln/>
        </p:spPr>
        <p:txBody>
          <a:bodyPr wrap="square" lIns="0" tIns="0" rIns="0" bIns="0" rtlCol="0" anchor="ctr"/>
          <a:lstStyle/>
          <a:p>
            <a:pPr indent="0" marL="0">
              <a:buNone/>
            </a:pPr>
            <a:r>
              <a:rPr lang="en-US" sz="1300" b="1" spc="100" kern="0" dirty="0">
                <a:solidFill>
                  <a:srgbClr val="D62839"/>
                </a:solidFill>
                <a:latin typeface="Montserrat" pitchFamily="34" charset="0"/>
                <a:ea typeface="Montserrat" pitchFamily="34" charset="-122"/>
                <a:cs typeface="Montserrat" pitchFamily="34" charset="-120"/>
              </a:rPr>
              <a:t>ERREURS</a:t>
            </a:r>
            <a:endParaRPr lang="en-US" sz="1300" dirty="0"/>
          </a:p>
        </p:txBody>
      </p:sp>
      <p:sp>
        <p:nvSpPr>
          <p:cNvPr id="11" name="Text 9"/>
          <p:cNvSpPr txBox="1"/>
          <p:nvPr/>
        </p:nvSpPr>
        <p:spPr>
          <a:xfrm>
            <a:off x="4608576" y="2240280"/>
            <a:ext cx="3017520" cy="3017520"/>
          </a:xfrm>
          <a:prstGeom prst="rect">
            <a:avLst/>
          </a:prstGeom>
          <a:noFill/>
          <a:ln/>
        </p:spPr>
        <p:txBody>
          <a:bodyPr wrap="square" lIns="0" tIns="0" rIns="0" bIns="0" rtlCol="0" anchor="t"/>
          <a:lstStyle/>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Ordre inversé : 94,7 % écrit au lieu de 48,5 %</a:t>
            </a:r>
            <a:endParaRPr lang="en-US" sz="1700" dirty="0"/>
          </a:p>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 Seul ordre sans échec » : faux</a:t>
            </a:r>
            <a:endParaRPr lang="en-US" sz="1700" dirty="0"/>
          </a:p>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Calcul du score maximal faux</a:t>
            </a:r>
            <a:endParaRPr lang="en-US" sz="1700" dirty="0"/>
          </a:p>
        </p:txBody>
      </p:sp>
      <p:sp>
        <p:nvSpPr>
          <p:cNvPr id="12" name="carte"/>
          <p:cNvSpPr/>
          <p:nvPr/>
        </p:nvSpPr>
        <p:spPr>
          <a:xfrm>
            <a:off x="8119872" y="1645920"/>
            <a:ext cx="3520440" cy="3749040"/>
          </a:xfrm>
          <a:prstGeom prst="roundRect">
            <a:avLst>
              <a:gd name="adj" fmla="val 2078"/>
            </a:avLst>
          </a:prstGeom>
          <a:solidFill>
            <a:srgbClr val="FFFFFF"/>
          </a:solidFill>
          <a:ln/>
          <a:effectLst>
            <a:outerShdw sx="100000" sy="100000" kx="0" ky="0" algn="bl" rotWithShape="0" blurRad="101600" dist="25400" dir="5400000">
              <a:srgbClr val="0B1F44">
                <a:alpha val="22000"/>
              </a:srgbClr>
            </a:outerShdw>
          </a:effectLst>
        </p:spPr>
      </p:sp>
      <p:sp>
        <p:nvSpPr>
          <p:cNvPr id="13" name="etiquette"/>
          <p:cNvSpPr txBox="1"/>
          <p:nvPr/>
        </p:nvSpPr>
        <p:spPr>
          <a:xfrm>
            <a:off x="8394192" y="1847088"/>
            <a:ext cx="2743200" cy="274320"/>
          </a:xfrm>
          <a:prstGeom prst="rect">
            <a:avLst/>
          </a:prstGeom>
          <a:noFill/>
          <a:ln/>
        </p:spPr>
        <p:txBody>
          <a:bodyPr wrap="square" lIns="0" tIns="0" rIns="0" bIns="0" rtlCol="0" anchor="ctr"/>
          <a:lstStyle/>
          <a:p>
            <a:pPr indent="0" marL="0">
              <a:buNone/>
            </a:pPr>
            <a:r>
              <a:rPr lang="en-US" sz="1300" b="1" spc="100" kern="0" dirty="0">
                <a:solidFill>
                  <a:srgbClr val="E8790C"/>
                </a:solidFill>
                <a:latin typeface="Montserrat" pitchFamily="34" charset="0"/>
                <a:ea typeface="Montserrat" pitchFamily="34" charset="-122"/>
                <a:cs typeface="Montserrat" pitchFamily="34" charset="-120"/>
              </a:rPr>
              <a:t>FAIBLESSES</a:t>
            </a:r>
            <a:endParaRPr lang="en-US" sz="1300" dirty="0"/>
          </a:p>
        </p:txBody>
      </p:sp>
      <p:sp>
        <p:nvSpPr>
          <p:cNvPr id="14" name="Text 12"/>
          <p:cNvSpPr txBox="1"/>
          <p:nvPr/>
        </p:nvSpPr>
        <p:spPr>
          <a:xfrm>
            <a:off x="8394192" y="2240280"/>
            <a:ext cx="3017520" cy="3017520"/>
          </a:xfrm>
          <a:prstGeom prst="rect">
            <a:avLst/>
          </a:prstGeom>
          <a:noFill/>
          <a:ln/>
        </p:spPr>
        <p:txBody>
          <a:bodyPr wrap="square" lIns="0" tIns="0" rIns="0" bIns="0" rtlCol="0" anchor="t"/>
          <a:lstStyle/>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10 ordres testés sur 720</a:t>
            </a:r>
            <a:endParaRPr lang="en-US" sz="1700" dirty="0"/>
          </a:p>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Effet géant (d = 7) sur 5 graines</a:t>
            </a:r>
            <a:endParaRPr lang="en-US" sz="1700" dirty="0"/>
          </a:p>
          <a:p>
            <a:pPr marL="203200" indent="-203200">
              <a:lnSpc>
                <a:spcPct val="105000"/>
              </a:lnSpc>
              <a:spcAft>
                <a:spcPts val="1600"/>
              </a:spcAft>
              <a:buSzPct val="100000"/>
              <a:buChar char="•"/>
            </a:pPr>
            <a:r>
              <a:rPr lang="en-US" sz="1700" dirty="0">
                <a:solidFill>
                  <a:srgbClr val="14183D"/>
                </a:solidFill>
                <a:latin typeface="Montserrat" pitchFamily="34" charset="0"/>
                <a:ea typeface="Montserrat" pitchFamily="34" charset="-122"/>
                <a:cs typeface="Montserrat" pitchFamily="34" charset="-120"/>
              </a:rPr>
              <a:t>Aucun code publié</a:t>
            </a:r>
            <a:endParaRPr lang="en-US" sz="1700" dirty="0"/>
          </a:p>
        </p:txBody>
      </p:sp>
      <p:sp>
        <p:nvSpPr>
          <p:cNvPr id="15" name="Text 13"/>
          <p:cNvSpPr txBox="1"/>
          <p:nvPr/>
        </p:nvSpPr>
        <p:spPr>
          <a:xfrm>
            <a:off x="548640" y="5669280"/>
            <a:ext cx="11091672" cy="457200"/>
          </a:xfrm>
          <a:prstGeom prst="rect">
            <a:avLst/>
          </a:prstGeom>
          <a:noFill/>
          <a:ln/>
        </p:spPr>
        <p:txBody>
          <a:bodyPr wrap="square" lIns="0" tIns="0" rIns="0" bIns="0"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Surtout : une IA qui apprend vite ne prouve pas qu'un humain apprend mieux.</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5A99ED"/>
        </a:solidFill>
      </p:bgPr>
    </p:bg>
    <p:spTree>
      <p:nvGrpSpPr>
        <p:cNvPr id="1" name=""/>
        <p:cNvGrpSpPr/>
        <p:nvPr/>
      </p:nvGrpSpPr>
      <p:grpSpPr>
        <a:xfrm>
          <a:off x="0" y="0"/>
          <a:ext cx="0" cy="0"/>
          <a:chOff x="0" y="0"/>
          <a:chExt cx="0" cy="0"/>
        </a:xfrm>
      </p:grpSpPr>
      <p:pic>
        <p:nvPicPr>
          <p:cNvPr id="2" name="coin_brick" descr="/home/user/MarioRL_FinalWork/docs/oral/fabrication/assets/sprites/coin_brick.png">    </p:cNvPr>
          <p:cNvPicPr>
            <a:picLocks noChangeAspect="1"/>
          </p:cNvPicPr>
          <p:nvPr/>
        </p:nvPicPr>
        <p:blipFill>
          <a:blip r:embed="rId1"/>
          <a:stretch>
            <a:fillRect/>
          </a:stretch>
        </p:blipFill>
        <p:spPr>
          <a:xfrm>
            <a:off x="1430853" y="2408804"/>
            <a:ext cx="901690" cy="1659453"/>
          </a:xfrm>
          <a:prstGeom prst="rect">
            <a:avLst/>
          </a:prstGeom>
        </p:spPr>
      </p:pic>
      <p:pic>
        <p:nvPicPr>
          <p:cNvPr id="3" name="brick" descr="/home/user/MarioRL_FinalWork/docs/oral/fabrication/assets/sprites/brick.png">    </p:cNvPr>
          <p:cNvPicPr>
            <a:picLocks noChangeAspect="1"/>
          </p:cNvPicPr>
          <p:nvPr/>
        </p:nvPicPr>
        <p:blipFill>
          <a:blip r:embed="rId2"/>
          <a:stretch>
            <a:fillRect/>
          </a:stretch>
        </p:blipFill>
        <p:spPr>
          <a:xfrm>
            <a:off x="359816" y="4229100"/>
            <a:ext cx="901690" cy="901690"/>
          </a:xfrm>
          <a:prstGeom prst="rect">
            <a:avLst/>
          </a:prstGeom>
        </p:spPr>
      </p:pic>
      <p:pic>
        <p:nvPicPr>
          <p:cNvPr id="4" name="qblock_bricks" descr="/home/user/MarioRL_FinalWork/docs/oral/fabrication/assets/sprites/qblock_bricks.png">    </p:cNvPr>
          <p:cNvPicPr>
            <a:picLocks noChangeAspect="1"/>
          </p:cNvPicPr>
          <p:nvPr/>
        </p:nvPicPr>
        <p:blipFill>
          <a:blip r:embed="rId3"/>
          <a:stretch>
            <a:fillRect/>
          </a:stretch>
        </p:blipFill>
        <p:spPr>
          <a:xfrm>
            <a:off x="9067739" y="2595067"/>
            <a:ext cx="2620396" cy="1663659"/>
          </a:xfrm>
          <a:prstGeom prst="rect">
            <a:avLst/>
          </a:prstGeom>
        </p:spPr>
      </p:pic>
      <p:pic>
        <p:nvPicPr>
          <p:cNvPr id="5" name="mario" descr="/home/user/MarioRL_FinalWork/docs/oral/fabrication/assets/sprites/mario.png">    </p:cNvPr>
          <p:cNvPicPr>
            <a:picLocks noChangeAspect="1"/>
          </p:cNvPicPr>
          <p:nvPr/>
        </p:nvPicPr>
        <p:blipFill>
          <a:blip r:embed="rId4"/>
          <a:stretch>
            <a:fillRect/>
          </a:stretch>
        </p:blipFill>
        <p:spPr>
          <a:xfrm>
            <a:off x="4709160" y="5241066"/>
            <a:ext cx="596920" cy="761970"/>
          </a:xfrm>
          <a:prstGeom prst="rect">
            <a:avLst/>
          </a:prstGeom>
        </p:spPr>
      </p:pic>
      <p:pic>
        <p:nvPicPr>
          <p:cNvPr id="6" name="goomba" descr="/home/user/MarioRL_FinalWork/docs/oral/fabrication/assets/sprites/goomba.png">    </p:cNvPr>
          <p:cNvPicPr>
            <a:picLocks noChangeAspect="1"/>
          </p:cNvPicPr>
          <p:nvPr/>
        </p:nvPicPr>
        <p:blipFill>
          <a:blip r:embed="rId5"/>
          <a:stretch>
            <a:fillRect/>
          </a:stretch>
        </p:blipFill>
        <p:spPr>
          <a:xfrm>
            <a:off x="6812280" y="5359573"/>
            <a:ext cx="664677" cy="643463"/>
          </a:xfrm>
          <a:prstGeom prst="rect">
            <a:avLst/>
          </a:prstGeom>
        </p:spPr>
      </p:pic>
      <p:pic>
        <p:nvPicPr>
          <p:cNvPr id="7" name="ground" descr="/home/user/MarioRL_FinalWork/docs/oral/fabrication/assets/sprites/ground.png">    </p:cNvPr>
          <p:cNvPicPr>
            <a:picLocks noChangeAspect="1"/>
          </p:cNvPicPr>
          <p:nvPr/>
        </p:nvPicPr>
        <p:blipFill>
          <a:blip r:embed="rId6"/>
          <a:stretch>
            <a:fillRect/>
          </a:stretch>
        </p:blipFill>
        <p:spPr>
          <a:xfrm>
            <a:off x="0" y="5977433"/>
            <a:ext cx="12191970" cy="880567"/>
          </a:xfrm>
          <a:prstGeom prst="rect">
            <a:avLst/>
          </a:prstGeom>
        </p:spPr>
      </p:pic>
      <p:sp>
        <p:nvSpPr>
          <p:cNvPr id="8" name="grand_titre"/>
          <p:cNvSpPr txBox="1"/>
          <p:nvPr/>
        </p:nvSpPr>
        <p:spPr>
          <a:xfrm>
            <a:off x="2011680" y="1234440"/>
            <a:ext cx="8168335" cy="868680"/>
          </a:xfrm>
          <a:prstGeom prst="rect">
            <a:avLst/>
          </a:prstGeom>
          <a:noFill/>
          <a:ln/>
          <a:effectLst>
            <a:outerShdw sx="100000" sy="100000" kx="0" ky="0" algn="bl" rotWithShape="0" blurRad="101600" dist="34290" dir="2700000">
              <a:srgbClr val="2E1B5B">
                <a:alpha val="100000"/>
              </a:srgbClr>
            </a:outerShdw>
          </a:effectLst>
        </p:spPr>
        <p:txBody>
          <a:bodyPr wrap="square" lIns="0" tIns="0" rIns="0" bIns="0" rtlCol="0" anchor="ctr"/>
          <a:lstStyle/>
          <a:p>
            <a:pPr algn="ctr" indent="0" marL="0">
              <a:lnSpc>
                <a:spcPct val="100000"/>
              </a:lnSpc>
              <a:buNone/>
            </a:pPr>
            <a:r>
              <a:rPr lang="en-US" sz="5400" dirty="0">
                <a:solidFill>
                  <a:srgbClr val="FFFFFF"/>
                </a:solidFill>
                <a:latin typeface="Arcade Gamer" pitchFamily="34" charset="0"/>
                <a:ea typeface="Arcade Gamer" pitchFamily="34" charset="-122"/>
                <a:cs typeface="Arcade Gamer" pitchFamily="34" charset="-120"/>
              </a:rPr>
              <a:t>WORLD 1-2</a:t>
            </a:r>
            <a:endParaRPr lang="en-US" sz="5400" dirty="0"/>
          </a:p>
        </p:txBody>
      </p:sp>
      <p:sp>
        <p:nvSpPr>
          <p:cNvPr id="9" name="grand_titre"/>
          <p:cNvSpPr txBox="1"/>
          <p:nvPr/>
        </p:nvSpPr>
        <p:spPr>
          <a:xfrm>
            <a:off x="2011680" y="2121408"/>
            <a:ext cx="8168335" cy="640080"/>
          </a:xfrm>
          <a:prstGeom prst="rect">
            <a:avLst/>
          </a:prstGeom>
          <a:noFill/>
          <a:ln/>
          <a:effectLst>
            <a:outerShdw sx="100000" sy="100000" kx="0" ky="0" algn="bl" rotWithShape="0" blurRad="101600" dist="25400" dir="2700000">
              <a:srgbClr val="2E1B5B">
                <a:alpha val="100000"/>
              </a:srgbClr>
            </a:outerShdw>
          </a:effectLst>
        </p:spPr>
        <p:txBody>
          <a:bodyPr wrap="square" lIns="0" tIns="0" rIns="0" bIns="0" rtlCol="0" anchor="ctr"/>
          <a:lstStyle/>
          <a:p>
            <a:pPr algn="ctr" indent="0" marL="0">
              <a:lnSpc>
                <a:spcPct val="100000"/>
              </a:lnSpc>
              <a:buNone/>
            </a:pPr>
            <a:r>
              <a:rPr lang="en-US" sz="3200" dirty="0">
                <a:solidFill>
                  <a:srgbClr val="FFC703"/>
                </a:solidFill>
                <a:latin typeface="Arcade Gamer" pitchFamily="34" charset="0"/>
                <a:ea typeface="Arcade Gamer" pitchFamily="34" charset="-122"/>
                <a:cs typeface="Arcade Gamer" pitchFamily="34" charset="-120"/>
              </a:rPr>
              <a:t>LE DUEL SUR V3</a:t>
            </a:r>
            <a:endParaRPr lang="en-US" sz="3200" dirty="0"/>
          </a:p>
        </p:txBody>
      </p:sp>
      <p:sp>
        <p:nvSpPr>
          <p:cNvPr id="10" name="Text 2"/>
          <p:cNvSpPr txBox="1"/>
          <p:nvPr/>
        </p:nvSpPr>
        <p:spPr>
          <a:xfrm>
            <a:off x="2743200" y="2852928"/>
            <a:ext cx="6705295" cy="384048"/>
          </a:xfrm>
          <a:prstGeom prst="rect">
            <a:avLst/>
          </a:prstGeom>
          <a:noFill/>
          <a:ln/>
        </p:spPr>
        <p:txBody>
          <a:bodyPr wrap="square" lIns="0" tIns="0" rIns="0" bIns="0" rtlCol="0" anchor="ctr"/>
          <a:lstStyle/>
          <a:p>
            <a:pPr algn="ctr" indent="0" marL="0">
              <a:buNone/>
            </a:pPr>
            <a:r>
              <a:rPr lang="en-US" sz="1600" b="1" dirty="0">
                <a:solidFill>
                  <a:srgbClr val="14183D"/>
                </a:solidFill>
                <a:latin typeface="Montserrat" pitchFamily="34" charset="0"/>
                <a:ea typeface="Montserrat" pitchFamily="34" charset="-122"/>
                <a:cs typeface="Montserrat" pitchFamily="34" charset="-120"/>
              </a:rPr>
              <a:t>Q-Learning, SARSA, Monte Carlo et DQN, à égalité</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1-2  -  LE DUEL SUR V3</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Le même protocole pour tous</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10</a:t>
            </a:r>
            <a:endParaRPr lang="en-US" sz="1100" dirty="0"/>
          </a:p>
        </p:txBody>
      </p:sp>
      <p:sp>
        <p:nvSpPr>
          <p:cNvPr id="6" name="carte"/>
          <p:cNvSpPr/>
          <p:nvPr/>
        </p:nvSpPr>
        <p:spPr>
          <a:xfrm>
            <a:off x="548640" y="1645920"/>
            <a:ext cx="4572000" cy="4617720"/>
          </a:xfrm>
          <a:prstGeom prst="roundRect">
            <a:avLst>
              <a:gd name="adj" fmla="val 1600"/>
            </a:avLst>
          </a:prstGeom>
          <a:solidFill>
            <a:srgbClr val="FFFFFF"/>
          </a:solidFill>
          <a:ln/>
          <a:effectLst>
            <a:outerShdw sx="100000" sy="100000" kx="0" ky="0" algn="bl" rotWithShape="0" blurRad="101600" dist="25400" dir="5400000">
              <a:srgbClr val="0B1F44">
                <a:alpha val="22000"/>
              </a:srgbClr>
            </a:outerShdw>
          </a:effectLst>
        </p:spPr>
      </p:sp>
      <p:pic>
        <p:nvPicPr>
          <p:cNvPr id="7" name="ecran_titre" descr="/home/user/MarioRL_FinalWork/docs/oral/fabrication/assets/ecran_titre.png">    </p:cNvPr>
          <p:cNvPicPr>
            <a:picLocks noChangeAspect="1"/>
          </p:cNvPicPr>
          <p:nvPr/>
        </p:nvPicPr>
        <p:blipFill>
          <a:blip r:embed="rId1"/>
          <a:stretch>
            <a:fillRect/>
          </a:stretch>
        </p:blipFill>
        <p:spPr>
          <a:xfrm>
            <a:off x="822960" y="1874520"/>
            <a:ext cx="4023360" cy="3771900"/>
          </a:xfrm>
          <a:prstGeom prst="rect">
            <a:avLst/>
          </a:prstGeom>
        </p:spPr>
      </p:pic>
      <p:sp>
        <p:nvSpPr>
          <p:cNvPr id="8" name="Text 5"/>
          <p:cNvSpPr txBox="1"/>
          <p:nvPr/>
        </p:nvSpPr>
        <p:spPr>
          <a:xfrm>
            <a:off x="822960" y="5715000"/>
            <a:ext cx="4023360" cy="411480"/>
          </a:xfrm>
          <a:prstGeom prst="rect">
            <a:avLst/>
          </a:prstGeom>
          <a:noFill/>
          <a:ln/>
        </p:spPr>
        <p:txBody>
          <a:bodyPr wrap="square" lIns="0" tIns="0" rIns="0" bIns="0" rtlCol="0" anchor="t"/>
          <a:lstStyle/>
          <a:p>
            <a:pPr algn="ctr" indent="0" marL="0">
              <a:buNone/>
            </a:pPr>
            <a:r>
              <a:rPr lang="en-US" sz="1300" dirty="0">
                <a:solidFill>
                  <a:srgbClr val="4A5070"/>
                </a:solidFill>
                <a:latin typeface="Montserrat" pitchFamily="34" charset="0"/>
                <a:ea typeface="Montserrat" pitchFamily="34" charset="-122"/>
                <a:cs typeface="Montserrat" pitchFamily="34" charset="-120"/>
              </a:rPr>
              <a:t>Notre copie du niveau 1-1, physique NES</a:t>
            </a:r>
            <a:endParaRPr lang="en-US" sz="1300" dirty="0"/>
          </a:p>
        </p:txBody>
      </p:sp>
      <p:sp>
        <p:nvSpPr>
          <p:cNvPr id="9" name="carte"/>
          <p:cNvSpPr/>
          <p:nvPr/>
        </p:nvSpPr>
        <p:spPr>
          <a:xfrm>
            <a:off x="5440680" y="1691640"/>
            <a:ext cx="6199632" cy="969264"/>
          </a:xfrm>
          <a:prstGeom prst="roundRect">
            <a:avLst>
              <a:gd name="adj" fmla="val 7547"/>
            </a:avLst>
          </a:prstGeom>
          <a:solidFill>
            <a:srgbClr val="FFFFFF"/>
          </a:solidFill>
          <a:ln/>
          <a:effectLst>
            <a:outerShdw sx="100000" sy="100000" kx="0" ky="0" algn="bl" rotWithShape="0" blurRad="101600" dist="25400" dir="5400000">
              <a:srgbClr val="0B1F44">
                <a:alpha val="22000"/>
              </a:srgbClr>
            </a:outerShdw>
          </a:effectLst>
        </p:spPr>
      </p:sp>
      <p:sp>
        <p:nvSpPr>
          <p:cNvPr id="10" name="Text 7"/>
          <p:cNvSpPr txBox="1"/>
          <p:nvPr/>
        </p:nvSpPr>
        <p:spPr>
          <a:xfrm>
            <a:off x="5669280" y="1691640"/>
            <a:ext cx="1463040" cy="969264"/>
          </a:xfrm>
          <a:prstGeom prst="rect">
            <a:avLst/>
          </a:prstGeom>
          <a:noFill/>
          <a:ln/>
        </p:spPr>
        <p:txBody>
          <a:bodyPr wrap="square" lIns="0" tIns="0" rIns="0" bIns="0" rtlCol="0" anchor="ctr"/>
          <a:lstStyle/>
          <a:p>
            <a:pPr indent="0" marL="0">
              <a:buNone/>
            </a:pPr>
            <a:r>
              <a:rPr lang="en-US" sz="3200" b="1" dirty="0">
                <a:solidFill>
                  <a:srgbClr val="2F6FE4"/>
                </a:solidFill>
                <a:latin typeface="Montserrat" pitchFamily="34" charset="0"/>
                <a:ea typeface="Montserrat" pitchFamily="34" charset="-122"/>
                <a:cs typeface="Montserrat" pitchFamily="34" charset="-120"/>
              </a:rPr>
              <a:t>v3</a:t>
            </a:r>
            <a:endParaRPr lang="en-US" sz="3200" dirty="0"/>
          </a:p>
        </p:txBody>
      </p:sp>
      <p:sp>
        <p:nvSpPr>
          <p:cNvPr id="11" name="Text 8"/>
          <p:cNvSpPr txBox="1"/>
          <p:nvPr/>
        </p:nvSpPr>
        <p:spPr>
          <a:xfrm>
            <a:off x="7178040" y="1691640"/>
            <a:ext cx="4297680" cy="969264"/>
          </a:xfrm>
          <a:prstGeom prst="rect">
            <a:avLst/>
          </a:prstGeom>
          <a:noFill/>
          <a:ln/>
        </p:spPr>
        <p:txBody>
          <a:bodyPr wrap="square" lIns="0" tIns="0" rIns="0" bIns="0" rtlCol="0" anchor="ctr"/>
          <a:lstStyle/>
          <a:p>
            <a:pPr indent="0" marL="0">
              <a:buNone/>
            </a:pPr>
            <a:r>
              <a:rPr lang="en-US" sz="1700" dirty="0">
                <a:solidFill>
                  <a:srgbClr val="14183D"/>
                </a:solidFill>
                <a:latin typeface="Montserrat" pitchFamily="34" charset="0"/>
                <a:ea typeface="Montserrat" pitchFamily="34" charset="-122"/>
                <a:cs typeface="Montserrat" pitchFamily="34" charset="-120"/>
              </a:rPr>
              <a:t>le niveau avec ses 17 ennemis</a:t>
            </a:r>
            <a:endParaRPr lang="en-US" sz="1700" dirty="0"/>
          </a:p>
        </p:txBody>
      </p:sp>
      <p:sp>
        <p:nvSpPr>
          <p:cNvPr id="12" name="carte"/>
          <p:cNvSpPr/>
          <p:nvPr/>
        </p:nvSpPr>
        <p:spPr>
          <a:xfrm>
            <a:off x="5440680" y="2807208"/>
            <a:ext cx="6199632" cy="969264"/>
          </a:xfrm>
          <a:prstGeom prst="roundRect">
            <a:avLst>
              <a:gd name="adj" fmla="val 7547"/>
            </a:avLst>
          </a:prstGeom>
          <a:solidFill>
            <a:srgbClr val="FFFFFF"/>
          </a:solidFill>
          <a:ln/>
          <a:effectLst>
            <a:outerShdw sx="100000" sy="100000" kx="0" ky="0" algn="bl" rotWithShape="0" blurRad="101600" dist="25400" dir="5400000">
              <a:srgbClr val="0B1F44">
                <a:alpha val="22000"/>
              </a:srgbClr>
            </a:outerShdw>
          </a:effectLst>
        </p:spPr>
      </p:sp>
      <p:sp>
        <p:nvSpPr>
          <p:cNvPr id="13" name="Text 10"/>
          <p:cNvSpPr txBox="1"/>
          <p:nvPr/>
        </p:nvSpPr>
        <p:spPr>
          <a:xfrm>
            <a:off x="5669280" y="2807208"/>
            <a:ext cx="1463040" cy="969264"/>
          </a:xfrm>
          <a:prstGeom prst="rect">
            <a:avLst/>
          </a:prstGeom>
          <a:noFill/>
          <a:ln/>
        </p:spPr>
        <p:txBody>
          <a:bodyPr wrap="square" lIns="0" tIns="0" rIns="0" bIns="0" rtlCol="0" anchor="ctr"/>
          <a:lstStyle/>
          <a:p>
            <a:pPr indent="0" marL="0">
              <a:buNone/>
            </a:pPr>
            <a:r>
              <a:rPr lang="en-US" sz="3200" b="1" dirty="0">
                <a:solidFill>
                  <a:srgbClr val="2F6FE4"/>
                </a:solidFill>
                <a:latin typeface="Montserrat" pitchFamily="34" charset="0"/>
                <a:ea typeface="Montserrat" pitchFamily="34" charset="-122"/>
                <a:cs typeface="Montserrat" pitchFamily="34" charset="-120"/>
              </a:rPr>
              <a:t>6000</a:t>
            </a:r>
            <a:endParaRPr lang="en-US" sz="3200" dirty="0"/>
          </a:p>
        </p:txBody>
      </p:sp>
      <p:sp>
        <p:nvSpPr>
          <p:cNvPr id="14" name="Text 11"/>
          <p:cNvSpPr txBox="1"/>
          <p:nvPr/>
        </p:nvSpPr>
        <p:spPr>
          <a:xfrm>
            <a:off x="7178040" y="2807208"/>
            <a:ext cx="4297680" cy="969264"/>
          </a:xfrm>
          <a:prstGeom prst="rect">
            <a:avLst/>
          </a:prstGeom>
          <a:noFill/>
          <a:ln/>
        </p:spPr>
        <p:txBody>
          <a:bodyPr wrap="square" lIns="0" tIns="0" rIns="0" bIns="0" rtlCol="0" anchor="ctr"/>
          <a:lstStyle/>
          <a:p>
            <a:pPr indent="0" marL="0">
              <a:buNone/>
            </a:pPr>
            <a:r>
              <a:rPr lang="en-US" sz="1700" dirty="0">
                <a:solidFill>
                  <a:srgbClr val="14183D"/>
                </a:solidFill>
                <a:latin typeface="Montserrat" pitchFamily="34" charset="0"/>
                <a:ea typeface="Montserrat" pitchFamily="34" charset="-122"/>
                <a:cs typeface="Montserrat" pitchFamily="34" charset="-120"/>
              </a:rPr>
              <a:t>épisodes par entraînement</a:t>
            </a:r>
            <a:endParaRPr lang="en-US" sz="1700" dirty="0"/>
          </a:p>
        </p:txBody>
      </p:sp>
      <p:sp>
        <p:nvSpPr>
          <p:cNvPr id="15" name="carte"/>
          <p:cNvSpPr/>
          <p:nvPr/>
        </p:nvSpPr>
        <p:spPr>
          <a:xfrm>
            <a:off x="5440680" y="3922776"/>
            <a:ext cx="6199632" cy="969264"/>
          </a:xfrm>
          <a:prstGeom prst="roundRect">
            <a:avLst>
              <a:gd name="adj" fmla="val 7547"/>
            </a:avLst>
          </a:prstGeom>
          <a:solidFill>
            <a:srgbClr val="FFFFFF"/>
          </a:solidFill>
          <a:ln/>
          <a:effectLst>
            <a:outerShdw sx="100000" sy="100000" kx="0" ky="0" algn="bl" rotWithShape="0" blurRad="101600" dist="25400" dir="5400000">
              <a:srgbClr val="0B1F44">
                <a:alpha val="22000"/>
              </a:srgbClr>
            </a:outerShdw>
          </a:effectLst>
        </p:spPr>
      </p:sp>
      <p:sp>
        <p:nvSpPr>
          <p:cNvPr id="16" name="Text 13"/>
          <p:cNvSpPr txBox="1"/>
          <p:nvPr/>
        </p:nvSpPr>
        <p:spPr>
          <a:xfrm>
            <a:off x="5669280" y="3922776"/>
            <a:ext cx="1463040" cy="969264"/>
          </a:xfrm>
          <a:prstGeom prst="rect">
            <a:avLst/>
          </a:prstGeom>
          <a:noFill/>
          <a:ln/>
        </p:spPr>
        <p:txBody>
          <a:bodyPr wrap="square" lIns="0" tIns="0" rIns="0" bIns="0" rtlCol="0" anchor="ctr"/>
          <a:lstStyle/>
          <a:p>
            <a:pPr indent="0" marL="0">
              <a:buNone/>
            </a:pPr>
            <a:r>
              <a:rPr lang="en-US" sz="3200" b="1" dirty="0">
                <a:solidFill>
                  <a:srgbClr val="2F6FE4"/>
                </a:solidFill>
                <a:latin typeface="Montserrat" pitchFamily="34" charset="0"/>
                <a:ea typeface="Montserrat" pitchFamily="34" charset="-122"/>
                <a:cs typeface="Montserrat" pitchFamily="34" charset="-120"/>
              </a:rPr>
              <a:t>5</a:t>
            </a:r>
            <a:endParaRPr lang="en-US" sz="3200" dirty="0"/>
          </a:p>
        </p:txBody>
      </p:sp>
      <p:sp>
        <p:nvSpPr>
          <p:cNvPr id="17" name="Text 14"/>
          <p:cNvSpPr txBox="1"/>
          <p:nvPr/>
        </p:nvSpPr>
        <p:spPr>
          <a:xfrm>
            <a:off x="7178040" y="3922776"/>
            <a:ext cx="4297680" cy="969264"/>
          </a:xfrm>
          <a:prstGeom prst="rect">
            <a:avLst/>
          </a:prstGeom>
          <a:noFill/>
          <a:ln/>
        </p:spPr>
        <p:txBody>
          <a:bodyPr wrap="square" lIns="0" tIns="0" rIns="0" bIns="0" rtlCol="0" anchor="ctr"/>
          <a:lstStyle/>
          <a:p>
            <a:pPr indent="0" marL="0">
              <a:buNone/>
            </a:pPr>
            <a:r>
              <a:rPr lang="en-US" sz="1700" dirty="0">
                <a:solidFill>
                  <a:srgbClr val="14183D"/>
                </a:solidFill>
                <a:latin typeface="Montserrat" pitchFamily="34" charset="0"/>
                <a:ea typeface="Montserrat" pitchFamily="34" charset="-122"/>
                <a:cs typeface="Montserrat" pitchFamily="34" charset="-120"/>
              </a:rPr>
              <a:t>graines (42 à 46), même machine</a:t>
            </a:r>
            <a:endParaRPr lang="en-US" sz="1700" dirty="0"/>
          </a:p>
        </p:txBody>
      </p:sp>
      <p:sp>
        <p:nvSpPr>
          <p:cNvPr id="18" name="carte"/>
          <p:cNvSpPr/>
          <p:nvPr/>
        </p:nvSpPr>
        <p:spPr>
          <a:xfrm>
            <a:off x="5440680" y="5038344"/>
            <a:ext cx="6199632" cy="969264"/>
          </a:xfrm>
          <a:prstGeom prst="roundRect">
            <a:avLst>
              <a:gd name="adj" fmla="val 7547"/>
            </a:avLst>
          </a:prstGeom>
          <a:solidFill>
            <a:srgbClr val="FFFFFF"/>
          </a:solidFill>
          <a:ln/>
          <a:effectLst>
            <a:outerShdw sx="100000" sy="100000" kx="0" ky="0" algn="bl" rotWithShape="0" blurRad="101600" dist="25400" dir="5400000">
              <a:srgbClr val="0B1F44">
                <a:alpha val="22000"/>
              </a:srgbClr>
            </a:outerShdw>
          </a:effectLst>
        </p:spPr>
      </p:sp>
      <p:sp>
        <p:nvSpPr>
          <p:cNvPr id="19" name="Text 16"/>
          <p:cNvSpPr txBox="1"/>
          <p:nvPr/>
        </p:nvSpPr>
        <p:spPr>
          <a:xfrm>
            <a:off x="5669280" y="5038344"/>
            <a:ext cx="1463040" cy="969264"/>
          </a:xfrm>
          <a:prstGeom prst="rect">
            <a:avLst/>
          </a:prstGeom>
          <a:noFill/>
          <a:ln/>
        </p:spPr>
        <p:txBody>
          <a:bodyPr wrap="square" lIns="0" tIns="0" rIns="0" bIns="0" rtlCol="0" anchor="ctr"/>
          <a:lstStyle/>
          <a:p>
            <a:pPr indent="0" marL="0">
              <a:buNone/>
            </a:pPr>
            <a:r>
              <a:rPr lang="en-US" sz="3200" b="1" dirty="0">
                <a:solidFill>
                  <a:srgbClr val="2F6FE4"/>
                </a:solidFill>
                <a:latin typeface="Montserrat" pitchFamily="34" charset="0"/>
                <a:ea typeface="Montserrat" pitchFamily="34" charset="-122"/>
                <a:cs typeface="Montserrat" pitchFamily="34" charset="-120"/>
              </a:rPr>
              <a:t>50</a:t>
            </a:r>
            <a:endParaRPr lang="en-US" sz="3200" dirty="0"/>
          </a:p>
        </p:txBody>
      </p:sp>
      <p:sp>
        <p:nvSpPr>
          <p:cNvPr id="20" name="Text 17"/>
          <p:cNvSpPr txBox="1"/>
          <p:nvPr/>
        </p:nvSpPr>
        <p:spPr>
          <a:xfrm>
            <a:off x="7178040" y="5038344"/>
            <a:ext cx="4297680" cy="969264"/>
          </a:xfrm>
          <a:prstGeom prst="rect">
            <a:avLst/>
          </a:prstGeom>
          <a:noFill/>
          <a:ln/>
        </p:spPr>
        <p:txBody>
          <a:bodyPr wrap="square" lIns="0" tIns="0" rIns="0" bIns="0" rtlCol="0" anchor="ctr"/>
          <a:lstStyle/>
          <a:p>
            <a:pPr indent="0" marL="0">
              <a:buNone/>
            </a:pPr>
            <a:r>
              <a:rPr lang="en-US" sz="1700" dirty="0">
                <a:solidFill>
                  <a:srgbClr val="14183D"/>
                </a:solidFill>
                <a:latin typeface="Montserrat" pitchFamily="34" charset="0"/>
                <a:ea typeface="Montserrat" pitchFamily="34" charset="-122"/>
                <a:cs typeface="Montserrat" pitchFamily="34" charset="-120"/>
              </a:rPr>
              <a:t>parties de test avec 2 % de hasard : la robustesse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1-2  -  LE DUEL SUR V3</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Les méthodes à tableau apprennent vite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11</a:t>
            </a:r>
            <a:endParaRPr lang="en-US" sz="1100" dirty="0"/>
          </a:p>
        </p:txBody>
      </p:sp>
      <p:pic>
        <p:nvPicPr>
          <p:cNvPr id="6" name="remplacement_01_qlearning_progression" descr="/home/user/MarioRL_FinalWork/docs/oral/fabrication/assets/fallback_01_qlearning_progression.png">    </p:cNvPr>
          <p:cNvPicPr>
            <a:picLocks noChangeAspect="1"/>
          </p:cNvPicPr>
          <p:nvPr/>
        </p:nvPicPr>
        <p:blipFill>
          <a:blip r:embed="rId1"/>
          <a:stretch>
            <a:fillRect/>
          </a:stretch>
        </p:blipFill>
        <p:spPr>
          <a:xfrm>
            <a:off x="548640" y="1645920"/>
            <a:ext cx="7955280" cy="2759488"/>
          </a:xfrm>
          <a:prstGeom prst="rect">
            <a:avLst/>
          </a:prstGeom>
        </p:spPr>
      </p:pic>
      <p:pic>
        <p:nvPicPr>
          <p:cNvPr id="4" name="video_01_qlearning_progression">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48640" y="1645920"/>
            <a:ext cx="7955280" cy="2759488"/>
          </a:xfrm>
          <a:prstGeom prst="rect">
            <a:avLst/>
          </a:prstGeom>
        </p:spPr>
      </p:pic>
      <p:sp>
        <p:nvSpPr>
          <p:cNvPr id="8" name="Text 4"/>
          <p:cNvSpPr txBox="1"/>
          <p:nvPr/>
        </p:nvSpPr>
        <p:spPr>
          <a:xfrm>
            <a:off x="548640" y="4496848"/>
            <a:ext cx="7955280" cy="320040"/>
          </a:xfrm>
          <a:prstGeom prst="rect">
            <a:avLst/>
          </a:prstGeom>
          <a:noFill/>
          <a:ln/>
        </p:spPr>
        <p:txBody>
          <a:bodyPr wrap="square" lIns="0" tIns="0" rIns="0" bIns="0" rtlCol="0" anchor="t"/>
          <a:lstStyle/>
          <a:p>
            <a:pPr indent="0" marL="0">
              <a:buNone/>
            </a:pPr>
            <a:r>
              <a:rPr lang="en-US" sz="1300" b="1" dirty="0">
                <a:solidFill>
                  <a:srgbClr val="FFFFFF"/>
                </a:solidFill>
                <a:latin typeface="Montserrat" pitchFamily="34" charset="0"/>
                <a:ea typeface="Montserrat" pitchFamily="34" charset="-122"/>
                <a:cs typeface="Montserrat" pitchFamily="34" charset="-120"/>
              </a:rPr>
              <a:t>Q-Learning aux épisodes 100, 1000, 2200 et 6000</a:t>
            </a:r>
            <a:endParaRPr lang="en-US" sz="1300" dirty="0"/>
          </a:p>
        </p:txBody>
      </p:sp>
      <p:sp>
        <p:nvSpPr>
          <p:cNvPr id="9" name="kpi"/>
          <p:cNvSpPr/>
          <p:nvPr/>
        </p:nvSpPr>
        <p:spPr>
          <a:xfrm>
            <a:off x="8778240" y="1645920"/>
            <a:ext cx="2862072" cy="868680"/>
          </a:xfrm>
          <a:prstGeom prst="roundRect">
            <a:avLst>
              <a:gd name="adj" fmla="val 8421"/>
            </a:avLst>
          </a:prstGeom>
          <a:solidFill>
            <a:srgbClr val="FFFFFF"/>
          </a:solidFill>
          <a:ln/>
          <a:effectLst>
            <a:outerShdw sx="100000" sy="100000" kx="0" ky="0" algn="bl" rotWithShape="0" blurRad="101600" dist="25400" dir="5400000">
              <a:srgbClr val="0B1F44">
                <a:alpha val="22000"/>
              </a:srgbClr>
            </a:outerShdw>
          </a:effectLst>
        </p:spPr>
      </p:sp>
      <p:sp>
        <p:nvSpPr>
          <p:cNvPr id="10" name="Text 6"/>
          <p:cNvSpPr txBox="1"/>
          <p:nvPr/>
        </p:nvSpPr>
        <p:spPr>
          <a:xfrm>
            <a:off x="9006840" y="1755648"/>
            <a:ext cx="2496312" cy="451714"/>
          </a:xfrm>
          <a:prstGeom prst="rect">
            <a:avLst/>
          </a:prstGeom>
          <a:noFill/>
          <a:ln/>
        </p:spPr>
        <p:txBody>
          <a:bodyPr wrap="square" lIns="0" tIns="0" rIns="0" bIns="0" rtlCol="0" anchor="ctr"/>
          <a:lstStyle/>
          <a:p>
            <a:pPr indent="0" marL="0">
              <a:buNone/>
            </a:pPr>
            <a:r>
              <a:rPr lang="en-US" sz="2600" b="1" dirty="0">
                <a:solidFill>
                  <a:srgbClr val="2F6FE4"/>
                </a:solidFill>
                <a:latin typeface="Montserrat" pitchFamily="34" charset="0"/>
                <a:ea typeface="Montserrat" pitchFamily="34" charset="-122"/>
                <a:cs typeface="Montserrat" pitchFamily="34" charset="-120"/>
              </a:rPr>
              <a:t>94,5 %</a:t>
            </a:r>
            <a:endParaRPr lang="en-US" sz="2600" dirty="0"/>
          </a:p>
        </p:txBody>
      </p:sp>
      <p:sp>
        <p:nvSpPr>
          <p:cNvPr id="11" name="Text 7"/>
          <p:cNvSpPr txBox="1"/>
          <p:nvPr/>
        </p:nvSpPr>
        <p:spPr>
          <a:xfrm>
            <a:off x="9006840" y="2167128"/>
            <a:ext cx="2496312" cy="295351"/>
          </a:xfrm>
          <a:prstGeom prst="rect">
            <a:avLst/>
          </a:prstGeom>
          <a:noFill/>
          <a:ln/>
        </p:spPr>
        <p:txBody>
          <a:bodyPr wrap="square" lIns="0" tIns="0" rIns="0" bIns="0" rtlCol="0" anchor="t"/>
          <a:lstStyle/>
          <a:p>
            <a:pPr indent="0" marL="0">
              <a:buNone/>
            </a:pPr>
            <a:r>
              <a:rPr lang="en-US" sz="1200" dirty="0">
                <a:solidFill>
                  <a:srgbClr val="4A5070"/>
                </a:solidFill>
                <a:latin typeface="Montserrat" pitchFamily="34" charset="0"/>
                <a:ea typeface="Montserrat" pitchFamily="34" charset="-122"/>
                <a:cs typeface="Montserrat" pitchFamily="34" charset="-120"/>
              </a:rPr>
              <a:t>Q-Learning · victoires</a:t>
            </a:r>
            <a:endParaRPr lang="en-US" sz="1200" dirty="0"/>
          </a:p>
        </p:txBody>
      </p:sp>
      <p:sp>
        <p:nvSpPr>
          <p:cNvPr id="12" name="kpi"/>
          <p:cNvSpPr/>
          <p:nvPr/>
        </p:nvSpPr>
        <p:spPr>
          <a:xfrm>
            <a:off x="8778240" y="2633472"/>
            <a:ext cx="2862072" cy="868680"/>
          </a:xfrm>
          <a:prstGeom prst="roundRect">
            <a:avLst>
              <a:gd name="adj" fmla="val 8421"/>
            </a:avLst>
          </a:prstGeom>
          <a:solidFill>
            <a:srgbClr val="FFFFFF"/>
          </a:solidFill>
          <a:ln/>
          <a:effectLst>
            <a:outerShdw sx="100000" sy="100000" kx="0" ky="0" algn="bl" rotWithShape="0" blurRad="101600" dist="25400" dir="5400000">
              <a:srgbClr val="0B1F44">
                <a:alpha val="22000"/>
              </a:srgbClr>
            </a:outerShdw>
          </a:effectLst>
        </p:spPr>
      </p:sp>
      <p:sp>
        <p:nvSpPr>
          <p:cNvPr id="13" name="Text 9"/>
          <p:cNvSpPr txBox="1"/>
          <p:nvPr/>
        </p:nvSpPr>
        <p:spPr>
          <a:xfrm>
            <a:off x="9006840" y="2743200"/>
            <a:ext cx="2496312" cy="451714"/>
          </a:xfrm>
          <a:prstGeom prst="rect">
            <a:avLst/>
          </a:prstGeom>
          <a:noFill/>
          <a:ln/>
        </p:spPr>
        <p:txBody>
          <a:bodyPr wrap="square" lIns="0" tIns="0" rIns="0" bIns="0" rtlCol="0" anchor="ctr"/>
          <a:lstStyle/>
          <a:p>
            <a:pPr indent="0" marL="0">
              <a:buNone/>
            </a:pPr>
            <a:r>
              <a:rPr lang="en-US" sz="2600" b="1" dirty="0">
                <a:solidFill>
                  <a:srgbClr val="15911F"/>
                </a:solidFill>
                <a:latin typeface="Montserrat" pitchFamily="34" charset="0"/>
                <a:ea typeface="Montserrat" pitchFamily="34" charset="-122"/>
                <a:cs typeface="Montserrat" pitchFamily="34" charset="-120"/>
              </a:rPr>
              <a:t>96,2 %</a:t>
            </a:r>
            <a:endParaRPr lang="en-US" sz="2600" dirty="0"/>
          </a:p>
        </p:txBody>
      </p:sp>
      <p:sp>
        <p:nvSpPr>
          <p:cNvPr id="14" name="Text 10"/>
          <p:cNvSpPr txBox="1"/>
          <p:nvPr/>
        </p:nvSpPr>
        <p:spPr>
          <a:xfrm>
            <a:off x="9006840" y="3154680"/>
            <a:ext cx="2496312" cy="295351"/>
          </a:xfrm>
          <a:prstGeom prst="rect">
            <a:avLst/>
          </a:prstGeom>
          <a:noFill/>
          <a:ln/>
        </p:spPr>
        <p:txBody>
          <a:bodyPr wrap="square" lIns="0" tIns="0" rIns="0" bIns="0" rtlCol="0" anchor="t"/>
          <a:lstStyle/>
          <a:p>
            <a:pPr indent="0" marL="0">
              <a:buNone/>
            </a:pPr>
            <a:r>
              <a:rPr lang="en-US" sz="1200" dirty="0">
                <a:solidFill>
                  <a:srgbClr val="4A5070"/>
                </a:solidFill>
                <a:latin typeface="Montserrat" pitchFamily="34" charset="0"/>
                <a:ea typeface="Montserrat" pitchFamily="34" charset="-122"/>
                <a:cs typeface="Montserrat" pitchFamily="34" charset="-120"/>
              </a:rPr>
              <a:t>SARSA · victoires</a:t>
            </a:r>
            <a:endParaRPr lang="en-US" sz="1200" dirty="0"/>
          </a:p>
        </p:txBody>
      </p:sp>
      <p:sp>
        <p:nvSpPr>
          <p:cNvPr id="15" name="kpi"/>
          <p:cNvSpPr/>
          <p:nvPr/>
        </p:nvSpPr>
        <p:spPr>
          <a:xfrm>
            <a:off x="8778240" y="3621024"/>
            <a:ext cx="2862072" cy="868680"/>
          </a:xfrm>
          <a:prstGeom prst="roundRect">
            <a:avLst>
              <a:gd name="adj" fmla="val 8421"/>
            </a:avLst>
          </a:prstGeom>
          <a:solidFill>
            <a:srgbClr val="FFFFFF"/>
          </a:solidFill>
          <a:ln/>
          <a:effectLst>
            <a:outerShdw sx="100000" sy="100000" kx="0" ky="0" algn="bl" rotWithShape="0" blurRad="101600" dist="25400" dir="5400000">
              <a:srgbClr val="0B1F44">
                <a:alpha val="22000"/>
              </a:srgbClr>
            </a:outerShdw>
          </a:effectLst>
        </p:spPr>
      </p:sp>
      <p:sp>
        <p:nvSpPr>
          <p:cNvPr id="16" name="Text 12"/>
          <p:cNvSpPr txBox="1"/>
          <p:nvPr/>
        </p:nvSpPr>
        <p:spPr>
          <a:xfrm>
            <a:off x="9006840" y="3730752"/>
            <a:ext cx="2496312" cy="451714"/>
          </a:xfrm>
          <a:prstGeom prst="rect">
            <a:avLst/>
          </a:prstGeom>
          <a:noFill/>
          <a:ln/>
        </p:spPr>
        <p:txBody>
          <a:bodyPr wrap="square" lIns="0" tIns="0" rIns="0" bIns="0" rtlCol="0" anchor="ctr"/>
          <a:lstStyle/>
          <a:p>
            <a:pPr indent="0" marL="0">
              <a:buNone/>
            </a:pPr>
            <a:r>
              <a:rPr lang="en-US" sz="2600" b="1" dirty="0">
                <a:solidFill>
                  <a:srgbClr val="E8790C"/>
                </a:solidFill>
                <a:latin typeface="Montserrat" pitchFamily="34" charset="0"/>
                <a:ea typeface="Montserrat" pitchFamily="34" charset="-122"/>
                <a:cs typeface="Montserrat" pitchFamily="34" charset="-120"/>
              </a:rPr>
              <a:t>96,2 %</a:t>
            </a:r>
            <a:endParaRPr lang="en-US" sz="2600" dirty="0"/>
          </a:p>
        </p:txBody>
      </p:sp>
      <p:sp>
        <p:nvSpPr>
          <p:cNvPr id="17" name="Text 13"/>
          <p:cNvSpPr txBox="1"/>
          <p:nvPr/>
        </p:nvSpPr>
        <p:spPr>
          <a:xfrm>
            <a:off x="9006840" y="4142232"/>
            <a:ext cx="2496312" cy="295351"/>
          </a:xfrm>
          <a:prstGeom prst="rect">
            <a:avLst/>
          </a:prstGeom>
          <a:noFill/>
          <a:ln/>
        </p:spPr>
        <p:txBody>
          <a:bodyPr wrap="square" lIns="0" tIns="0" rIns="0" bIns="0" rtlCol="0" anchor="t"/>
          <a:lstStyle/>
          <a:p>
            <a:pPr indent="0" marL="0">
              <a:buNone/>
            </a:pPr>
            <a:r>
              <a:rPr lang="en-US" sz="1200" dirty="0">
                <a:solidFill>
                  <a:srgbClr val="4A5070"/>
                </a:solidFill>
                <a:latin typeface="Montserrat" pitchFamily="34" charset="0"/>
                <a:ea typeface="Montserrat" pitchFamily="34" charset="-122"/>
                <a:cs typeface="Montserrat" pitchFamily="34" charset="-120"/>
              </a:rPr>
              <a:t>Monte Carlo · victoires</a:t>
            </a:r>
            <a:endParaRPr lang="en-US" sz="1200" dirty="0"/>
          </a:p>
        </p:txBody>
      </p:sp>
      <p:sp>
        <p:nvSpPr>
          <p:cNvPr id="18" name="Text 14"/>
          <p:cNvSpPr txBox="1"/>
          <p:nvPr/>
        </p:nvSpPr>
        <p:spPr>
          <a:xfrm>
            <a:off x="548640" y="5486400"/>
            <a:ext cx="11091672" cy="457200"/>
          </a:xfrm>
          <a:prstGeom prst="rect">
            <a:avLst/>
          </a:prstGeom>
          <a:noFill/>
          <a:ln/>
        </p:spPr>
        <p:txBody>
          <a:bodyPr wrap="square" lIns="0" tIns="0" rIns="0" bIns="0"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Monte Carlo attend les Goombas : 2× plus de pas, 2× plus d'ennemis écrasés.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1-2  -  LE DUEL SUR V3</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DQN : de 40 % à 94 % de victoires</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12</a:t>
            </a:r>
            <a:endParaRPr lang="en-US" sz="1100" dirty="0"/>
          </a:p>
        </p:txBody>
      </p:sp>
      <p:pic>
        <p:nvPicPr>
          <p:cNvPr id="6" name="remplacement_02_dqn_article_vs_notre" descr="/home/user/MarioRL_FinalWork/docs/oral/fabrication/assets/fallback_02_dqn_article_vs_notre.png">    </p:cNvPr>
          <p:cNvPicPr>
            <a:picLocks noChangeAspect="1"/>
          </p:cNvPicPr>
          <p:nvPr/>
        </p:nvPicPr>
        <p:blipFill>
          <a:blip r:embed="rId1"/>
          <a:stretch>
            <a:fillRect/>
          </a:stretch>
        </p:blipFill>
        <p:spPr>
          <a:xfrm>
            <a:off x="548640" y="1645920"/>
            <a:ext cx="11091672" cy="1952596"/>
          </a:xfrm>
          <a:prstGeom prst="rect">
            <a:avLst/>
          </a:prstGeom>
        </p:spPr>
      </p:pic>
      <p:pic>
        <p:nvPicPr>
          <p:cNvPr id="4" name="video_02_dqn_article_vs_notre">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48640" y="1645920"/>
            <a:ext cx="11091672" cy="1952596"/>
          </a:xfrm>
          <a:prstGeom prst="rect">
            <a:avLst/>
          </a:prstGeom>
        </p:spPr>
      </p:pic>
      <p:sp>
        <p:nvSpPr>
          <p:cNvPr id="8" name="carte"/>
          <p:cNvSpPr/>
          <p:nvPr/>
        </p:nvSpPr>
        <p:spPr>
          <a:xfrm>
            <a:off x="548640" y="3886200"/>
            <a:ext cx="6949440" cy="2423160"/>
          </a:xfrm>
          <a:prstGeom prst="roundRect">
            <a:avLst>
              <a:gd name="adj" fmla="val 3019"/>
            </a:avLst>
          </a:prstGeom>
          <a:solidFill>
            <a:srgbClr val="FFFFFF"/>
          </a:solidFill>
          <a:ln/>
          <a:effectLst>
            <a:outerShdw sx="100000" sy="100000" kx="0" ky="0" algn="bl" rotWithShape="0" blurRad="101600" dist="25400" dir="5400000">
              <a:srgbClr val="0B1F44">
                <a:alpha val="22000"/>
              </a:srgbClr>
            </a:outerShdw>
          </a:effectLst>
        </p:spPr>
      </p:sp>
      <p:sp>
        <p:nvSpPr>
          <p:cNvPr id="9" name="Text 5"/>
          <p:cNvSpPr txBox="1"/>
          <p:nvPr/>
        </p:nvSpPr>
        <p:spPr>
          <a:xfrm>
            <a:off x="822960" y="4023360"/>
            <a:ext cx="260604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DQN de l'article</a:t>
            </a:r>
            <a:endParaRPr lang="en-US" sz="1400" dirty="0"/>
          </a:p>
        </p:txBody>
      </p:sp>
      <p:sp>
        <p:nvSpPr>
          <p:cNvPr id="10" name="Shape 6"/>
          <p:cNvSpPr/>
          <p:nvPr/>
        </p:nvSpPr>
        <p:spPr>
          <a:xfrm>
            <a:off x="3566160" y="4130802"/>
            <a:ext cx="1212494" cy="214884"/>
          </a:xfrm>
          <a:prstGeom prst="rect">
            <a:avLst/>
          </a:prstGeom>
          <a:solidFill>
            <a:srgbClr val="D62839"/>
          </a:solidFill>
          <a:ln/>
        </p:spPr>
      </p:sp>
      <p:sp>
        <p:nvSpPr>
          <p:cNvPr id="11" name="Text 7"/>
          <p:cNvSpPr txBox="1"/>
          <p:nvPr/>
        </p:nvSpPr>
        <p:spPr>
          <a:xfrm>
            <a:off x="4888382" y="4023360"/>
            <a:ext cx="118872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44 %</a:t>
            </a:r>
            <a:endParaRPr lang="en-US" sz="1400" dirty="0"/>
          </a:p>
        </p:txBody>
      </p:sp>
      <p:sp>
        <p:nvSpPr>
          <p:cNvPr id="12" name="Text 8"/>
          <p:cNvSpPr txBox="1"/>
          <p:nvPr/>
        </p:nvSpPr>
        <p:spPr>
          <a:xfrm>
            <a:off x="822960" y="4453128"/>
            <a:ext cx="260604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 vue complète</a:t>
            </a:r>
            <a:endParaRPr lang="en-US" sz="1400" dirty="0"/>
          </a:p>
        </p:txBody>
      </p:sp>
      <p:sp>
        <p:nvSpPr>
          <p:cNvPr id="13" name="Shape 9"/>
          <p:cNvSpPr/>
          <p:nvPr/>
        </p:nvSpPr>
        <p:spPr>
          <a:xfrm>
            <a:off x="3566160" y="4560570"/>
            <a:ext cx="2243938" cy="214884"/>
          </a:xfrm>
          <a:prstGeom prst="rect">
            <a:avLst/>
          </a:prstGeom>
          <a:solidFill>
            <a:srgbClr val="7B3FE4"/>
          </a:solidFill>
          <a:ln/>
        </p:spPr>
      </p:sp>
      <p:sp>
        <p:nvSpPr>
          <p:cNvPr id="14" name="Text 10"/>
          <p:cNvSpPr txBox="1"/>
          <p:nvPr/>
        </p:nvSpPr>
        <p:spPr>
          <a:xfrm>
            <a:off x="5919826" y="4453128"/>
            <a:ext cx="118872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82 %</a:t>
            </a:r>
            <a:endParaRPr lang="en-US" sz="1400" dirty="0"/>
          </a:p>
        </p:txBody>
      </p:sp>
      <p:sp>
        <p:nvSpPr>
          <p:cNvPr id="15" name="Text 11"/>
          <p:cNvSpPr txBox="1"/>
          <p:nvPr/>
        </p:nvSpPr>
        <p:spPr>
          <a:xfrm>
            <a:off x="822960" y="4882896"/>
            <a:ext cx="260604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 Double DQN, 3 pas…</a:t>
            </a:r>
            <a:endParaRPr lang="en-US" sz="1400" dirty="0"/>
          </a:p>
        </p:txBody>
      </p:sp>
      <p:sp>
        <p:nvSpPr>
          <p:cNvPr id="16" name="Shape 12"/>
          <p:cNvSpPr/>
          <p:nvPr/>
        </p:nvSpPr>
        <p:spPr>
          <a:xfrm>
            <a:off x="3566160" y="4990338"/>
            <a:ext cx="2145182" cy="214884"/>
          </a:xfrm>
          <a:prstGeom prst="rect">
            <a:avLst/>
          </a:prstGeom>
          <a:solidFill>
            <a:srgbClr val="B9AEDF"/>
          </a:solidFill>
          <a:ln/>
        </p:spPr>
      </p:sp>
      <p:sp>
        <p:nvSpPr>
          <p:cNvPr id="17" name="Text 13"/>
          <p:cNvSpPr txBox="1"/>
          <p:nvPr/>
        </p:nvSpPr>
        <p:spPr>
          <a:xfrm>
            <a:off x="5821070" y="4882896"/>
            <a:ext cx="118872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78 %</a:t>
            </a:r>
            <a:endParaRPr lang="en-US" sz="1400" dirty="0"/>
          </a:p>
        </p:txBody>
      </p:sp>
      <p:sp>
        <p:nvSpPr>
          <p:cNvPr id="18" name="Text 14"/>
          <p:cNvSpPr txBox="1"/>
          <p:nvPr/>
        </p:nvSpPr>
        <p:spPr>
          <a:xfrm>
            <a:off x="822960" y="5312664"/>
            <a:ext cx="260604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 réseau convolutif</a:t>
            </a:r>
            <a:endParaRPr lang="en-US" sz="1400" dirty="0"/>
          </a:p>
        </p:txBody>
      </p:sp>
      <p:sp>
        <p:nvSpPr>
          <p:cNvPr id="19" name="Shape 15"/>
          <p:cNvSpPr/>
          <p:nvPr/>
        </p:nvSpPr>
        <p:spPr>
          <a:xfrm>
            <a:off x="3566160" y="5420106"/>
            <a:ext cx="2101291" cy="214884"/>
          </a:xfrm>
          <a:prstGeom prst="rect">
            <a:avLst/>
          </a:prstGeom>
          <a:solidFill>
            <a:srgbClr val="B9AEDF"/>
          </a:solidFill>
          <a:ln/>
        </p:spPr>
      </p:sp>
      <p:sp>
        <p:nvSpPr>
          <p:cNvPr id="20" name="Text 16"/>
          <p:cNvSpPr txBox="1"/>
          <p:nvPr/>
        </p:nvSpPr>
        <p:spPr>
          <a:xfrm>
            <a:off x="5777179" y="5312664"/>
            <a:ext cx="118872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77 %</a:t>
            </a:r>
            <a:endParaRPr lang="en-US" sz="1400" dirty="0"/>
          </a:p>
        </p:txBody>
      </p:sp>
      <p:sp>
        <p:nvSpPr>
          <p:cNvPr id="21" name="Text 17"/>
          <p:cNvSpPr txBox="1"/>
          <p:nvPr/>
        </p:nvSpPr>
        <p:spPr>
          <a:xfrm>
            <a:off x="822960" y="5742432"/>
            <a:ext cx="260604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 réglages fins</a:t>
            </a:r>
            <a:endParaRPr lang="en-US" sz="1400" dirty="0"/>
          </a:p>
        </p:txBody>
      </p:sp>
      <p:sp>
        <p:nvSpPr>
          <p:cNvPr id="22" name="Shape 18"/>
          <p:cNvSpPr/>
          <p:nvPr/>
        </p:nvSpPr>
        <p:spPr>
          <a:xfrm>
            <a:off x="3566160" y="5849874"/>
            <a:ext cx="2592324" cy="214884"/>
          </a:xfrm>
          <a:prstGeom prst="rect">
            <a:avLst/>
          </a:prstGeom>
          <a:solidFill>
            <a:srgbClr val="7B3FE4"/>
          </a:solidFill>
          <a:ln/>
        </p:spPr>
      </p:sp>
      <p:sp>
        <p:nvSpPr>
          <p:cNvPr id="23" name="Text 19"/>
          <p:cNvSpPr txBox="1"/>
          <p:nvPr/>
        </p:nvSpPr>
        <p:spPr>
          <a:xfrm>
            <a:off x="6268212" y="5742432"/>
            <a:ext cx="1188720" cy="429768"/>
          </a:xfrm>
          <a:prstGeom prst="rect">
            <a:avLst/>
          </a:prstGeom>
          <a:noFill/>
          <a:ln/>
        </p:spPr>
        <p:txBody>
          <a:bodyPr wrap="square" lIns="0" tIns="0" rIns="0" bIns="0" rtlCol="0" anchor="ctr"/>
          <a:lstStyle/>
          <a:p>
            <a:pPr indent="0" marL="0">
              <a:buNone/>
            </a:pPr>
            <a:r>
              <a:rPr lang="en-US" sz="1400" b="1" dirty="0">
                <a:solidFill>
                  <a:srgbClr val="14183D"/>
                </a:solidFill>
                <a:latin typeface="Montserrat" pitchFamily="34" charset="0"/>
                <a:ea typeface="Montserrat" pitchFamily="34" charset="-122"/>
                <a:cs typeface="Montserrat" pitchFamily="34" charset="-120"/>
              </a:rPr>
              <a:t>94,5 %</a:t>
            </a:r>
            <a:endParaRPr lang="en-US" sz="1400" dirty="0"/>
          </a:p>
        </p:txBody>
      </p:sp>
      <p:sp>
        <p:nvSpPr>
          <p:cNvPr id="24" name="Text 20"/>
          <p:cNvSpPr txBox="1"/>
          <p:nvPr/>
        </p:nvSpPr>
        <p:spPr>
          <a:xfrm>
            <a:off x="7863840" y="3977640"/>
            <a:ext cx="3776472" cy="731520"/>
          </a:xfrm>
          <a:prstGeom prst="rect">
            <a:avLst/>
          </a:prstGeom>
          <a:noFill/>
          <a:ln/>
        </p:spPr>
        <p:txBody>
          <a:bodyPr wrap="square" lIns="0" tIns="0" rIns="0" bIns="0" rtlCol="0" anchor="t"/>
          <a:lstStyle/>
          <a:p>
            <a:pPr indent="0" marL="0">
              <a:buNone/>
            </a:pPr>
            <a:r>
              <a:rPr lang="en-US" sz="3800" b="1" dirty="0">
                <a:solidFill>
                  <a:srgbClr val="FFFFFF"/>
                </a:solidFill>
                <a:latin typeface="Montserrat" pitchFamily="34" charset="0"/>
                <a:ea typeface="Montserrat" pitchFamily="34" charset="-122"/>
                <a:cs typeface="Montserrat" pitchFamily="34" charset="-120"/>
              </a:rPr>
              <a:t>+38 points</a:t>
            </a:r>
            <a:endParaRPr lang="en-US" sz="3800" dirty="0"/>
          </a:p>
        </p:txBody>
      </p:sp>
      <p:sp>
        <p:nvSpPr>
          <p:cNvPr id="25" name="Text 21"/>
          <p:cNvSpPr txBox="1"/>
          <p:nvPr/>
        </p:nvSpPr>
        <p:spPr>
          <a:xfrm>
            <a:off x="7863840" y="4709160"/>
            <a:ext cx="3776472" cy="822960"/>
          </a:xfrm>
          <a:prstGeom prst="rect">
            <a:avLst/>
          </a:prstGeom>
          <a:noFill/>
          <a:ln/>
        </p:spPr>
        <p:txBody>
          <a:bodyPr wrap="square" lIns="0" tIns="0" rIns="0" bIns="0" rtlCol="0" anchor="t"/>
          <a:lstStyle/>
          <a:p>
            <a:pPr indent="0" marL="0">
              <a:buNone/>
            </a:pPr>
            <a:r>
              <a:rPr lang="en-US" sz="1700" b="1" dirty="0">
                <a:solidFill>
                  <a:srgbClr val="FFFFFF"/>
                </a:solidFill>
                <a:latin typeface="Montserrat" pitchFamily="34" charset="0"/>
                <a:ea typeface="Montserrat" pitchFamily="34" charset="-122"/>
                <a:cs typeface="Montserrat" pitchFamily="34" charset="-120"/>
              </a:rPr>
              <a:t>grâce à la vue complète : c'est ce que voit l'IA qui compte.</a:t>
            </a:r>
            <a:endParaRPr lang="en-US" sz="1700" dirty="0"/>
          </a:p>
        </p:txBody>
      </p:sp>
      <p:sp>
        <p:nvSpPr>
          <p:cNvPr id="26" name="Text 22"/>
          <p:cNvSpPr txBox="1"/>
          <p:nvPr/>
        </p:nvSpPr>
        <p:spPr>
          <a:xfrm>
            <a:off x="7863840" y="5669280"/>
            <a:ext cx="3776472" cy="548640"/>
          </a:xfrm>
          <a:prstGeom prst="rect">
            <a:avLst/>
          </a:prstGeom>
          <a:noFill/>
          <a:ln/>
        </p:spPr>
        <p:txBody>
          <a:bodyPr wrap="square" lIns="0" tIns="0" rIns="0" bIns="0" rtlCol="0" anchor="t"/>
          <a:lstStyle/>
          <a:p>
            <a:pPr indent="0" marL="0">
              <a:buNone/>
            </a:pPr>
            <a:r>
              <a:rPr lang="en-US" sz="1400" dirty="0">
                <a:solidFill>
                  <a:srgbClr val="14183D"/>
                </a:solidFill>
                <a:latin typeface="Montserrat" pitchFamily="34" charset="0"/>
                <a:ea typeface="Montserrat" pitchFamily="34" charset="-122"/>
                <a:cs typeface="Montserrat" pitchFamily="34" charset="-120"/>
              </a:rPr>
              <a:t>Optimisé avec Claude, vérifié étape par étape.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1-2  -  LE DUEL SUR V3</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Le tableau final</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13</a:t>
            </a:r>
            <a:endParaRPr lang="en-US" sz="1100" dirty="0"/>
          </a:p>
        </p:txBody>
      </p:sp>
      <p:sp>
        <p:nvSpPr>
          <p:cNvPr id="6" name="tableau_fond"/>
          <p:cNvSpPr/>
          <p:nvPr/>
        </p:nvSpPr>
        <p:spPr>
          <a:xfrm>
            <a:off x="548640" y="1645920"/>
            <a:ext cx="11091672" cy="3383280"/>
          </a:xfrm>
          <a:prstGeom prst="rect">
            <a:avLst/>
          </a:prstGeom>
          <a:solidFill>
            <a:srgbClr val="FFFFFF"/>
          </a:solidFill>
          <a:ln/>
          <a:effectLst>
            <a:outerShdw sx="100000" sy="100000" kx="0" ky="0" algn="bl" rotWithShape="0" blurRad="101600" dist="25400" dir="5400000">
              <a:srgbClr val="0B1F44">
                <a:alpha val="22000"/>
              </a:srgbClr>
            </a:outerShdw>
          </a:effectLst>
        </p:spPr>
      </p:sp>
      <p:sp>
        <p:nvSpPr>
          <p:cNvPr id="7" name="entete"/>
          <p:cNvSpPr txBox="1"/>
          <p:nvPr/>
        </p:nvSpPr>
        <p:spPr>
          <a:xfrm>
            <a:off x="548640" y="1645920"/>
            <a:ext cx="2651760" cy="548640"/>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Algorithme</a:t>
            </a:r>
            <a:endParaRPr lang="en-US" sz="1200" dirty="0"/>
          </a:p>
        </p:txBody>
      </p:sp>
      <p:sp>
        <p:nvSpPr>
          <p:cNvPr id="8" name="entete"/>
          <p:cNvSpPr txBox="1"/>
          <p:nvPr/>
        </p:nvSpPr>
        <p:spPr>
          <a:xfrm>
            <a:off x="3200400" y="1645920"/>
            <a:ext cx="1737360" cy="54864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Victoires</a:t>
            </a:r>
            <a:endParaRPr lang="en-US" sz="1200" dirty="0"/>
          </a:p>
        </p:txBody>
      </p:sp>
      <p:sp>
        <p:nvSpPr>
          <p:cNvPr id="9" name="entete"/>
          <p:cNvSpPr txBox="1"/>
          <p:nvPr/>
        </p:nvSpPr>
        <p:spPr>
          <a:xfrm>
            <a:off x="4937760" y="1645920"/>
            <a:ext cx="1828800" cy="54864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Robustesse*</a:t>
            </a:r>
            <a:endParaRPr lang="en-US" sz="1200" dirty="0"/>
          </a:p>
        </p:txBody>
      </p:sp>
      <p:sp>
        <p:nvSpPr>
          <p:cNvPr id="10" name="entete"/>
          <p:cNvSpPr txBox="1"/>
          <p:nvPr/>
        </p:nvSpPr>
        <p:spPr>
          <a:xfrm>
            <a:off x="6766560" y="1645920"/>
            <a:ext cx="1645920" cy="54864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Retour moyen</a:t>
            </a:r>
            <a:endParaRPr lang="en-US" sz="1200" dirty="0"/>
          </a:p>
        </p:txBody>
      </p:sp>
      <p:sp>
        <p:nvSpPr>
          <p:cNvPr id="11" name="entete"/>
          <p:cNvSpPr txBox="1"/>
          <p:nvPr/>
        </p:nvSpPr>
        <p:spPr>
          <a:xfrm>
            <a:off x="8412480" y="1645920"/>
            <a:ext cx="1828800" cy="54864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Parties pour 80 %</a:t>
            </a:r>
            <a:endParaRPr lang="en-US" sz="1200" dirty="0"/>
          </a:p>
        </p:txBody>
      </p:sp>
      <p:sp>
        <p:nvSpPr>
          <p:cNvPr id="12" name="entete"/>
          <p:cNvSpPr txBox="1"/>
          <p:nvPr/>
        </p:nvSpPr>
        <p:spPr>
          <a:xfrm>
            <a:off x="10241280" y="1645920"/>
            <a:ext cx="1399032" cy="54864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Morts</a:t>
            </a:r>
            <a:endParaRPr lang="en-US" sz="1200" dirty="0"/>
          </a:p>
        </p:txBody>
      </p:sp>
      <p:sp>
        <p:nvSpPr>
          <p:cNvPr id="13" name="cellule"/>
          <p:cNvSpPr txBox="1"/>
          <p:nvPr/>
        </p:nvSpPr>
        <p:spPr>
          <a:xfrm>
            <a:off x="548640" y="2194560"/>
            <a:ext cx="2651760" cy="566928"/>
          </a:xfrm>
          <a:prstGeom prst="rect">
            <a:avLst/>
          </a:prstGeom>
          <a:solidFill>
            <a:srgbClr val="FFFFFF"/>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Q-Learning</a:t>
            </a:r>
            <a:endParaRPr lang="en-US" sz="1500" dirty="0"/>
          </a:p>
        </p:txBody>
      </p:sp>
      <p:sp>
        <p:nvSpPr>
          <p:cNvPr id="14" name="cellule"/>
          <p:cNvSpPr txBox="1"/>
          <p:nvPr/>
        </p:nvSpPr>
        <p:spPr>
          <a:xfrm>
            <a:off x="3200400" y="2194560"/>
            <a:ext cx="1737360"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94,5 ± 1,5 %</a:t>
            </a:r>
            <a:endParaRPr lang="en-US" sz="1500" dirty="0"/>
          </a:p>
        </p:txBody>
      </p:sp>
      <p:sp>
        <p:nvSpPr>
          <p:cNvPr id="15" name="cellule"/>
          <p:cNvSpPr txBox="1"/>
          <p:nvPr/>
        </p:nvSpPr>
        <p:spPr>
          <a:xfrm>
            <a:off x="4937760" y="2194560"/>
            <a:ext cx="1828800"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88,8 ± 2,7 %</a:t>
            </a:r>
            <a:endParaRPr lang="en-US" sz="1500" dirty="0"/>
          </a:p>
        </p:txBody>
      </p:sp>
      <p:sp>
        <p:nvSpPr>
          <p:cNvPr id="16" name="cellule"/>
          <p:cNvSpPr txBox="1"/>
          <p:nvPr/>
        </p:nvSpPr>
        <p:spPr>
          <a:xfrm>
            <a:off x="6766560" y="2194560"/>
            <a:ext cx="1645920"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231 ± 12</a:t>
            </a:r>
            <a:endParaRPr lang="en-US" sz="1500" dirty="0"/>
          </a:p>
        </p:txBody>
      </p:sp>
      <p:sp>
        <p:nvSpPr>
          <p:cNvPr id="17" name="cellule"/>
          <p:cNvSpPr txBox="1"/>
          <p:nvPr/>
        </p:nvSpPr>
        <p:spPr>
          <a:xfrm>
            <a:off x="8412480" y="2194560"/>
            <a:ext cx="1828800"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3522</a:t>
            </a:r>
            <a:endParaRPr lang="en-US" sz="1500" dirty="0"/>
          </a:p>
        </p:txBody>
      </p:sp>
      <p:sp>
        <p:nvSpPr>
          <p:cNvPr id="18" name="cellule"/>
          <p:cNvSpPr txBox="1"/>
          <p:nvPr/>
        </p:nvSpPr>
        <p:spPr>
          <a:xfrm>
            <a:off x="10241280" y="2194560"/>
            <a:ext cx="1399032"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5,5 %</a:t>
            </a:r>
            <a:endParaRPr lang="en-US" sz="1500" dirty="0"/>
          </a:p>
        </p:txBody>
      </p:sp>
      <p:sp>
        <p:nvSpPr>
          <p:cNvPr id="19" name="cellule"/>
          <p:cNvSpPr txBox="1"/>
          <p:nvPr/>
        </p:nvSpPr>
        <p:spPr>
          <a:xfrm>
            <a:off x="548640" y="2761488"/>
            <a:ext cx="2651760" cy="566928"/>
          </a:xfrm>
          <a:prstGeom prst="rect">
            <a:avLst/>
          </a:prstGeom>
          <a:solidFill>
            <a:srgbClr val="F2F5FA"/>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SARSA</a:t>
            </a:r>
            <a:endParaRPr lang="en-US" sz="1500" dirty="0"/>
          </a:p>
        </p:txBody>
      </p:sp>
      <p:sp>
        <p:nvSpPr>
          <p:cNvPr id="20" name="cellule"/>
          <p:cNvSpPr txBox="1"/>
          <p:nvPr/>
        </p:nvSpPr>
        <p:spPr>
          <a:xfrm>
            <a:off x="3200400" y="2761488"/>
            <a:ext cx="1737360" cy="566928"/>
          </a:xfrm>
          <a:prstGeom prst="rect">
            <a:avLst/>
          </a:prstGeom>
          <a:solidFill>
            <a:srgbClr val="FFF0B3"/>
          </a:solidFill>
          <a:ln/>
        </p:spPr>
        <p:txBody>
          <a:bodyPr wrap="square" lIns="25400" tIns="25400" rIns="25400" bIns="25400" rtlCol="0" anchor="ctr"/>
          <a:lstStyle/>
          <a:p>
            <a:pPr algn="ctr" indent="0" marL="0">
              <a:buNone/>
            </a:pPr>
            <a:r>
              <a:rPr lang="en-US" sz="1500" b="1" dirty="0">
                <a:solidFill>
                  <a:srgbClr val="14183D"/>
                </a:solidFill>
                <a:latin typeface="Montserrat" pitchFamily="34" charset="0"/>
                <a:ea typeface="Montserrat" pitchFamily="34" charset="-122"/>
                <a:cs typeface="Montserrat" pitchFamily="34" charset="-120"/>
              </a:rPr>
              <a:t>96,2 ± 1,2 %</a:t>
            </a:r>
            <a:endParaRPr lang="en-US" sz="1500" dirty="0"/>
          </a:p>
        </p:txBody>
      </p:sp>
      <p:sp>
        <p:nvSpPr>
          <p:cNvPr id="21" name="cellule"/>
          <p:cNvSpPr txBox="1"/>
          <p:nvPr/>
        </p:nvSpPr>
        <p:spPr>
          <a:xfrm>
            <a:off x="4937760" y="2761488"/>
            <a:ext cx="1828800"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88,8 ± 3,0 %</a:t>
            </a:r>
            <a:endParaRPr lang="en-US" sz="1500" dirty="0"/>
          </a:p>
        </p:txBody>
      </p:sp>
      <p:sp>
        <p:nvSpPr>
          <p:cNvPr id="22" name="cellule"/>
          <p:cNvSpPr txBox="1"/>
          <p:nvPr/>
        </p:nvSpPr>
        <p:spPr>
          <a:xfrm>
            <a:off x="6766560" y="2761488"/>
            <a:ext cx="1645920"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241 ± 5</a:t>
            </a:r>
            <a:endParaRPr lang="en-US" sz="1500" dirty="0"/>
          </a:p>
        </p:txBody>
      </p:sp>
      <p:sp>
        <p:nvSpPr>
          <p:cNvPr id="23" name="cellule"/>
          <p:cNvSpPr txBox="1"/>
          <p:nvPr/>
        </p:nvSpPr>
        <p:spPr>
          <a:xfrm>
            <a:off x="8412480" y="2761488"/>
            <a:ext cx="1828800"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3354</a:t>
            </a:r>
            <a:endParaRPr lang="en-US" sz="1500" dirty="0"/>
          </a:p>
        </p:txBody>
      </p:sp>
      <p:sp>
        <p:nvSpPr>
          <p:cNvPr id="24" name="cellule"/>
          <p:cNvSpPr txBox="1"/>
          <p:nvPr/>
        </p:nvSpPr>
        <p:spPr>
          <a:xfrm>
            <a:off x="10241280" y="2761488"/>
            <a:ext cx="1399032"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3,8 %</a:t>
            </a:r>
            <a:endParaRPr lang="en-US" sz="1500" dirty="0"/>
          </a:p>
        </p:txBody>
      </p:sp>
      <p:sp>
        <p:nvSpPr>
          <p:cNvPr id="25" name="cellule"/>
          <p:cNvSpPr txBox="1"/>
          <p:nvPr/>
        </p:nvSpPr>
        <p:spPr>
          <a:xfrm>
            <a:off x="548640" y="3328416"/>
            <a:ext cx="2651760" cy="566928"/>
          </a:xfrm>
          <a:prstGeom prst="rect">
            <a:avLst/>
          </a:prstGeom>
          <a:solidFill>
            <a:srgbClr val="FFFFFF"/>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Monte Carlo</a:t>
            </a:r>
            <a:endParaRPr lang="en-US" sz="1500" dirty="0"/>
          </a:p>
        </p:txBody>
      </p:sp>
      <p:sp>
        <p:nvSpPr>
          <p:cNvPr id="26" name="cellule"/>
          <p:cNvSpPr txBox="1"/>
          <p:nvPr/>
        </p:nvSpPr>
        <p:spPr>
          <a:xfrm>
            <a:off x="3200400" y="3328416"/>
            <a:ext cx="1737360" cy="566928"/>
          </a:xfrm>
          <a:prstGeom prst="rect">
            <a:avLst/>
          </a:prstGeom>
          <a:solidFill>
            <a:srgbClr val="FFF0B3"/>
          </a:solidFill>
          <a:ln/>
        </p:spPr>
        <p:txBody>
          <a:bodyPr wrap="square" lIns="25400" tIns="25400" rIns="25400" bIns="25400" rtlCol="0" anchor="ctr"/>
          <a:lstStyle/>
          <a:p>
            <a:pPr algn="ctr" indent="0" marL="0">
              <a:buNone/>
            </a:pPr>
            <a:r>
              <a:rPr lang="en-US" sz="1500" b="1" dirty="0">
                <a:solidFill>
                  <a:srgbClr val="14183D"/>
                </a:solidFill>
                <a:latin typeface="Montserrat" pitchFamily="34" charset="0"/>
                <a:ea typeface="Montserrat" pitchFamily="34" charset="-122"/>
                <a:cs typeface="Montserrat" pitchFamily="34" charset="-120"/>
              </a:rPr>
              <a:t>96,2 ± 0,7 %</a:t>
            </a:r>
            <a:endParaRPr lang="en-US" sz="1500" dirty="0"/>
          </a:p>
        </p:txBody>
      </p:sp>
      <p:sp>
        <p:nvSpPr>
          <p:cNvPr id="27" name="cellule"/>
          <p:cNvSpPr txBox="1"/>
          <p:nvPr/>
        </p:nvSpPr>
        <p:spPr>
          <a:xfrm>
            <a:off x="4937760" y="3328416"/>
            <a:ext cx="1828800"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88,8 ± 2,3 %</a:t>
            </a:r>
            <a:endParaRPr lang="en-US" sz="1500" dirty="0"/>
          </a:p>
        </p:txBody>
      </p:sp>
      <p:sp>
        <p:nvSpPr>
          <p:cNvPr id="28" name="cellule"/>
          <p:cNvSpPr txBox="1"/>
          <p:nvPr/>
        </p:nvSpPr>
        <p:spPr>
          <a:xfrm>
            <a:off x="6766560" y="3328416"/>
            <a:ext cx="1645920"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258 ± 13</a:t>
            </a:r>
            <a:endParaRPr lang="en-US" sz="1500" dirty="0"/>
          </a:p>
        </p:txBody>
      </p:sp>
      <p:sp>
        <p:nvSpPr>
          <p:cNvPr id="29" name="cellule"/>
          <p:cNvSpPr txBox="1"/>
          <p:nvPr/>
        </p:nvSpPr>
        <p:spPr>
          <a:xfrm>
            <a:off x="8412480" y="3328416"/>
            <a:ext cx="1828800"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3450</a:t>
            </a:r>
            <a:endParaRPr lang="en-US" sz="1500" dirty="0"/>
          </a:p>
        </p:txBody>
      </p:sp>
      <p:sp>
        <p:nvSpPr>
          <p:cNvPr id="30" name="cellule"/>
          <p:cNvSpPr txBox="1"/>
          <p:nvPr/>
        </p:nvSpPr>
        <p:spPr>
          <a:xfrm>
            <a:off x="10241280" y="3328416"/>
            <a:ext cx="1399032" cy="566928"/>
          </a:xfrm>
          <a:prstGeom prst="rect">
            <a:avLst/>
          </a:prstGeom>
          <a:solidFill>
            <a:srgbClr val="FFF0B3"/>
          </a:solidFill>
          <a:ln/>
        </p:spPr>
        <p:txBody>
          <a:bodyPr wrap="square" lIns="25400" tIns="25400" rIns="25400" bIns="25400" rtlCol="0" anchor="ctr"/>
          <a:lstStyle/>
          <a:p>
            <a:pPr algn="ctr" indent="0" marL="0">
              <a:buNone/>
            </a:pPr>
            <a:r>
              <a:rPr lang="en-US" sz="1500" b="1" dirty="0">
                <a:solidFill>
                  <a:srgbClr val="14183D"/>
                </a:solidFill>
                <a:latin typeface="Montserrat" pitchFamily="34" charset="0"/>
                <a:ea typeface="Montserrat" pitchFamily="34" charset="-122"/>
                <a:cs typeface="Montserrat" pitchFamily="34" charset="-120"/>
              </a:rPr>
              <a:t>3,7 %</a:t>
            </a:r>
            <a:endParaRPr lang="en-US" sz="1500" dirty="0"/>
          </a:p>
        </p:txBody>
      </p:sp>
      <p:sp>
        <p:nvSpPr>
          <p:cNvPr id="31" name="cellule"/>
          <p:cNvSpPr txBox="1"/>
          <p:nvPr/>
        </p:nvSpPr>
        <p:spPr>
          <a:xfrm>
            <a:off x="548640" y="3895344"/>
            <a:ext cx="2651760" cy="566928"/>
          </a:xfrm>
          <a:prstGeom prst="rect">
            <a:avLst/>
          </a:prstGeom>
          <a:solidFill>
            <a:srgbClr val="F2F5FA"/>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DQN de l'article</a:t>
            </a:r>
            <a:endParaRPr lang="en-US" sz="1500" dirty="0"/>
          </a:p>
        </p:txBody>
      </p:sp>
      <p:sp>
        <p:nvSpPr>
          <p:cNvPr id="32" name="cellule"/>
          <p:cNvSpPr txBox="1"/>
          <p:nvPr/>
        </p:nvSpPr>
        <p:spPr>
          <a:xfrm>
            <a:off x="3200400" y="3895344"/>
            <a:ext cx="1737360"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39,7 ± 6,7 %</a:t>
            </a:r>
            <a:endParaRPr lang="en-US" sz="1500" dirty="0"/>
          </a:p>
        </p:txBody>
      </p:sp>
      <p:sp>
        <p:nvSpPr>
          <p:cNvPr id="33" name="cellule"/>
          <p:cNvSpPr txBox="1"/>
          <p:nvPr/>
        </p:nvSpPr>
        <p:spPr>
          <a:xfrm>
            <a:off x="4937760" y="3895344"/>
            <a:ext cx="1828800"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58,4 ± 33,3 %</a:t>
            </a:r>
            <a:endParaRPr lang="en-US" sz="1500" dirty="0"/>
          </a:p>
        </p:txBody>
      </p:sp>
      <p:sp>
        <p:nvSpPr>
          <p:cNvPr id="34" name="cellule"/>
          <p:cNvSpPr txBox="1"/>
          <p:nvPr/>
        </p:nvSpPr>
        <p:spPr>
          <a:xfrm>
            <a:off x="6766560" y="3895344"/>
            <a:ext cx="1645920"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121 ± 18</a:t>
            </a:r>
            <a:endParaRPr lang="en-US" sz="1500" dirty="0"/>
          </a:p>
        </p:txBody>
      </p:sp>
      <p:sp>
        <p:nvSpPr>
          <p:cNvPr id="35" name="cellule"/>
          <p:cNvSpPr txBox="1"/>
          <p:nvPr/>
        </p:nvSpPr>
        <p:spPr>
          <a:xfrm>
            <a:off x="8412480" y="3895344"/>
            <a:ext cx="1828800"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jamais</a:t>
            </a:r>
            <a:endParaRPr lang="en-US" sz="1500" dirty="0"/>
          </a:p>
        </p:txBody>
      </p:sp>
      <p:sp>
        <p:nvSpPr>
          <p:cNvPr id="36" name="cellule"/>
          <p:cNvSpPr txBox="1"/>
          <p:nvPr/>
        </p:nvSpPr>
        <p:spPr>
          <a:xfrm>
            <a:off x="10241280" y="3895344"/>
            <a:ext cx="1399032" cy="566928"/>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59,9 %</a:t>
            </a:r>
            <a:endParaRPr lang="en-US" sz="1500" dirty="0"/>
          </a:p>
        </p:txBody>
      </p:sp>
      <p:sp>
        <p:nvSpPr>
          <p:cNvPr id="37" name="cellule"/>
          <p:cNvSpPr txBox="1"/>
          <p:nvPr/>
        </p:nvSpPr>
        <p:spPr>
          <a:xfrm>
            <a:off x="548640" y="4462272"/>
            <a:ext cx="2651760" cy="566928"/>
          </a:xfrm>
          <a:prstGeom prst="rect">
            <a:avLst/>
          </a:prstGeom>
          <a:solidFill>
            <a:srgbClr val="FFFFFF"/>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Notre DQN</a:t>
            </a:r>
            <a:endParaRPr lang="en-US" sz="1500" dirty="0"/>
          </a:p>
        </p:txBody>
      </p:sp>
      <p:sp>
        <p:nvSpPr>
          <p:cNvPr id="38" name="cellule"/>
          <p:cNvSpPr txBox="1"/>
          <p:nvPr/>
        </p:nvSpPr>
        <p:spPr>
          <a:xfrm>
            <a:off x="3200400" y="4462272"/>
            <a:ext cx="1737360"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93,7 ± 1,4 %</a:t>
            </a:r>
            <a:endParaRPr lang="en-US" sz="1500" dirty="0"/>
          </a:p>
        </p:txBody>
      </p:sp>
      <p:sp>
        <p:nvSpPr>
          <p:cNvPr id="39" name="cellule"/>
          <p:cNvSpPr txBox="1"/>
          <p:nvPr/>
        </p:nvSpPr>
        <p:spPr>
          <a:xfrm>
            <a:off x="4937760" y="4462272"/>
            <a:ext cx="1828800" cy="566928"/>
          </a:xfrm>
          <a:prstGeom prst="rect">
            <a:avLst/>
          </a:prstGeom>
          <a:solidFill>
            <a:srgbClr val="FFF0B3"/>
          </a:solidFill>
          <a:ln/>
        </p:spPr>
        <p:txBody>
          <a:bodyPr wrap="square" lIns="25400" tIns="25400" rIns="25400" bIns="25400" rtlCol="0" anchor="ctr"/>
          <a:lstStyle/>
          <a:p>
            <a:pPr algn="ctr" indent="0" marL="0">
              <a:buNone/>
            </a:pPr>
            <a:r>
              <a:rPr lang="en-US" sz="1500" b="1" dirty="0">
                <a:solidFill>
                  <a:srgbClr val="14183D"/>
                </a:solidFill>
                <a:latin typeface="Montserrat" pitchFamily="34" charset="0"/>
                <a:ea typeface="Montserrat" pitchFamily="34" charset="-122"/>
                <a:cs typeface="Montserrat" pitchFamily="34" charset="-120"/>
              </a:rPr>
              <a:t>94,4 ± 3,0 %</a:t>
            </a:r>
            <a:endParaRPr lang="en-US" sz="1500" dirty="0"/>
          </a:p>
        </p:txBody>
      </p:sp>
      <p:sp>
        <p:nvSpPr>
          <p:cNvPr id="40" name="cellule"/>
          <p:cNvSpPr txBox="1"/>
          <p:nvPr/>
        </p:nvSpPr>
        <p:spPr>
          <a:xfrm>
            <a:off x="6766560" y="4462272"/>
            <a:ext cx="1645920" cy="566928"/>
          </a:xfrm>
          <a:prstGeom prst="rect">
            <a:avLst/>
          </a:prstGeom>
          <a:solidFill>
            <a:srgbClr val="FFF0B3"/>
          </a:solidFill>
          <a:ln/>
        </p:spPr>
        <p:txBody>
          <a:bodyPr wrap="square" lIns="25400" tIns="25400" rIns="25400" bIns="25400" rtlCol="0" anchor="ctr"/>
          <a:lstStyle/>
          <a:p>
            <a:pPr algn="ctr" indent="0" marL="0">
              <a:buNone/>
            </a:pPr>
            <a:r>
              <a:rPr lang="en-US" sz="1500" b="1" dirty="0">
                <a:solidFill>
                  <a:srgbClr val="14183D"/>
                </a:solidFill>
                <a:latin typeface="Montserrat" pitchFamily="34" charset="0"/>
                <a:ea typeface="Montserrat" pitchFamily="34" charset="-122"/>
                <a:cs typeface="Montserrat" pitchFamily="34" charset="-120"/>
              </a:rPr>
              <a:t>274 ± 4</a:t>
            </a:r>
            <a:endParaRPr lang="en-US" sz="1500" dirty="0"/>
          </a:p>
        </p:txBody>
      </p:sp>
      <p:sp>
        <p:nvSpPr>
          <p:cNvPr id="41" name="cellule"/>
          <p:cNvSpPr txBox="1"/>
          <p:nvPr/>
        </p:nvSpPr>
        <p:spPr>
          <a:xfrm>
            <a:off x="8412480" y="4462272"/>
            <a:ext cx="1828800" cy="566928"/>
          </a:xfrm>
          <a:prstGeom prst="rect">
            <a:avLst/>
          </a:prstGeom>
          <a:solidFill>
            <a:srgbClr val="FFF0B3"/>
          </a:solidFill>
          <a:ln/>
        </p:spPr>
        <p:txBody>
          <a:bodyPr wrap="square" lIns="25400" tIns="25400" rIns="25400" bIns="25400" rtlCol="0" anchor="ctr"/>
          <a:lstStyle/>
          <a:p>
            <a:pPr algn="ctr" indent="0" marL="0">
              <a:buNone/>
            </a:pPr>
            <a:r>
              <a:rPr lang="en-US" sz="1500" b="1" dirty="0">
                <a:solidFill>
                  <a:srgbClr val="14183D"/>
                </a:solidFill>
                <a:latin typeface="Montserrat" pitchFamily="34" charset="0"/>
                <a:ea typeface="Montserrat" pitchFamily="34" charset="-122"/>
                <a:cs typeface="Montserrat" pitchFamily="34" charset="-120"/>
              </a:rPr>
              <a:t>2955</a:t>
            </a:r>
            <a:endParaRPr lang="en-US" sz="1500" dirty="0"/>
          </a:p>
        </p:txBody>
      </p:sp>
      <p:sp>
        <p:nvSpPr>
          <p:cNvPr id="42" name="cellule"/>
          <p:cNvSpPr txBox="1"/>
          <p:nvPr/>
        </p:nvSpPr>
        <p:spPr>
          <a:xfrm>
            <a:off x="10241280" y="4462272"/>
            <a:ext cx="1399032" cy="566928"/>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6,3 %</a:t>
            </a:r>
            <a:endParaRPr lang="en-US" sz="1500" dirty="0"/>
          </a:p>
        </p:txBody>
      </p:sp>
      <p:sp>
        <p:nvSpPr>
          <p:cNvPr id="43" name="Text 41"/>
          <p:cNvSpPr txBox="1"/>
          <p:nvPr/>
        </p:nvSpPr>
        <p:spPr>
          <a:xfrm>
            <a:off x="548640" y="5138928"/>
            <a:ext cx="11091672" cy="365760"/>
          </a:xfrm>
          <a:prstGeom prst="rect">
            <a:avLst/>
          </a:prstGeom>
          <a:noFill/>
          <a:ln/>
        </p:spPr>
        <p:txBody>
          <a:bodyPr wrap="square" lIns="0" tIns="0" rIns="0" bIns="0" rtlCol="0" anchor="t"/>
          <a:lstStyle/>
          <a:p>
            <a:pPr indent="0" marL="0">
              <a:buNone/>
            </a:pPr>
            <a:r>
              <a:rPr lang="en-US" sz="1300" dirty="0">
                <a:solidFill>
                  <a:srgbClr val="FFFFFF"/>
                </a:solidFill>
                <a:latin typeface="Montserrat" pitchFamily="34" charset="0"/>
                <a:ea typeface="Montserrat" pitchFamily="34" charset="-122"/>
                <a:cs typeface="Montserrat" pitchFamily="34" charset="-120"/>
              </a:rPr>
              <a:t>* 50 parties avec 2 % de hasard : le même test pour tous, c'est la colonne à comparer.</a:t>
            </a:r>
            <a:endParaRPr lang="en-US" sz="1300" dirty="0"/>
          </a:p>
        </p:txBody>
      </p:sp>
      <p:sp>
        <p:nvSpPr>
          <p:cNvPr id="44" name="Text 42"/>
          <p:cNvSpPr txBox="1"/>
          <p:nvPr/>
        </p:nvSpPr>
        <p:spPr>
          <a:xfrm>
            <a:off x="548640" y="5669280"/>
            <a:ext cx="11091672" cy="457200"/>
          </a:xfrm>
          <a:prstGeom prst="rect">
            <a:avLst/>
          </a:prstGeom>
          <a:noFill/>
          <a:ln/>
        </p:spPr>
        <p:txBody>
          <a:bodyPr wrap="square" lIns="0" tIns="0" rIns="0" bIns="0"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Notre DQN est le plus robuste. Article : MC 94,9 % · QL 86,5 % · SARSA 84,4 % · DQN 76,4 %.</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5A99ED"/>
        </a:solidFill>
      </p:bgPr>
    </p:bg>
    <p:spTree>
      <p:nvGrpSpPr>
        <p:cNvPr id="1" name=""/>
        <p:cNvGrpSpPr/>
        <p:nvPr/>
      </p:nvGrpSpPr>
      <p:grpSpPr>
        <a:xfrm>
          <a:off x="0" y="0"/>
          <a:ext cx="0" cy="0"/>
          <a:chOff x="0" y="0"/>
          <a:chExt cx="0" cy="0"/>
        </a:xfrm>
      </p:grpSpPr>
      <p:pic>
        <p:nvPicPr>
          <p:cNvPr id="2" name="coin_pipe" descr="/home/user/MarioRL_FinalWork/docs/oral/fabrication/assets/sprites/coin_pipe.png">    </p:cNvPr>
          <p:cNvPicPr>
            <a:picLocks noChangeAspect="1"/>
          </p:cNvPicPr>
          <p:nvPr/>
        </p:nvPicPr>
        <p:blipFill>
          <a:blip r:embed="rId1"/>
          <a:stretch>
            <a:fillRect/>
          </a:stretch>
        </p:blipFill>
        <p:spPr>
          <a:xfrm>
            <a:off x="287853" y="3039557"/>
            <a:ext cx="901690" cy="2959090"/>
          </a:xfrm>
          <a:prstGeom prst="rect">
            <a:avLst/>
          </a:prstGeom>
        </p:spPr>
      </p:pic>
      <p:pic>
        <p:nvPicPr>
          <p:cNvPr id="3" name="pipe_short" descr="/home/user/MarioRL_FinalWork/docs/oral/fabrication/assets/sprites/pipe_short.png">    </p:cNvPr>
          <p:cNvPicPr>
            <a:picLocks noChangeAspect="1"/>
          </p:cNvPicPr>
          <p:nvPr/>
        </p:nvPicPr>
        <p:blipFill>
          <a:blip r:embed="rId2"/>
          <a:stretch>
            <a:fillRect/>
          </a:stretch>
        </p:blipFill>
        <p:spPr>
          <a:xfrm>
            <a:off x="1371600" y="4538167"/>
            <a:ext cx="795894" cy="1460480"/>
          </a:xfrm>
          <a:prstGeom prst="rect">
            <a:avLst/>
          </a:prstGeom>
        </p:spPr>
      </p:pic>
      <p:pic>
        <p:nvPicPr>
          <p:cNvPr id="4" name="goomba" descr="/home/user/MarioRL_FinalWork/docs/oral/fabrication/assets/sprites/goomba.png">    </p:cNvPr>
          <p:cNvPicPr>
            <a:picLocks noChangeAspect="1"/>
          </p:cNvPicPr>
          <p:nvPr/>
        </p:nvPicPr>
        <p:blipFill>
          <a:blip r:embed="rId3"/>
          <a:stretch>
            <a:fillRect/>
          </a:stretch>
        </p:blipFill>
        <p:spPr>
          <a:xfrm>
            <a:off x="2353757" y="5359390"/>
            <a:ext cx="664677" cy="643463"/>
          </a:xfrm>
          <a:prstGeom prst="rect">
            <a:avLst/>
          </a:prstGeom>
        </p:spPr>
      </p:pic>
      <p:pic>
        <p:nvPicPr>
          <p:cNvPr id="5" name="mario" descr="/home/user/MarioRL_FinalWork/docs/oral/fabrication/assets/sprites/mario.png">    </p:cNvPr>
          <p:cNvPicPr>
            <a:picLocks noChangeAspect="1"/>
          </p:cNvPicPr>
          <p:nvPr/>
        </p:nvPicPr>
        <p:blipFill>
          <a:blip r:embed="rId4"/>
          <a:stretch>
            <a:fillRect/>
          </a:stretch>
        </p:blipFill>
        <p:spPr>
          <a:xfrm>
            <a:off x="3839657" y="5240884"/>
            <a:ext cx="596920" cy="761970"/>
          </a:xfrm>
          <a:prstGeom prst="rect">
            <a:avLst/>
          </a:prstGeom>
        </p:spPr>
      </p:pic>
      <p:pic>
        <p:nvPicPr>
          <p:cNvPr id="6" name="tree" descr="/home/user/MarioRL_FinalWork/docs/oral/fabrication/assets/sprites/tree.png">    </p:cNvPr>
          <p:cNvPicPr>
            <a:picLocks noChangeAspect="1"/>
          </p:cNvPicPr>
          <p:nvPr/>
        </p:nvPicPr>
        <p:blipFill>
          <a:blip r:embed="rId5"/>
          <a:stretch>
            <a:fillRect/>
          </a:stretch>
        </p:blipFill>
        <p:spPr>
          <a:xfrm>
            <a:off x="8868766" y="4102090"/>
            <a:ext cx="1515527" cy="1900763"/>
          </a:xfrm>
          <a:prstGeom prst="rect">
            <a:avLst/>
          </a:prstGeom>
        </p:spPr>
      </p:pic>
      <p:pic>
        <p:nvPicPr>
          <p:cNvPr id="7" name="ground" descr="/home/user/MarioRL_FinalWork/docs/oral/fabrication/assets/sprites/ground.png">    </p:cNvPr>
          <p:cNvPicPr>
            <a:picLocks noChangeAspect="1"/>
          </p:cNvPicPr>
          <p:nvPr/>
        </p:nvPicPr>
        <p:blipFill>
          <a:blip r:embed="rId6"/>
          <a:stretch>
            <a:fillRect/>
          </a:stretch>
        </p:blipFill>
        <p:spPr>
          <a:xfrm>
            <a:off x="0" y="5977433"/>
            <a:ext cx="12191970" cy="880567"/>
          </a:xfrm>
          <a:prstGeom prst="rect">
            <a:avLst/>
          </a:prstGeom>
        </p:spPr>
      </p:pic>
      <p:sp>
        <p:nvSpPr>
          <p:cNvPr id="8" name="grand_titre"/>
          <p:cNvSpPr txBox="1"/>
          <p:nvPr/>
        </p:nvSpPr>
        <p:spPr>
          <a:xfrm>
            <a:off x="2011680" y="1234440"/>
            <a:ext cx="8168335" cy="868680"/>
          </a:xfrm>
          <a:prstGeom prst="rect">
            <a:avLst/>
          </a:prstGeom>
          <a:noFill/>
          <a:ln/>
          <a:effectLst>
            <a:outerShdw sx="100000" sy="100000" kx="0" ky="0" algn="bl" rotWithShape="0" blurRad="101600" dist="34290" dir="2700000">
              <a:srgbClr val="2E1B5B">
                <a:alpha val="100000"/>
              </a:srgbClr>
            </a:outerShdw>
          </a:effectLst>
        </p:spPr>
        <p:txBody>
          <a:bodyPr wrap="square" lIns="0" tIns="0" rIns="0" bIns="0" rtlCol="0" anchor="ctr"/>
          <a:lstStyle/>
          <a:p>
            <a:pPr algn="ctr" indent="0" marL="0">
              <a:lnSpc>
                <a:spcPct val="100000"/>
              </a:lnSpc>
              <a:buNone/>
            </a:pPr>
            <a:r>
              <a:rPr lang="en-US" sz="5400" dirty="0">
                <a:solidFill>
                  <a:srgbClr val="FFFFFF"/>
                </a:solidFill>
                <a:latin typeface="Arcade Gamer" pitchFamily="34" charset="0"/>
                <a:ea typeface="Arcade Gamer" pitchFamily="34" charset="-122"/>
                <a:cs typeface="Arcade Gamer" pitchFamily="34" charset="-120"/>
              </a:rPr>
              <a:t>WORLD 1-3</a:t>
            </a:r>
            <a:endParaRPr lang="en-US" sz="5400" dirty="0"/>
          </a:p>
        </p:txBody>
      </p:sp>
      <p:sp>
        <p:nvSpPr>
          <p:cNvPr id="9" name="grand_titre"/>
          <p:cNvSpPr txBox="1"/>
          <p:nvPr/>
        </p:nvSpPr>
        <p:spPr>
          <a:xfrm>
            <a:off x="2011680" y="2121408"/>
            <a:ext cx="8168335" cy="640080"/>
          </a:xfrm>
          <a:prstGeom prst="rect">
            <a:avLst/>
          </a:prstGeom>
          <a:noFill/>
          <a:ln/>
          <a:effectLst>
            <a:outerShdw sx="100000" sy="100000" kx="0" ky="0" algn="bl" rotWithShape="0" blurRad="101600" dist="25400" dir="2700000">
              <a:srgbClr val="2E1B5B">
                <a:alpha val="100000"/>
              </a:srgbClr>
            </a:outerShdw>
          </a:effectLst>
        </p:spPr>
        <p:txBody>
          <a:bodyPr wrap="square" lIns="0" tIns="0" rIns="0" bIns="0" rtlCol="0" anchor="ctr"/>
          <a:lstStyle/>
          <a:p>
            <a:pPr algn="ctr" indent="0" marL="0">
              <a:lnSpc>
                <a:spcPct val="100000"/>
              </a:lnSpc>
              <a:buNone/>
            </a:pPr>
            <a:r>
              <a:rPr lang="en-US" sz="3200" dirty="0">
                <a:solidFill>
                  <a:srgbClr val="FFC703"/>
                </a:solidFill>
                <a:latin typeface="Arcade Gamer" pitchFamily="34" charset="0"/>
                <a:ea typeface="Arcade Gamer" pitchFamily="34" charset="-122"/>
                <a:cs typeface="Arcade Gamer" pitchFamily="34" charset="-120"/>
              </a:rPr>
              <a:t>LE VRAI JEU NES</a:t>
            </a:r>
            <a:endParaRPr lang="en-US" sz="3200" dirty="0"/>
          </a:p>
        </p:txBody>
      </p:sp>
      <p:sp>
        <p:nvSpPr>
          <p:cNvPr id="10" name="Text 2"/>
          <p:cNvSpPr txBox="1"/>
          <p:nvPr/>
        </p:nvSpPr>
        <p:spPr>
          <a:xfrm>
            <a:off x="2743200" y="2852928"/>
            <a:ext cx="6705295" cy="384048"/>
          </a:xfrm>
          <a:prstGeom prst="rect">
            <a:avLst/>
          </a:prstGeom>
          <a:noFill/>
          <a:ln/>
        </p:spPr>
        <p:txBody>
          <a:bodyPr wrap="square" lIns="0" tIns="0" rIns="0" bIns="0" rtlCol="0" anchor="ctr"/>
          <a:lstStyle/>
          <a:p>
            <a:pPr algn="ctr" indent="0" marL="0">
              <a:buNone/>
            </a:pPr>
            <a:r>
              <a:rPr lang="en-US" sz="1600" b="1" dirty="0">
                <a:solidFill>
                  <a:srgbClr val="14183D"/>
                </a:solidFill>
                <a:latin typeface="Montserrat" pitchFamily="34" charset="0"/>
                <a:ea typeface="Montserrat" pitchFamily="34" charset="-122"/>
                <a:cs typeface="Montserrat" pitchFamily="34" charset="-120"/>
              </a:rPr>
              <a:t>PPO sur la vraie physique, puis la Route A</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1-3  -  LE VRAI JEU NES</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Passer au vrai jeu : PPO</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15</a:t>
            </a:r>
            <a:endParaRPr lang="en-US" sz="1100" dirty="0"/>
          </a:p>
        </p:txBody>
      </p:sp>
      <p:sp>
        <p:nvSpPr>
          <p:cNvPr id="6" name="carte"/>
          <p:cNvSpPr/>
          <p:nvPr/>
        </p:nvSpPr>
        <p:spPr>
          <a:xfrm>
            <a:off x="548640" y="1645920"/>
            <a:ext cx="5394960" cy="3749040"/>
          </a:xfrm>
          <a:prstGeom prst="roundRect">
            <a:avLst>
              <a:gd name="adj" fmla="val 1951"/>
            </a:avLst>
          </a:prstGeom>
          <a:solidFill>
            <a:srgbClr val="FFFFFF"/>
          </a:solidFill>
          <a:ln/>
          <a:effectLst>
            <a:outerShdw sx="100000" sy="100000" kx="0" ky="0" algn="bl" rotWithShape="0" blurRad="101600" dist="25400" dir="5400000">
              <a:srgbClr val="0B1F44">
                <a:alpha val="22000"/>
              </a:srgbClr>
            </a:outerShdw>
          </a:effectLst>
        </p:spPr>
      </p:sp>
      <p:sp>
        <p:nvSpPr>
          <p:cNvPr id="7" name="etiquette"/>
          <p:cNvSpPr txBox="1"/>
          <p:nvPr/>
        </p:nvSpPr>
        <p:spPr>
          <a:xfrm>
            <a:off x="822960" y="1847088"/>
            <a:ext cx="4572000" cy="274320"/>
          </a:xfrm>
          <a:prstGeom prst="rect">
            <a:avLst/>
          </a:prstGeom>
          <a:noFill/>
          <a:ln/>
        </p:spPr>
        <p:txBody>
          <a:bodyPr wrap="square" lIns="0" tIns="0" rIns="0" bIns="0" rtlCol="0" anchor="ctr"/>
          <a:lstStyle/>
          <a:p>
            <a:pPr indent="0" marL="0">
              <a:buNone/>
            </a:pPr>
            <a:r>
              <a:rPr lang="en-US" sz="1150" b="1" spc="100" kern="0" dirty="0">
                <a:solidFill>
                  <a:srgbClr val="4A5070"/>
                </a:solidFill>
                <a:latin typeface="Montserrat" pitchFamily="34" charset="0"/>
                <a:ea typeface="Montserrat" pitchFamily="34" charset="-122"/>
                <a:cs typeface="Montserrat" pitchFamily="34" charset="-120"/>
              </a:rPr>
              <a:t>GRILLE DE L'ARTICLE  VS  VRAI JEU</a:t>
            </a:r>
            <a:endParaRPr lang="en-US" sz="1150" dirty="0"/>
          </a:p>
        </p:txBody>
      </p:sp>
      <p:sp>
        <p:nvSpPr>
          <p:cNvPr id="8" name="Text 6"/>
          <p:cNvSpPr txBox="1"/>
          <p:nvPr/>
        </p:nvSpPr>
        <p:spPr>
          <a:xfrm>
            <a:off x="822960" y="2286000"/>
            <a:ext cx="1645920" cy="73152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Mouvement</a:t>
            </a:r>
            <a:endParaRPr lang="en-US" sz="1500" dirty="0"/>
          </a:p>
        </p:txBody>
      </p:sp>
      <p:sp>
        <p:nvSpPr>
          <p:cNvPr id="9" name="Text 7"/>
          <p:cNvSpPr txBox="1"/>
          <p:nvPr/>
        </p:nvSpPr>
        <p:spPr>
          <a:xfrm>
            <a:off x="2468880" y="2286000"/>
            <a:ext cx="1600200" cy="731520"/>
          </a:xfrm>
          <a:prstGeom prst="rect">
            <a:avLst/>
          </a:prstGeom>
          <a:noFill/>
          <a:ln/>
        </p:spPr>
        <p:txBody>
          <a:bodyPr wrap="square" lIns="0" tIns="0" rIns="0" bIns="0" rtlCol="0" anchor="ctr"/>
          <a:lstStyle/>
          <a:p>
            <a:pPr indent="0" marL="0">
              <a:buNone/>
            </a:pPr>
            <a:r>
              <a:rPr lang="en-US" sz="1500" dirty="0">
                <a:solidFill>
                  <a:srgbClr val="4A5070"/>
                </a:solidFill>
                <a:latin typeface="Montserrat" pitchFamily="34" charset="0"/>
                <a:ea typeface="Montserrat" pitchFamily="34" charset="-122"/>
                <a:cs typeface="Montserrat" pitchFamily="34" charset="-120"/>
              </a:rPr>
              <a:t>1 case par pas</a:t>
            </a:r>
            <a:endParaRPr lang="en-US" sz="1500" dirty="0"/>
          </a:p>
        </p:txBody>
      </p:sp>
      <p:sp>
        <p:nvSpPr>
          <p:cNvPr id="10" name="Text 8"/>
          <p:cNvSpPr txBox="1"/>
          <p:nvPr/>
        </p:nvSpPr>
        <p:spPr>
          <a:xfrm>
            <a:off x="4114800" y="2286000"/>
            <a:ext cx="1691640" cy="731520"/>
          </a:xfrm>
          <a:prstGeom prst="rect">
            <a:avLst/>
          </a:prstGeom>
          <a:noFill/>
          <a:ln/>
        </p:spPr>
        <p:txBody>
          <a:bodyPr wrap="square" lIns="0" tIns="0" rIns="0" bIns="0" rtlCol="0" anchor="ctr"/>
          <a:lstStyle/>
          <a:p>
            <a:pPr indent="0" marL="0">
              <a:buNone/>
            </a:pPr>
            <a:r>
              <a:rPr lang="en-US" sz="1500" b="1" dirty="0">
                <a:solidFill>
                  <a:srgbClr val="C2338A"/>
                </a:solidFill>
                <a:latin typeface="Montserrat" pitchFamily="34" charset="0"/>
                <a:ea typeface="Montserrat" pitchFamily="34" charset="-122"/>
                <a:cs typeface="Montserrat" pitchFamily="34" charset="-120"/>
              </a:rPr>
              <a:t>élan, course</a:t>
            </a:r>
            <a:endParaRPr lang="en-US" sz="1500" dirty="0"/>
          </a:p>
        </p:txBody>
      </p:sp>
      <p:sp>
        <p:nvSpPr>
          <p:cNvPr id="11" name="Text 9"/>
          <p:cNvSpPr txBox="1"/>
          <p:nvPr/>
        </p:nvSpPr>
        <p:spPr>
          <a:xfrm>
            <a:off x="822960" y="3246120"/>
            <a:ext cx="1645920" cy="73152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Saut</a:t>
            </a:r>
            <a:endParaRPr lang="en-US" sz="1500" dirty="0"/>
          </a:p>
        </p:txBody>
      </p:sp>
      <p:sp>
        <p:nvSpPr>
          <p:cNvPr id="12" name="Text 10"/>
          <p:cNvSpPr txBox="1"/>
          <p:nvPr/>
        </p:nvSpPr>
        <p:spPr>
          <a:xfrm>
            <a:off x="2468880" y="3246120"/>
            <a:ext cx="1600200" cy="731520"/>
          </a:xfrm>
          <a:prstGeom prst="rect">
            <a:avLst/>
          </a:prstGeom>
          <a:noFill/>
          <a:ln/>
        </p:spPr>
        <p:txBody>
          <a:bodyPr wrap="square" lIns="0" tIns="0" rIns="0" bIns="0" rtlCol="0" anchor="ctr"/>
          <a:lstStyle/>
          <a:p>
            <a:pPr indent="0" marL="0">
              <a:buNone/>
            </a:pPr>
            <a:r>
              <a:rPr lang="en-US" sz="1500" dirty="0">
                <a:solidFill>
                  <a:srgbClr val="4A5070"/>
                </a:solidFill>
                <a:latin typeface="Montserrat" pitchFamily="34" charset="0"/>
                <a:ea typeface="Montserrat" pitchFamily="34" charset="-122"/>
                <a:cs typeface="Montserrat" pitchFamily="34" charset="-120"/>
              </a:rPr>
              <a:t>toujours le même</a:t>
            </a:r>
            <a:endParaRPr lang="en-US" sz="1500" dirty="0"/>
          </a:p>
        </p:txBody>
      </p:sp>
      <p:sp>
        <p:nvSpPr>
          <p:cNvPr id="13" name="Text 11"/>
          <p:cNvSpPr txBox="1"/>
          <p:nvPr/>
        </p:nvSpPr>
        <p:spPr>
          <a:xfrm>
            <a:off x="4114800" y="3246120"/>
            <a:ext cx="1691640" cy="731520"/>
          </a:xfrm>
          <a:prstGeom prst="rect">
            <a:avLst/>
          </a:prstGeom>
          <a:noFill/>
          <a:ln/>
        </p:spPr>
        <p:txBody>
          <a:bodyPr wrap="square" lIns="0" tIns="0" rIns="0" bIns="0" rtlCol="0" anchor="ctr"/>
          <a:lstStyle/>
          <a:p>
            <a:pPr indent="0" marL="0">
              <a:buNone/>
            </a:pPr>
            <a:r>
              <a:rPr lang="en-US" sz="1500" b="1" dirty="0">
                <a:solidFill>
                  <a:srgbClr val="C2338A"/>
                </a:solidFill>
                <a:latin typeface="Montserrat" pitchFamily="34" charset="0"/>
                <a:ea typeface="Montserrat" pitchFamily="34" charset="-122"/>
                <a:cs typeface="Montserrat" pitchFamily="34" charset="-120"/>
              </a:rPr>
              <a:t>selon la vitesse</a:t>
            </a:r>
            <a:endParaRPr lang="en-US" sz="1500" dirty="0"/>
          </a:p>
        </p:txBody>
      </p:sp>
      <p:sp>
        <p:nvSpPr>
          <p:cNvPr id="14" name="Text 12"/>
          <p:cNvSpPr txBox="1"/>
          <p:nvPr/>
        </p:nvSpPr>
        <p:spPr>
          <a:xfrm>
            <a:off x="822960" y="4206240"/>
            <a:ext cx="1645920" cy="731520"/>
          </a:xfrm>
          <a:prstGeom prst="rect">
            <a:avLst/>
          </a:prstGeom>
          <a:noFill/>
          <a:ln/>
        </p:spPr>
        <p:txBody>
          <a:bodyPr wrap="square" lIns="0" tIns="0" rIns="0" bIns="0" rtlCol="0" anchor="ctr"/>
          <a:lstStyle/>
          <a:p>
            <a:pPr indent="0" marL="0">
              <a:buNone/>
            </a:pPr>
            <a:r>
              <a:rPr lang="en-US" sz="1500" b="1" dirty="0">
                <a:solidFill>
                  <a:srgbClr val="14183D"/>
                </a:solidFill>
                <a:latin typeface="Montserrat" pitchFamily="34" charset="0"/>
                <a:ea typeface="Montserrat" pitchFamily="34" charset="-122"/>
                <a:cs typeface="Montserrat" pitchFamily="34" charset="-120"/>
              </a:rPr>
              <a:t>Vue de l'IA</a:t>
            </a:r>
            <a:endParaRPr lang="en-US" sz="1500" dirty="0"/>
          </a:p>
        </p:txBody>
      </p:sp>
      <p:sp>
        <p:nvSpPr>
          <p:cNvPr id="15" name="Text 13"/>
          <p:cNvSpPr txBox="1"/>
          <p:nvPr/>
        </p:nvSpPr>
        <p:spPr>
          <a:xfrm>
            <a:off x="2468880" y="4206240"/>
            <a:ext cx="1600200" cy="731520"/>
          </a:xfrm>
          <a:prstGeom prst="rect">
            <a:avLst/>
          </a:prstGeom>
          <a:noFill/>
          <a:ln/>
        </p:spPr>
        <p:txBody>
          <a:bodyPr wrap="square" lIns="0" tIns="0" rIns="0" bIns="0" rtlCol="0" anchor="ctr"/>
          <a:lstStyle/>
          <a:p>
            <a:pPr indent="0" marL="0">
              <a:buNone/>
            </a:pPr>
            <a:r>
              <a:rPr lang="en-US" sz="1500" dirty="0">
                <a:solidFill>
                  <a:srgbClr val="4A5070"/>
                </a:solidFill>
                <a:latin typeface="Montserrat" pitchFamily="34" charset="0"/>
                <a:ea typeface="Montserrat" pitchFamily="34" charset="-122"/>
                <a:cs typeface="Montserrat" pitchFamily="34" charset="-120"/>
              </a:rPr>
              <a:t>sa case</a:t>
            </a:r>
            <a:endParaRPr lang="en-US" sz="1500" dirty="0"/>
          </a:p>
        </p:txBody>
      </p:sp>
      <p:sp>
        <p:nvSpPr>
          <p:cNvPr id="16" name="Text 14"/>
          <p:cNvSpPr txBox="1"/>
          <p:nvPr/>
        </p:nvSpPr>
        <p:spPr>
          <a:xfrm>
            <a:off x="4114800" y="4206240"/>
            <a:ext cx="1691640" cy="731520"/>
          </a:xfrm>
          <a:prstGeom prst="rect">
            <a:avLst/>
          </a:prstGeom>
          <a:noFill/>
          <a:ln/>
        </p:spPr>
        <p:txBody>
          <a:bodyPr wrap="square" lIns="0" tIns="0" rIns="0" bIns="0" rtlCol="0" anchor="ctr"/>
          <a:lstStyle/>
          <a:p>
            <a:pPr indent="0" marL="0">
              <a:buNone/>
            </a:pPr>
            <a:r>
              <a:rPr lang="en-US" sz="1500" b="1" dirty="0">
                <a:solidFill>
                  <a:srgbClr val="C2338A"/>
                </a:solidFill>
                <a:latin typeface="Montserrat" pitchFamily="34" charset="0"/>
                <a:ea typeface="Montserrat" pitchFamily="34" charset="-122"/>
                <a:cs typeface="Montserrat" pitchFamily="34" charset="-120"/>
              </a:rPr>
              <a:t>62 nombres</a:t>
            </a:r>
            <a:endParaRPr lang="en-US" sz="1500" dirty="0"/>
          </a:p>
        </p:txBody>
      </p:sp>
      <p:sp>
        <p:nvSpPr>
          <p:cNvPr id="17" name="carte"/>
          <p:cNvSpPr/>
          <p:nvPr/>
        </p:nvSpPr>
        <p:spPr>
          <a:xfrm>
            <a:off x="6245352" y="1645920"/>
            <a:ext cx="5394960" cy="3749040"/>
          </a:xfrm>
          <a:prstGeom prst="roundRect">
            <a:avLst>
              <a:gd name="adj" fmla="val 1951"/>
            </a:avLst>
          </a:prstGeom>
          <a:solidFill>
            <a:srgbClr val="FFFFFF"/>
          </a:solidFill>
          <a:ln/>
          <a:effectLst>
            <a:outerShdw sx="100000" sy="100000" kx="0" ky="0" algn="bl" rotWithShape="0" blurRad="101600" dist="25400" dir="5400000">
              <a:srgbClr val="0B1F44">
                <a:alpha val="22000"/>
              </a:srgbClr>
            </a:outerShdw>
          </a:effectLst>
        </p:spPr>
      </p:sp>
      <p:sp>
        <p:nvSpPr>
          <p:cNvPr id="18" name="etiquette"/>
          <p:cNvSpPr txBox="1"/>
          <p:nvPr/>
        </p:nvSpPr>
        <p:spPr>
          <a:xfrm>
            <a:off x="6519672" y="1847088"/>
            <a:ext cx="3657600" cy="274320"/>
          </a:xfrm>
          <a:prstGeom prst="rect">
            <a:avLst/>
          </a:prstGeom>
          <a:noFill/>
          <a:ln/>
        </p:spPr>
        <p:txBody>
          <a:bodyPr wrap="square" lIns="0" tIns="0" rIns="0" bIns="0" rtlCol="0" anchor="ctr"/>
          <a:lstStyle/>
          <a:p>
            <a:pPr indent="0" marL="0">
              <a:buNone/>
            </a:pPr>
            <a:r>
              <a:rPr lang="en-US" sz="1150" b="1" spc="100" kern="0" dirty="0">
                <a:solidFill>
                  <a:srgbClr val="C2338A"/>
                </a:solidFill>
                <a:latin typeface="Montserrat" pitchFamily="34" charset="0"/>
                <a:ea typeface="Montserrat" pitchFamily="34" charset="-122"/>
                <a:cs typeface="Montserrat" pitchFamily="34" charset="-120"/>
              </a:rPr>
              <a:t>PPO · OPENAI, 2017</a:t>
            </a:r>
            <a:endParaRPr lang="en-US" sz="1150" dirty="0"/>
          </a:p>
        </p:txBody>
      </p:sp>
      <p:sp>
        <p:nvSpPr>
          <p:cNvPr id="19" name="Text 17"/>
          <p:cNvSpPr txBox="1"/>
          <p:nvPr/>
        </p:nvSpPr>
        <p:spPr>
          <a:xfrm>
            <a:off x="6519672" y="2286000"/>
            <a:ext cx="4846320" cy="2926080"/>
          </a:xfrm>
          <a:prstGeom prst="rect">
            <a:avLst/>
          </a:prstGeom>
          <a:noFill/>
          <a:ln/>
        </p:spPr>
        <p:txBody>
          <a:bodyPr wrap="square" lIns="0" tIns="0" rIns="0" bIns="0" rtlCol="0" anchor="t"/>
          <a:lstStyle/>
          <a:p>
            <a:pPr marL="203200" indent="-203200">
              <a:lnSpc>
                <a:spcPct val="105000"/>
              </a:lnSpc>
              <a:spcAft>
                <a:spcPts val="1400"/>
              </a:spcAft>
              <a:buSzPct val="100000"/>
              <a:buChar char="•"/>
            </a:pPr>
            <a:r>
              <a:rPr lang="en-US" sz="1800" b="1" dirty="0">
                <a:solidFill>
                  <a:srgbClr val="14183D"/>
                </a:solidFill>
                <a:latin typeface="Montserrat" pitchFamily="34" charset="0"/>
                <a:ea typeface="Montserrat" pitchFamily="34" charset="-122"/>
                <a:cs typeface="Montserrat" pitchFamily="34" charset="-120"/>
              </a:rPr>
              <a:t>Un acteur </a:t>
            </a:r>
            <a:r>
              <a:rPr lang="en-US" sz="1800" dirty="0">
                <a:solidFill>
                  <a:srgbClr val="14183D"/>
                </a:solidFill>
                <a:latin typeface="Montserrat" pitchFamily="34" charset="0"/>
                <a:ea typeface="Montserrat" pitchFamily="34" charset="-122"/>
                <a:cs typeface="Montserrat" pitchFamily="34" charset="-120"/>
              </a:rPr>
              <a:t>choisit le bouton</a:t>
            </a:r>
            <a:endParaRPr lang="en-US" sz="1800" dirty="0"/>
          </a:p>
          <a:p>
            <a:pPr marL="203200" indent="-203200">
              <a:lnSpc>
                <a:spcPct val="105000"/>
              </a:lnSpc>
              <a:spcAft>
                <a:spcPts val="1400"/>
              </a:spcAft>
              <a:buSzPct val="100000"/>
              <a:buChar char="•"/>
            </a:pPr>
            <a:r>
              <a:rPr lang="en-US" sz="1800" b="1" dirty="0">
                <a:solidFill>
                  <a:srgbClr val="14183D"/>
                </a:solidFill>
                <a:latin typeface="Montserrat" pitchFamily="34" charset="0"/>
                <a:ea typeface="Montserrat" pitchFamily="34" charset="-122"/>
                <a:cs typeface="Montserrat" pitchFamily="34" charset="-120"/>
              </a:rPr>
              <a:t>Un critique </a:t>
            </a:r>
            <a:r>
              <a:rPr lang="en-US" sz="1800" dirty="0">
                <a:solidFill>
                  <a:srgbClr val="14183D"/>
                </a:solidFill>
                <a:latin typeface="Montserrat" pitchFamily="34" charset="0"/>
                <a:ea typeface="Montserrat" pitchFamily="34" charset="-122"/>
                <a:cs typeface="Montserrat" pitchFamily="34" charset="-120"/>
              </a:rPr>
              <a:t>juge la situation</a:t>
            </a:r>
            <a:endParaRPr lang="en-US" sz="1800" dirty="0"/>
          </a:p>
          <a:p>
            <a:pPr marL="203200" indent="-203200">
              <a:lnSpc>
                <a:spcPct val="105000"/>
              </a:lnSpc>
              <a:spcAft>
                <a:spcPts val="1400"/>
              </a:spcAft>
              <a:buSzPct val="100000"/>
              <a:buChar char="•"/>
            </a:pPr>
            <a:r>
              <a:rPr lang="en-US" sz="1800" b="1" dirty="0">
                <a:solidFill>
                  <a:srgbClr val="14183D"/>
                </a:solidFill>
                <a:latin typeface="Montserrat" pitchFamily="34" charset="0"/>
                <a:ea typeface="Montserrat" pitchFamily="34" charset="-122"/>
                <a:cs typeface="Montserrat" pitchFamily="34" charset="-120"/>
              </a:rPr>
              <a:t>Par petits pas, </a:t>
            </a:r>
            <a:r>
              <a:rPr lang="en-US" sz="1800" dirty="0">
                <a:solidFill>
                  <a:srgbClr val="14183D"/>
                </a:solidFill>
                <a:latin typeface="Montserrat" pitchFamily="34" charset="0"/>
                <a:ea typeface="Montserrat" pitchFamily="34" charset="-122"/>
                <a:cs typeface="Montserrat" pitchFamily="34" charset="-120"/>
              </a:rPr>
              <a:t>~17 000 poids</a:t>
            </a:r>
            <a:endParaRPr lang="en-US" sz="1800" dirty="0"/>
          </a:p>
          <a:p>
            <a:pPr marL="203200" indent="-203200">
              <a:lnSpc>
                <a:spcPct val="105000"/>
              </a:lnSpc>
              <a:spcAft>
                <a:spcPts val="1400"/>
              </a:spcAft>
              <a:buSzPct val="100000"/>
              <a:buChar char="•"/>
            </a:pPr>
            <a:r>
              <a:rPr lang="en-US" sz="1800" b="1" dirty="0">
                <a:solidFill>
                  <a:srgbClr val="14183D"/>
                </a:solidFill>
                <a:latin typeface="Montserrat" pitchFamily="34" charset="0"/>
                <a:ea typeface="Montserrat" pitchFamily="34" charset="-122"/>
                <a:cs typeface="Montserrat" pitchFamily="34" charset="-120"/>
              </a:rPr>
              <a:t>Réglé avec Claude</a:t>
            </a:r>
            <a:endParaRPr lang="en-US" sz="1800" dirty="0"/>
          </a:p>
        </p:txBody>
      </p:sp>
      <p:sp>
        <p:nvSpPr>
          <p:cNvPr id="20" name="Text 18"/>
          <p:cNvSpPr txBox="1"/>
          <p:nvPr/>
        </p:nvSpPr>
        <p:spPr>
          <a:xfrm>
            <a:off x="548640" y="5669280"/>
            <a:ext cx="11091672" cy="457200"/>
          </a:xfrm>
          <a:prstGeom prst="rect">
            <a:avLst/>
          </a:prstGeom>
          <a:noFill/>
          <a:ln/>
        </p:spPr>
        <p:txBody>
          <a:bodyPr wrap="square" lIns="0" tIns="0" rIns="0" bIns="0"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Une Q-table plafonne vers 35 % sur le vrai jeu : il faut une IA qui généralise.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1-3  -  LE VRAI JEU NES</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PPO gagne 81 % des parties</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16</a:t>
            </a:r>
            <a:endParaRPr lang="en-US" sz="1100" dirty="0"/>
          </a:p>
        </p:txBody>
      </p:sp>
      <p:pic>
        <p:nvPicPr>
          <p:cNvPr id="6" name="remplacement_03_ppo_nes_v3" descr="/home/user/MarioRL_FinalWork/docs/oral/fabrication/assets/fallback_03_ppo_nes_v3.png">    </p:cNvPr>
          <p:cNvPicPr>
            <a:picLocks noChangeAspect="1"/>
          </p:cNvPicPr>
          <p:nvPr/>
        </p:nvPicPr>
        <p:blipFill>
          <a:blip r:embed="rId1"/>
          <a:stretch>
            <a:fillRect/>
          </a:stretch>
        </p:blipFill>
        <p:spPr>
          <a:xfrm>
            <a:off x="548640" y="1645920"/>
            <a:ext cx="4572000" cy="4286250"/>
          </a:xfrm>
          <a:prstGeom prst="rect">
            <a:avLst/>
          </a:prstGeom>
        </p:spPr>
      </p:pic>
      <p:pic>
        <p:nvPicPr>
          <p:cNvPr id="4" name="video_03_ppo_nes_v3">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48640" y="1645920"/>
            <a:ext cx="4572000" cy="4286250"/>
          </a:xfrm>
          <a:prstGeom prst="rect">
            <a:avLst/>
          </a:prstGeom>
        </p:spPr>
      </p:pic>
      <p:sp>
        <p:nvSpPr>
          <p:cNvPr id="8" name="kpi"/>
          <p:cNvSpPr/>
          <p:nvPr/>
        </p:nvSpPr>
        <p:spPr>
          <a:xfrm>
            <a:off x="5486400" y="1645920"/>
            <a:ext cx="2971800" cy="1371600"/>
          </a:xfrm>
          <a:prstGeom prst="roundRect">
            <a:avLst>
              <a:gd name="adj" fmla="val 5333"/>
            </a:avLst>
          </a:prstGeom>
          <a:solidFill>
            <a:srgbClr val="FFFFFF"/>
          </a:solidFill>
          <a:ln/>
          <a:effectLst>
            <a:outerShdw sx="100000" sy="100000" kx="0" ky="0" algn="bl" rotWithShape="0" blurRad="101600" dist="25400" dir="5400000">
              <a:srgbClr val="0B1F44">
                <a:alpha val="22000"/>
              </a:srgbClr>
            </a:outerShdw>
          </a:effectLst>
        </p:spPr>
      </p:sp>
      <p:sp>
        <p:nvSpPr>
          <p:cNvPr id="9" name="Text 5"/>
          <p:cNvSpPr txBox="1"/>
          <p:nvPr/>
        </p:nvSpPr>
        <p:spPr>
          <a:xfrm>
            <a:off x="5715000" y="1755648"/>
            <a:ext cx="2606040" cy="713232"/>
          </a:xfrm>
          <a:prstGeom prst="rect">
            <a:avLst/>
          </a:prstGeom>
          <a:noFill/>
          <a:ln/>
        </p:spPr>
        <p:txBody>
          <a:bodyPr wrap="square" lIns="0" tIns="0" rIns="0" bIns="0" rtlCol="0" anchor="ctr"/>
          <a:lstStyle/>
          <a:p>
            <a:pPr indent="0" marL="0">
              <a:buNone/>
            </a:pPr>
            <a:r>
              <a:rPr lang="en-US" sz="3400" b="1" dirty="0">
                <a:solidFill>
                  <a:srgbClr val="14183D"/>
                </a:solidFill>
                <a:latin typeface="Montserrat" pitchFamily="34" charset="0"/>
                <a:ea typeface="Montserrat" pitchFamily="34" charset="-122"/>
                <a:cs typeface="Montserrat" pitchFamily="34" charset="-120"/>
              </a:rPr>
              <a:t>81,4 %</a:t>
            </a:r>
            <a:endParaRPr lang="en-US" sz="3400" dirty="0"/>
          </a:p>
        </p:txBody>
      </p:sp>
      <p:sp>
        <p:nvSpPr>
          <p:cNvPr id="10" name="Text 6"/>
          <p:cNvSpPr txBox="1"/>
          <p:nvPr/>
        </p:nvSpPr>
        <p:spPr>
          <a:xfrm>
            <a:off x="5715000" y="2468880"/>
            <a:ext cx="2606040" cy="466344"/>
          </a:xfrm>
          <a:prstGeom prst="rect">
            <a:avLst/>
          </a:prstGeom>
          <a:noFill/>
          <a:ln/>
        </p:spPr>
        <p:txBody>
          <a:bodyPr wrap="square" lIns="0" tIns="0" rIns="0" bIns="0" rtlCol="0" anchor="t"/>
          <a:lstStyle/>
          <a:p>
            <a:pPr indent="0" marL="0">
              <a:buNone/>
            </a:pPr>
            <a:r>
              <a:rPr lang="en-US" sz="1300" dirty="0">
                <a:solidFill>
                  <a:srgbClr val="4A5070"/>
                </a:solidFill>
                <a:latin typeface="Montserrat" pitchFamily="34" charset="0"/>
                <a:ea typeface="Montserrat" pitchFamily="34" charset="-122"/>
                <a:cs typeface="Montserrat" pitchFamily="34" charset="-120"/>
              </a:rPr>
              <a:t>victoires</a:t>
            </a:r>
            <a:endParaRPr lang="en-US" sz="1300" dirty="0"/>
          </a:p>
        </p:txBody>
      </p:sp>
      <p:sp>
        <p:nvSpPr>
          <p:cNvPr id="11" name="kpi"/>
          <p:cNvSpPr/>
          <p:nvPr/>
        </p:nvSpPr>
        <p:spPr>
          <a:xfrm>
            <a:off x="8668512" y="1645920"/>
            <a:ext cx="2971800" cy="1371600"/>
          </a:xfrm>
          <a:prstGeom prst="roundRect">
            <a:avLst>
              <a:gd name="adj" fmla="val 5333"/>
            </a:avLst>
          </a:prstGeom>
          <a:solidFill>
            <a:srgbClr val="FFFFFF"/>
          </a:solidFill>
          <a:ln/>
          <a:effectLst>
            <a:outerShdw sx="100000" sy="100000" kx="0" ky="0" algn="bl" rotWithShape="0" blurRad="101600" dist="25400" dir="5400000">
              <a:srgbClr val="0B1F44">
                <a:alpha val="22000"/>
              </a:srgbClr>
            </a:outerShdw>
          </a:effectLst>
        </p:spPr>
      </p:sp>
      <p:sp>
        <p:nvSpPr>
          <p:cNvPr id="12" name="Text 8"/>
          <p:cNvSpPr txBox="1"/>
          <p:nvPr/>
        </p:nvSpPr>
        <p:spPr>
          <a:xfrm>
            <a:off x="8897112" y="1755648"/>
            <a:ext cx="2606040" cy="713232"/>
          </a:xfrm>
          <a:prstGeom prst="rect">
            <a:avLst/>
          </a:prstGeom>
          <a:noFill/>
          <a:ln/>
        </p:spPr>
        <p:txBody>
          <a:bodyPr wrap="square" lIns="0" tIns="0" rIns="0" bIns="0" rtlCol="0" anchor="ctr"/>
          <a:lstStyle/>
          <a:p>
            <a:pPr indent="0" marL="0">
              <a:buNone/>
            </a:pPr>
            <a:r>
              <a:rPr lang="en-US" sz="3400" b="1" dirty="0">
                <a:solidFill>
                  <a:srgbClr val="14183D"/>
                </a:solidFill>
                <a:latin typeface="Montserrat" pitchFamily="34" charset="0"/>
                <a:ea typeface="Montserrat" pitchFamily="34" charset="-122"/>
                <a:cs typeface="Montserrat" pitchFamily="34" charset="-120"/>
              </a:rPr>
              <a:t>5 / 5</a:t>
            </a:r>
            <a:endParaRPr lang="en-US" sz="3400" dirty="0"/>
          </a:p>
        </p:txBody>
      </p:sp>
      <p:sp>
        <p:nvSpPr>
          <p:cNvPr id="13" name="Text 9"/>
          <p:cNvSpPr txBox="1"/>
          <p:nvPr/>
        </p:nvSpPr>
        <p:spPr>
          <a:xfrm>
            <a:off x="8897112" y="2468880"/>
            <a:ext cx="2606040" cy="466344"/>
          </a:xfrm>
          <a:prstGeom prst="rect">
            <a:avLst/>
          </a:prstGeom>
          <a:noFill/>
          <a:ln/>
        </p:spPr>
        <p:txBody>
          <a:bodyPr wrap="square" lIns="0" tIns="0" rIns="0" bIns="0" rtlCol="0" anchor="t"/>
          <a:lstStyle/>
          <a:p>
            <a:pPr indent="0" marL="0">
              <a:buNone/>
            </a:pPr>
            <a:r>
              <a:rPr lang="en-US" sz="1300" dirty="0">
                <a:solidFill>
                  <a:srgbClr val="4A5070"/>
                </a:solidFill>
                <a:latin typeface="Montserrat" pitchFamily="34" charset="0"/>
                <a:ea typeface="Montserrat" pitchFamily="34" charset="-122"/>
                <a:cs typeface="Montserrat" pitchFamily="34" charset="-120"/>
              </a:rPr>
              <a:t>parties sans hasard gagnées</a:t>
            </a:r>
            <a:endParaRPr lang="en-US" sz="1300" dirty="0"/>
          </a:p>
        </p:txBody>
      </p:sp>
      <p:sp>
        <p:nvSpPr>
          <p:cNvPr id="14" name="kpi"/>
          <p:cNvSpPr/>
          <p:nvPr/>
        </p:nvSpPr>
        <p:spPr>
          <a:xfrm>
            <a:off x="5486400" y="3200400"/>
            <a:ext cx="2971800" cy="1371600"/>
          </a:xfrm>
          <a:prstGeom prst="roundRect">
            <a:avLst>
              <a:gd name="adj" fmla="val 5333"/>
            </a:avLst>
          </a:prstGeom>
          <a:solidFill>
            <a:srgbClr val="FFFFFF"/>
          </a:solidFill>
          <a:ln/>
          <a:effectLst>
            <a:outerShdw sx="100000" sy="100000" kx="0" ky="0" algn="bl" rotWithShape="0" blurRad="101600" dist="25400" dir="5400000">
              <a:srgbClr val="0B1F44">
                <a:alpha val="22000"/>
              </a:srgbClr>
            </a:outerShdw>
          </a:effectLst>
        </p:spPr>
      </p:sp>
      <p:sp>
        <p:nvSpPr>
          <p:cNvPr id="15" name="Text 11"/>
          <p:cNvSpPr txBox="1"/>
          <p:nvPr/>
        </p:nvSpPr>
        <p:spPr>
          <a:xfrm>
            <a:off x="5715000" y="3310128"/>
            <a:ext cx="2606040" cy="713232"/>
          </a:xfrm>
          <a:prstGeom prst="rect">
            <a:avLst/>
          </a:prstGeom>
          <a:noFill/>
          <a:ln/>
        </p:spPr>
        <p:txBody>
          <a:bodyPr wrap="square" lIns="0" tIns="0" rIns="0" bIns="0" rtlCol="0" anchor="ctr"/>
          <a:lstStyle/>
          <a:p>
            <a:pPr indent="0" marL="0">
              <a:buNone/>
            </a:pPr>
            <a:r>
              <a:rPr lang="en-US" sz="3400" b="1" dirty="0">
                <a:solidFill>
                  <a:srgbClr val="14183D"/>
                </a:solidFill>
                <a:latin typeface="Montserrat" pitchFamily="34" charset="0"/>
                <a:ea typeface="Montserrat" pitchFamily="34" charset="-122"/>
                <a:cs typeface="Montserrat" pitchFamily="34" charset="-120"/>
              </a:rPr>
              <a:t>59,6 %</a:t>
            </a:r>
            <a:endParaRPr lang="en-US" sz="3400" dirty="0"/>
          </a:p>
        </p:txBody>
      </p:sp>
      <p:sp>
        <p:nvSpPr>
          <p:cNvPr id="16" name="Text 12"/>
          <p:cNvSpPr txBox="1"/>
          <p:nvPr/>
        </p:nvSpPr>
        <p:spPr>
          <a:xfrm>
            <a:off x="5715000" y="4023360"/>
            <a:ext cx="2606040" cy="466344"/>
          </a:xfrm>
          <a:prstGeom prst="rect">
            <a:avLst/>
          </a:prstGeom>
          <a:noFill/>
          <a:ln/>
        </p:spPr>
        <p:txBody>
          <a:bodyPr wrap="square" lIns="0" tIns="0" rIns="0" bIns="0" rtlCol="0" anchor="t"/>
          <a:lstStyle/>
          <a:p>
            <a:pPr indent="0" marL="0">
              <a:buNone/>
            </a:pPr>
            <a:r>
              <a:rPr lang="en-US" sz="1300" dirty="0">
                <a:solidFill>
                  <a:srgbClr val="4A5070"/>
                </a:solidFill>
                <a:latin typeface="Montserrat" pitchFamily="34" charset="0"/>
                <a:ea typeface="Montserrat" pitchFamily="34" charset="-122"/>
                <a:cs typeface="Montserrat" pitchFamily="34" charset="-120"/>
              </a:rPr>
              <a:t>robustesse</a:t>
            </a:r>
            <a:endParaRPr lang="en-US" sz="1300" dirty="0"/>
          </a:p>
        </p:txBody>
      </p:sp>
      <p:sp>
        <p:nvSpPr>
          <p:cNvPr id="17" name="kpi"/>
          <p:cNvSpPr/>
          <p:nvPr/>
        </p:nvSpPr>
        <p:spPr>
          <a:xfrm>
            <a:off x="8668512" y="3200400"/>
            <a:ext cx="2971800" cy="1371600"/>
          </a:xfrm>
          <a:prstGeom prst="roundRect">
            <a:avLst>
              <a:gd name="adj" fmla="val 5333"/>
            </a:avLst>
          </a:prstGeom>
          <a:solidFill>
            <a:srgbClr val="FFFFFF"/>
          </a:solidFill>
          <a:ln/>
          <a:effectLst>
            <a:outerShdw sx="100000" sy="100000" kx="0" ky="0" algn="bl" rotWithShape="0" blurRad="101600" dist="25400" dir="5400000">
              <a:srgbClr val="0B1F44">
                <a:alpha val="22000"/>
              </a:srgbClr>
            </a:outerShdw>
          </a:effectLst>
        </p:spPr>
      </p:sp>
      <p:sp>
        <p:nvSpPr>
          <p:cNvPr id="18" name="Text 14"/>
          <p:cNvSpPr txBox="1"/>
          <p:nvPr/>
        </p:nvSpPr>
        <p:spPr>
          <a:xfrm>
            <a:off x="8897112" y="3310128"/>
            <a:ext cx="2606040" cy="713232"/>
          </a:xfrm>
          <a:prstGeom prst="rect">
            <a:avLst/>
          </a:prstGeom>
          <a:noFill/>
          <a:ln/>
        </p:spPr>
        <p:txBody>
          <a:bodyPr wrap="square" lIns="0" tIns="0" rIns="0" bIns="0" rtlCol="0" anchor="ctr"/>
          <a:lstStyle/>
          <a:p>
            <a:pPr indent="0" marL="0">
              <a:buNone/>
            </a:pPr>
            <a:r>
              <a:rPr lang="en-US" sz="3400" b="1" dirty="0">
                <a:solidFill>
                  <a:srgbClr val="14183D"/>
                </a:solidFill>
                <a:latin typeface="Montserrat" pitchFamily="34" charset="0"/>
                <a:ea typeface="Montserrat" pitchFamily="34" charset="-122"/>
                <a:cs typeface="Montserrat" pitchFamily="34" charset="-120"/>
              </a:rPr>
              <a:t>11 min</a:t>
            </a:r>
            <a:endParaRPr lang="en-US" sz="3400" dirty="0"/>
          </a:p>
        </p:txBody>
      </p:sp>
      <p:sp>
        <p:nvSpPr>
          <p:cNvPr id="19" name="Text 15"/>
          <p:cNvSpPr txBox="1"/>
          <p:nvPr/>
        </p:nvSpPr>
        <p:spPr>
          <a:xfrm>
            <a:off x="8897112" y="4023360"/>
            <a:ext cx="2606040" cy="466344"/>
          </a:xfrm>
          <a:prstGeom prst="rect">
            <a:avLst/>
          </a:prstGeom>
          <a:noFill/>
          <a:ln/>
        </p:spPr>
        <p:txBody>
          <a:bodyPr wrap="square" lIns="0" tIns="0" rIns="0" bIns="0" rtlCol="0" anchor="t"/>
          <a:lstStyle/>
          <a:p>
            <a:pPr indent="0" marL="0">
              <a:buNone/>
            </a:pPr>
            <a:r>
              <a:rPr lang="en-US" sz="1300" dirty="0">
                <a:solidFill>
                  <a:srgbClr val="4A5070"/>
                </a:solidFill>
                <a:latin typeface="Montserrat" pitchFamily="34" charset="0"/>
                <a:ea typeface="Montserrat" pitchFamily="34" charset="-122"/>
                <a:cs typeface="Montserrat" pitchFamily="34" charset="-120"/>
              </a:rPr>
              <a:t>par graine (3 M de pas)</a:t>
            </a:r>
            <a:endParaRPr lang="en-US" sz="1300" dirty="0"/>
          </a:p>
        </p:txBody>
      </p:sp>
      <p:sp>
        <p:nvSpPr>
          <p:cNvPr id="20" name="Text 16"/>
          <p:cNvSpPr txBox="1"/>
          <p:nvPr/>
        </p:nvSpPr>
        <p:spPr>
          <a:xfrm>
            <a:off x="5486400" y="4892040"/>
            <a:ext cx="6153912" cy="548640"/>
          </a:xfrm>
          <a:prstGeom prst="rect">
            <a:avLst/>
          </a:prstGeom>
          <a:noFill/>
          <a:ln/>
        </p:spPr>
        <p:txBody>
          <a:bodyPr wrap="square" lIns="0" tIns="0" rIns="0" bIns="0" rtlCol="0" anchor="ctr"/>
          <a:lstStyle/>
          <a:p>
            <a:pPr indent="0" marL="0">
              <a:buNone/>
            </a:pPr>
            <a:r>
              <a:rPr lang="en-US" sz="1700" b="1" dirty="0">
                <a:solidFill>
                  <a:srgbClr val="FFFFFF"/>
                </a:solidFill>
                <a:latin typeface="Montserrat" pitchFamily="34" charset="0"/>
                <a:ea typeface="Montserrat" pitchFamily="34" charset="-122"/>
                <a:cs typeface="Montserrat" pitchFamily="34" charset="-120"/>
              </a:rPr>
              <a:t>Point faible : il rattrape mal un bouton perturbé.</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1-3  -  LE VRAI JEU NES</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Route A : jouer comme un humain</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17</a:t>
            </a:r>
            <a:endParaRPr lang="en-US" sz="1100" dirty="0"/>
          </a:p>
        </p:txBody>
      </p:sp>
      <p:pic>
        <p:nvPicPr>
          <p:cNvPr id="6" name="remplacement_04_ppo_route_a" descr="/home/user/MarioRL_FinalWork/docs/oral/fabrication/assets/fallback_04_ppo_route_a.png">    </p:cNvPr>
          <p:cNvPicPr>
            <a:picLocks noChangeAspect="1"/>
          </p:cNvPicPr>
          <p:nvPr/>
        </p:nvPicPr>
        <p:blipFill>
          <a:blip r:embed="rId1"/>
          <a:stretch>
            <a:fillRect/>
          </a:stretch>
        </p:blipFill>
        <p:spPr>
          <a:xfrm>
            <a:off x="548640" y="1645920"/>
            <a:ext cx="4572000" cy="4286250"/>
          </a:xfrm>
          <a:prstGeom prst="rect">
            <a:avLst/>
          </a:prstGeom>
        </p:spPr>
      </p:pic>
      <p:pic>
        <p:nvPicPr>
          <p:cNvPr id="4" name="video_04_ppo_route_a">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48640" y="1645920"/>
            <a:ext cx="4572000" cy="4286250"/>
          </a:xfrm>
          <a:prstGeom prst="rect">
            <a:avLst/>
          </a:prstGeom>
        </p:spPr>
      </p:pic>
      <p:sp>
        <p:nvSpPr>
          <p:cNvPr id="8" name="kpi"/>
          <p:cNvSpPr/>
          <p:nvPr/>
        </p:nvSpPr>
        <p:spPr>
          <a:xfrm>
            <a:off x="5486400" y="1645920"/>
            <a:ext cx="1463040" cy="1143000"/>
          </a:xfrm>
          <a:prstGeom prst="roundRect">
            <a:avLst>
              <a:gd name="adj" fmla="val 6400"/>
            </a:avLst>
          </a:prstGeom>
          <a:solidFill>
            <a:srgbClr val="FFFFFF"/>
          </a:solidFill>
          <a:ln/>
          <a:effectLst>
            <a:outerShdw sx="100000" sy="100000" kx="0" ky="0" algn="bl" rotWithShape="0" blurRad="101600" dist="25400" dir="5400000">
              <a:srgbClr val="0B1F44">
                <a:alpha val="22000"/>
              </a:srgbClr>
            </a:outerShdw>
          </a:effectLst>
        </p:spPr>
      </p:sp>
      <p:sp>
        <p:nvSpPr>
          <p:cNvPr id="9" name="Text 5"/>
          <p:cNvSpPr txBox="1"/>
          <p:nvPr/>
        </p:nvSpPr>
        <p:spPr>
          <a:xfrm>
            <a:off x="5715000" y="1755648"/>
            <a:ext cx="1097280" cy="594360"/>
          </a:xfrm>
          <a:prstGeom prst="rect">
            <a:avLst/>
          </a:prstGeom>
          <a:noFill/>
          <a:ln/>
        </p:spPr>
        <p:txBody>
          <a:bodyPr wrap="square" lIns="0" tIns="0" rIns="0" bIns="0" rtlCol="0" anchor="ctr"/>
          <a:lstStyle/>
          <a:p>
            <a:pPr indent="0" marL="0">
              <a:buNone/>
            </a:pPr>
            <a:r>
              <a:rPr lang="en-US" sz="2400" b="1" dirty="0">
                <a:solidFill>
                  <a:srgbClr val="14183D"/>
                </a:solidFill>
                <a:latin typeface="Montserrat" pitchFamily="34" charset="0"/>
                <a:ea typeface="Montserrat" pitchFamily="34" charset="-122"/>
                <a:cs typeface="Montserrat" pitchFamily="34" charset="-120"/>
              </a:rPr>
              <a:t>91 %</a:t>
            </a:r>
            <a:endParaRPr lang="en-US" sz="2400" dirty="0"/>
          </a:p>
        </p:txBody>
      </p:sp>
      <p:sp>
        <p:nvSpPr>
          <p:cNvPr id="10" name="Text 6"/>
          <p:cNvSpPr txBox="1"/>
          <p:nvPr/>
        </p:nvSpPr>
        <p:spPr>
          <a:xfrm>
            <a:off x="5715000" y="2331720"/>
            <a:ext cx="1097280" cy="388620"/>
          </a:xfrm>
          <a:prstGeom prst="rect">
            <a:avLst/>
          </a:prstGeom>
          <a:noFill/>
          <a:ln/>
        </p:spPr>
        <p:txBody>
          <a:bodyPr wrap="square" lIns="0" tIns="0" rIns="0" bIns="0" rtlCol="0" anchor="t"/>
          <a:lstStyle/>
          <a:p>
            <a:pPr indent="0" marL="0">
              <a:buNone/>
            </a:pPr>
            <a:r>
              <a:rPr lang="en-US" sz="1200" dirty="0">
                <a:solidFill>
                  <a:srgbClr val="4A5070"/>
                </a:solidFill>
                <a:latin typeface="Montserrat" pitchFamily="34" charset="0"/>
                <a:ea typeface="Montserrat" pitchFamily="34" charset="-122"/>
                <a:cs typeface="Montserrat" pitchFamily="34" charset="-120"/>
              </a:rPr>
              <a:t>victoires</a:t>
            </a:r>
            <a:endParaRPr lang="en-US" sz="1200" dirty="0"/>
          </a:p>
        </p:txBody>
      </p:sp>
      <p:sp>
        <p:nvSpPr>
          <p:cNvPr id="11" name="kpi"/>
          <p:cNvSpPr/>
          <p:nvPr/>
        </p:nvSpPr>
        <p:spPr>
          <a:xfrm>
            <a:off x="7059168" y="1645920"/>
            <a:ext cx="1463040" cy="1143000"/>
          </a:xfrm>
          <a:prstGeom prst="roundRect">
            <a:avLst>
              <a:gd name="adj" fmla="val 6400"/>
            </a:avLst>
          </a:prstGeom>
          <a:solidFill>
            <a:srgbClr val="FFFFFF"/>
          </a:solidFill>
          <a:ln/>
          <a:effectLst>
            <a:outerShdw sx="100000" sy="100000" kx="0" ky="0" algn="bl" rotWithShape="0" blurRad="101600" dist="25400" dir="5400000">
              <a:srgbClr val="0B1F44">
                <a:alpha val="22000"/>
              </a:srgbClr>
            </a:outerShdw>
          </a:effectLst>
        </p:spPr>
      </p:sp>
      <p:sp>
        <p:nvSpPr>
          <p:cNvPr id="12" name="Text 8"/>
          <p:cNvSpPr txBox="1"/>
          <p:nvPr/>
        </p:nvSpPr>
        <p:spPr>
          <a:xfrm>
            <a:off x="7287768" y="1755648"/>
            <a:ext cx="1097280" cy="594360"/>
          </a:xfrm>
          <a:prstGeom prst="rect">
            <a:avLst/>
          </a:prstGeom>
          <a:noFill/>
          <a:ln/>
        </p:spPr>
        <p:txBody>
          <a:bodyPr wrap="square" lIns="0" tIns="0" rIns="0" bIns="0" rtlCol="0" anchor="ctr"/>
          <a:lstStyle/>
          <a:p>
            <a:pPr indent="0" marL="0">
              <a:buNone/>
            </a:pPr>
            <a:r>
              <a:rPr lang="en-US" sz="2400" b="1" dirty="0">
                <a:solidFill>
                  <a:srgbClr val="14183D"/>
                </a:solidFill>
                <a:latin typeface="Montserrat" pitchFamily="34" charset="0"/>
                <a:ea typeface="Montserrat" pitchFamily="34" charset="-122"/>
                <a:cs typeface="Montserrat" pitchFamily="34" charset="-120"/>
              </a:rPr>
              <a:t>94 %</a:t>
            </a:r>
            <a:endParaRPr lang="en-US" sz="2400" dirty="0"/>
          </a:p>
        </p:txBody>
      </p:sp>
      <p:sp>
        <p:nvSpPr>
          <p:cNvPr id="13" name="Text 9"/>
          <p:cNvSpPr txBox="1"/>
          <p:nvPr/>
        </p:nvSpPr>
        <p:spPr>
          <a:xfrm>
            <a:off x="7287768" y="2331720"/>
            <a:ext cx="1097280" cy="388620"/>
          </a:xfrm>
          <a:prstGeom prst="rect">
            <a:avLst/>
          </a:prstGeom>
          <a:noFill/>
          <a:ln/>
        </p:spPr>
        <p:txBody>
          <a:bodyPr wrap="square" lIns="0" tIns="0" rIns="0" bIns="0" rtlCol="0" anchor="t"/>
          <a:lstStyle/>
          <a:p>
            <a:pPr indent="0" marL="0">
              <a:buNone/>
            </a:pPr>
            <a:r>
              <a:rPr lang="en-US" sz="1200" dirty="0">
                <a:solidFill>
                  <a:srgbClr val="4A5070"/>
                </a:solidFill>
                <a:latin typeface="Montserrat" pitchFamily="34" charset="0"/>
                <a:ea typeface="Montserrat" pitchFamily="34" charset="-122"/>
                <a:cs typeface="Montserrat" pitchFamily="34" charset="-120"/>
              </a:rPr>
              <a:t>salle bonus</a:t>
            </a:r>
            <a:endParaRPr lang="en-US" sz="1200" dirty="0"/>
          </a:p>
        </p:txBody>
      </p:sp>
      <p:sp>
        <p:nvSpPr>
          <p:cNvPr id="14" name="kpi"/>
          <p:cNvSpPr/>
          <p:nvPr/>
        </p:nvSpPr>
        <p:spPr>
          <a:xfrm>
            <a:off x="8631936" y="1645920"/>
            <a:ext cx="1463040" cy="1143000"/>
          </a:xfrm>
          <a:prstGeom prst="roundRect">
            <a:avLst>
              <a:gd name="adj" fmla="val 6400"/>
            </a:avLst>
          </a:prstGeom>
          <a:solidFill>
            <a:srgbClr val="FFFFFF"/>
          </a:solidFill>
          <a:ln/>
          <a:effectLst>
            <a:outerShdw sx="100000" sy="100000" kx="0" ky="0" algn="bl" rotWithShape="0" blurRad="101600" dist="25400" dir="5400000">
              <a:srgbClr val="0B1F44">
                <a:alpha val="22000"/>
              </a:srgbClr>
            </a:outerShdw>
          </a:effectLst>
        </p:spPr>
      </p:sp>
      <p:sp>
        <p:nvSpPr>
          <p:cNvPr id="15" name="Text 11"/>
          <p:cNvSpPr txBox="1"/>
          <p:nvPr/>
        </p:nvSpPr>
        <p:spPr>
          <a:xfrm>
            <a:off x="8860536" y="1755648"/>
            <a:ext cx="1097280" cy="594360"/>
          </a:xfrm>
          <a:prstGeom prst="rect">
            <a:avLst/>
          </a:prstGeom>
          <a:noFill/>
          <a:ln/>
        </p:spPr>
        <p:txBody>
          <a:bodyPr wrap="square" lIns="0" tIns="0" rIns="0" bIns="0" rtlCol="0" anchor="ctr"/>
          <a:lstStyle/>
          <a:p>
            <a:pPr indent="0" marL="0">
              <a:buNone/>
            </a:pPr>
            <a:r>
              <a:rPr lang="en-US" sz="2400" b="1" dirty="0">
                <a:solidFill>
                  <a:srgbClr val="14183D"/>
                </a:solidFill>
                <a:latin typeface="Montserrat" pitchFamily="34" charset="0"/>
                <a:ea typeface="Montserrat" pitchFamily="34" charset="-122"/>
                <a:cs typeface="Montserrat" pitchFamily="34" charset="-120"/>
              </a:rPr>
              <a:t>97 %</a:t>
            </a:r>
            <a:endParaRPr lang="en-US" sz="2400" dirty="0"/>
          </a:p>
        </p:txBody>
      </p:sp>
      <p:sp>
        <p:nvSpPr>
          <p:cNvPr id="16" name="Text 12"/>
          <p:cNvSpPr txBox="1"/>
          <p:nvPr/>
        </p:nvSpPr>
        <p:spPr>
          <a:xfrm>
            <a:off x="8860536" y="2331720"/>
            <a:ext cx="1097280" cy="388620"/>
          </a:xfrm>
          <a:prstGeom prst="rect">
            <a:avLst/>
          </a:prstGeom>
          <a:noFill/>
          <a:ln/>
        </p:spPr>
        <p:txBody>
          <a:bodyPr wrap="square" lIns="0" tIns="0" rIns="0" bIns="0" rtlCol="0" anchor="t"/>
          <a:lstStyle/>
          <a:p>
            <a:pPr indent="0" marL="0">
              <a:buNone/>
            </a:pPr>
            <a:r>
              <a:rPr lang="en-US" sz="1200" dirty="0">
                <a:solidFill>
                  <a:srgbClr val="4A5070"/>
                </a:solidFill>
                <a:latin typeface="Montserrat" pitchFamily="34" charset="0"/>
                <a:ea typeface="Montserrat" pitchFamily="34" charset="-122"/>
                <a:cs typeface="Montserrat" pitchFamily="34" charset="-120"/>
              </a:rPr>
              <a:t>champignon</a:t>
            </a:r>
            <a:endParaRPr lang="en-US" sz="1200" dirty="0"/>
          </a:p>
        </p:txBody>
      </p:sp>
      <p:sp>
        <p:nvSpPr>
          <p:cNvPr id="17" name="kpi"/>
          <p:cNvSpPr/>
          <p:nvPr/>
        </p:nvSpPr>
        <p:spPr>
          <a:xfrm>
            <a:off x="10204704" y="1645920"/>
            <a:ext cx="1463040" cy="1143000"/>
          </a:xfrm>
          <a:prstGeom prst="roundRect">
            <a:avLst>
              <a:gd name="adj" fmla="val 6400"/>
            </a:avLst>
          </a:prstGeom>
          <a:solidFill>
            <a:srgbClr val="FFFFFF"/>
          </a:solidFill>
          <a:ln/>
          <a:effectLst>
            <a:outerShdw sx="100000" sy="100000" kx="0" ky="0" algn="bl" rotWithShape="0" blurRad="101600" dist="25400" dir="5400000">
              <a:srgbClr val="0B1F44">
                <a:alpha val="22000"/>
              </a:srgbClr>
            </a:outerShdw>
          </a:effectLst>
        </p:spPr>
      </p:sp>
      <p:sp>
        <p:nvSpPr>
          <p:cNvPr id="18" name="Text 14"/>
          <p:cNvSpPr txBox="1"/>
          <p:nvPr/>
        </p:nvSpPr>
        <p:spPr>
          <a:xfrm>
            <a:off x="10433304" y="1755648"/>
            <a:ext cx="1097280" cy="594360"/>
          </a:xfrm>
          <a:prstGeom prst="rect">
            <a:avLst/>
          </a:prstGeom>
          <a:noFill/>
          <a:ln/>
        </p:spPr>
        <p:txBody>
          <a:bodyPr wrap="square" lIns="0" tIns="0" rIns="0" bIns="0" rtlCol="0" anchor="ctr"/>
          <a:lstStyle/>
          <a:p>
            <a:pPr indent="0" marL="0">
              <a:buNone/>
            </a:pPr>
            <a:r>
              <a:rPr lang="en-US" sz="2400" b="1" dirty="0">
                <a:solidFill>
                  <a:srgbClr val="14183D"/>
                </a:solidFill>
                <a:latin typeface="Montserrat" pitchFamily="34" charset="0"/>
                <a:ea typeface="Montserrat" pitchFamily="34" charset="-122"/>
                <a:cs typeface="Montserrat" pitchFamily="34" charset="-120"/>
              </a:rPr>
              <a:t>93 %</a:t>
            </a:r>
            <a:endParaRPr lang="en-US" sz="2400" dirty="0"/>
          </a:p>
        </p:txBody>
      </p:sp>
      <p:sp>
        <p:nvSpPr>
          <p:cNvPr id="19" name="Text 15"/>
          <p:cNvSpPr txBox="1"/>
          <p:nvPr/>
        </p:nvSpPr>
        <p:spPr>
          <a:xfrm>
            <a:off x="10433304" y="2331720"/>
            <a:ext cx="1097280" cy="388620"/>
          </a:xfrm>
          <a:prstGeom prst="rect">
            <a:avLst/>
          </a:prstGeom>
          <a:noFill/>
          <a:ln/>
        </p:spPr>
        <p:txBody>
          <a:bodyPr wrap="square" lIns="0" tIns="0" rIns="0" bIns="0" rtlCol="0" anchor="t"/>
          <a:lstStyle/>
          <a:p>
            <a:pPr indent="0" marL="0">
              <a:buNone/>
            </a:pPr>
            <a:r>
              <a:rPr lang="en-US" sz="1200" dirty="0">
                <a:solidFill>
                  <a:srgbClr val="4A5070"/>
                </a:solidFill>
                <a:latin typeface="Montserrat" pitchFamily="34" charset="0"/>
                <a:ea typeface="Montserrat" pitchFamily="34" charset="-122"/>
                <a:cs typeface="Montserrat" pitchFamily="34" charset="-120"/>
              </a:rPr>
              <a:t>fleur</a:t>
            </a:r>
            <a:endParaRPr lang="en-US" sz="1200" dirty="0"/>
          </a:p>
        </p:txBody>
      </p:sp>
      <p:sp>
        <p:nvSpPr>
          <p:cNvPr id="20" name="carte"/>
          <p:cNvSpPr/>
          <p:nvPr/>
        </p:nvSpPr>
        <p:spPr>
          <a:xfrm>
            <a:off x="5486400" y="3017520"/>
            <a:ext cx="6153912" cy="2377440"/>
          </a:xfrm>
          <a:prstGeom prst="roundRect">
            <a:avLst>
              <a:gd name="adj" fmla="val 3077"/>
            </a:avLst>
          </a:prstGeom>
          <a:solidFill>
            <a:srgbClr val="FFFFFF"/>
          </a:solidFill>
          <a:ln/>
          <a:effectLst>
            <a:outerShdw sx="100000" sy="100000" kx="0" ky="0" algn="bl" rotWithShape="0" blurRad="101600" dist="25400" dir="5400000">
              <a:srgbClr val="0B1F44">
                <a:alpha val="22000"/>
              </a:srgbClr>
            </a:outerShdw>
          </a:effectLst>
        </p:spPr>
      </p:sp>
      <p:sp>
        <p:nvSpPr>
          <p:cNvPr id="21" name="etiquette"/>
          <p:cNvSpPr txBox="1"/>
          <p:nvPr/>
        </p:nvSpPr>
        <p:spPr>
          <a:xfrm>
            <a:off x="5760720" y="3218688"/>
            <a:ext cx="5486400" cy="274320"/>
          </a:xfrm>
          <a:prstGeom prst="rect">
            <a:avLst/>
          </a:prstGeom>
          <a:noFill/>
          <a:ln/>
        </p:spPr>
        <p:txBody>
          <a:bodyPr wrap="square" lIns="0" tIns="0" rIns="0" bIns="0" rtlCol="0" anchor="ctr"/>
          <a:lstStyle/>
          <a:p>
            <a:pPr indent="0" marL="0">
              <a:buNone/>
            </a:pPr>
            <a:r>
              <a:rPr lang="en-US" sz="1150" b="1" spc="100" kern="0" dirty="0">
                <a:solidFill>
                  <a:srgbClr val="D62839"/>
                </a:solidFill>
                <a:latin typeface="Montserrat" pitchFamily="34" charset="0"/>
                <a:ea typeface="Montserrat" pitchFamily="34" charset="-122"/>
                <a:cs typeface="Montserrat" pitchFamily="34" charset="-120"/>
              </a:rPr>
              <a:t>L'IA FAIT CE QU'ON RÉCOMPENSE, PAS CE QU'ON VEUT</a:t>
            </a:r>
            <a:endParaRPr lang="en-US" sz="1150" dirty="0"/>
          </a:p>
        </p:txBody>
      </p:sp>
      <p:sp>
        <p:nvSpPr>
          <p:cNvPr id="22" name="Text 18"/>
          <p:cNvSpPr txBox="1"/>
          <p:nvPr/>
        </p:nvSpPr>
        <p:spPr>
          <a:xfrm>
            <a:off x="5760720" y="3566160"/>
            <a:ext cx="3291840" cy="457200"/>
          </a:xfrm>
          <a:prstGeom prst="rect">
            <a:avLst/>
          </a:prstGeom>
          <a:noFill/>
          <a:ln/>
        </p:spPr>
        <p:txBody>
          <a:bodyPr wrap="square" lIns="0" tIns="0" rIns="0" bIns="0" rtlCol="0" anchor="ctr"/>
          <a:lstStyle/>
          <a:p>
            <a:pPr indent="0" marL="0">
              <a:buNone/>
            </a:pPr>
            <a:r>
              <a:rPr lang="en-US" sz="1500" dirty="0">
                <a:solidFill>
                  <a:srgbClr val="14183D"/>
                </a:solidFill>
                <a:latin typeface="Montserrat" pitchFamily="34" charset="0"/>
                <a:ea typeface="Montserrat" pitchFamily="34" charset="-122"/>
                <a:cs typeface="Montserrat" pitchFamily="34" charset="-120"/>
              </a:rPr>
              <a:t>Restait dans la salle bonus</a:t>
            </a:r>
            <a:endParaRPr lang="en-US" sz="1500" dirty="0"/>
          </a:p>
        </p:txBody>
      </p:sp>
      <p:sp>
        <p:nvSpPr>
          <p:cNvPr id="23" name="Text 19"/>
          <p:cNvSpPr txBox="1"/>
          <p:nvPr/>
        </p:nvSpPr>
        <p:spPr>
          <a:xfrm>
            <a:off x="9052560" y="3566160"/>
            <a:ext cx="2468880" cy="457200"/>
          </a:xfrm>
          <a:prstGeom prst="rect">
            <a:avLst/>
          </a:prstGeom>
          <a:noFill/>
          <a:ln/>
        </p:spPr>
        <p:txBody>
          <a:bodyPr wrap="square" lIns="0" tIns="0" rIns="0" bIns="0" rtlCol="0" anchor="ctr"/>
          <a:lstStyle/>
          <a:p>
            <a:pPr indent="0" marL="0">
              <a:buNone/>
            </a:pPr>
            <a:r>
              <a:rPr lang="en-US" sz="1500" b="1" dirty="0">
                <a:solidFill>
                  <a:srgbClr val="15911F"/>
                </a:solidFill>
                <a:latin typeface="Montserrat" pitchFamily="34" charset="0"/>
                <a:ea typeface="Montserrat" pitchFamily="34" charset="-122"/>
                <a:cs typeface="Montserrat" pitchFamily="34" charset="-120"/>
              </a:rPr>
              <a:t>pénalité de temps</a:t>
            </a:r>
            <a:endParaRPr lang="en-US" sz="1500" dirty="0"/>
          </a:p>
        </p:txBody>
      </p:sp>
      <p:sp>
        <p:nvSpPr>
          <p:cNvPr id="24" name="Text 20"/>
          <p:cNvSpPr txBox="1"/>
          <p:nvPr/>
        </p:nvSpPr>
        <p:spPr>
          <a:xfrm>
            <a:off x="5760720" y="4114800"/>
            <a:ext cx="3291840" cy="457200"/>
          </a:xfrm>
          <a:prstGeom prst="rect">
            <a:avLst/>
          </a:prstGeom>
          <a:noFill/>
          <a:ln/>
        </p:spPr>
        <p:txBody>
          <a:bodyPr wrap="square" lIns="0" tIns="0" rIns="0" bIns="0" rtlCol="0" anchor="ctr"/>
          <a:lstStyle/>
          <a:p>
            <a:pPr indent="0" marL="0">
              <a:buNone/>
            </a:pPr>
            <a:r>
              <a:rPr lang="en-US" sz="1500" dirty="0">
                <a:solidFill>
                  <a:srgbClr val="14183D"/>
                </a:solidFill>
                <a:latin typeface="Montserrat" pitchFamily="34" charset="0"/>
                <a:ea typeface="Montserrat" pitchFamily="34" charset="-122"/>
                <a:cs typeface="Montserrat" pitchFamily="34" charset="-120"/>
              </a:rPr>
              <a:t>Collée contre un tuyau</a:t>
            </a:r>
            <a:endParaRPr lang="en-US" sz="1500" dirty="0"/>
          </a:p>
        </p:txBody>
      </p:sp>
      <p:sp>
        <p:nvSpPr>
          <p:cNvPr id="25" name="Text 21"/>
          <p:cNvSpPr txBox="1"/>
          <p:nvPr/>
        </p:nvSpPr>
        <p:spPr>
          <a:xfrm>
            <a:off x="9052560" y="4114800"/>
            <a:ext cx="2468880" cy="457200"/>
          </a:xfrm>
          <a:prstGeom prst="rect">
            <a:avLst/>
          </a:prstGeom>
          <a:noFill/>
          <a:ln/>
        </p:spPr>
        <p:txBody>
          <a:bodyPr wrap="square" lIns="0" tIns="0" rIns="0" bIns="0" rtlCol="0" anchor="ctr"/>
          <a:lstStyle/>
          <a:p>
            <a:pPr indent="0" marL="0">
              <a:buNone/>
            </a:pPr>
            <a:r>
              <a:rPr lang="en-US" sz="1500" b="1" dirty="0">
                <a:solidFill>
                  <a:srgbClr val="15911F"/>
                </a:solidFill>
                <a:latin typeface="Montserrat" pitchFamily="34" charset="0"/>
                <a:ea typeface="Montserrat" pitchFamily="34" charset="-122"/>
                <a:cs typeface="Montserrat" pitchFamily="34" charset="-120"/>
              </a:rPr>
              <a:t>règle du blocage</a:t>
            </a:r>
            <a:endParaRPr lang="en-US" sz="1500" dirty="0"/>
          </a:p>
        </p:txBody>
      </p:sp>
      <p:sp>
        <p:nvSpPr>
          <p:cNvPr id="26" name="Text 22"/>
          <p:cNvSpPr txBox="1"/>
          <p:nvPr/>
        </p:nvSpPr>
        <p:spPr>
          <a:xfrm>
            <a:off x="5760720" y="4663440"/>
            <a:ext cx="3291840" cy="457200"/>
          </a:xfrm>
          <a:prstGeom prst="rect">
            <a:avLst/>
          </a:prstGeom>
          <a:noFill/>
          <a:ln/>
        </p:spPr>
        <p:txBody>
          <a:bodyPr wrap="square" lIns="0" tIns="0" rIns="0" bIns="0" rtlCol="0" anchor="ctr"/>
          <a:lstStyle/>
          <a:p>
            <a:pPr indent="0" marL="0">
              <a:buNone/>
            </a:pPr>
            <a:r>
              <a:rPr lang="en-US" sz="1500" dirty="0">
                <a:solidFill>
                  <a:srgbClr val="14183D"/>
                </a:solidFill>
                <a:latin typeface="Montserrat" pitchFamily="34" charset="0"/>
                <a:ea typeface="Montserrat" pitchFamily="34" charset="-122"/>
                <a:cs typeface="Montserrat" pitchFamily="34" charset="-120"/>
              </a:rPr>
              <a:t>Ne trouvait pas la fleur</a:t>
            </a:r>
            <a:endParaRPr lang="en-US" sz="1500" dirty="0"/>
          </a:p>
        </p:txBody>
      </p:sp>
      <p:sp>
        <p:nvSpPr>
          <p:cNvPr id="27" name="Text 23"/>
          <p:cNvSpPr txBox="1"/>
          <p:nvPr/>
        </p:nvSpPr>
        <p:spPr>
          <a:xfrm>
            <a:off x="9052560" y="4663440"/>
            <a:ext cx="2468880" cy="457200"/>
          </a:xfrm>
          <a:prstGeom prst="rect">
            <a:avLst/>
          </a:prstGeom>
          <a:noFill/>
          <a:ln/>
        </p:spPr>
        <p:txBody>
          <a:bodyPr wrap="square" lIns="0" tIns="0" rIns="0" bIns="0" rtlCol="0" anchor="ctr"/>
          <a:lstStyle/>
          <a:p>
            <a:pPr indent="0" marL="0">
              <a:buNone/>
            </a:pPr>
            <a:r>
              <a:rPr lang="en-US" sz="1500" b="1" dirty="0">
                <a:solidFill>
                  <a:srgbClr val="15911F"/>
                </a:solidFill>
                <a:latin typeface="Montserrat" pitchFamily="34" charset="0"/>
                <a:ea typeface="Montserrat" pitchFamily="34" charset="-122"/>
                <a:cs typeface="Montserrat" pitchFamily="34" charset="-120"/>
              </a:rPr>
              <a:t>bouton gauche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5A99ED"/>
        </a:solidFill>
      </p:bgPr>
    </p:bg>
    <p:spTree>
      <p:nvGrpSpPr>
        <p:cNvPr id="1" name=""/>
        <p:cNvGrpSpPr/>
        <p:nvPr/>
      </p:nvGrpSpPr>
      <p:grpSpPr>
        <a:xfrm>
          <a:off x="0" y="0"/>
          <a:ext cx="0" cy="0"/>
          <a:chOff x="0" y="0"/>
          <a:chExt cx="0" cy="0"/>
        </a:xfrm>
      </p:grpSpPr>
      <p:pic>
        <p:nvPicPr>
          <p:cNvPr id="2" name="star_brick" descr="/home/user/MarioRL_FinalWork/docs/oral/fabrication/assets/sprites/star_brick.png">    </p:cNvPr>
          <p:cNvPicPr>
            <a:picLocks noChangeAspect="1"/>
          </p:cNvPicPr>
          <p:nvPr/>
        </p:nvPicPr>
        <p:blipFill>
          <a:blip r:embed="rId1"/>
          <a:stretch>
            <a:fillRect/>
          </a:stretch>
        </p:blipFill>
        <p:spPr>
          <a:xfrm>
            <a:off x="914400" y="1803380"/>
            <a:ext cx="901690" cy="1739920"/>
          </a:xfrm>
          <a:prstGeom prst="rect">
            <a:avLst/>
          </a:prstGeom>
        </p:spPr>
      </p:pic>
      <p:pic>
        <p:nvPicPr>
          <p:cNvPr id="3" name="coin_pipe2" descr="/home/user/MarioRL_FinalWork/docs/oral/fabrication/assets/sprites/coin_pipe2.png">    </p:cNvPr>
          <p:cNvPicPr>
            <a:picLocks noChangeAspect="1"/>
          </p:cNvPicPr>
          <p:nvPr/>
        </p:nvPicPr>
        <p:blipFill>
          <a:blip r:embed="rId2"/>
          <a:stretch>
            <a:fillRect/>
          </a:stretch>
        </p:blipFill>
        <p:spPr>
          <a:xfrm>
            <a:off x="10109149" y="3784610"/>
            <a:ext cx="812810" cy="2218243"/>
          </a:xfrm>
          <a:prstGeom prst="rect">
            <a:avLst/>
          </a:prstGeom>
        </p:spPr>
      </p:pic>
      <p:pic>
        <p:nvPicPr>
          <p:cNvPr id="4" name="pipe_tall" descr="/home/user/MarioRL_FinalWork/docs/oral/fabrication/assets/sprites/pipe_tall.png">    </p:cNvPr>
          <p:cNvPicPr>
            <a:picLocks noChangeAspect="1"/>
          </p:cNvPicPr>
          <p:nvPr/>
        </p:nvPicPr>
        <p:blipFill>
          <a:blip r:embed="rId3"/>
          <a:stretch>
            <a:fillRect/>
          </a:stretch>
        </p:blipFill>
        <p:spPr>
          <a:xfrm>
            <a:off x="10998129" y="3031053"/>
            <a:ext cx="897484" cy="2971800"/>
          </a:xfrm>
          <a:prstGeom prst="rect">
            <a:avLst/>
          </a:prstGeom>
        </p:spPr>
      </p:pic>
      <p:pic>
        <p:nvPicPr>
          <p:cNvPr id="5" name="ground" descr="/home/user/MarioRL_FinalWork/docs/oral/fabrication/assets/sprites/ground.png">    </p:cNvPr>
          <p:cNvPicPr>
            <a:picLocks noChangeAspect="1"/>
          </p:cNvPicPr>
          <p:nvPr/>
        </p:nvPicPr>
        <p:blipFill>
          <a:blip r:embed="rId4"/>
          <a:stretch>
            <a:fillRect/>
          </a:stretch>
        </p:blipFill>
        <p:spPr>
          <a:xfrm>
            <a:off x="0" y="5977433"/>
            <a:ext cx="12191970" cy="880567"/>
          </a:xfrm>
          <a:prstGeom prst="rect">
            <a:avLst/>
          </a:prstGeom>
        </p:spPr>
      </p:pic>
      <p:sp>
        <p:nvSpPr>
          <p:cNvPr id="6" name="grand_titre"/>
          <p:cNvSpPr txBox="1"/>
          <p:nvPr/>
        </p:nvSpPr>
        <p:spPr>
          <a:xfrm>
            <a:off x="2011680" y="1234440"/>
            <a:ext cx="8168335" cy="868680"/>
          </a:xfrm>
          <a:prstGeom prst="rect">
            <a:avLst/>
          </a:prstGeom>
          <a:noFill/>
          <a:ln/>
          <a:effectLst>
            <a:outerShdw sx="100000" sy="100000" kx="0" ky="0" algn="bl" rotWithShape="0" blurRad="101600" dist="34290" dir="2700000">
              <a:srgbClr val="2E1B5B">
                <a:alpha val="100000"/>
              </a:srgbClr>
            </a:outerShdw>
          </a:effectLst>
        </p:spPr>
        <p:txBody>
          <a:bodyPr wrap="square" lIns="0" tIns="0" rIns="0" bIns="0" rtlCol="0" anchor="ctr"/>
          <a:lstStyle/>
          <a:p>
            <a:pPr algn="ctr" indent="0" marL="0">
              <a:lnSpc>
                <a:spcPct val="100000"/>
              </a:lnSpc>
              <a:buNone/>
            </a:pPr>
            <a:r>
              <a:rPr lang="en-US" sz="5400" dirty="0">
                <a:solidFill>
                  <a:srgbClr val="FFFFFF"/>
                </a:solidFill>
                <a:latin typeface="Arcade Gamer" pitchFamily="34" charset="0"/>
                <a:ea typeface="Arcade Gamer" pitchFamily="34" charset="-122"/>
                <a:cs typeface="Arcade Gamer" pitchFamily="34" charset="-120"/>
              </a:rPr>
              <a:t>WORLD 1-4</a:t>
            </a:r>
            <a:endParaRPr lang="en-US" sz="5400" dirty="0"/>
          </a:p>
        </p:txBody>
      </p:sp>
      <p:sp>
        <p:nvSpPr>
          <p:cNvPr id="7" name="grand_titre"/>
          <p:cNvSpPr txBox="1"/>
          <p:nvPr/>
        </p:nvSpPr>
        <p:spPr>
          <a:xfrm>
            <a:off x="2011680" y="2121408"/>
            <a:ext cx="8168335" cy="640080"/>
          </a:xfrm>
          <a:prstGeom prst="rect">
            <a:avLst/>
          </a:prstGeom>
          <a:noFill/>
          <a:ln/>
          <a:effectLst>
            <a:outerShdw sx="100000" sy="100000" kx="0" ky="0" algn="bl" rotWithShape="0" blurRad="101600" dist="25400" dir="2700000">
              <a:srgbClr val="2E1B5B">
                <a:alpha val="100000"/>
              </a:srgbClr>
            </a:outerShdw>
          </a:effectLst>
        </p:spPr>
        <p:txBody>
          <a:bodyPr wrap="square" lIns="0" tIns="0" rIns="0" bIns="0" rtlCol="0" anchor="ctr"/>
          <a:lstStyle/>
          <a:p>
            <a:pPr algn="ctr" indent="0" marL="0">
              <a:lnSpc>
                <a:spcPct val="100000"/>
              </a:lnSpc>
              <a:buNone/>
            </a:pPr>
            <a:r>
              <a:rPr lang="en-US" sz="3200" dirty="0">
                <a:solidFill>
                  <a:srgbClr val="FFC703"/>
                </a:solidFill>
                <a:latin typeface="Arcade Gamer" pitchFamily="34" charset="0"/>
                <a:ea typeface="Arcade Gamer" pitchFamily="34" charset="-122"/>
                <a:cs typeface="Arcade Gamer" pitchFamily="34" charset="-120"/>
              </a:rPr>
              <a:t>LE RECUL</a:t>
            </a:r>
            <a:endParaRPr lang="en-US" sz="3200" dirty="0"/>
          </a:p>
        </p:txBody>
      </p:sp>
      <p:sp>
        <p:nvSpPr>
          <p:cNvPr id="8" name="Text 2"/>
          <p:cNvSpPr txBox="1"/>
          <p:nvPr/>
        </p:nvSpPr>
        <p:spPr>
          <a:xfrm>
            <a:off x="2743200" y="2852928"/>
            <a:ext cx="6705295" cy="384048"/>
          </a:xfrm>
          <a:prstGeom prst="rect">
            <a:avLst/>
          </a:prstGeom>
          <a:noFill/>
          <a:ln/>
        </p:spPr>
        <p:txBody>
          <a:bodyPr wrap="square" lIns="0" tIns="0" rIns="0" bIns="0" rtlCol="0" anchor="ctr"/>
          <a:lstStyle/>
          <a:p>
            <a:pPr algn="ctr" indent="0" marL="0">
              <a:buNone/>
            </a:pPr>
            <a:r>
              <a:rPr lang="en-US" sz="1600" b="1" dirty="0">
                <a:solidFill>
                  <a:srgbClr val="14183D"/>
                </a:solidFill>
                <a:latin typeface="Montserrat" pitchFamily="34" charset="0"/>
                <a:ea typeface="Montserrat" pitchFamily="34" charset="-122"/>
                <a:cs typeface="Montserrat" pitchFamily="34" charset="-120"/>
              </a:rPr>
              <a:t>Énergie, auto-critique et ce qu'on retient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1-4  -  LE RECUL</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L'énergie consommée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19</a:t>
            </a:r>
            <a:endParaRPr lang="en-US" sz="1100" dirty="0"/>
          </a:p>
        </p:txBody>
      </p:sp>
      <p:sp>
        <p:nvSpPr>
          <p:cNvPr id="6" name="tableau_fond"/>
          <p:cNvSpPr/>
          <p:nvPr/>
        </p:nvSpPr>
        <p:spPr>
          <a:xfrm>
            <a:off x="548640" y="1645920"/>
            <a:ext cx="6675120" cy="4215384"/>
          </a:xfrm>
          <a:prstGeom prst="rect">
            <a:avLst/>
          </a:prstGeom>
          <a:solidFill>
            <a:srgbClr val="FFFFFF"/>
          </a:solidFill>
          <a:ln/>
          <a:effectLst>
            <a:outerShdw sx="100000" sy="100000" kx="0" ky="0" algn="bl" rotWithShape="0" blurRad="101600" dist="25400" dir="5400000">
              <a:srgbClr val="0B1F44">
                <a:alpha val="22000"/>
              </a:srgbClr>
            </a:outerShdw>
          </a:effectLst>
        </p:spPr>
      </p:sp>
      <p:sp>
        <p:nvSpPr>
          <p:cNvPr id="7" name="entete"/>
          <p:cNvSpPr txBox="1"/>
          <p:nvPr/>
        </p:nvSpPr>
        <p:spPr>
          <a:xfrm>
            <a:off x="548640" y="1645920"/>
            <a:ext cx="2468880" cy="502920"/>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Par graine</a:t>
            </a:r>
            <a:endParaRPr lang="en-US" sz="1200" dirty="0"/>
          </a:p>
        </p:txBody>
      </p:sp>
      <p:sp>
        <p:nvSpPr>
          <p:cNvPr id="8" name="entete"/>
          <p:cNvSpPr txBox="1"/>
          <p:nvPr/>
        </p:nvSpPr>
        <p:spPr>
          <a:xfrm>
            <a:off x="3017520" y="1645920"/>
            <a:ext cx="1371600" cy="50292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Durée</a:t>
            </a:r>
            <a:endParaRPr lang="en-US" sz="1200" dirty="0"/>
          </a:p>
        </p:txBody>
      </p:sp>
      <p:sp>
        <p:nvSpPr>
          <p:cNvPr id="9" name="entete"/>
          <p:cNvSpPr txBox="1"/>
          <p:nvPr/>
        </p:nvSpPr>
        <p:spPr>
          <a:xfrm>
            <a:off x="4389120" y="1645920"/>
            <a:ext cx="1463040" cy="50292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Énergie</a:t>
            </a:r>
            <a:endParaRPr lang="en-US" sz="1200" dirty="0"/>
          </a:p>
        </p:txBody>
      </p:sp>
      <p:sp>
        <p:nvSpPr>
          <p:cNvPr id="10" name="entete"/>
          <p:cNvSpPr txBox="1"/>
          <p:nvPr/>
        </p:nvSpPr>
        <p:spPr>
          <a:xfrm>
            <a:off x="5852160" y="1645920"/>
            <a:ext cx="1371600" cy="50292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vs Q-L</a:t>
            </a:r>
            <a:endParaRPr lang="en-US" sz="1200" dirty="0"/>
          </a:p>
        </p:txBody>
      </p:sp>
      <p:sp>
        <p:nvSpPr>
          <p:cNvPr id="11" name="cellule"/>
          <p:cNvSpPr txBox="1"/>
          <p:nvPr/>
        </p:nvSpPr>
        <p:spPr>
          <a:xfrm>
            <a:off x="548640" y="2148840"/>
            <a:ext cx="2468880" cy="530352"/>
          </a:xfrm>
          <a:prstGeom prst="rect">
            <a:avLst/>
          </a:prstGeom>
          <a:solidFill>
            <a:srgbClr val="FFFFFF"/>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Q-Learning</a:t>
            </a:r>
            <a:endParaRPr lang="en-US" sz="1500" dirty="0"/>
          </a:p>
        </p:txBody>
      </p:sp>
      <p:sp>
        <p:nvSpPr>
          <p:cNvPr id="12" name="cellule"/>
          <p:cNvSpPr txBox="1"/>
          <p:nvPr/>
        </p:nvSpPr>
        <p:spPr>
          <a:xfrm>
            <a:off x="3017520" y="2148840"/>
            <a:ext cx="137160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16 s</a:t>
            </a:r>
            <a:endParaRPr lang="en-US" sz="1500" dirty="0"/>
          </a:p>
        </p:txBody>
      </p:sp>
      <p:sp>
        <p:nvSpPr>
          <p:cNvPr id="13" name="cellule"/>
          <p:cNvSpPr txBox="1"/>
          <p:nvPr/>
        </p:nvSpPr>
        <p:spPr>
          <a:xfrm>
            <a:off x="4389120" y="2148840"/>
            <a:ext cx="146304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0,028 Wh</a:t>
            </a:r>
            <a:endParaRPr lang="en-US" sz="1500" dirty="0"/>
          </a:p>
        </p:txBody>
      </p:sp>
      <p:sp>
        <p:nvSpPr>
          <p:cNvPr id="14" name="cellule"/>
          <p:cNvSpPr txBox="1"/>
          <p:nvPr/>
        </p:nvSpPr>
        <p:spPr>
          <a:xfrm>
            <a:off x="5852160" y="2148840"/>
            <a:ext cx="137160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×1</a:t>
            </a:r>
            <a:endParaRPr lang="en-US" sz="1500" dirty="0"/>
          </a:p>
        </p:txBody>
      </p:sp>
      <p:sp>
        <p:nvSpPr>
          <p:cNvPr id="15" name="cellule"/>
          <p:cNvSpPr txBox="1"/>
          <p:nvPr/>
        </p:nvSpPr>
        <p:spPr>
          <a:xfrm>
            <a:off x="548640" y="2679192"/>
            <a:ext cx="2468880" cy="530352"/>
          </a:xfrm>
          <a:prstGeom prst="rect">
            <a:avLst/>
          </a:prstGeom>
          <a:solidFill>
            <a:srgbClr val="F2F5FA"/>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SARSA</a:t>
            </a:r>
            <a:endParaRPr lang="en-US" sz="1500" dirty="0"/>
          </a:p>
        </p:txBody>
      </p:sp>
      <p:sp>
        <p:nvSpPr>
          <p:cNvPr id="16" name="cellule"/>
          <p:cNvSpPr txBox="1"/>
          <p:nvPr/>
        </p:nvSpPr>
        <p:spPr>
          <a:xfrm>
            <a:off x="3017520" y="2679192"/>
            <a:ext cx="1371600" cy="530352"/>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16 s</a:t>
            </a:r>
            <a:endParaRPr lang="en-US" sz="1500" dirty="0"/>
          </a:p>
        </p:txBody>
      </p:sp>
      <p:sp>
        <p:nvSpPr>
          <p:cNvPr id="17" name="cellule"/>
          <p:cNvSpPr txBox="1"/>
          <p:nvPr/>
        </p:nvSpPr>
        <p:spPr>
          <a:xfrm>
            <a:off x="4389120" y="2679192"/>
            <a:ext cx="1463040" cy="530352"/>
          </a:xfrm>
          <a:prstGeom prst="rect">
            <a:avLst/>
          </a:prstGeom>
          <a:solidFill>
            <a:srgbClr val="FFF0B3"/>
          </a:solidFill>
          <a:ln/>
        </p:spPr>
        <p:txBody>
          <a:bodyPr wrap="square" lIns="25400" tIns="25400" rIns="25400" bIns="25400" rtlCol="0" anchor="ctr"/>
          <a:lstStyle/>
          <a:p>
            <a:pPr algn="ctr" indent="0" marL="0">
              <a:buNone/>
            </a:pPr>
            <a:r>
              <a:rPr lang="en-US" sz="1500" b="1" dirty="0">
                <a:solidFill>
                  <a:srgbClr val="14183D"/>
                </a:solidFill>
                <a:latin typeface="Montserrat" pitchFamily="34" charset="0"/>
                <a:ea typeface="Montserrat" pitchFamily="34" charset="-122"/>
                <a:cs typeface="Montserrat" pitchFamily="34" charset="-120"/>
              </a:rPr>
              <a:t>0,026 Wh</a:t>
            </a:r>
            <a:endParaRPr lang="en-US" sz="1500" dirty="0"/>
          </a:p>
        </p:txBody>
      </p:sp>
      <p:sp>
        <p:nvSpPr>
          <p:cNvPr id="18" name="cellule"/>
          <p:cNvSpPr txBox="1"/>
          <p:nvPr/>
        </p:nvSpPr>
        <p:spPr>
          <a:xfrm>
            <a:off x="5852160" y="2679192"/>
            <a:ext cx="1371600" cy="530352"/>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×0,9</a:t>
            </a:r>
            <a:endParaRPr lang="en-US" sz="1500" dirty="0"/>
          </a:p>
        </p:txBody>
      </p:sp>
      <p:sp>
        <p:nvSpPr>
          <p:cNvPr id="19" name="cellule"/>
          <p:cNvSpPr txBox="1"/>
          <p:nvPr/>
        </p:nvSpPr>
        <p:spPr>
          <a:xfrm>
            <a:off x="548640" y="3209544"/>
            <a:ext cx="2468880" cy="530352"/>
          </a:xfrm>
          <a:prstGeom prst="rect">
            <a:avLst/>
          </a:prstGeom>
          <a:solidFill>
            <a:srgbClr val="FFFFFF"/>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Monte Carlo</a:t>
            </a:r>
            <a:endParaRPr lang="en-US" sz="1500" dirty="0"/>
          </a:p>
        </p:txBody>
      </p:sp>
      <p:sp>
        <p:nvSpPr>
          <p:cNvPr id="20" name="cellule"/>
          <p:cNvSpPr txBox="1"/>
          <p:nvPr/>
        </p:nvSpPr>
        <p:spPr>
          <a:xfrm>
            <a:off x="3017520" y="3209544"/>
            <a:ext cx="137160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33 s</a:t>
            </a:r>
            <a:endParaRPr lang="en-US" sz="1500" dirty="0"/>
          </a:p>
        </p:txBody>
      </p:sp>
      <p:sp>
        <p:nvSpPr>
          <p:cNvPr id="21" name="cellule"/>
          <p:cNvSpPr txBox="1"/>
          <p:nvPr/>
        </p:nvSpPr>
        <p:spPr>
          <a:xfrm>
            <a:off x="4389120" y="3209544"/>
            <a:ext cx="146304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0,047 Wh</a:t>
            </a:r>
            <a:endParaRPr lang="en-US" sz="1500" dirty="0"/>
          </a:p>
        </p:txBody>
      </p:sp>
      <p:sp>
        <p:nvSpPr>
          <p:cNvPr id="22" name="cellule"/>
          <p:cNvSpPr txBox="1"/>
          <p:nvPr/>
        </p:nvSpPr>
        <p:spPr>
          <a:xfrm>
            <a:off x="5852160" y="3209544"/>
            <a:ext cx="137160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×1,7</a:t>
            </a:r>
            <a:endParaRPr lang="en-US" sz="1500" dirty="0"/>
          </a:p>
        </p:txBody>
      </p:sp>
      <p:sp>
        <p:nvSpPr>
          <p:cNvPr id="23" name="cellule"/>
          <p:cNvSpPr txBox="1"/>
          <p:nvPr/>
        </p:nvSpPr>
        <p:spPr>
          <a:xfrm>
            <a:off x="548640" y="3739896"/>
            <a:ext cx="2468880" cy="530352"/>
          </a:xfrm>
          <a:prstGeom prst="rect">
            <a:avLst/>
          </a:prstGeom>
          <a:solidFill>
            <a:srgbClr val="F2F5FA"/>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DQN de l'article</a:t>
            </a:r>
            <a:endParaRPr lang="en-US" sz="1500" dirty="0"/>
          </a:p>
        </p:txBody>
      </p:sp>
      <p:sp>
        <p:nvSpPr>
          <p:cNvPr id="24" name="cellule"/>
          <p:cNvSpPr txBox="1"/>
          <p:nvPr/>
        </p:nvSpPr>
        <p:spPr>
          <a:xfrm>
            <a:off x="3017520" y="3739896"/>
            <a:ext cx="1371600" cy="530352"/>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2,6 min</a:t>
            </a:r>
            <a:endParaRPr lang="en-US" sz="1500" dirty="0"/>
          </a:p>
        </p:txBody>
      </p:sp>
      <p:sp>
        <p:nvSpPr>
          <p:cNvPr id="25" name="cellule"/>
          <p:cNvSpPr txBox="1"/>
          <p:nvPr/>
        </p:nvSpPr>
        <p:spPr>
          <a:xfrm>
            <a:off x="4389120" y="3739896"/>
            <a:ext cx="1463040" cy="530352"/>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0,24 Wh</a:t>
            </a:r>
            <a:endParaRPr lang="en-US" sz="1500" dirty="0"/>
          </a:p>
        </p:txBody>
      </p:sp>
      <p:sp>
        <p:nvSpPr>
          <p:cNvPr id="26" name="cellule"/>
          <p:cNvSpPr txBox="1"/>
          <p:nvPr/>
        </p:nvSpPr>
        <p:spPr>
          <a:xfrm>
            <a:off x="5852160" y="3739896"/>
            <a:ext cx="1371600" cy="530352"/>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×9</a:t>
            </a:r>
            <a:endParaRPr lang="en-US" sz="1500" dirty="0"/>
          </a:p>
        </p:txBody>
      </p:sp>
      <p:sp>
        <p:nvSpPr>
          <p:cNvPr id="27" name="cellule"/>
          <p:cNvSpPr txBox="1"/>
          <p:nvPr/>
        </p:nvSpPr>
        <p:spPr>
          <a:xfrm>
            <a:off x="548640" y="4270248"/>
            <a:ext cx="2468880" cy="530352"/>
          </a:xfrm>
          <a:prstGeom prst="rect">
            <a:avLst/>
          </a:prstGeom>
          <a:solidFill>
            <a:srgbClr val="FFFFFF"/>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Notre DQN</a:t>
            </a:r>
            <a:endParaRPr lang="en-US" sz="1500" dirty="0"/>
          </a:p>
        </p:txBody>
      </p:sp>
      <p:sp>
        <p:nvSpPr>
          <p:cNvPr id="28" name="cellule"/>
          <p:cNvSpPr txBox="1"/>
          <p:nvPr/>
        </p:nvSpPr>
        <p:spPr>
          <a:xfrm>
            <a:off x="3017520" y="4270248"/>
            <a:ext cx="137160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24 min</a:t>
            </a:r>
            <a:endParaRPr lang="en-US" sz="1500" dirty="0"/>
          </a:p>
        </p:txBody>
      </p:sp>
      <p:sp>
        <p:nvSpPr>
          <p:cNvPr id="29" name="cellule"/>
          <p:cNvSpPr txBox="1"/>
          <p:nvPr/>
        </p:nvSpPr>
        <p:spPr>
          <a:xfrm>
            <a:off x="4389120" y="4270248"/>
            <a:ext cx="146304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2,4 Wh</a:t>
            </a:r>
            <a:endParaRPr lang="en-US" sz="1500" dirty="0"/>
          </a:p>
        </p:txBody>
      </p:sp>
      <p:sp>
        <p:nvSpPr>
          <p:cNvPr id="30" name="cellule"/>
          <p:cNvSpPr txBox="1"/>
          <p:nvPr/>
        </p:nvSpPr>
        <p:spPr>
          <a:xfrm>
            <a:off x="5852160" y="4270248"/>
            <a:ext cx="137160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×88</a:t>
            </a:r>
            <a:endParaRPr lang="en-US" sz="1500" dirty="0"/>
          </a:p>
        </p:txBody>
      </p:sp>
      <p:sp>
        <p:nvSpPr>
          <p:cNvPr id="31" name="cellule"/>
          <p:cNvSpPr txBox="1"/>
          <p:nvPr/>
        </p:nvSpPr>
        <p:spPr>
          <a:xfrm>
            <a:off x="548640" y="4800600"/>
            <a:ext cx="2468880" cy="530352"/>
          </a:xfrm>
          <a:prstGeom prst="rect">
            <a:avLst/>
          </a:prstGeom>
          <a:solidFill>
            <a:srgbClr val="F2F5FA"/>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PPO, vrai jeu</a:t>
            </a:r>
            <a:endParaRPr lang="en-US" sz="1500" dirty="0"/>
          </a:p>
        </p:txBody>
      </p:sp>
      <p:sp>
        <p:nvSpPr>
          <p:cNvPr id="32" name="cellule"/>
          <p:cNvSpPr txBox="1"/>
          <p:nvPr/>
        </p:nvSpPr>
        <p:spPr>
          <a:xfrm>
            <a:off x="3017520" y="4800600"/>
            <a:ext cx="1371600" cy="530352"/>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10,7 min</a:t>
            </a:r>
            <a:endParaRPr lang="en-US" sz="1500" dirty="0"/>
          </a:p>
        </p:txBody>
      </p:sp>
      <p:sp>
        <p:nvSpPr>
          <p:cNvPr id="33" name="cellule"/>
          <p:cNvSpPr txBox="1"/>
          <p:nvPr/>
        </p:nvSpPr>
        <p:spPr>
          <a:xfrm>
            <a:off x="4389120" y="4800600"/>
            <a:ext cx="1463040" cy="530352"/>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0,90 Wh</a:t>
            </a:r>
            <a:endParaRPr lang="en-US" sz="1500" dirty="0"/>
          </a:p>
        </p:txBody>
      </p:sp>
      <p:sp>
        <p:nvSpPr>
          <p:cNvPr id="34" name="cellule"/>
          <p:cNvSpPr txBox="1"/>
          <p:nvPr/>
        </p:nvSpPr>
        <p:spPr>
          <a:xfrm>
            <a:off x="5852160" y="4800600"/>
            <a:ext cx="1371600" cy="530352"/>
          </a:xfrm>
          <a:prstGeom prst="rect">
            <a:avLst/>
          </a:prstGeom>
          <a:solidFill>
            <a:srgbClr val="F2F5FA"/>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×32</a:t>
            </a:r>
            <a:endParaRPr lang="en-US" sz="1500" dirty="0"/>
          </a:p>
        </p:txBody>
      </p:sp>
      <p:sp>
        <p:nvSpPr>
          <p:cNvPr id="35" name="cellule"/>
          <p:cNvSpPr txBox="1"/>
          <p:nvPr/>
        </p:nvSpPr>
        <p:spPr>
          <a:xfrm>
            <a:off x="548640" y="5330952"/>
            <a:ext cx="2468880" cy="530352"/>
          </a:xfrm>
          <a:prstGeom prst="rect">
            <a:avLst/>
          </a:prstGeom>
          <a:solidFill>
            <a:srgbClr val="FFFFFF"/>
          </a:solidFill>
          <a:ln/>
        </p:spPr>
        <p:txBody>
          <a:bodyPr wrap="square" lIns="177800" tIns="25400" rIns="76200" bIns="25400" rtlCol="0" anchor="ctr"/>
          <a:lstStyle/>
          <a:p>
            <a:pPr algn="l" indent="0" marL="0">
              <a:buNone/>
            </a:pPr>
            <a:r>
              <a:rPr lang="en-US" sz="1500" b="1" dirty="0">
                <a:solidFill>
                  <a:srgbClr val="14183D"/>
                </a:solidFill>
                <a:latin typeface="Montserrat" pitchFamily="34" charset="0"/>
                <a:ea typeface="Montserrat" pitchFamily="34" charset="-122"/>
                <a:cs typeface="Montserrat" pitchFamily="34" charset="-120"/>
              </a:rPr>
              <a:t>PPO, Route A</a:t>
            </a:r>
            <a:endParaRPr lang="en-US" sz="1500" dirty="0"/>
          </a:p>
        </p:txBody>
      </p:sp>
      <p:sp>
        <p:nvSpPr>
          <p:cNvPr id="36" name="cellule"/>
          <p:cNvSpPr txBox="1"/>
          <p:nvPr/>
        </p:nvSpPr>
        <p:spPr>
          <a:xfrm>
            <a:off x="3017520" y="5330952"/>
            <a:ext cx="137160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12,5 min</a:t>
            </a:r>
            <a:endParaRPr lang="en-US" sz="1500" dirty="0"/>
          </a:p>
        </p:txBody>
      </p:sp>
      <p:sp>
        <p:nvSpPr>
          <p:cNvPr id="37" name="cellule"/>
          <p:cNvSpPr txBox="1"/>
          <p:nvPr/>
        </p:nvSpPr>
        <p:spPr>
          <a:xfrm>
            <a:off x="4389120" y="5330952"/>
            <a:ext cx="146304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1,1 Wh</a:t>
            </a:r>
            <a:endParaRPr lang="en-US" sz="1500" dirty="0"/>
          </a:p>
        </p:txBody>
      </p:sp>
      <p:sp>
        <p:nvSpPr>
          <p:cNvPr id="38" name="cellule"/>
          <p:cNvSpPr txBox="1"/>
          <p:nvPr/>
        </p:nvSpPr>
        <p:spPr>
          <a:xfrm>
            <a:off x="5852160" y="5330952"/>
            <a:ext cx="1371600" cy="530352"/>
          </a:xfrm>
          <a:prstGeom prst="rect">
            <a:avLst/>
          </a:prstGeom>
          <a:solidFill>
            <a:srgbClr val="FFFFFF"/>
          </a:solidFill>
          <a:ln/>
        </p:spPr>
        <p:txBody>
          <a:bodyPr wrap="square" lIns="25400" tIns="25400" rIns="25400" bIns="25400" rtlCol="0" anchor="ctr"/>
          <a:lstStyle/>
          <a:p>
            <a:pPr algn="ctr" indent="0" marL="0">
              <a:buNone/>
            </a:pPr>
            <a:r>
              <a:rPr lang="en-US" sz="1500" dirty="0">
                <a:solidFill>
                  <a:srgbClr val="14183D"/>
                </a:solidFill>
                <a:latin typeface="Montserrat" pitchFamily="34" charset="0"/>
                <a:ea typeface="Montserrat" pitchFamily="34" charset="-122"/>
                <a:cs typeface="Montserrat" pitchFamily="34" charset="-120"/>
              </a:rPr>
              <a:t>×40</a:t>
            </a:r>
            <a:endParaRPr lang="en-US" sz="1500" dirty="0"/>
          </a:p>
        </p:txBody>
      </p:sp>
      <p:sp>
        <p:nvSpPr>
          <p:cNvPr id="39" name="kpi"/>
          <p:cNvSpPr/>
          <p:nvPr/>
        </p:nvSpPr>
        <p:spPr>
          <a:xfrm>
            <a:off x="7589520" y="1645920"/>
            <a:ext cx="4050792" cy="1417320"/>
          </a:xfrm>
          <a:prstGeom prst="roundRect">
            <a:avLst>
              <a:gd name="adj" fmla="val 5161"/>
            </a:avLst>
          </a:prstGeom>
          <a:solidFill>
            <a:srgbClr val="FFFFFF"/>
          </a:solidFill>
          <a:ln/>
          <a:effectLst>
            <a:outerShdw sx="100000" sy="100000" kx="0" ky="0" algn="bl" rotWithShape="0" blurRad="101600" dist="25400" dir="5400000">
              <a:srgbClr val="0B1F44">
                <a:alpha val="22000"/>
              </a:srgbClr>
            </a:outerShdw>
          </a:effectLst>
        </p:spPr>
      </p:sp>
      <p:sp>
        <p:nvSpPr>
          <p:cNvPr id="40" name="Text 38"/>
          <p:cNvSpPr txBox="1"/>
          <p:nvPr/>
        </p:nvSpPr>
        <p:spPr>
          <a:xfrm>
            <a:off x="7818120" y="1755648"/>
            <a:ext cx="3685032" cy="737006"/>
          </a:xfrm>
          <a:prstGeom prst="rect">
            <a:avLst/>
          </a:prstGeom>
          <a:noFill/>
          <a:ln/>
        </p:spPr>
        <p:txBody>
          <a:bodyPr wrap="square" lIns="0" tIns="0" rIns="0" bIns="0" rtlCol="0" anchor="ctr"/>
          <a:lstStyle/>
          <a:p>
            <a:pPr indent="0" marL="0">
              <a:buNone/>
            </a:pPr>
            <a:r>
              <a:rPr lang="en-US" sz="3400" b="1" dirty="0">
                <a:solidFill>
                  <a:srgbClr val="14183D"/>
                </a:solidFill>
                <a:latin typeface="Montserrat" pitchFamily="34" charset="0"/>
                <a:ea typeface="Montserrat" pitchFamily="34" charset="-122"/>
                <a:cs typeface="Montserrat" pitchFamily="34" charset="-120"/>
              </a:rPr>
              <a:t>113 Wh</a:t>
            </a:r>
            <a:endParaRPr lang="en-US" sz="3400" dirty="0"/>
          </a:p>
        </p:txBody>
      </p:sp>
      <p:sp>
        <p:nvSpPr>
          <p:cNvPr id="41" name="Text 39"/>
          <p:cNvSpPr txBox="1"/>
          <p:nvPr/>
        </p:nvSpPr>
        <p:spPr>
          <a:xfrm>
            <a:off x="7818120" y="2496312"/>
            <a:ext cx="3685032" cy="481889"/>
          </a:xfrm>
          <a:prstGeom prst="rect">
            <a:avLst/>
          </a:prstGeom>
          <a:noFill/>
          <a:ln/>
        </p:spPr>
        <p:txBody>
          <a:bodyPr wrap="square" lIns="0" tIns="0" rIns="0" bIns="0" rtlCol="0" anchor="t"/>
          <a:lstStyle/>
          <a:p>
            <a:pPr indent="0" marL="0">
              <a:buNone/>
            </a:pPr>
            <a:r>
              <a:rPr lang="en-US" sz="1300" dirty="0">
                <a:solidFill>
                  <a:srgbClr val="4A5070"/>
                </a:solidFill>
                <a:latin typeface="Montserrat" pitchFamily="34" charset="0"/>
                <a:ea typeface="Montserrat" pitchFamily="34" charset="-122"/>
                <a:cs typeface="Montserrat" pitchFamily="34" charset="-120"/>
              </a:rPr>
              <a:t>tous nos entraînements ≈ 1 L d'eau bouillie</a:t>
            </a:r>
            <a:endParaRPr lang="en-US" sz="1300" dirty="0"/>
          </a:p>
        </p:txBody>
      </p:sp>
      <p:sp>
        <p:nvSpPr>
          <p:cNvPr id="42" name="kpi"/>
          <p:cNvSpPr/>
          <p:nvPr/>
        </p:nvSpPr>
        <p:spPr>
          <a:xfrm>
            <a:off x="7589520" y="3246120"/>
            <a:ext cx="4050792" cy="1417320"/>
          </a:xfrm>
          <a:prstGeom prst="roundRect">
            <a:avLst>
              <a:gd name="adj" fmla="val 5161"/>
            </a:avLst>
          </a:prstGeom>
          <a:solidFill>
            <a:srgbClr val="FFFFFF"/>
          </a:solidFill>
          <a:ln/>
          <a:effectLst>
            <a:outerShdw sx="100000" sy="100000" kx="0" ky="0" algn="bl" rotWithShape="0" blurRad="101600" dist="25400" dir="5400000">
              <a:srgbClr val="0B1F44">
                <a:alpha val="22000"/>
              </a:srgbClr>
            </a:outerShdw>
          </a:effectLst>
        </p:spPr>
      </p:sp>
      <p:sp>
        <p:nvSpPr>
          <p:cNvPr id="43" name="Text 41"/>
          <p:cNvSpPr txBox="1"/>
          <p:nvPr/>
        </p:nvSpPr>
        <p:spPr>
          <a:xfrm>
            <a:off x="7818120" y="3355848"/>
            <a:ext cx="3685032" cy="737006"/>
          </a:xfrm>
          <a:prstGeom prst="rect">
            <a:avLst/>
          </a:prstGeom>
          <a:noFill/>
          <a:ln/>
        </p:spPr>
        <p:txBody>
          <a:bodyPr wrap="square" lIns="0" tIns="0" rIns="0" bIns="0" rtlCol="0" anchor="ctr"/>
          <a:lstStyle/>
          <a:p>
            <a:pPr indent="0" marL="0">
              <a:buNone/>
            </a:pPr>
            <a:r>
              <a:rPr lang="en-US" sz="3400" b="1" dirty="0">
                <a:solidFill>
                  <a:srgbClr val="D62839"/>
                </a:solidFill>
                <a:latin typeface="Montserrat" pitchFamily="34" charset="0"/>
                <a:ea typeface="Montserrat" pitchFamily="34" charset="-122"/>
                <a:cs typeface="Montserrat" pitchFamily="34" charset="-120"/>
              </a:rPr>
              <a:t>75 %</a:t>
            </a:r>
            <a:endParaRPr lang="en-US" sz="3400" dirty="0"/>
          </a:p>
        </p:txBody>
      </p:sp>
      <p:sp>
        <p:nvSpPr>
          <p:cNvPr id="44" name="Text 42"/>
          <p:cNvSpPr txBox="1"/>
          <p:nvPr/>
        </p:nvSpPr>
        <p:spPr>
          <a:xfrm>
            <a:off x="7818120" y="4096512"/>
            <a:ext cx="3685032" cy="481889"/>
          </a:xfrm>
          <a:prstGeom prst="rect">
            <a:avLst/>
          </a:prstGeom>
          <a:noFill/>
          <a:ln/>
        </p:spPr>
        <p:txBody>
          <a:bodyPr wrap="square" lIns="0" tIns="0" rIns="0" bIns="0" rtlCol="0" anchor="t"/>
          <a:lstStyle/>
          <a:p>
            <a:pPr indent="0" marL="0">
              <a:buNone/>
            </a:pPr>
            <a:r>
              <a:rPr lang="en-US" sz="1300" dirty="0">
                <a:solidFill>
                  <a:srgbClr val="4A5070"/>
                </a:solidFill>
                <a:latin typeface="Montserrat" pitchFamily="34" charset="0"/>
                <a:ea typeface="Montserrat" pitchFamily="34" charset="-122"/>
                <a:cs typeface="Montserrat" pitchFamily="34" charset="-120"/>
              </a:rPr>
              <a:t>pour le seul réseau convolutif, moins bon</a:t>
            </a:r>
            <a:endParaRPr lang="en-US" sz="1300" dirty="0"/>
          </a:p>
        </p:txBody>
      </p:sp>
      <p:sp>
        <p:nvSpPr>
          <p:cNvPr id="45" name="kpi"/>
          <p:cNvSpPr/>
          <p:nvPr/>
        </p:nvSpPr>
        <p:spPr>
          <a:xfrm>
            <a:off x="7589520" y="4846320"/>
            <a:ext cx="4050792" cy="1417320"/>
          </a:xfrm>
          <a:prstGeom prst="roundRect">
            <a:avLst>
              <a:gd name="adj" fmla="val 5161"/>
            </a:avLst>
          </a:prstGeom>
          <a:solidFill>
            <a:srgbClr val="FFFFFF"/>
          </a:solidFill>
          <a:ln/>
          <a:effectLst>
            <a:outerShdw sx="100000" sy="100000" kx="0" ky="0" algn="bl" rotWithShape="0" blurRad="101600" dist="25400" dir="5400000">
              <a:srgbClr val="0B1F44">
                <a:alpha val="22000"/>
              </a:srgbClr>
            </a:outerShdw>
          </a:effectLst>
        </p:spPr>
      </p:sp>
      <p:sp>
        <p:nvSpPr>
          <p:cNvPr id="46" name="Text 44"/>
          <p:cNvSpPr txBox="1"/>
          <p:nvPr/>
        </p:nvSpPr>
        <p:spPr>
          <a:xfrm>
            <a:off x="7818120" y="4956048"/>
            <a:ext cx="3685032" cy="737006"/>
          </a:xfrm>
          <a:prstGeom prst="rect">
            <a:avLst/>
          </a:prstGeom>
          <a:noFill/>
          <a:ln/>
        </p:spPr>
        <p:txBody>
          <a:bodyPr wrap="square" lIns="0" tIns="0" rIns="0" bIns="0" rtlCol="0" anchor="ctr"/>
          <a:lstStyle/>
          <a:p>
            <a:pPr indent="0" marL="0">
              <a:buNone/>
            </a:pPr>
            <a:r>
              <a:rPr lang="en-US" sz="3400" b="1" dirty="0">
                <a:solidFill>
                  <a:srgbClr val="7B3FE4"/>
                </a:solidFill>
                <a:latin typeface="Montserrat" pitchFamily="34" charset="0"/>
                <a:ea typeface="Montserrat" pitchFamily="34" charset="-122"/>
                <a:cs typeface="Montserrat" pitchFamily="34" charset="-120"/>
              </a:rPr>
              <a:t>×88</a:t>
            </a:r>
            <a:endParaRPr lang="en-US" sz="3400" dirty="0"/>
          </a:p>
        </p:txBody>
      </p:sp>
      <p:sp>
        <p:nvSpPr>
          <p:cNvPr id="47" name="Text 45"/>
          <p:cNvSpPr txBox="1"/>
          <p:nvPr/>
        </p:nvSpPr>
        <p:spPr>
          <a:xfrm>
            <a:off x="7818120" y="5696712"/>
            <a:ext cx="3685032" cy="481889"/>
          </a:xfrm>
          <a:prstGeom prst="rect">
            <a:avLst/>
          </a:prstGeom>
          <a:noFill/>
          <a:ln/>
        </p:spPr>
        <p:txBody>
          <a:bodyPr wrap="square" lIns="0" tIns="0" rIns="0" bIns="0" rtlCol="0" anchor="t"/>
          <a:lstStyle/>
          <a:p>
            <a:pPr indent="0" marL="0">
              <a:buNone/>
            </a:pPr>
            <a:r>
              <a:rPr lang="en-US" sz="1300" dirty="0">
                <a:solidFill>
                  <a:srgbClr val="4A5070"/>
                </a:solidFill>
                <a:latin typeface="Montserrat" pitchFamily="34" charset="0"/>
                <a:ea typeface="Montserrat" pitchFamily="34" charset="-122"/>
                <a:cs typeface="Montserrat" pitchFamily="34" charset="-120"/>
              </a:rPr>
              <a:t>notre DQN face à Q-Learning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1-4  -  LE RECUL</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Notre auto-critique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20</a:t>
            </a:r>
            <a:endParaRPr lang="en-US" sz="1100" dirty="0"/>
          </a:p>
        </p:txBody>
      </p:sp>
      <p:sp>
        <p:nvSpPr>
          <p:cNvPr id="6" name="carte"/>
          <p:cNvSpPr/>
          <p:nvPr/>
        </p:nvSpPr>
        <p:spPr>
          <a:xfrm>
            <a:off x="548640" y="1645920"/>
            <a:ext cx="6035040" cy="4617720"/>
          </a:xfrm>
          <a:prstGeom prst="roundRect">
            <a:avLst>
              <a:gd name="adj" fmla="val 1584"/>
            </a:avLst>
          </a:prstGeom>
          <a:solidFill>
            <a:srgbClr val="FFFFFF"/>
          </a:solidFill>
          <a:ln/>
          <a:effectLst>
            <a:outerShdw sx="100000" sy="100000" kx="0" ky="0" algn="bl" rotWithShape="0" blurRad="101600" dist="25400" dir="5400000">
              <a:srgbClr val="0B1F44">
                <a:alpha val="22000"/>
              </a:srgbClr>
            </a:outerShdw>
          </a:effectLst>
        </p:spPr>
      </p:sp>
      <p:sp>
        <p:nvSpPr>
          <p:cNvPr id="7" name="etiquette"/>
          <p:cNvSpPr txBox="1"/>
          <p:nvPr/>
        </p:nvSpPr>
        <p:spPr>
          <a:xfrm>
            <a:off x="822960" y="1847088"/>
            <a:ext cx="2743200" cy="274320"/>
          </a:xfrm>
          <a:prstGeom prst="rect">
            <a:avLst/>
          </a:prstGeom>
          <a:noFill/>
          <a:ln/>
        </p:spPr>
        <p:txBody>
          <a:bodyPr wrap="square" lIns="0" tIns="0" rIns="0" bIns="0" rtlCol="0" anchor="ctr"/>
          <a:lstStyle/>
          <a:p>
            <a:pPr indent="0" marL="0">
              <a:buNone/>
            </a:pPr>
            <a:r>
              <a:rPr lang="en-US" sz="1150" b="1" spc="100" kern="0" dirty="0">
                <a:solidFill>
                  <a:srgbClr val="D62839"/>
                </a:solidFill>
                <a:latin typeface="Montserrat" pitchFamily="34" charset="0"/>
                <a:ea typeface="Montserrat" pitchFamily="34" charset="-122"/>
                <a:cs typeface="Montserrat" pitchFamily="34" charset="-120"/>
              </a:rPr>
              <a:t>NOS LIMITES</a:t>
            </a:r>
            <a:endParaRPr lang="en-US" sz="1150" dirty="0"/>
          </a:p>
        </p:txBody>
      </p:sp>
      <p:sp>
        <p:nvSpPr>
          <p:cNvPr id="8" name="Text 6"/>
          <p:cNvSpPr txBox="1"/>
          <p:nvPr/>
        </p:nvSpPr>
        <p:spPr>
          <a:xfrm>
            <a:off x="822960" y="2240280"/>
            <a:ext cx="5577840" cy="3840480"/>
          </a:xfrm>
          <a:prstGeom prst="rect">
            <a:avLst/>
          </a:prstGeom>
          <a:noFill/>
          <a:ln/>
        </p:spPr>
        <p:txBody>
          <a:bodyPr wrap="square" lIns="0" tIns="0" rIns="0" bIns="0" rtlCol="0" anchor="t"/>
          <a:lstStyle/>
          <a:p>
            <a:pPr marL="203200" indent="-203200">
              <a:lnSpc>
                <a:spcPct val="105000"/>
              </a:lnSpc>
              <a:spcAft>
                <a:spcPts val="1400"/>
              </a:spcAft>
              <a:buSzPct val="100000"/>
              <a:buChar char="•"/>
            </a:pPr>
            <a:r>
              <a:rPr lang="en-US" sz="1700" dirty="0">
                <a:solidFill>
                  <a:srgbClr val="14183D"/>
                </a:solidFill>
                <a:latin typeface="Montserrat" pitchFamily="34" charset="0"/>
                <a:ea typeface="Montserrat" pitchFamily="34" charset="-122"/>
                <a:cs typeface="Montserrat" pitchFamily="34" charset="-120"/>
              </a:rPr>
              <a:t>6000 épisodes au lieu de 10 000</a:t>
            </a:r>
            <a:endParaRPr lang="en-US" sz="1700" dirty="0"/>
          </a:p>
          <a:p>
            <a:pPr marL="203200" indent="-203200">
              <a:lnSpc>
                <a:spcPct val="105000"/>
              </a:lnSpc>
              <a:spcAft>
                <a:spcPts val="1400"/>
              </a:spcAft>
              <a:buSzPct val="100000"/>
              <a:buChar char="•"/>
            </a:pPr>
            <a:r>
              <a:rPr lang="en-US" sz="1700" dirty="0">
                <a:solidFill>
                  <a:srgbClr val="14183D"/>
                </a:solidFill>
                <a:latin typeface="Montserrat" pitchFamily="34" charset="0"/>
                <a:ea typeface="Montserrat" pitchFamily="34" charset="-122"/>
                <a:cs typeface="Montserrat" pitchFamily="34" charset="-120"/>
              </a:rPr>
              <a:t>Expérience sur l'ordre du niveau non refaite</a:t>
            </a:r>
            <a:endParaRPr lang="en-US" sz="1700" dirty="0"/>
          </a:p>
          <a:p>
            <a:pPr marL="203200" indent="-203200">
              <a:lnSpc>
                <a:spcPct val="105000"/>
              </a:lnSpc>
              <a:spcAft>
                <a:spcPts val="1400"/>
              </a:spcAft>
              <a:buSzPct val="100000"/>
              <a:buChar char="•"/>
            </a:pPr>
            <a:r>
              <a:rPr lang="en-US" sz="1700" dirty="0">
                <a:solidFill>
                  <a:srgbClr val="14183D"/>
                </a:solidFill>
                <a:latin typeface="Montserrat" pitchFamily="34" charset="0"/>
                <a:ea typeface="Montserrat" pitchFamily="34" charset="-122"/>
                <a:cs typeface="Montserrat" pitchFamily="34" charset="-120"/>
              </a:rPr>
              <a:t>Règles des ennemis devinées</a:t>
            </a:r>
            <a:endParaRPr lang="en-US" sz="1700" dirty="0"/>
          </a:p>
          <a:p>
            <a:pPr marL="203200" indent="-203200">
              <a:lnSpc>
                <a:spcPct val="105000"/>
              </a:lnSpc>
              <a:spcAft>
                <a:spcPts val="1400"/>
              </a:spcAft>
              <a:buSzPct val="100000"/>
              <a:buChar char="•"/>
            </a:pPr>
            <a:r>
              <a:rPr lang="en-US" sz="1700" dirty="0">
                <a:solidFill>
                  <a:srgbClr val="14183D"/>
                </a:solidFill>
                <a:latin typeface="Montserrat" pitchFamily="34" charset="0"/>
                <a:ea typeface="Montserrat" pitchFamily="34" charset="-122"/>
                <a:cs typeface="Montserrat" pitchFamily="34" charset="-120"/>
              </a:rPr>
              <a:t>DQN réglé et évalué sur les mêmes graines</a:t>
            </a:r>
            <a:endParaRPr lang="en-US" sz="1700" dirty="0"/>
          </a:p>
          <a:p>
            <a:pPr marL="203200" indent="-203200">
              <a:lnSpc>
                <a:spcPct val="105000"/>
              </a:lnSpc>
              <a:spcAft>
                <a:spcPts val="1400"/>
              </a:spcAft>
              <a:buSzPct val="100000"/>
              <a:buChar char="•"/>
            </a:pPr>
            <a:r>
              <a:rPr lang="en-US" sz="1700" dirty="0">
                <a:solidFill>
                  <a:srgbClr val="14183D"/>
                </a:solidFill>
                <a:latin typeface="Montserrat" pitchFamily="34" charset="0"/>
                <a:ea typeface="Montserrat" pitchFamily="34" charset="-122"/>
                <a:cs typeface="Montserrat" pitchFamily="34" charset="-120"/>
              </a:rPr>
              <a:t>Énergie estimée, sans capteur</a:t>
            </a:r>
            <a:endParaRPr lang="en-US" sz="1700" dirty="0"/>
          </a:p>
        </p:txBody>
      </p:sp>
      <p:sp>
        <p:nvSpPr>
          <p:cNvPr id="9" name="carte"/>
          <p:cNvSpPr/>
          <p:nvPr/>
        </p:nvSpPr>
        <p:spPr>
          <a:xfrm>
            <a:off x="6858000" y="1645920"/>
            <a:ext cx="4782312" cy="2194560"/>
          </a:xfrm>
          <a:prstGeom prst="roundRect">
            <a:avLst>
              <a:gd name="adj" fmla="val 3333"/>
            </a:avLst>
          </a:prstGeom>
          <a:solidFill>
            <a:srgbClr val="FFFFFF"/>
          </a:solidFill>
          <a:ln/>
          <a:effectLst>
            <a:outerShdw sx="100000" sy="100000" kx="0" ky="0" algn="bl" rotWithShape="0" blurRad="101600" dist="25400" dir="5400000">
              <a:srgbClr val="0B1F44">
                <a:alpha val="22000"/>
              </a:srgbClr>
            </a:outerShdw>
          </a:effectLst>
        </p:spPr>
      </p:sp>
      <p:sp>
        <p:nvSpPr>
          <p:cNvPr id="10" name="etiquette"/>
          <p:cNvSpPr txBox="1"/>
          <p:nvPr/>
        </p:nvSpPr>
        <p:spPr>
          <a:xfrm>
            <a:off x="7132320" y="1847088"/>
            <a:ext cx="2743200" cy="274320"/>
          </a:xfrm>
          <a:prstGeom prst="rect">
            <a:avLst/>
          </a:prstGeom>
          <a:noFill/>
          <a:ln/>
        </p:spPr>
        <p:txBody>
          <a:bodyPr wrap="square" lIns="0" tIns="0" rIns="0" bIns="0" rtlCol="0" anchor="ctr"/>
          <a:lstStyle/>
          <a:p>
            <a:pPr indent="0" marL="0">
              <a:buNone/>
            </a:pPr>
            <a:r>
              <a:rPr lang="en-US" sz="1150" b="1" spc="100" kern="0" dirty="0">
                <a:solidFill>
                  <a:srgbClr val="2F6FE4"/>
                </a:solidFill>
                <a:latin typeface="Montserrat" pitchFamily="34" charset="0"/>
                <a:ea typeface="Montserrat" pitchFamily="34" charset="-122"/>
                <a:cs typeface="Montserrat" pitchFamily="34" charset="-120"/>
              </a:rPr>
              <a:t>L'IA COMME OUTIL</a:t>
            </a:r>
            <a:endParaRPr lang="en-US" sz="1150" dirty="0"/>
          </a:p>
        </p:txBody>
      </p:sp>
      <p:sp>
        <p:nvSpPr>
          <p:cNvPr id="11" name="Text 9"/>
          <p:cNvSpPr txBox="1"/>
          <p:nvPr/>
        </p:nvSpPr>
        <p:spPr>
          <a:xfrm>
            <a:off x="7132320" y="2194560"/>
            <a:ext cx="4297680" cy="1463040"/>
          </a:xfrm>
          <a:prstGeom prst="rect">
            <a:avLst/>
          </a:prstGeom>
          <a:noFill/>
          <a:ln/>
        </p:spPr>
        <p:txBody>
          <a:bodyPr wrap="square" lIns="0" tIns="0" rIns="0" bIns="0" rtlCol="0" anchor="ctr"/>
          <a:lstStyle/>
          <a:p>
            <a:pPr indent="0" marL="0">
              <a:buNone/>
            </a:pPr>
            <a:r>
              <a:rPr lang="en-US" sz="1600" dirty="0">
                <a:solidFill>
                  <a:srgbClr val="14183D"/>
                </a:solidFill>
                <a:latin typeface="Montserrat" pitchFamily="34" charset="0"/>
                <a:ea typeface="Montserrat" pitchFamily="34" charset="-122"/>
                <a:cs typeface="Montserrat" pitchFamily="34" charset="-120"/>
              </a:rPr>
              <a:t>Claude a optimisé DQN et PPO : un gain de temps, mais chaque choix a été vérifié.</a:t>
            </a:r>
            <a:endParaRPr lang="en-US" sz="1600" dirty="0"/>
          </a:p>
        </p:txBody>
      </p:sp>
      <p:sp>
        <p:nvSpPr>
          <p:cNvPr id="12" name="carte"/>
          <p:cNvSpPr/>
          <p:nvPr/>
        </p:nvSpPr>
        <p:spPr>
          <a:xfrm>
            <a:off x="6858000" y="4069080"/>
            <a:ext cx="4782312" cy="2194560"/>
          </a:xfrm>
          <a:prstGeom prst="roundRect">
            <a:avLst>
              <a:gd name="adj" fmla="val 3333"/>
            </a:avLst>
          </a:prstGeom>
          <a:solidFill>
            <a:srgbClr val="FFFFFF"/>
          </a:solidFill>
          <a:ln/>
          <a:effectLst>
            <a:outerShdw sx="100000" sy="100000" kx="0" ky="0" algn="bl" rotWithShape="0" blurRad="101600" dist="25400" dir="5400000">
              <a:srgbClr val="0B1F44">
                <a:alpha val="22000"/>
              </a:srgbClr>
            </a:outerShdw>
          </a:effectLst>
        </p:spPr>
      </p:sp>
      <p:sp>
        <p:nvSpPr>
          <p:cNvPr id="13" name="etiquette"/>
          <p:cNvSpPr txBox="1"/>
          <p:nvPr/>
        </p:nvSpPr>
        <p:spPr>
          <a:xfrm>
            <a:off x="7132320" y="4270248"/>
            <a:ext cx="2743200" cy="274320"/>
          </a:xfrm>
          <a:prstGeom prst="rect">
            <a:avLst/>
          </a:prstGeom>
          <a:noFill/>
          <a:ln/>
        </p:spPr>
        <p:txBody>
          <a:bodyPr wrap="square" lIns="0" tIns="0" rIns="0" bIns="0" rtlCol="0" anchor="ctr"/>
          <a:lstStyle/>
          <a:p>
            <a:pPr indent="0" marL="0">
              <a:buNone/>
            </a:pPr>
            <a:r>
              <a:rPr lang="en-US" sz="1150" b="1" spc="100" kern="0" dirty="0">
                <a:solidFill>
                  <a:srgbClr val="15911F"/>
                </a:solidFill>
                <a:latin typeface="Montserrat" pitchFamily="34" charset="0"/>
                <a:ea typeface="Montserrat" pitchFamily="34" charset="-122"/>
                <a:cs typeface="Montserrat" pitchFamily="34" charset="-120"/>
              </a:rPr>
              <a:t>AVEC PLUS DE TEMPS</a:t>
            </a:r>
            <a:endParaRPr lang="en-US" sz="1150" dirty="0"/>
          </a:p>
        </p:txBody>
      </p:sp>
      <p:sp>
        <p:nvSpPr>
          <p:cNvPr id="14" name="Text 12"/>
          <p:cNvSpPr txBox="1"/>
          <p:nvPr/>
        </p:nvSpPr>
        <p:spPr>
          <a:xfrm>
            <a:off x="7132320" y="4617720"/>
            <a:ext cx="4297680" cy="1554480"/>
          </a:xfrm>
          <a:prstGeom prst="rect">
            <a:avLst/>
          </a:prstGeom>
          <a:noFill/>
          <a:ln/>
        </p:spPr>
        <p:txBody>
          <a:bodyPr wrap="square" lIns="0" tIns="0" rIns="0" bIns="0" rtlCol="0" anchor="t"/>
          <a:lstStyle/>
          <a:p>
            <a:pPr marL="203200" indent="-203200">
              <a:lnSpc>
                <a:spcPct val="105000"/>
              </a:lnSpc>
              <a:spcAft>
                <a:spcPts val="1000"/>
              </a:spcAft>
              <a:buSzPct val="100000"/>
              <a:buChar char="•"/>
            </a:pPr>
            <a:r>
              <a:rPr lang="en-US" sz="1600" dirty="0">
                <a:solidFill>
                  <a:srgbClr val="14183D"/>
                </a:solidFill>
                <a:latin typeface="Montserrat" pitchFamily="34" charset="0"/>
                <a:ea typeface="Montserrat" pitchFamily="34" charset="-122"/>
                <a:cs typeface="Montserrat" pitchFamily="34" charset="-120"/>
              </a:rPr>
              <a:t>Refaire l'ordre du niveau avec Q-Learning et SARSA</a:t>
            </a:r>
            <a:endParaRPr lang="en-US" sz="1600" dirty="0"/>
          </a:p>
          <a:p>
            <a:pPr marL="203200" indent="-203200">
              <a:lnSpc>
                <a:spcPct val="105000"/>
              </a:lnSpc>
              <a:spcAft>
                <a:spcPts val="1000"/>
              </a:spcAft>
              <a:buSzPct val="100000"/>
              <a:buChar char="•"/>
            </a:pPr>
            <a:r>
              <a:rPr lang="en-US" sz="1600" dirty="0">
                <a:solidFill>
                  <a:srgbClr val="14183D"/>
                </a:solidFill>
                <a:latin typeface="Montserrat" pitchFamily="34" charset="0"/>
                <a:ea typeface="Montserrat" pitchFamily="34" charset="-122"/>
                <a:cs typeface="Montserrat" pitchFamily="34" charset="-120"/>
              </a:rPr>
              <a:t>Tester avec de vrais joueurs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WORLD 1-4  -  LE RECUL</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Ce qu'on retient</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21</a:t>
            </a:r>
            <a:endParaRPr lang="en-US" sz="1100" dirty="0"/>
          </a:p>
        </p:txBody>
      </p:sp>
      <p:sp>
        <p:nvSpPr>
          <p:cNvPr id="6" name="carte"/>
          <p:cNvSpPr/>
          <p:nvPr/>
        </p:nvSpPr>
        <p:spPr>
          <a:xfrm>
            <a:off x="548640" y="1645920"/>
            <a:ext cx="3520440" cy="3657600"/>
          </a:xfrm>
          <a:prstGeom prst="roundRect">
            <a:avLst>
              <a:gd name="adj" fmla="val 2078"/>
            </a:avLst>
          </a:prstGeom>
          <a:solidFill>
            <a:srgbClr val="FFFFFF"/>
          </a:solidFill>
          <a:ln/>
          <a:effectLst>
            <a:outerShdw sx="100000" sy="100000" kx="0" ky="0" algn="bl" rotWithShape="0" blurRad="101600" dist="25400" dir="5400000">
              <a:srgbClr val="0B1F44">
                <a:alpha val="22000"/>
              </a:srgbClr>
            </a:outerShdw>
          </a:effectLst>
        </p:spPr>
      </p:sp>
      <p:sp>
        <p:nvSpPr>
          <p:cNvPr id="7" name="Text 5"/>
          <p:cNvSpPr txBox="1"/>
          <p:nvPr/>
        </p:nvSpPr>
        <p:spPr>
          <a:xfrm>
            <a:off x="822960" y="1828800"/>
            <a:ext cx="914400" cy="822960"/>
          </a:xfrm>
          <a:prstGeom prst="rect">
            <a:avLst/>
          </a:prstGeom>
          <a:noFill/>
          <a:ln/>
        </p:spPr>
        <p:txBody>
          <a:bodyPr wrap="square" lIns="0" tIns="0" rIns="0" bIns="0" rtlCol="0" anchor="t"/>
          <a:lstStyle/>
          <a:p>
            <a:pPr indent="0" marL="0">
              <a:buNone/>
            </a:pPr>
            <a:r>
              <a:rPr lang="en-US" sz="4000" b="1" dirty="0">
                <a:solidFill>
                  <a:srgbClr val="2F6FE4"/>
                </a:solidFill>
                <a:latin typeface="Montserrat" pitchFamily="34" charset="0"/>
                <a:ea typeface="Montserrat" pitchFamily="34" charset="-122"/>
                <a:cs typeface="Montserrat" pitchFamily="34" charset="-120"/>
              </a:rPr>
              <a:t>1</a:t>
            </a:r>
            <a:endParaRPr lang="en-US" sz="4000" dirty="0"/>
          </a:p>
        </p:txBody>
      </p:sp>
      <p:sp>
        <p:nvSpPr>
          <p:cNvPr id="8" name="Text 6"/>
          <p:cNvSpPr txBox="1"/>
          <p:nvPr/>
        </p:nvSpPr>
        <p:spPr>
          <a:xfrm>
            <a:off x="822960" y="2697480"/>
            <a:ext cx="3017520" cy="1371600"/>
          </a:xfrm>
          <a:prstGeom prst="rect">
            <a:avLst/>
          </a:prstGeom>
          <a:noFill/>
          <a:ln/>
        </p:spPr>
        <p:txBody>
          <a:bodyPr wrap="square" lIns="0" tIns="0" rIns="0" bIns="0" rtlCol="0" anchor="t"/>
          <a:lstStyle/>
          <a:p>
            <a:pPr indent="0" marL="0">
              <a:buNone/>
            </a:pPr>
            <a:r>
              <a:rPr lang="en-US" sz="2000" b="1" dirty="0">
                <a:solidFill>
                  <a:srgbClr val="14183D"/>
                </a:solidFill>
                <a:latin typeface="Montserrat" pitchFamily="34" charset="0"/>
                <a:ea typeface="Montserrat" pitchFamily="34" charset="-122"/>
                <a:cs typeface="Montserrat" pitchFamily="34" charset="-120"/>
              </a:rPr>
              <a:t>Niveau simple : les tableaux suffisent</a:t>
            </a:r>
            <a:endParaRPr lang="en-US" sz="2000" dirty="0"/>
          </a:p>
        </p:txBody>
      </p:sp>
      <p:sp>
        <p:nvSpPr>
          <p:cNvPr id="9" name="Text 7"/>
          <p:cNvSpPr txBox="1"/>
          <p:nvPr/>
        </p:nvSpPr>
        <p:spPr>
          <a:xfrm>
            <a:off x="822960" y="4343400"/>
            <a:ext cx="3017520" cy="731520"/>
          </a:xfrm>
          <a:prstGeom prst="rect">
            <a:avLst/>
          </a:prstGeom>
          <a:noFill/>
          <a:ln/>
        </p:spPr>
        <p:txBody>
          <a:bodyPr wrap="square" lIns="0" tIns="0" rIns="0" bIns="0" rtlCol="0" anchor="t"/>
          <a:lstStyle/>
          <a:p>
            <a:pPr indent="0" marL="0">
              <a:buNone/>
            </a:pPr>
            <a:r>
              <a:rPr lang="en-US" sz="1700" dirty="0">
                <a:solidFill>
                  <a:srgbClr val="4A5070"/>
                </a:solidFill>
                <a:latin typeface="Montserrat" pitchFamily="34" charset="0"/>
                <a:ea typeface="Montserrat" pitchFamily="34" charset="-122"/>
                <a:cs typeface="Montserrat" pitchFamily="34" charset="-120"/>
              </a:rPr>
              <a:t>95 % en 16 secondes</a:t>
            </a:r>
            <a:endParaRPr lang="en-US" sz="1700" dirty="0"/>
          </a:p>
        </p:txBody>
      </p:sp>
      <p:sp>
        <p:nvSpPr>
          <p:cNvPr id="10" name="carte"/>
          <p:cNvSpPr/>
          <p:nvPr/>
        </p:nvSpPr>
        <p:spPr>
          <a:xfrm>
            <a:off x="4334256" y="1645920"/>
            <a:ext cx="3520440" cy="3657600"/>
          </a:xfrm>
          <a:prstGeom prst="roundRect">
            <a:avLst>
              <a:gd name="adj" fmla="val 2078"/>
            </a:avLst>
          </a:prstGeom>
          <a:solidFill>
            <a:srgbClr val="FFFFFF"/>
          </a:solidFill>
          <a:ln/>
          <a:effectLst>
            <a:outerShdw sx="100000" sy="100000" kx="0" ky="0" algn="bl" rotWithShape="0" blurRad="101600" dist="25400" dir="5400000">
              <a:srgbClr val="0B1F44">
                <a:alpha val="22000"/>
              </a:srgbClr>
            </a:outerShdw>
          </a:effectLst>
        </p:spPr>
      </p:sp>
      <p:sp>
        <p:nvSpPr>
          <p:cNvPr id="11" name="Text 9"/>
          <p:cNvSpPr txBox="1"/>
          <p:nvPr/>
        </p:nvSpPr>
        <p:spPr>
          <a:xfrm>
            <a:off x="4608576" y="1828800"/>
            <a:ext cx="914400" cy="822960"/>
          </a:xfrm>
          <a:prstGeom prst="rect">
            <a:avLst/>
          </a:prstGeom>
          <a:noFill/>
          <a:ln/>
        </p:spPr>
        <p:txBody>
          <a:bodyPr wrap="square" lIns="0" tIns="0" rIns="0" bIns="0" rtlCol="0" anchor="t"/>
          <a:lstStyle/>
          <a:p>
            <a:pPr indent="0" marL="0">
              <a:buNone/>
            </a:pPr>
            <a:r>
              <a:rPr lang="en-US" sz="4000" b="1" dirty="0">
                <a:solidFill>
                  <a:srgbClr val="2F6FE4"/>
                </a:solidFill>
                <a:latin typeface="Montserrat" pitchFamily="34" charset="0"/>
                <a:ea typeface="Montserrat" pitchFamily="34" charset="-122"/>
                <a:cs typeface="Montserrat" pitchFamily="34" charset="-120"/>
              </a:rPr>
              <a:t>2</a:t>
            </a:r>
            <a:endParaRPr lang="en-US" sz="4000" dirty="0"/>
          </a:p>
        </p:txBody>
      </p:sp>
      <p:sp>
        <p:nvSpPr>
          <p:cNvPr id="12" name="Text 10"/>
          <p:cNvSpPr txBox="1"/>
          <p:nvPr/>
        </p:nvSpPr>
        <p:spPr>
          <a:xfrm>
            <a:off x="4608576" y="2697480"/>
            <a:ext cx="3017520" cy="1371600"/>
          </a:xfrm>
          <a:prstGeom prst="rect">
            <a:avLst/>
          </a:prstGeom>
          <a:noFill/>
          <a:ln/>
        </p:spPr>
        <p:txBody>
          <a:bodyPr wrap="square" lIns="0" tIns="0" rIns="0" bIns="0" rtlCol="0" anchor="t"/>
          <a:lstStyle/>
          <a:p>
            <a:pPr indent="0" marL="0">
              <a:buNone/>
            </a:pPr>
            <a:r>
              <a:rPr lang="en-US" sz="2000" b="1" dirty="0">
                <a:solidFill>
                  <a:srgbClr val="14183D"/>
                </a:solidFill>
                <a:latin typeface="Montserrat" pitchFamily="34" charset="0"/>
                <a:ea typeface="Montserrat" pitchFamily="34" charset="-122"/>
                <a:cs typeface="Montserrat" pitchFamily="34" charset="-120"/>
              </a:rPr>
              <a:t>Ce que voit l'IA compte plus que la taille du réseau</a:t>
            </a:r>
            <a:endParaRPr lang="en-US" sz="2000" dirty="0"/>
          </a:p>
        </p:txBody>
      </p:sp>
      <p:sp>
        <p:nvSpPr>
          <p:cNvPr id="13" name="Text 11"/>
          <p:cNvSpPr txBox="1"/>
          <p:nvPr/>
        </p:nvSpPr>
        <p:spPr>
          <a:xfrm>
            <a:off x="4608576" y="4343400"/>
            <a:ext cx="3017520" cy="731520"/>
          </a:xfrm>
          <a:prstGeom prst="rect">
            <a:avLst/>
          </a:prstGeom>
          <a:noFill/>
          <a:ln/>
        </p:spPr>
        <p:txBody>
          <a:bodyPr wrap="square" lIns="0" tIns="0" rIns="0" bIns="0" rtlCol="0" anchor="t"/>
          <a:lstStyle/>
          <a:p>
            <a:pPr indent="0" marL="0">
              <a:buNone/>
            </a:pPr>
            <a:r>
              <a:rPr lang="en-US" sz="1700" dirty="0">
                <a:solidFill>
                  <a:srgbClr val="4A5070"/>
                </a:solidFill>
                <a:latin typeface="Montserrat" pitchFamily="34" charset="0"/>
                <a:ea typeface="Montserrat" pitchFamily="34" charset="-122"/>
                <a:cs typeface="Montserrat" pitchFamily="34" charset="-120"/>
              </a:rPr>
              <a:t>DQN : 40 % → 94 %</a:t>
            </a:r>
            <a:endParaRPr lang="en-US" sz="1700" dirty="0"/>
          </a:p>
        </p:txBody>
      </p:sp>
      <p:sp>
        <p:nvSpPr>
          <p:cNvPr id="14" name="carte"/>
          <p:cNvSpPr/>
          <p:nvPr/>
        </p:nvSpPr>
        <p:spPr>
          <a:xfrm>
            <a:off x="8119872" y="1645920"/>
            <a:ext cx="3520440" cy="3657600"/>
          </a:xfrm>
          <a:prstGeom prst="roundRect">
            <a:avLst>
              <a:gd name="adj" fmla="val 2078"/>
            </a:avLst>
          </a:prstGeom>
          <a:solidFill>
            <a:srgbClr val="FFFFFF"/>
          </a:solidFill>
          <a:ln/>
          <a:effectLst>
            <a:outerShdw sx="100000" sy="100000" kx="0" ky="0" algn="bl" rotWithShape="0" blurRad="101600" dist="25400" dir="5400000">
              <a:srgbClr val="0B1F44">
                <a:alpha val="22000"/>
              </a:srgbClr>
            </a:outerShdw>
          </a:effectLst>
        </p:spPr>
      </p:sp>
      <p:sp>
        <p:nvSpPr>
          <p:cNvPr id="15" name="Text 13"/>
          <p:cNvSpPr txBox="1"/>
          <p:nvPr/>
        </p:nvSpPr>
        <p:spPr>
          <a:xfrm>
            <a:off x="8394192" y="1828800"/>
            <a:ext cx="914400" cy="822960"/>
          </a:xfrm>
          <a:prstGeom prst="rect">
            <a:avLst/>
          </a:prstGeom>
          <a:noFill/>
          <a:ln/>
        </p:spPr>
        <p:txBody>
          <a:bodyPr wrap="square" lIns="0" tIns="0" rIns="0" bIns="0" rtlCol="0" anchor="t"/>
          <a:lstStyle/>
          <a:p>
            <a:pPr indent="0" marL="0">
              <a:buNone/>
            </a:pPr>
            <a:r>
              <a:rPr lang="en-US" sz="4000" b="1" dirty="0">
                <a:solidFill>
                  <a:srgbClr val="2F6FE4"/>
                </a:solidFill>
                <a:latin typeface="Montserrat" pitchFamily="34" charset="0"/>
                <a:ea typeface="Montserrat" pitchFamily="34" charset="-122"/>
                <a:cs typeface="Montserrat" pitchFamily="34" charset="-120"/>
              </a:rPr>
              <a:t>3</a:t>
            </a:r>
            <a:endParaRPr lang="en-US" sz="4000" dirty="0"/>
          </a:p>
        </p:txBody>
      </p:sp>
      <p:sp>
        <p:nvSpPr>
          <p:cNvPr id="16" name="Text 14"/>
          <p:cNvSpPr txBox="1"/>
          <p:nvPr/>
        </p:nvSpPr>
        <p:spPr>
          <a:xfrm>
            <a:off x="8394192" y="2697480"/>
            <a:ext cx="3017520" cy="1371600"/>
          </a:xfrm>
          <a:prstGeom prst="rect">
            <a:avLst/>
          </a:prstGeom>
          <a:noFill/>
          <a:ln/>
        </p:spPr>
        <p:txBody>
          <a:bodyPr wrap="square" lIns="0" tIns="0" rIns="0" bIns="0" rtlCol="0" anchor="t"/>
          <a:lstStyle/>
          <a:p>
            <a:pPr indent="0" marL="0">
              <a:buNone/>
            </a:pPr>
            <a:r>
              <a:rPr lang="en-US" sz="2000" b="1" dirty="0">
                <a:solidFill>
                  <a:srgbClr val="14183D"/>
                </a:solidFill>
                <a:latin typeface="Montserrat" pitchFamily="34" charset="0"/>
                <a:ea typeface="Montserrat" pitchFamily="34" charset="-122"/>
                <a:cs typeface="Montserrat" pitchFamily="34" charset="-120"/>
              </a:rPr>
              <a:t>Sur le vrai jeu, le deep RL prend le relais</a:t>
            </a:r>
            <a:endParaRPr lang="en-US" sz="2000" dirty="0"/>
          </a:p>
        </p:txBody>
      </p:sp>
      <p:sp>
        <p:nvSpPr>
          <p:cNvPr id="17" name="Text 15"/>
          <p:cNvSpPr txBox="1"/>
          <p:nvPr/>
        </p:nvSpPr>
        <p:spPr>
          <a:xfrm>
            <a:off x="8394192" y="4343400"/>
            <a:ext cx="3017520" cy="731520"/>
          </a:xfrm>
          <a:prstGeom prst="rect">
            <a:avLst/>
          </a:prstGeom>
          <a:noFill/>
          <a:ln/>
        </p:spPr>
        <p:txBody>
          <a:bodyPr wrap="square" lIns="0" tIns="0" rIns="0" bIns="0" rtlCol="0" anchor="t"/>
          <a:lstStyle/>
          <a:p>
            <a:pPr indent="0" marL="0">
              <a:buNone/>
            </a:pPr>
            <a:r>
              <a:rPr lang="en-US" sz="1700" dirty="0">
                <a:solidFill>
                  <a:srgbClr val="4A5070"/>
                </a:solidFill>
                <a:latin typeface="Montserrat" pitchFamily="34" charset="0"/>
                <a:ea typeface="Montserrat" pitchFamily="34" charset="-122"/>
                <a:cs typeface="Montserrat" pitchFamily="34" charset="-120"/>
              </a:rPr>
              <a:t>PPO : 81 %, Route A : 91 %</a:t>
            </a:r>
            <a:endParaRPr lang="en-US" sz="1700" dirty="0"/>
          </a:p>
        </p:txBody>
      </p:sp>
      <p:sp>
        <p:nvSpPr>
          <p:cNvPr id="18" name="Text 16"/>
          <p:cNvSpPr txBox="1"/>
          <p:nvPr/>
        </p:nvSpPr>
        <p:spPr>
          <a:xfrm>
            <a:off x="548640" y="5623560"/>
            <a:ext cx="11091672" cy="457200"/>
          </a:xfrm>
          <a:prstGeom prst="rect">
            <a:avLst/>
          </a:prstGeom>
          <a:noFill/>
          <a:ln/>
        </p:spPr>
        <p:txBody>
          <a:bodyPr wrap="square" lIns="0" tIns="0" rIns="0" bIns="0"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L'article : tendances confirmées, mais ses chiffres dépendent de détails non publiés.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5A99ED"/>
        </a:solidFill>
      </p:bgPr>
    </p:bg>
    <p:spTree>
      <p:nvGrpSpPr>
        <p:cNvPr id="1" name=""/>
        <p:cNvGrpSpPr/>
        <p:nvPr/>
      </p:nvGrpSpPr>
      <p:grpSpPr>
        <a:xfrm>
          <a:off x="0" y="0"/>
          <a:ext cx="0" cy="0"/>
          <a:chOff x="0" y="0"/>
          <a:chExt cx="0" cy="0"/>
        </a:xfrm>
      </p:grpSpPr>
      <p:pic>
        <p:nvPicPr>
          <p:cNvPr id="2" name="castle" descr="/home/user/MarioRL_FinalWork/docs/oral/fabrication/assets/sprites/castle.png">    </p:cNvPr>
          <p:cNvPicPr>
            <a:picLocks noChangeAspect="1"/>
          </p:cNvPicPr>
          <p:nvPr/>
        </p:nvPicPr>
        <p:blipFill>
          <a:blip r:embed="rId1"/>
          <a:stretch>
            <a:fillRect/>
          </a:stretch>
        </p:blipFill>
        <p:spPr>
          <a:xfrm>
            <a:off x="9973727" y="1020196"/>
            <a:ext cx="2146280" cy="4982657"/>
          </a:xfrm>
          <a:prstGeom prst="rect">
            <a:avLst/>
          </a:prstGeom>
        </p:spPr>
      </p:pic>
      <p:pic>
        <p:nvPicPr>
          <p:cNvPr id="3" name="flag_mario" descr="/home/user/MarioRL_FinalWork/docs/oral/fabrication/assets/sprites/flag_mario.png">    </p:cNvPr>
          <p:cNvPicPr>
            <a:picLocks noChangeAspect="1"/>
          </p:cNvPicPr>
          <p:nvPr/>
        </p:nvPicPr>
        <p:blipFill>
          <a:blip r:embed="rId2"/>
          <a:stretch>
            <a:fillRect/>
          </a:stretch>
        </p:blipFill>
        <p:spPr>
          <a:xfrm>
            <a:off x="7835859" y="1938894"/>
            <a:ext cx="1138794" cy="4063959"/>
          </a:xfrm>
          <a:prstGeom prst="rect">
            <a:avLst/>
          </a:prstGeom>
        </p:spPr>
      </p:pic>
      <p:pic>
        <p:nvPicPr>
          <p:cNvPr id="4" name="ground" descr="/home/user/MarioRL_FinalWork/docs/oral/fabrication/assets/sprites/ground.png">    </p:cNvPr>
          <p:cNvPicPr>
            <a:picLocks noChangeAspect="1"/>
          </p:cNvPicPr>
          <p:nvPr/>
        </p:nvPicPr>
        <p:blipFill>
          <a:blip r:embed="rId3"/>
          <a:stretch>
            <a:fillRect/>
          </a:stretch>
        </p:blipFill>
        <p:spPr>
          <a:xfrm>
            <a:off x="0" y="5977433"/>
            <a:ext cx="12191970" cy="880567"/>
          </a:xfrm>
          <a:prstGeom prst="rect">
            <a:avLst/>
          </a:prstGeom>
        </p:spPr>
      </p:pic>
      <p:sp>
        <p:nvSpPr>
          <p:cNvPr id="5" name="grand_titre"/>
          <p:cNvSpPr txBox="1"/>
          <p:nvPr/>
        </p:nvSpPr>
        <p:spPr>
          <a:xfrm>
            <a:off x="731520" y="2148840"/>
            <a:ext cx="6309360" cy="1463040"/>
          </a:xfrm>
          <a:prstGeom prst="rect">
            <a:avLst/>
          </a:prstGeom>
          <a:noFill/>
          <a:ln/>
          <a:effectLst>
            <a:outerShdw sx="100000" sy="100000" kx="0" ky="0" algn="bl" rotWithShape="0" blurRad="101600" dist="27750" dir="2700000">
              <a:srgbClr val="2E1B5B">
                <a:alpha val="100000"/>
              </a:srgbClr>
            </a:outerShdw>
          </a:effectLst>
        </p:spPr>
        <p:txBody>
          <a:bodyPr wrap="square" lIns="0" tIns="0" rIns="0" bIns="0" rtlCol="0" anchor="ctr"/>
          <a:lstStyle/>
          <a:p>
            <a:pPr algn="ctr" indent="0" marL="0">
              <a:lnSpc>
                <a:spcPct val="100000"/>
              </a:lnSpc>
              <a:buNone/>
            </a:pPr>
            <a:r>
              <a:rPr lang="en-US" sz="4370" dirty="0">
                <a:solidFill>
                  <a:srgbClr val="FFFFFF"/>
                </a:solidFill>
                <a:latin typeface="Arcade Gamer" pitchFamily="34" charset="0"/>
                <a:ea typeface="Arcade Gamer" pitchFamily="34" charset="-122"/>
                <a:cs typeface="Arcade Gamer" pitchFamily="34" charset="-120"/>
              </a:rPr>
              <a:t>MERCI POUR</a:t>
            </a:r>
            <a:endParaRPr lang="en-US" sz="4370" dirty="0"/>
          </a:p>
          <a:p>
            <a:pPr algn="ctr" indent="0" marL="0">
              <a:lnSpc>
                <a:spcPct val="100000"/>
              </a:lnSpc>
              <a:buNone/>
            </a:pPr>
            <a:r>
              <a:rPr lang="en-US" sz="4370" dirty="0">
                <a:solidFill>
                  <a:srgbClr val="FFFFFF"/>
                </a:solidFill>
                <a:latin typeface="Arcade Gamer" pitchFamily="34" charset="0"/>
                <a:ea typeface="Arcade Gamer" pitchFamily="34" charset="-122"/>
                <a:cs typeface="Arcade Gamer" pitchFamily="34" charset="-120"/>
              </a:rPr>
              <a:t>VOTRE ÉCOUTE</a:t>
            </a:r>
            <a:endParaRPr lang="en-US" sz="437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A99ED"/>
        </a:solidFill>
      </p:bgPr>
    </p:bg>
    <p:spTree>
      <p:nvGrpSpPr>
        <p:cNvPr id="1" name=""/>
        <p:cNvGrpSpPr/>
        <p:nvPr/>
      </p:nvGrpSpPr>
      <p:grpSpPr>
        <a:xfrm>
          <a:off x="0" y="0"/>
          <a:ext cx="0" cy="0"/>
          <a:chOff x="0" y="0"/>
          <a:chExt cx="0" cy="0"/>
        </a:xfrm>
      </p:grpSpPr>
      <p:pic>
        <p:nvPicPr>
          <p:cNvPr id="2" name="duo" descr="/home/user/MarioRL_FinalWork/docs/oral/fabrication/assets/sprites/duo.png">    </p:cNvPr>
          <p:cNvPicPr>
            <a:picLocks noChangeAspect="1"/>
          </p:cNvPicPr>
          <p:nvPr/>
        </p:nvPicPr>
        <p:blipFill>
          <a:blip r:embed="rId1"/>
          <a:stretch>
            <a:fillRect/>
          </a:stretch>
        </p:blipFill>
        <p:spPr>
          <a:xfrm>
            <a:off x="1938894" y="4872563"/>
            <a:ext cx="1159916" cy="1130290"/>
          </a:xfrm>
          <a:prstGeom prst="rect">
            <a:avLst/>
          </a:prstGeom>
        </p:spPr>
      </p:pic>
      <p:pic>
        <p:nvPicPr>
          <p:cNvPr id="3" name="bowser" descr="/home/user/MarioRL_FinalWork/docs/oral/fabrication/assets/sprites/bowser.png">    </p:cNvPr>
          <p:cNvPicPr>
            <a:picLocks noChangeAspect="1"/>
          </p:cNvPicPr>
          <p:nvPr/>
        </p:nvPicPr>
        <p:blipFill>
          <a:blip r:embed="rId2"/>
          <a:stretch>
            <a:fillRect/>
          </a:stretch>
        </p:blipFill>
        <p:spPr>
          <a:xfrm>
            <a:off x="8873063" y="3996294"/>
            <a:ext cx="2992923" cy="2006559"/>
          </a:xfrm>
          <a:prstGeom prst="rect">
            <a:avLst/>
          </a:prstGeom>
        </p:spPr>
      </p:pic>
      <p:pic>
        <p:nvPicPr>
          <p:cNvPr id="4" name="ground" descr="/home/user/MarioRL_FinalWork/docs/oral/fabrication/assets/sprites/ground.png">    </p:cNvPr>
          <p:cNvPicPr>
            <a:picLocks noChangeAspect="1"/>
          </p:cNvPicPr>
          <p:nvPr/>
        </p:nvPicPr>
        <p:blipFill>
          <a:blip r:embed="rId3"/>
          <a:stretch>
            <a:fillRect/>
          </a:stretch>
        </p:blipFill>
        <p:spPr>
          <a:xfrm>
            <a:off x="0" y="5977433"/>
            <a:ext cx="12191970" cy="880567"/>
          </a:xfrm>
          <a:prstGeom prst="rect">
            <a:avLst/>
          </a:prstGeom>
        </p:spPr>
      </p:pic>
      <p:sp>
        <p:nvSpPr>
          <p:cNvPr id="5" name="grand_titre"/>
          <p:cNvSpPr txBox="1"/>
          <p:nvPr/>
        </p:nvSpPr>
        <p:spPr>
          <a:xfrm>
            <a:off x="2377440" y="1188720"/>
            <a:ext cx="7436815" cy="1463040"/>
          </a:xfrm>
          <a:prstGeom prst="rect">
            <a:avLst/>
          </a:prstGeom>
          <a:noFill/>
          <a:ln/>
          <a:effectLst>
            <a:outerShdw sx="100000" sy="100000" kx="0" ky="0" algn="bl" rotWithShape="0" blurRad="101600" dist="27750" dir="2700000">
              <a:srgbClr val="2E1B5B">
                <a:alpha val="100000"/>
              </a:srgbClr>
            </a:outerShdw>
          </a:effectLst>
        </p:spPr>
        <p:txBody>
          <a:bodyPr wrap="square" lIns="0" tIns="0" rIns="0" bIns="0" rtlCol="0" anchor="ctr"/>
          <a:lstStyle/>
          <a:p>
            <a:pPr algn="ctr" indent="0" marL="0">
              <a:lnSpc>
                <a:spcPct val="100000"/>
              </a:lnSpc>
              <a:buNone/>
            </a:pPr>
            <a:r>
              <a:rPr lang="en-US" sz="4370" dirty="0">
                <a:solidFill>
                  <a:srgbClr val="FFFFFF"/>
                </a:solidFill>
                <a:latin typeface="Arcade Gamer" pitchFamily="34" charset="0"/>
                <a:ea typeface="Arcade Gamer" pitchFamily="34" charset="-122"/>
                <a:cs typeface="Arcade Gamer" pitchFamily="34" charset="-120"/>
              </a:rPr>
              <a:t>AVEZ-VOUS DES</a:t>
            </a:r>
            <a:endParaRPr lang="en-US" sz="4370" dirty="0"/>
          </a:p>
          <a:p>
            <a:pPr algn="ctr" indent="0" marL="0">
              <a:lnSpc>
                <a:spcPct val="100000"/>
              </a:lnSpc>
              <a:buNone/>
            </a:pPr>
            <a:r>
              <a:rPr lang="en-US" sz="4370" dirty="0">
                <a:solidFill>
                  <a:srgbClr val="FFFFFF"/>
                </a:solidFill>
                <a:latin typeface="Arcade Gamer" pitchFamily="34" charset="0"/>
                <a:ea typeface="Arcade Gamer" pitchFamily="34" charset="-122"/>
                <a:cs typeface="Arcade Gamer" pitchFamily="34" charset="-120"/>
              </a:rPr>
              <a:t>QUESTIONS ?</a:t>
            </a:r>
            <a:endParaRPr lang="en-US" sz="437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ANNEXE A</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Comportement en jeu</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24</a:t>
            </a:r>
            <a:endParaRPr lang="en-US" sz="1100" dirty="0"/>
          </a:p>
        </p:txBody>
      </p:sp>
      <p:sp>
        <p:nvSpPr>
          <p:cNvPr id="6" name="tableau_fond"/>
          <p:cNvSpPr/>
          <p:nvPr/>
        </p:nvSpPr>
        <p:spPr>
          <a:xfrm>
            <a:off x="548640" y="1783080"/>
            <a:ext cx="11091672" cy="3218688"/>
          </a:xfrm>
          <a:prstGeom prst="rect">
            <a:avLst/>
          </a:prstGeom>
          <a:solidFill>
            <a:srgbClr val="FFFFFF"/>
          </a:solidFill>
          <a:ln/>
          <a:effectLst>
            <a:outerShdw sx="100000" sy="100000" kx="0" ky="0" algn="bl" rotWithShape="0" blurRad="101600" dist="25400" dir="5400000">
              <a:srgbClr val="0B1F44">
                <a:alpha val="22000"/>
              </a:srgbClr>
            </a:outerShdw>
          </a:effectLst>
        </p:spPr>
      </p:sp>
      <p:sp>
        <p:nvSpPr>
          <p:cNvPr id="7" name="entete"/>
          <p:cNvSpPr txBox="1"/>
          <p:nvPr/>
        </p:nvSpPr>
        <p:spPr>
          <a:xfrm>
            <a:off x="548640" y="1783080"/>
            <a:ext cx="2514600" cy="566928"/>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Algorithme</a:t>
            </a:r>
            <a:endParaRPr lang="en-US" sz="1200" dirty="0"/>
          </a:p>
        </p:txBody>
      </p:sp>
      <p:sp>
        <p:nvSpPr>
          <p:cNvPr id="8" name="entete"/>
          <p:cNvSpPr txBox="1"/>
          <p:nvPr/>
        </p:nvSpPr>
        <p:spPr>
          <a:xfrm>
            <a:off x="3063240" y="1783080"/>
            <a:ext cx="1737360"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Ennemis</a:t>
            </a:r>
            <a:endParaRPr lang="en-US" sz="1200" dirty="0"/>
          </a:p>
          <a:p>
            <a:pPr algn="ctr" indent="0" marL="0">
              <a:buNone/>
            </a:pPr>
            <a:r>
              <a:rPr lang="en-US" sz="1200" b="1" dirty="0">
                <a:solidFill>
                  <a:srgbClr val="FFFFFF"/>
                </a:solidFill>
                <a:latin typeface="Montserrat" pitchFamily="34" charset="0"/>
                <a:ea typeface="Montserrat" pitchFamily="34" charset="-122"/>
                <a:cs typeface="Montserrat" pitchFamily="34" charset="-120"/>
              </a:rPr>
              <a:t>écrasés</a:t>
            </a:r>
            <a:endParaRPr lang="en-US" sz="1200" dirty="0"/>
          </a:p>
        </p:txBody>
      </p:sp>
      <p:sp>
        <p:nvSpPr>
          <p:cNvPr id="9" name="entete"/>
          <p:cNvSpPr txBox="1"/>
          <p:nvPr/>
        </p:nvSpPr>
        <p:spPr>
          <a:xfrm>
            <a:off x="4800600" y="1783080"/>
            <a:ext cx="1737360"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Briques</a:t>
            </a:r>
            <a:endParaRPr lang="en-US" sz="1200" dirty="0"/>
          </a:p>
          <a:p>
            <a:pPr algn="ctr" indent="0" marL="0">
              <a:buNone/>
            </a:pPr>
            <a:r>
              <a:rPr lang="en-US" sz="1200" b="1" dirty="0">
                <a:solidFill>
                  <a:srgbClr val="FFFFFF"/>
                </a:solidFill>
                <a:latin typeface="Montserrat" pitchFamily="34" charset="0"/>
                <a:ea typeface="Montserrat" pitchFamily="34" charset="-122"/>
                <a:cs typeface="Montserrat" pitchFamily="34" charset="-120"/>
              </a:rPr>
              <a:t>cassées</a:t>
            </a:r>
            <a:endParaRPr lang="en-US" sz="1200" dirty="0"/>
          </a:p>
        </p:txBody>
      </p:sp>
      <p:sp>
        <p:nvSpPr>
          <p:cNvPr id="10" name="entete"/>
          <p:cNvSpPr txBox="1"/>
          <p:nvPr/>
        </p:nvSpPr>
        <p:spPr>
          <a:xfrm>
            <a:off x="6537960" y="1783080"/>
            <a:ext cx="1737360"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Blocs ?</a:t>
            </a:r>
            <a:endParaRPr lang="en-US" sz="1200" dirty="0"/>
          </a:p>
          <a:p>
            <a:pPr algn="ctr" indent="0" marL="0">
              <a:buNone/>
            </a:pPr>
            <a:r>
              <a:rPr lang="en-US" sz="1200" b="1" dirty="0">
                <a:solidFill>
                  <a:srgbClr val="FFFFFF"/>
                </a:solidFill>
                <a:latin typeface="Montserrat" pitchFamily="34" charset="0"/>
                <a:ea typeface="Montserrat" pitchFamily="34" charset="-122"/>
                <a:cs typeface="Montserrat" pitchFamily="34" charset="-120"/>
              </a:rPr>
              <a:t>frappés</a:t>
            </a:r>
            <a:endParaRPr lang="en-US" sz="1200" dirty="0"/>
          </a:p>
        </p:txBody>
      </p:sp>
      <p:sp>
        <p:nvSpPr>
          <p:cNvPr id="11" name="entete"/>
          <p:cNvSpPr txBox="1"/>
          <p:nvPr/>
        </p:nvSpPr>
        <p:spPr>
          <a:xfrm>
            <a:off x="8275320" y="1783080"/>
            <a:ext cx="1719072"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Pas par</a:t>
            </a:r>
            <a:endParaRPr lang="en-US" sz="1200" dirty="0"/>
          </a:p>
          <a:p>
            <a:pPr algn="ctr" indent="0" marL="0">
              <a:buNone/>
            </a:pPr>
            <a:r>
              <a:rPr lang="en-US" sz="1200" b="1" dirty="0">
                <a:solidFill>
                  <a:srgbClr val="FFFFFF"/>
                </a:solidFill>
                <a:latin typeface="Montserrat" pitchFamily="34" charset="0"/>
                <a:ea typeface="Montserrat" pitchFamily="34" charset="-122"/>
                <a:cs typeface="Montserrat" pitchFamily="34" charset="-120"/>
              </a:rPr>
              <a:t>partie</a:t>
            </a:r>
            <a:endParaRPr lang="en-US" sz="1200" dirty="0"/>
          </a:p>
        </p:txBody>
      </p:sp>
      <p:sp>
        <p:nvSpPr>
          <p:cNvPr id="12" name="entete"/>
          <p:cNvSpPr txBox="1"/>
          <p:nvPr/>
        </p:nvSpPr>
        <p:spPr>
          <a:xfrm>
            <a:off x="9994392" y="1783080"/>
            <a:ext cx="1645920"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1re victoire</a:t>
            </a:r>
            <a:endParaRPr lang="en-US" sz="1200" dirty="0"/>
          </a:p>
          <a:p>
            <a:pPr algn="ctr" indent="0" marL="0">
              <a:buNone/>
            </a:pPr>
            <a:r>
              <a:rPr lang="en-US" sz="1200" b="1" dirty="0">
                <a:solidFill>
                  <a:srgbClr val="FFFFFF"/>
                </a:solidFill>
                <a:latin typeface="Montserrat" pitchFamily="34" charset="0"/>
                <a:ea typeface="Montserrat" pitchFamily="34" charset="-122"/>
                <a:cs typeface="Montserrat" pitchFamily="34" charset="-120"/>
              </a:rPr>
              <a:t>(épisode)</a:t>
            </a:r>
            <a:endParaRPr lang="en-US" sz="1200" dirty="0"/>
          </a:p>
        </p:txBody>
      </p:sp>
      <p:sp>
        <p:nvSpPr>
          <p:cNvPr id="13" name="cellule"/>
          <p:cNvSpPr txBox="1"/>
          <p:nvPr/>
        </p:nvSpPr>
        <p:spPr>
          <a:xfrm>
            <a:off x="548640" y="2350008"/>
            <a:ext cx="2514600" cy="530352"/>
          </a:xfrm>
          <a:prstGeom prst="rect">
            <a:avLst/>
          </a:prstGeom>
          <a:solidFill>
            <a:srgbClr val="FFFFFF"/>
          </a:solidFill>
          <a:ln/>
        </p:spPr>
        <p:txBody>
          <a:bodyPr wrap="square" lIns="177800" tIns="25400" rIns="76200" bIns="25400" rtlCol="0" anchor="ctr"/>
          <a:lstStyle/>
          <a:p>
            <a:pPr algn="l" indent="0" marL="0">
              <a:buNone/>
            </a:pPr>
            <a:r>
              <a:rPr lang="en-US" sz="1350" b="1" dirty="0">
                <a:solidFill>
                  <a:srgbClr val="14183D"/>
                </a:solidFill>
                <a:latin typeface="Montserrat" pitchFamily="34" charset="0"/>
                <a:ea typeface="Montserrat" pitchFamily="34" charset="-122"/>
                <a:cs typeface="Montserrat" pitchFamily="34" charset="-120"/>
              </a:rPr>
              <a:t>Q-Learning</a:t>
            </a:r>
            <a:endParaRPr lang="en-US" sz="1350" dirty="0"/>
          </a:p>
        </p:txBody>
      </p:sp>
      <p:sp>
        <p:nvSpPr>
          <p:cNvPr id="14" name="cellule"/>
          <p:cNvSpPr txBox="1"/>
          <p:nvPr/>
        </p:nvSpPr>
        <p:spPr>
          <a:xfrm>
            <a:off x="3063240" y="2350008"/>
            <a:ext cx="173736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6,1</a:t>
            </a:r>
            <a:endParaRPr lang="en-US" sz="1350" dirty="0"/>
          </a:p>
        </p:txBody>
      </p:sp>
      <p:sp>
        <p:nvSpPr>
          <p:cNvPr id="15" name="cellule"/>
          <p:cNvSpPr txBox="1"/>
          <p:nvPr/>
        </p:nvSpPr>
        <p:spPr>
          <a:xfrm>
            <a:off x="4800600" y="2350008"/>
            <a:ext cx="173736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2,9</a:t>
            </a:r>
            <a:endParaRPr lang="en-US" sz="1350" dirty="0"/>
          </a:p>
        </p:txBody>
      </p:sp>
      <p:sp>
        <p:nvSpPr>
          <p:cNvPr id="16" name="cellule"/>
          <p:cNvSpPr txBox="1"/>
          <p:nvPr/>
        </p:nvSpPr>
        <p:spPr>
          <a:xfrm>
            <a:off x="6537960" y="2350008"/>
            <a:ext cx="173736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4,3</a:t>
            </a:r>
            <a:endParaRPr lang="en-US" sz="1350" dirty="0"/>
          </a:p>
        </p:txBody>
      </p:sp>
      <p:sp>
        <p:nvSpPr>
          <p:cNvPr id="17" name="cellule"/>
          <p:cNvSpPr txBox="1"/>
          <p:nvPr/>
        </p:nvSpPr>
        <p:spPr>
          <a:xfrm>
            <a:off x="8275320" y="2350008"/>
            <a:ext cx="1719072"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268</a:t>
            </a:r>
            <a:endParaRPr lang="en-US" sz="1350" dirty="0"/>
          </a:p>
        </p:txBody>
      </p:sp>
      <p:sp>
        <p:nvSpPr>
          <p:cNvPr id="18" name="cellule"/>
          <p:cNvSpPr txBox="1"/>
          <p:nvPr/>
        </p:nvSpPr>
        <p:spPr>
          <a:xfrm>
            <a:off x="9994392" y="2350008"/>
            <a:ext cx="164592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1322 ± 356</a:t>
            </a:r>
            <a:endParaRPr lang="en-US" sz="1350" dirty="0"/>
          </a:p>
        </p:txBody>
      </p:sp>
      <p:sp>
        <p:nvSpPr>
          <p:cNvPr id="19" name="cellule"/>
          <p:cNvSpPr txBox="1"/>
          <p:nvPr/>
        </p:nvSpPr>
        <p:spPr>
          <a:xfrm>
            <a:off x="548640" y="2880360"/>
            <a:ext cx="2514600" cy="530352"/>
          </a:xfrm>
          <a:prstGeom prst="rect">
            <a:avLst/>
          </a:prstGeom>
          <a:solidFill>
            <a:srgbClr val="F2F5FA"/>
          </a:solidFill>
          <a:ln/>
        </p:spPr>
        <p:txBody>
          <a:bodyPr wrap="square" lIns="177800" tIns="25400" rIns="76200" bIns="25400" rtlCol="0" anchor="ctr"/>
          <a:lstStyle/>
          <a:p>
            <a:pPr algn="l" indent="0" marL="0">
              <a:buNone/>
            </a:pPr>
            <a:r>
              <a:rPr lang="en-US" sz="1350" b="1" dirty="0">
                <a:solidFill>
                  <a:srgbClr val="14183D"/>
                </a:solidFill>
                <a:latin typeface="Montserrat" pitchFamily="34" charset="0"/>
                <a:ea typeface="Montserrat" pitchFamily="34" charset="-122"/>
                <a:cs typeface="Montserrat" pitchFamily="34" charset="-120"/>
              </a:rPr>
              <a:t>SARSA</a:t>
            </a:r>
            <a:endParaRPr lang="en-US" sz="1350" dirty="0"/>
          </a:p>
        </p:txBody>
      </p:sp>
      <p:sp>
        <p:nvSpPr>
          <p:cNvPr id="20" name="cellule"/>
          <p:cNvSpPr txBox="1"/>
          <p:nvPr/>
        </p:nvSpPr>
        <p:spPr>
          <a:xfrm>
            <a:off x="3063240" y="2880360"/>
            <a:ext cx="1737360"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6,9</a:t>
            </a:r>
            <a:endParaRPr lang="en-US" sz="1350" dirty="0"/>
          </a:p>
        </p:txBody>
      </p:sp>
      <p:sp>
        <p:nvSpPr>
          <p:cNvPr id="21" name="cellule"/>
          <p:cNvSpPr txBox="1"/>
          <p:nvPr/>
        </p:nvSpPr>
        <p:spPr>
          <a:xfrm>
            <a:off x="4800600" y="2880360"/>
            <a:ext cx="1737360"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3,6</a:t>
            </a:r>
            <a:endParaRPr lang="en-US" sz="1350" dirty="0"/>
          </a:p>
        </p:txBody>
      </p:sp>
      <p:sp>
        <p:nvSpPr>
          <p:cNvPr id="22" name="cellule"/>
          <p:cNvSpPr txBox="1"/>
          <p:nvPr/>
        </p:nvSpPr>
        <p:spPr>
          <a:xfrm>
            <a:off x="6537960" y="2880360"/>
            <a:ext cx="1737360"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4,7</a:t>
            </a:r>
            <a:endParaRPr lang="en-US" sz="1350" dirty="0"/>
          </a:p>
        </p:txBody>
      </p:sp>
      <p:sp>
        <p:nvSpPr>
          <p:cNvPr id="23" name="cellule"/>
          <p:cNvSpPr txBox="1"/>
          <p:nvPr/>
        </p:nvSpPr>
        <p:spPr>
          <a:xfrm>
            <a:off x="8275320" y="2880360"/>
            <a:ext cx="1719072"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266</a:t>
            </a:r>
            <a:endParaRPr lang="en-US" sz="1350" dirty="0"/>
          </a:p>
        </p:txBody>
      </p:sp>
      <p:sp>
        <p:nvSpPr>
          <p:cNvPr id="24" name="cellule"/>
          <p:cNvSpPr txBox="1"/>
          <p:nvPr/>
        </p:nvSpPr>
        <p:spPr>
          <a:xfrm>
            <a:off x="9994392" y="2880360"/>
            <a:ext cx="1645920"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1178 ± 293</a:t>
            </a:r>
            <a:endParaRPr lang="en-US" sz="1350" dirty="0"/>
          </a:p>
        </p:txBody>
      </p:sp>
      <p:sp>
        <p:nvSpPr>
          <p:cNvPr id="25" name="cellule"/>
          <p:cNvSpPr txBox="1"/>
          <p:nvPr/>
        </p:nvSpPr>
        <p:spPr>
          <a:xfrm>
            <a:off x="548640" y="3410712"/>
            <a:ext cx="2514600" cy="530352"/>
          </a:xfrm>
          <a:prstGeom prst="rect">
            <a:avLst/>
          </a:prstGeom>
          <a:solidFill>
            <a:srgbClr val="FFFFFF"/>
          </a:solidFill>
          <a:ln/>
        </p:spPr>
        <p:txBody>
          <a:bodyPr wrap="square" lIns="177800" tIns="25400" rIns="76200" bIns="25400" rtlCol="0" anchor="ctr"/>
          <a:lstStyle/>
          <a:p>
            <a:pPr algn="l" indent="0" marL="0">
              <a:buNone/>
            </a:pPr>
            <a:r>
              <a:rPr lang="en-US" sz="1350" b="1" dirty="0">
                <a:solidFill>
                  <a:srgbClr val="14183D"/>
                </a:solidFill>
                <a:latin typeface="Montserrat" pitchFamily="34" charset="0"/>
                <a:ea typeface="Montserrat" pitchFamily="34" charset="-122"/>
                <a:cs typeface="Montserrat" pitchFamily="34" charset="-120"/>
              </a:rPr>
              <a:t>Monte Carlo</a:t>
            </a:r>
            <a:endParaRPr lang="en-US" sz="1350" dirty="0"/>
          </a:p>
        </p:txBody>
      </p:sp>
      <p:sp>
        <p:nvSpPr>
          <p:cNvPr id="26" name="cellule"/>
          <p:cNvSpPr txBox="1"/>
          <p:nvPr/>
        </p:nvSpPr>
        <p:spPr>
          <a:xfrm>
            <a:off x="3063240" y="3410712"/>
            <a:ext cx="173736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12,1</a:t>
            </a:r>
            <a:endParaRPr lang="en-US" sz="1350" dirty="0"/>
          </a:p>
        </p:txBody>
      </p:sp>
      <p:sp>
        <p:nvSpPr>
          <p:cNvPr id="27" name="cellule"/>
          <p:cNvSpPr txBox="1"/>
          <p:nvPr/>
        </p:nvSpPr>
        <p:spPr>
          <a:xfrm>
            <a:off x="4800600" y="3410712"/>
            <a:ext cx="173736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4,9</a:t>
            </a:r>
            <a:endParaRPr lang="en-US" sz="1350" dirty="0"/>
          </a:p>
        </p:txBody>
      </p:sp>
      <p:sp>
        <p:nvSpPr>
          <p:cNvPr id="28" name="cellule"/>
          <p:cNvSpPr txBox="1"/>
          <p:nvPr/>
        </p:nvSpPr>
        <p:spPr>
          <a:xfrm>
            <a:off x="6537960" y="3410712"/>
            <a:ext cx="173736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5,3</a:t>
            </a:r>
            <a:endParaRPr lang="en-US" sz="1350" dirty="0"/>
          </a:p>
        </p:txBody>
      </p:sp>
      <p:sp>
        <p:nvSpPr>
          <p:cNvPr id="29" name="cellule"/>
          <p:cNvSpPr txBox="1"/>
          <p:nvPr/>
        </p:nvSpPr>
        <p:spPr>
          <a:xfrm>
            <a:off x="8275320" y="3410712"/>
            <a:ext cx="1719072"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503</a:t>
            </a:r>
            <a:endParaRPr lang="en-US" sz="1350" dirty="0"/>
          </a:p>
        </p:txBody>
      </p:sp>
      <p:sp>
        <p:nvSpPr>
          <p:cNvPr id="30" name="cellule"/>
          <p:cNvSpPr txBox="1"/>
          <p:nvPr/>
        </p:nvSpPr>
        <p:spPr>
          <a:xfrm>
            <a:off x="9994392" y="3410712"/>
            <a:ext cx="164592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1108 ± 443</a:t>
            </a:r>
            <a:endParaRPr lang="en-US" sz="1350" dirty="0"/>
          </a:p>
        </p:txBody>
      </p:sp>
      <p:sp>
        <p:nvSpPr>
          <p:cNvPr id="31" name="cellule"/>
          <p:cNvSpPr txBox="1"/>
          <p:nvPr/>
        </p:nvSpPr>
        <p:spPr>
          <a:xfrm>
            <a:off x="548640" y="3941064"/>
            <a:ext cx="2514600" cy="530352"/>
          </a:xfrm>
          <a:prstGeom prst="rect">
            <a:avLst/>
          </a:prstGeom>
          <a:solidFill>
            <a:srgbClr val="F2F5FA"/>
          </a:solidFill>
          <a:ln/>
        </p:spPr>
        <p:txBody>
          <a:bodyPr wrap="square" lIns="177800" tIns="25400" rIns="76200" bIns="25400" rtlCol="0" anchor="ctr"/>
          <a:lstStyle/>
          <a:p>
            <a:pPr algn="l" indent="0" marL="0">
              <a:buNone/>
            </a:pPr>
            <a:r>
              <a:rPr lang="en-US" sz="1350" b="1" dirty="0">
                <a:solidFill>
                  <a:srgbClr val="14183D"/>
                </a:solidFill>
                <a:latin typeface="Montserrat" pitchFamily="34" charset="0"/>
                <a:ea typeface="Montserrat" pitchFamily="34" charset="-122"/>
                <a:cs typeface="Montserrat" pitchFamily="34" charset="-120"/>
              </a:rPr>
              <a:t>DQN de l'article</a:t>
            </a:r>
            <a:endParaRPr lang="en-US" sz="1350" dirty="0"/>
          </a:p>
        </p:txBody>
      </p:sp>
      <p:sp>
        <p:nvSpPr>
          <p:cNvPr id="32" name="cellule"/>
          <p:cNvSpPr txBox="1"/>
          <p:nvPr/>
        </p:nvSpPr>
        <p:spPr>
          <a:xfrm>
            <a:off x="3063240" y="3941064"/>
            <a:ext cx="1737360"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6,0</a:t>
            </a:r>
            <a:endParaRPr lang="en-US" sz="1350" dirty="0"/>
          </a:p>
        </p:txBody>
      </p:sp>
      <p:sp>
        <p:nvSpPr>
          <p:cNvPr id="33" name="cellule"/>
          <p:cNvSpPr txBox="1"/>
          <p:nvPr/>
        </p:nvSpPr>
        <p:spPr>
          <a:xfrm>
            <a:off x="4800600" y="3941064"/>
            <a:ext cx="1737360"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2,2</a:t>
            </a:r>
            <a:endParaRPr lang="en-US" sz="1350" dirty="0"/>
          </a:p>
        </p:txBody>
      </p:sp>
      <p:sp>
        <p:nvSpPr>
          <p:cNvPr id="34" name="cellule"/>
          <p:cNvSpPr txBox="1"/>
          <p:nvPr/>
        </p:nvSpPr>
        <p:spPr>
          <a:xfrm>
            <a:off x="6537960" y="3941064"/>
            <a:ext cx="1737360"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5,1</a:t>
            </a:r>
            <a:endParaRPr lang="en-US" sz="1350" dirty="0"/>
          </a:p>
        </p:txBody>
      </p:sp>
      <p:sp>
        <p:nvSpPr>
          <p:cNvPr id="35" name="cellule"/>
          <p:cNvSpPr txBox="1"/>
          <p:nvPr/>
        </p:nvSpPr>
        <p:spPr>
          <a:xfrm>
            <a:off x="8275320" y="3941064"/>
            <a:ext cx="1719072"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205</a:t>
            </a:r>
            <a:endParaRPr lang="en-US" sz="1350" dirty="0"/>
          </a:p>
        </p:txBody>
      </p:sp>
      <p:sp>
        <p:nvSpPr>
          <p:cNvPr id="36" name="cellule"/>
          <p:cNvSpPr txBox="1"/>
          <p:nvPr/>
        </p:nvSpPr>
        <p:spPr>
          <a:xfrm>
            <a:off x="9994392" y="3941064"/>
            <a:ext cx="1645920" cy="530352"/>
          </a:xfrm>
          <a:prstGeom prst="rect">
            <a:avLst/>
          </a:prstGeom>
          <a:solidFill>
            <a:srgbClr val="F2F5FA"/>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628 ± 194</a:t>
            </a:r>
            <a:endParaRPr lang="en-US" sz="1350" dirty="0"/>
          </a:p>
        </p:txBody>
      </p:sp>
      <p:sp>
        <p:nvSpPr>
          <p:cNvPr id="37" name="cellule"/>
          <p:cNvSpPr txBox="1"/>
          <p:nvPr/>
        </p:nvSpPr>
        <p:spPr>
          <a:xfrm>
            <a:off x="548640" y="4471416"/>
            <a:ext cx="2514600" cy="530352"/>
          </a:xfrm>
          <a:prstGeom prst="rect">
            <a:avLst/>
          </a:prstGeom>
          <a:solidFill>
            <a:srgbClr val="FFFFFF"/>
          </a:solidFill>
          <a:ln/>
        </p:spPr>
        <p:txBody>
          <a:bodyPr wrap="square" lIns="177800" tIns="25400" rIns="76200" bIns="25400" rtlCol="0" anchor="ctr"/>
          <a:lstStyle/>
          <a:p>
            <a:pPr algn="l" indent="0" marL="0">
              <a:buNone/>
            </a:pPr>
            <a:r>
              <a:rPr lang="en-US" sz="1350" b="1" dirty="0">
                <a:solidFill>
                  <a:srgbClr val="14183D"/>
                </a:solidFill>
                <a:latin typeface="Montserrat" pitchFamily="34" charset="0"/>
                <a:ea typeface="Montserrat" pitchFamily="34" charset="-122"/>
                <a:cs typeface="Montserrat" pitchFamily="34" charset="-120"/>
              </a:rPr>
              <a:t>Notre DQN</a:t>
            </a:r>
            <a:endParaRPr lang="en-US" sz="1350" dirty="0"/>
          </a:p>
        </p:txBody>
      </p:sp>
      <p:sp>
        <p:nvSpPr>
          <p:cNvPr id="38" name="cellule"/>
          <p:cNvSpPr txBox="1"/>
          <p:nvPr/>
        </p:nvSpPr>
        <p:spPr>
          <a:xfrm>
            <a:off x="3063240" y="4471416"/>
            <a:ext cx="1737360" cy="530352"/>
          </a:xfrm>
          <a:prstGeom prst="rect">
            <a:avLst/>
          </a:prstGeom>
          <a:solidFill>
            <a:srgbClr val="FFF0B3"/>
          </a:solidFill>
          <a:ln/>
        </p:spPr>
        <p:txBody>
          <a:bodyPr wrap="square" lIns="25400" tIns="25400" rIns="25400" bIns="25400" rtlCol="0" anchor="ctr"/>
          <a:lstStyle/>
          <a:p>
            <a:pPr algn="ctr" indent="0" marL="0">
              <a:buNone/>
            </a:pPr>
            <a:r>
              <a:rPr lang="en-US" sz="1350" b="1" dirty="0">
                <a:solidFill>
                  <a:srgbClr val="14183D"/>
                </a:solidFill>
                <a:latin typeface="Montserrat" pitchFamily="34" charset="0"/>
                <a:ea typeface="Montserrat" pitchFamily="34" charset="-122"/>
                <a:cs typeface="Montserrat" pitchFamily="34" charset="-120"/>
              </a:rPr>
              <a:t>12,6</a:t>
            </a:r>
            <a:endParaRPr lang="en-US" sz="1350" dirty="0"/>
          </a:p>
        </p:txBody>
      </p:sp>
      <p:sp>
        <p:nvSpPr>
          <p:cNvPr id="39" name="cellule"/>
          <p:cNvSpPr txBox="1"/>
          <p:nvPr/>
        </p:nvSpPr>
        <p:spPr>
          <a:xfrm>
            <a:off x="4800600" y="4471416"/>
            <a:ext cx="1737360" cy="530352"/>
          </a:xfrm>
          <a:prstGeom prst="rect">
            <a:avLst/>
          </a:prstGeom>
          <a:solidFill>
            <a:srgbClr val="FFF0B3"/>
          </a:solidFill>
          <a:ln/>
        </p:spPr>
        <p:txBody>
          <a:bodyPr wrap="square" lIns="25400" tIns="25400" rIns="25400" bIns="25400" rtlCol="0" anchor="ctr"/>
          <a:lstStyle/>
          <a:p>
            <a:pPr algn="ctr" indent="0" marL="0">
              <a:buNone/>
            </a:pPr>
            <a:r>
              <a:rPr lang="en-US" sz="1350" b="1" dirty="0">
                <a:solidFill>
                  <a:srgbClr val="14183D"/>
                </a:solidFill>
                <a:latin typeface="Montserrat" pitchFamily="34" charset="0"/>
                <a:ea typeface="Montserrat" pitchFamily="34" charset="-122"/>
                <a:cs typeface="Montserrat" pitchFamily="34" charset="-120"/>
              </a:rPr>
              <a:t>5,0</a:t>
            </a:r>
            <a:endParaRPr lang="en-US" sz="1350" dirty="0"/>
          </a:p>
        </p:txBody>
      </p:sp>
      <p:sp>
        <p:nvSpPr>
          <p:cNvPr id="40" name="cellule"/>
          <p:cNvSpPr txBox="1"/>
          <p:nvPr/>
        </p:nvSpPr>
        <p:spPr>
          <a:xfrm>
            <a:off x="6537960" y="4471416"/>
            <a:ext cx="1737360" cy="530352"/>
          </a:xfrm>
          <a:prstGeom prst="rect">
            <a:avLst/>
          </a:prstGeom>
          <a:solidFill>
            <a:srgbClr val="FFF0B3"/>
          </a:solidFill>
          <a:ln/>
        </p:spPr>
        <p:txBody>
          <a:bodyPr wrap="square" lIns="25400" tIns="25400" rIns="25400" bIns="25400" rtlCol="0" anchor="ctr"/>
          <a:lstStyle/>
          <a:p>
            <a:pPr algn="ctr" indent="0" marL="0">
              <a:buNone/>
            </a:pPr>
            <a:r>
              <a:rPr lang="en-US" sz="1350" b="1" dirty="0">
                <a:solidFill>
                  <a:srgbClr val="14183D"/>
                </a:solidFill>
                <a:latin typeface="Montserrat" pitchFamily="34" charset="0"/>
                <a:ea typeface="Montserrat" pitchFamily="34" charset="-122"/>
                <a:cs typeface="Montserrat" pitchFamily="34" charset="-120"/>
              </a:rPr>
              <a:t>7,1</a:t>
            </a:r>
            <a:endParaRPr lang="en-US" sz="1350" dirty="0"/>
          </a:p>
        </p:txBody>
      </p:sp>
      <p:sp>
        <p:nvSpPr>
          <p:cNvPr id="41" name="cellule"/>
          <p:cNvSpPr txBox="1"/>
          <p:nvPr/>
        </p:nvSpPr>
        <p:spPr>
          <a:xfrm>
            <a:off x="8275320" y="4471416"/>
            <a:ext cx="1719072"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246</a:t>
            </a:r>
            <a:endParaRPr lang="en-US" sz="1350" dirty="0"/>
          </a:p>
        </p:txBody>
      </p:sp>
      <p:sp>
        <p:nvSpPr>
          <p:cNvPr id="42" name="cellule"/>
          <p:cNvSpPr txBox="1"/>
          <p:nvPr/>
        </p:nvSpPr>
        <p:spPr>
          <a:xfrm>
            <a:off x="9994392" y="4471416"/>
            <a:ext cx="1645920" cy="530352"/>
          </a:xfrm>
          <a:prstGeom prst="rect">
            <a:avLst/>
          </a:prstGeom>
          <a:solidFill>
            <a:srgbClr val="FFFFFF"/>
          </a:solidFill>
          <a:ln/>
        </p:spPr>
        <p:txBody>
          <a:bodyPr wrap="square" lIns="25400" tIns="25400" rIns="25400" bIns="25400" rtlCol="0" anchor="ctr"/>
          <a:lstStyle/>
          <a:p>
            <a:pPr algn="ctr" indent="0" marL="0">
              <a:buNone/>
            </a:pPr>
            <a:r>
              <a:rPr lang="en-US" sz="1350" dirty="0">
                <a:solidFill>
                  <a:srgbClr val="14183D"/>
                </a:solidFill>
                <a:latin typeface="Montserrat" pitchFamily="34" charset="0"/>
                <a:ea typeface="Montserrat" pitchFamily="34" charset="-122"/>
                <a:cs typeface="Montserrat" pitchFamily="34" charset="-120"/>
              </a:rPr>
              <a:t>632 ± 117</a:t>
            </a:r>
            <a:endParaRPr lang="en-US" sz="1350" dirty="0"/>
          </a:p>
        </p:txBody>
      </p:sp>
      <p:sp>
        <p:nvSpPr>
          <p:cNvPr id="43" name="carte"/>
          <p:cNvSpPr/>
          <p:nvPr/>
        </p:nvSpPr>
        <p:spPr>
          <a:xfrm>
            <a:off x="548640" y="5166360"/>
            <a:ext cx="11091672" cy="1097280"/>
          </a:xfrm>
          <a:prstGeom prst="roundRect">
            <a:avLst>
              <a:gd name="adj" fmla="val 6667"/>
            </a:avLst>
          </a:prstGeom>
          <a:solidFill>
            <a:srgbClr val="FFF4C2"/>
          </a:solidFill>
          <a:ln/>
          <a:effectLst>
            <a:outerShdw sx="100000" sy="100000" kx="0" ky="0" algn="bl" rotWithShape="0" blurRad="101600" dist="25400" dir="5400000">
              <a:srgbClr val="0B1F44">
                <a:alpha val="22000"/>
              </a:srgbClr>
            </a:outerShdw>
          </a:effectLst>
        </p:spPr>
      </p:sp>
      <p:sp>
        <p:nvSpPr>
          <p:cNvPr id="44" name="Text 42"/>
          <p:cNvSpPr txBox="1"/>
          <p:nvPr/>
        </p:nvSpPr>
        <p:spPr>
          <a:xfrm>
            <a:off x="777240" y="5212080"/>
            <a:ext cx="10698480" cy="1005840"/>
          </a:xfrm>
          <a:prstGeom prst="rect">
            <a:avLst/>
          </a:prstGeom>
          <a:noFill/>
          <a:ln/>
        </p:spPr>
        <p:txBody>
          <a:bodyPr wrap="square" lIns="0" tIns="0" rIns="0" bIns="0" rtlCol="0" anchor="ctr"/>
          <a:lstStyle/>
          <a:p>
            <a:pPr indent="0" marL="0">
              <a:buNone/>
            </a:pPr>
            <a:r>
              <a:rPr lang="en-US" sz="1350" dirty="0">
                <a:solidFill>
                  <a:srgbClr val="14183D"/>
                </a:solidFill>
                <a:latin typeface="Montserrat" pitchFamily="34" charset="0"/>
                <a:ea typeface="Montserrat" pitchFamily="34" charset="-122"/>
                <a:cs typeface="Montserrat" pitchFamily="34" charset="-120"/>
              </a:rPr>
              <a:t>Article : 3,3 à 3,8 ennemis par partie pour les tableaux, 1,4 pour DQN. Nos agents en écrasent 2 à 4 fois plus : l'article ne précise pas les règles des ennemis (activation, rebond, chute), nos choix les rendent sans doute plus faciles à écraser.</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ANNEXE B</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Les réglages</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25</a:t>
            </a:r>
            <a:endParaRPr lang="en-US" sz="1100" dirty="0"/>
          </a:p>
        </p:txBody>
      </p:sp>
      <p:sp>
        <p:nvSpPr>
          <p:cNvPr id="6" name="tableau_fond"/>
          <p:cNvSpPr/>
          <p:nvPr/>
        </p:nvSpPr>
        <p:spPr>
          <a:xfrm>
            <a:off x="548640" y="1783080"/>
            <a:ext cx="11091672" cy="4572000"/>
          </a:xfrm>
          <a:prstGeom prst="rect">
            <a:avLst/>
          </a:prstGeom>
          <a:solidFill>
            <a:srgbClr val="FFFFFF"/>
          </a:solidFill>
          <a:ln/>
          <a:effectLst>
            <a:outerShdw sx="100000" sy="100000" kx="0" ky="0" algn="bl" rotWithShape="0" blurRad="101600" dist="25400" dir="5400000">
              <a:srgbClr val="0B1F44">
                <a:alpha val="22000"/>
              </a:srgbClr>
            </a:outerShdw>
          </a:effectLst>
        </p:spPr>
      </p:sp>
      <p:sp>
        <p:nvSpPr>
          <p:cNvPr id="7" name="entete"/>
          <p:cNvSpPr txBox="1"/>
          <p:nvPr/>
        </p:nvSpPr>
        <p:spPr>
          <a:xfrm>
            <a:off x="548640" y="1783080"/>
            <a:ext cx="2743200" cy="457200"/>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Réglage</a:t>
            </a:r>
            <a:endParaRPr lang="en-US" sz="1200" dirty="0"/>
          </a:p>
        </p:txBody>
      </p:sp>
      <p:sp>
        <p:nvSpPr>
          <p:cNvPr id="8" name="entete"/>
          <p:cNvSpPr txBox="1"/>
          <p:nvPr/>
        </p:nvSpPr>
        <p:spPr>
          <a:xfrm>
            <a:off x="3291840" y="1783080"/>
            <a:ext cx="4023360" cy="457200"/>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Article (et nos tableaux)</a:t>
            </a:r>
            <a:endParaRPr lang="en-US" sz="1200" dirty="0"/>
          </a:p>
        </p:txBody>
      </p:sp>
      <p:sp>
        <p:nvSpPr>
          <p:cNvPr id="9" name="entete"/>
          <p:cNvSpPr txBox="1"/>
          <p:nvPr/>
        </p:nvSpPr>
        <p:spPr>
          <a:xfrm>
            <a:off x="7315200" y="1783080"/>
            <a:ext cx="4325112" cy="457200"/>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Notre DQN (étape 4)</a:t>
            </a:r>
            <a:endParaRPr lang="en-US" sz="1200" dirty="0"/>
          </a:p>
        </p:txBody>
      </p:sp>
      <p:sp>
        <p:nvSpPr>
          <p:cNvPr id="10" name="cellule"/>
          <p:cNvSpPr txBox="1"/>
          <p:nvPr/>
        </p:nvSpPr>
        <p:spPr>
          <a:xfrm>
            <a:off x="548640" y="2240280"/>
            <a:ext cx="2743200" cy="45720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Épisodes</a:t>
            </a:r>
            <a:endParaRPr lang="en-US" sz="1300" dirty="0"/>
          </a:p>
        </p:txBody>
      </p:sp>
      <p:sp>
        <p:nvSpPr>
          <p:cNvPr id="11" name="cellule"/>
          <p:cNvSpPr txBox="1"/>
          <p:nvPr/>
        </p:nvSpPr>
        <p:spPr>
          <a:xfrm>
            <a:off x="3291840" y="2240280"/>
            <a:ext cx="4023360"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10 000 (nous : 6000 pour tous)</a:t>
            </a:r>
            <a:endParaRPr lang="en-US" sz="1300" dirty="0"/>
          </a:p>
        </p:txBody>
      </p:sp>
      <p:sp>
        <p:nvSpPr>
          <p:cNvPr id="12" name="cellule"/>
          <p:cNvSpPr txBox="1"/>
          <p:nvPr/>
        </p:nvSpPr>
        <p:spPr>
          <a:xfrm>
            <a:off x="7315200" y="2240280"/>
            <a:ext cx="4325112"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6000</a:t>
            </a:r>
            <a:endParaRPr lang="en-US" sz="1300" dirty="0"/>
          </a:p>
        </p:txBody>
      </p:sp>
      <p:sp>
        <p:nvSpPr>
          <p:cNvPr id="13" name="cellule"/>
          <p:cNvSpPr txBox="1"/>
          <p:nvPr/>
        </p:nvSpPr>
        <p:spPr>
          <a:xfrm>
            <a:off x="548640" y="2697480"/>
            <a:ext cx="2743200" cy="45720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Graines</a:t>
            </a:r>
            <a:endParaRPr lang="en-US" sz="1300" dirty="0"/>
          </a:p>
        </p:txBody>
      </p:sp>
      <p:sp>
        <p:nvSpPr>
          <p:cNvPr id="14" name="cellule"/>
          <p:cNvSpPr txBox="1"/>
          <p:nvPr/>
        </p:nvSpPr>
        <p:spPr>
          <a:xfrm>
            <a:off x="3291840" y="2697480"/>
            <a:ext cx="4023360" cy="45720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5 (42 à 46)</a:t>
            </a:r>
            <a:endParaRPr lang="en-US" sz="1300" dirty="0"/>
          </a:p>
        </p:txBody>
      </p:sp>
      <p:sp>
        <p:nvSpPr>
          <p:cNvPr id="15" name="cellule"/>
          <p:cNvSpPr txBox="1"/>
          <p:nvPr/>
        </p:nvSpPr>
        <p:spPr>
          <a:xfrm>
            <a:off x="7315200" y="2697480"/>
            <a:ext cx="4325112" cy="45720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5 (42 à 46)</a:t>
            </a:r>
            <a:endParaRPr lang="en-US" sz="1300" dirty="0"/>
          </a:p>
        </p:txBody>
      </p:sp>
      <p:sp>
        <p:nvSpPr>
          <p:cNvPr id="16" name="cellule"/>
          <p:cNvSpPr txBox="1"/>
          <p:nvPr/>
        </p:nvSpPr>
        <p:spPr>
          <a:xfrm>
            <a:off x="548640" y="3154680"/>
            <a:ext cx="2743200" cy="45720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Exploration ε</a:t>
            </a:r>
            <a:endParaRPr lang="en-US" sz="1300" dirty="0"/>
          </a:p>
        </p:txBody>
      </p:sp>
      <p:sp>
        <p:nvSpPr>
          <p:cNvPr id="17" name="cellule"/>
          <p:cNvSpPr txBox="1"/>
          <p:nvPr/>
        </p:nvSpPr>
        <p:spPr>
          <a:xfrm>
            <a:off x="3291840" y="3154680"/>
            <a:ext cx="4023360"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1 → ×0,999 par épisode → 0,01 (DQN : 0,05)</a:t>
            </a:r>
            <a:endParaRPr lang="en-US" sz="1300" dirty="0"/>
          </a:p>
        </p:txBody>
      </p:sp>
      <p:sp>
        <p:nvSpPr>
          <p:cNvPr id="18" name="cellule"/>
          <p:cNvSpPr txBox="1"/>
          <p:nvPr/>
        </p:nvSpPr>
        <p:spPr>
          <a:xfrm>
            <a:off x="7315200" y="3154680"/>
            <a:ext cx="4325112"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 plancher 0,02</a:t>
            </a:r>
            <a:endParaRPr lang="en-US" sz="1300" dirty="0"/>
          </a:p>
        </p:txBody>
      </p:sp>
      <p:sp>
        <p:nvSpPr>
          <p:cNvPr id="19" name="cellule"/>
          <p:cNvSpPr txBox="1"/>
          <p:nvPr/>
        </p:nvSpPr>
        <p:spPr>
          <a:xfrm>
            <a:off x="548640" y="3611880"/>
            <a:ext cx="2743200" cy="45720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γ (actualisation)</a:t>
            </a:r>
            <a:endParaRPr lang="en-US" sz="1300" dirty="0"/>
          </a:p>
        </p:txBody>
      </p:sp>
      <p:sp>
        <p:nvSpPr>
          <p:cNvPr id="20" name="cellule"/>
          <p:cNvSpPr txBox="1"/>
          <p:nvPr/>
        </p:nvSpPr>
        <p:spPr>
          <a:xfrm>
            <a:off x="3291840" y="3611880"/>
            <a:ext cx="4023360" cy="45720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0,99</a:t>
            </a:r>
            <a:endParaRPr lang="en-US" sz="1300" dirty="0"/>
          </a:p>
        </p:txBody>
      </p:sp>
      <p:sp>
        <p:nvSpPr>
          <p:cNvPr id="21" name="cellule"/>
          <p:cNvSpPr txBox="1"/>
          <p:nvPr/>
        </p:nvSpPr>
        <p:spPr>
          <a:xfrm>
            <a:off x="7315200" y="3611880"/>
            <a:ext cx="4325112" cy="45720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0,99</a:t>
            </a:r>
            <a:endParaRPr lang="en-US" sz="1300" dirty="0"/>
          </a:p>
        </p:txBody>
      </p:sp>
      <p:sp>
        <p:nvSpPr>
          <p:cNvPr id="22" name="cellule"/>
          <p:cNvSpPr txBox="1"/>
          <p:nvPr/>
        </p:nvSpPr>
        <p:spPr>
          <a:xfrm>
            <a:off x="548640" y="4069080"/>
            <a:ext cx="2743200" cy="45720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α (tableaux)</a:t>
            </a:r>
            <a:endParaRPr lang="en-US" sz="1300" dirty="0"/>
          </a:p>
        </p:txBody>
      </p:sp>
      <p:sp>
        <p:nvSpPr>
          <p:cNvPr id="23" name="cellule"/>
          <p:cNvSpPr txBox="1"/>
          <p:nvPr/>
        </p:nvSpPr>
        <p:spPr>
          <a:xfrm>
            <a:off x="3291840" y="4069080"/>
            <a:ext cx="4023360"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0,1</a:t>
            </a:r>
            <a:endParaRPr lang="en-US" sz="1300" dirty="0"/>
          </a:p>
        </p:txBody>
      </p:sp>
      <p:sp>
        <p:nvSpPr>
          <p:cNvPr id="24" name="cellule"/>
          <p:cNvSpPr txBox="1"/>
          <p:nvPr/>
        </p:nvSpPr>
        <p:spPr>
          <a:xfrm>
            <a:off x="7315200" y="4069080"/>
            <a:ext cx="4325112"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a:t>
            </a:r>
            <a:endParaRPr lang="en-US" sz="1300" dirty="0"/>
          </a:p>
        </p:txBody>
      </p:sp>
      <p:sp>
        <p:nvSpPr>
          <p:cNvPr id="25" name="cellule"/>
          <p:cNvSpPr txBox="1"/>
          <p:nvPr/>
        </p:nvSpPr>
        <p:spPr>
          <a:xfrm>
            <a:off x="548640" y="4526280"/>
            <a:ext cx="2743200" cy="45720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Ce que voit l'IA</a:t>
            </a:r>
            <a:endParaRPr lang="en-US" sz="1300" dirty="0"/>
          </a:p>
        </p:txBody>
      </p:sp>
      <p:sp>
        <p:nvSpPr>
          <p:cNvPr id="26" name="cellule"/>
          <p:cNvSpPr txBox="1"/>
          <p:nvPr/>
        </p:nvSpPr>
        <p:spPr>
          <a:xfrm>
            <a:off x="3291840" y="4526280"/>
            <a:ext cx="4023360" cy="45720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115 nombres (case + 4 lignes)</a:t>
            </a:r>
            <a:endParaRPr lang="en-US" sz="1300" dirty="0"/>
          </a:p>
        </p:txBody>
      </p:sp>
      <p:sp>
        <p:nvSpPr>
          <p:cNvPr id="27" name="cellule"/>
          <p:cNvSpPr txBox="1"/>
          <p:nvPr/>
        </p:nvSpPr>
        <p:spPr>
          <a:xfrm>
            <a:off x="7315200" y="4526280"/>
            <a:ext cx="4325112" cy="45720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vue complète 14 × 28 en 6 calques</a:t>
            </a:r>
            <a:endParaRPr lang="en-US" sz="1300" dirty="0"/>
          </a:p>
        </p:txBody>
      </p:sp>
      <p:sp>
        <p:nvSpPr>
          <p:cNvPr id="28" name="cellule"/>
          <p:cNvSpPr txBox="1"/>
          <p:nvPr/>
        </p:nvSpPr>
        <p:spPr>
          <a:xfrm>
            <a:off x="548640" y="4983480"/>
            <a:ext cx="2743200" cy="45720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Réseau DQN</a:t>
            </a:r>
            <a:endParaRPr lang="en-US" sz="1300" dirty="0"/>
          </a:p>
        </p:txBody>
      </p:sp>
      <p:sp>
        <p:nvSpPr>
          <p:cNvPr id="29" name="cellule"/>
          <p:cNvSpPr txBox="1"/>
          <p:nvPr/>
        </p:nvSpPr>
        <p:spPr>
          <a:xfrm>
            <a:off x="3291840" y="4983480"/>
            <a:ext cx="4023360"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115 → 128 → 128 → 3</a:t>
            </a:r>
            <a:endParaRPr lang="en-US" sz="1300" dirty="0"/>
          </a:p>
        </p:txBody>
      </p:sp>
      <p:sp>
        <p:nvSpPr>
          <p:cNvPr id="30" name="cellule"/>
          <p:cNvSpPr txBox="1"/>
          <p:nvPr/>
        </p:nvSpPr>
        <p:spPr>
          <a:xfrm>
            <a:off x="7315200" y="4983480"/>
            <a:ext cx="4325112"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~2 400 → 128 → 128 → 3 (319 363 poids)</a:t>
            </a:r>
            <a:endParaRPr lang="en-US" sz="1300" dirty="0"/>
          </a:p>
        </p:txBody>
      </p:sp>
      <p:sp>
        <p:nvSpPr>
          <p:cNvPr id="31" name="cellule"/>
          <p:cNvSpPr txBox="1"/>
          <p:nvPr/>
        </p:nvSpPr>
        <p:spPr>
          <a:xfrm>
            <a:off x="548640" y="5440680"/>
            <a:ext cx="2743200" cy="45720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Mémoire de rejeu</a:t>
            </a:r>
            <a:endParaRPr lang="en-US" sz="1300" dirty="0"/>
          </a:p>
        </p:txBody>
      </p:sp>
      <p:sp>
        <p:nvSpPr>
          <p:cNvPr id="32" name="cellule"/>
          <p:cNvSpPr txBox="1"/>
          <p:nvPr/>
        </p:nvSpPr>
        <p:spPr>
          <a:xfrm>
            <a:off x="3291840" y="5440680"/>
            <a:ext cx="4023360" cy="45720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50 000 coups, paquets de 64</a:t>
            </a:r>
            <a:endParaRPr lang="en-US" sz="1300" dirty="0"/>
          </a:p>
        </p:txBody>
      </p:sp>
      <p:sp>
        <p:nvSpPr>
          <p:cNvPr id="33" name="cellule"/>
          <p:cNvSpPr txBox="1"/>
          <p:nvPr/>
        </p:nvSpPr>
        <p:spPr>
          <a:xfrm>
            <a:off x="7315200" y="5440680"/>
            <a:ext cx="4325112" cy="45720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100 000 coups, paquets de 64</a:t>
            </a:r>
            <a:endParaRPr lang="en-US" sz="1300" dirty="0"/>
          </a:p>
        </p:txBody>
      </p:sp>
      <p:sp>
        <p:nvSpPr>
          <p:cNvPr id="34" name="cellule"/>
          <p:cNvSpPr txBox="1"/>
          <p:nvPr/>
        </p:nvSpPr>
        <p:spPr>
          <a:xfrm>
            <a:off x="548640" y="5897880"/>
            <a:ext cx="2743200" cy="45720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Apprentissage</a:t>
            </a:r>
            <a:endParaRPr lang="en-US" sz="1300" dirty="0"/>
          </a:p>
        </p:txBody>
      </p:sp>
      <p:sp>
        <p:nvSpPr>
          <p:cNvPr id="35" name="cellule"/>
          <p:cNvSpPr txBox="1"/>
          <p:nvPr/>
        </p:nvSpPr>
        <p:spPr>
          <a:xfrm>
            <a:off x="3291840" y="5897880"/>
            <a:ext cx="4023360"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lr 0,0001, cible copiée tous les 500 pas</a:t>
            </a:r>
            <a:endParaRPr lang="en-US" sz="1300" dirty="0"/>
          </a:p>
        </p:txBody>
      </p:sp>
      <p:sp>
        <p:nvSpPr>
          <p:cNvPr id="36" name="cellule"/>
          <p:cNvSpPr txBox="1"/>
          <p:nvPr/>
        </p:nvSpPr>
        <p:spPr>
          <a:xfrm>
            <a:off x="7315200" y="5897880"/>
            <a:ext cx="4325112" cy="45720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idem, corrections limitées, meilleure version</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ANNEXE C</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Ce que voit le DQN de l'article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26</a:t>
            </a:r>
            <a:endParaRPr lang="en-US" sz="1100" dirty="0"/>
          </a:p>
        </p:txBody>
      </p:sp>
      <p:sp>
        <p:nvSpPr>
          <p:cNvPr id="6" name="carte"/>
          <p:cNvSpPr/>
          <p:nvPr/>
        </p:nvSpPr>
        <p:spPr>
          <a:xfrm>
            <a:off x="2575408" y="1709928"/>
            <a:ext cx="7040880" cy="4718304"/>
          </a:xfrm>
          <a:prstGeom prst="roundRect">
            <a:avLst>
              <a:gd name="adj" fmla="val 1550"/>
            </a:avLst>
          </a:prstGeom>
          <a:solidFill>
            <a:srgbClr val="FFFFFF"/>
          </a:solidFill>
          <a:ln/>
          <a:effectLst>
            <a:outerShdw sx="100000" sy="100000" kx="0" ky="0" algn="bl" rotWithShape="0" blurRad="101600" dist="25400" dir="5400000">
              <a:srgbClr val="0B1F44">
                <a:alpha val="22000"/>
              </a:srgbClr>
            </a:outerShdw>
          </a:effectLst>
        </p:spPr>
      </p:sp>
      <p:pic>
        <p:nvPicPr>
          <p:cNvPr id="7" name="observation_v3" descr="/home/user/MarioRL_FinalWork/docs/oral/fabrication/assets/observation_v3.png">    </p:cNvPr>
          <p:cNvPicPr>
            <a:picLocks noChangeAspect="1"/>
          </p:cNvPicPr>
          <p:nvPr/>
        </p:nvPicPr>
        <p:blipFill>
          <a:blip r:embed="rId1"/>
          <a:stretch>
            <a:fillRect/>
          </a:stretch>
        </p:blipFill>
        <p:spPr>
          <a:xfrm>
            <a:off x="2666848" y="1783080"/>
            <a:ext cx="6858000" cy="4572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ANNEXE D</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Notre DQN, étape par étape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27</a:t>
            </a:r>
            <a:endParaRPr lang="en-US" sz="1100" dirty="0"/>
          </a:p>
        </p:txBody>
      </p:sp>
      <p:sp>
        <p:nvSpPr>
          <p:cNvPr id="6" name="tableau_fond"/>
          <p:cNvSpPr/>
          <p:nvPr/>
        </p:nvSpPr>
        <p:spPr>
          <a:xfrm>
            <a:off x="548640" y="1783080"/>
            <a:ext cx="11091672" cy="3310128"/>
          </a:xfrm>
          <a:prstGeom prst="rect">
            <a:avLst/>
          </a:prstGeom>
          <a:solidFill>
            <a:srgbClr val="FFFFFF"/>
          </a:solidFill>
          <a:ln/>
          <a:effectLst>
            <a:outerShdw sx="100000" sy="100000" kx="0" ky="0" algn="bl" rotWithShape="0" blurRad="101600" dist="25400" dir="5400000">
              <a:srgbClr val="0B1F44">
                <a:alpha val="22000"/>
              </a:srgbClr>
            </a:outerShdw>
          </a:effectLst>
        </p:spPr>
      </p:sp>
      <p:sp>
        <p:nvSpPr>
          <p:cNvPr id="7" name="entete"/>
          <p:cNvSpPr txBox="1"/>
          <p:nvPr/>
        </p:nvSpPr>
        <p:spPr>
          <a:xfrm>
            <a:off x="548640" y="1783080"/>
            <a:ext cx="731520" cy="566928"/>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Étape</a:t>
            </a:r>
            <a:endParaRPr lang="en-US" sz="1200" dirty="0"/>
          </a:p>
        </p:txBody>
      </p:sp>
      <p:sp>
        <p:nvSpPr>
          <p:cNvPr id="8" name="entete"/>
          <p:cNvSpPr txBox="1"/>
          <p:nvPr/>
        </p:nvSpPr>
        <p:spPr>
          <a:xfrm>
            <a:off x="1280160" y="1783080"/>
            <a:ext cx="4754880" cy="566928"/>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Changement</a:t>
            </a:r>
            <a:endParaRPr lang="en-US" sz="1200" dirty="0"/>
          </a:p>
        </p:txBody>
      </p:sp>
      <p:sp>
        <p:nvSpPr>
          <p:cNvPr id="9" name="entete"/>
          <p:cNvSpPr txBox="1"/>
          <p:nvPr/>
        </p:nvSpPr>
        <p:spPr>
          <a:xfrm>
            <a:off x="6035040" y="1783080"/>
            <a:ext cx="1463040"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Victoires</a:t>
            </a:r>
            <a:endParaRPr lang="en-US" sz="1200" dirty="0"/>
          </a:p>
        </p:txBody>
      </p:sp>
      <p:sp>
        <p:nvSpPr>
          <p:cNvPr id="10" name="entete"/>
          <p:cNvSpPr txBox="1"/>
          <p:nvPr/>
        </p:nvSpPr>
        <p:spPr>
          <a:xfrm>
            <a:off x="7498080" y="1783080"/>
            <a:ext cx="1600200"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Robustesse</a:t>
            </a:r>
            <a:endParaRPr lang="en-US" sz="1200" dirty="0"/>
          </a:p>
          <a:p>
            <a:pPr algn="ctr" indent="0" marL="0">
              <a:buNone/>
            </a:pPr>
            <a:r>
              <a:rPr lang="en-US" sz="1200" b="1" dirty="0">
                <a:solidFill>
                  <a:srgbClr val="FFFFFF"/>
                </a:solidFill>
                <a:latin typeface="Montserrat" pitchFamily="34" charset="0"/>
                <a:ea typeface="Montserrat" pitchFamily="34" charset="-122"/>
                <a:cs typeface="Montserrat" pitchFamily="34" charset="-120"/>
              </a:rPr>
              <a:t>(42 / 43)</a:t>
            </a:r>
            <a:endParaRPr lang="en-US" sz="1200" dirty="0"/>
          </a:p>
        </p:txBody>
      </p:sp>
      <p:sp>
        <p:nvSpPr>
          <p:cNvPr id="11" name="entete"/>
          <p:cNvSpPr txBox="1"/>
          <p:nvPr/>
        </p:nvSpPr>
        <p:spPr>
          <a:xfrm>
            <a:off x="9098280" y="1783080"/>
            <a:ext cx="1234440"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Parties</a:t>
            </a:r>
            <a:endParaRPr lang="en-US" sz="1200" dirty="0"/>
          </a:p>
          <a:p>
            <a:pPr algn="ctr" indent="0" marL="0">
              <a:buNone/>
            </a:pPr>
            <a:r>
              <a:rPr lang="en-US" sz="1200" b="1" dirty="0">
                <a:solidFill>
                  <a:srgbClr val="FFFFFF"/>
                </a:solidFill>
                <a:latin typeface="Montserrat" pitchFamily="34" charset="0"/>
                <a:ea typeface="Montserrat" pitchFamily="34" charset="-122"/>
                <a:cs typeface="Montserrat" pitchFamily="34" charset="-120"/>
              </a:rPr>
              <a:t>pour 50 %</a:t>
            </a:r>
            <a:endParaRPr lang="en-US" sz="1200" dirty="0"/>
          </a:p>
        </p:txBody>
      </p:sp>
      <p:sp>
        <p:nvSpPr>
          <p:cNvPr id="12" name="entete"/>
          <p:cNvSpPr txBox="1"/>
          <p:nvPr/>
        </p:nvSpPr>
        <p:spPr>
          <a:xfrm>
            <a:off x="10332720" y="1783080"/>
            <a:ext cx="1307592" cy="566928"/>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Parties</a:t>
            </a:r>
            <a:endParaRPr lang="en-US" sz="1200" dirty="0"/>
          </a:p>
          <a:p>
            <a:pPr algn="ctr" indent="0" marL="0">
              <a:buNone/>
            </a:pPr>
            <a:r>
              <a:rPr lang="en-US" sz="1200" b="1" dirty="0">
                <a:solidFill>
                  <a:srgbClr val="FFFFFF"/>
                </a:solidFill>
                <a:latin typeface="Montserrat" pitchFamily="34" charset="0"/>
                <a:ea typeface="Montserrat" pitchFamily="34" charset="-122"/>
                <a:cs typeface="Montserrat" pitchFamily="34" charset="-120"/>
              </a:rPr>
              <a:t>pour 80 %</a:t>
            </a:r>
            <a:endParaRPr lang="en-US" sz="1200" dirty="0"/>
          </a:p>
        </p:txBody>
      </p:sp>
      <p:sp>
        <p:nvSpPr>
          <p:cNvPr id="13" name="cellule"/>
          <p:cNvSpPr txBox="1"/>
          <p:nvPr/>
        </p:nvSpPr>
        <p:spPr>
          <a:xfrm>
            <a:off x="548640" y="2350008"/>
            <a:ext cx="731520" cy="54864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0</a:t>
            </a:r>
            <a:endParaRPr lang="en-US" sz="1300" dirty="0"/>
          </a:p>
        </p:txBody>
      </p:sp>
      <p:sp>
        <p:nvSpPr>
          <p:cNvPr id="14" name="cellule"/>
          <p:cNvSpPr txBox="1"/>
          <p:nvPr/>
        </p:nvSpPr>
        <p:spPr>
          <a:xfrm>
            <a:off x="1280160" y="2350008"/>
            <a:ext cx="4754880" cy="54864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DQN de l'article (sa vue)</a:t>
            </a:r>
            <a:endParaRPr lang="en-US" sz="1300" dirty="0"/>
          </a:p>
        </p:txBody>
      </p:sp>
      <p:sp>
        <p:nvSpPr>
          <p:cNvPr id="15" name="cellule"/>
          <p:cNvSpPr txBox="1"/>
          <p:nvPr/>
        </p:nvSpPr>
        <p:spPr>
          <a:xfrm>
            <a:off x="6035040" y="2350008"/>
            <a:ext cx="1463040"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44,2 ± 6,8 %</a:t>
            </a:r>
            <a:endParaRPr lang="en-US" sz="1300" dirty="0"/>
          </a:p>
        </p:txBody>
      </p:sp>
      <p:sp>
        <p:nvSpPr>
          <p:cNvPr id="16" name="cellule"/>
          <p:cNvSpPr txBox="1"/>
          <p:nvPr/>
        </p:nvSpPr>
        <p:spPr>
          <a:xfrm>
            <a:off x="7498080" y="2350008"/>
            <a:ext cx="1600200"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62 / 74 %</a:t>
            </a:r>
            <a:endParaRPr lang="en-US" sz="1300" dirty="0"/>
          </a:p>
        </p:txBody>
      </p:sp>
      <p:sp>
        <p:nvSpPr>
          <p:cNvPr id="17" name="cellule"/>
          <p:cNvSpPr txBox="1"/>
          <p:nvPr/>
        </p:nvSpPr>
        <p:spPr>
          <a:xfrm>
            <a:off x="9098280" y="2350008"/>
            <a:ext cx="1234440"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5047</a:t>
            </a:r>
            <a:endParaRPr lang="en-US" sz="1300" dirty="0"/>
          </a:p>
        </p:txBody>
      </p:sp>
      <p:sp>
        <p:nvSpPr>
          <p:cNvPr id="18" name="cellule"/>
          <p:cNvSpPr txBox="1"/>
          <p:nvPr/>
        </p:nvSpPr>
        <p:spPr>
          <a:xfrm>
            <a:off x="10332720" y="2350008"/>
            <a:ext cx="1307592"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jamais</a:t>
            </a:r>
            <a:endParaRPr lang="en-US" sz="1300" dirty="0"/>
          </a:p>
        </p:txBody>
      </p:sp>
      <p:sp>
        <p:nvSpPr>
          <p:cNvPr id="19" name="cellule"/>
          <p:cNvSpPr txBox="1"/>
          <p:nvPr/>
        </p:nvSpPr>
        <p:spPr>
          <a:xfrm>
            <a:off x="548640" y="2898648"/>
            <a:ext cx="731520" cy="54864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1</a:t>
            </a:r>
            <a:endParaRPr lang="en-US" sz="1300" dirty="0"/>
          </a:p>
        </p:txBody>
      </p:sp>
      <p:sp>
        <p:nvSpPr>
          <p:cNvPr id="20" name="cellule"/>
          <p:cNvSpPr txBox="1"/>
          <p:nvPr/>
        </p:nvSpPr>
        <p:spPr>
          <a:xfrm>
            <a:off x="1280160" y="2898648"/>
            <a:ext cx="4754880" cy="54864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 vue complète (14 × 28 cases, 6 calques)</a:t>
            </a:r>
            <a:endParaRPr lang="en-US" sz="1300" dirty="0"/>
          </a:p>
        </p:txBody>
      </p:sp>
      <p:sp>
        <p:nvSpPr>
          <p:cNvPr id="21" name="cellule"/>
          <p:cNvSpPr txBox="1"/>
          <p:nvPr/>
        </p:nvSpPr>
        <p:spPr>
          <a:xfrm>
            <a:off x="6035040" y="2898648"/>
            <a:ext cx="1463040" cy="54864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81,8 ± 0,0 %</a:t>
            </a:r>
            <a:endParaRPr lang="en-US" sz="1300" dirty="0"/>
          </a:p>
        </p:txBody>
      </p:sp>
      <p:sp>
        <p:nvSpPr>
          <p:cNvPr id="22" name="cellule"/>
          <p:cNvSpPr txBox="1"/>
          <p:nvPr/>
        </p:nvSpPr>
        <p:spPr>
          <a:xfrm>
            <a:off x="7498080" y="2898648"/>
            <a:ext cx="1600200" cy="54864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96 / 78 %</a:t>
            </a:r>
            <a:endParaRPr lang="en-US" sz="1300" dirty="0"/>
          </a:p>
        </p:txBody>
      </p:sp>
      <p:sp>
        <p:nvSpPr>
          <p:cNvPr id="23" name="cellule"/>
          <p:cNvSpPr txBox="1"/>
          <p:nvPr/>
        </p:nvSpPr>
        <p:spPr>
          <a:xfrm>
            <a:off x="9098280" y="2898648"/>
            <a:ext cx="1234440" cy="54864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1999</a:t>
            </a:r>
            <a:endParaRPr lang="en-US" sz="1300" dirty="0"/>
          </a:p>
        </p:txBody>
      </p:sp>
      <p:sp>
        <p:nvSpPr>
          <p:cNvPr id="24" name="cellule"/>
          <p:cNvSpPr txBox="1"/>
          <p:nvPr/>
        </p:nvSpPr>
        <p:spPr>
          <a:xfrm>
            <a:off x="10332720" y="2898648"/>
            <a:ext cx="1307592" cy="54864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2900</a:t>
            </a:r>
            <a:endParaRPr lang="en-US" sz="1300" dirty="0"/>
          </a:p>
        </p:txBody>
      </p:sp>
      <p:sp>
        <p:nvSpPr>
          <p:cNvPr id="25" name="cellule"/>
          <p:cNvSpPr txBox="1"/>
          <p:nvPr/>
        </p:nvSpPr>
        <p:spPr>
          <a:xfrm>
            <a:off x="548640" y="3447288"/>
            <a:ext cx="731520" cy="54864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2</a:t>
            </a:r>
            <a:endParaRPr lang="en-US" sz="1300" dirty="0"/>
          </a:p>
        </p:txBody>
      </p:sp>
      <p:sp>
        <p:nvSpPr>
          <p:cNvPr id="26" name="cellule"/>
          <p:cNvSpPr txBox="1"/>
          <p:nvPr/>
        </p:nvSpPr>
        <p:spPr>
          <a:xfrm>
            <a:off x="1280160" y="3447288"/>
            <a:ext cx="4754880" cy="54864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1 + Double DQN, 3 pas, cible douce, corrections limitées, meilleure version</a:t>
            </a:r>
            <a:endParaRPr lang="en-US" sz="1300" dirty="0"/>
          </a:p>
        </p:txBody>
      </p:sp>
      <p:sp>
        <p:nvSpPr>
          <p:cNvPr id="27" name="cellule"/>
          <p:cNvSpPr txBox="1"/>
          <p:nvPr/>
        </p:nvSpPr>
        <p:spPr>
          <a:xfrm>
            <a:off x="6035040" y="3447288"/>
            <a:ext cx="1463040"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78,2 ± 9,6 %</a:t>
            </a:r>
            <a:endParaRPr lang="en-US" sz="1300" dirty="0"/>
          </a:p>
        </p:txBody>
      </p:sp>
      <p:sp>
        <p:nvSpPr>
          <p:cNvPr id="28" name="cellule"/>
          <p:cNvSpPr txBox="1"/>
          <p:nvPr/>
        </p:nvSpPr>
        <p:spPr>
          <a:xfrm>
            <a:off x="7498080" y="3447288"/>
            <a:ext cx="1600200"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80 / 90 %</a:t>
            </a:r>
            <a:endParaRPr lang="en-US" sz="1300" dirty="0"/>
          </a:p>
        </p:txBody>
      </p:sp>
      <p:sp>
        <p:nvSpPr>
          <p:cNvPr id="29" name="cellule"/>
          <p:cNvSpPr txBox="1"/>
          <p:nvPr/>
        </p:nvSpPr>
        <p:spPr>
          <a:xfrm>
            <a:off x="9098280" y="3447288"/>
            <a:ext cx="1234440"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2730</a:t>
            </a:r>
            <a:endParaRPr lang="en-US" sz="1300" dirty="0"/>
          </a:p>
        </p:txBody>
      </p:sp>
      <p:sp>
        <p:nvSpPr>
          <p:cNvPr id="30" name="cellule"/>
          <p:cNvSpPr txBox="1"/>
          <p:nvPr/>
        </p:nvSpPr>
        <p:spPr>
          <a:xfrm>
            <a:off x="10332720" y="3447288"/>
            <a:ext cx="1307592"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4330</a:t>
            </a:r>
            <a:endParaRPr lang="en-US" sz="1300" dirty="0"/>
          </a:p>
        </p:txBody>
      </p:sp>
      <p:sp>
        <p:nvSpPr>
          <p:cNvPr id="31" name="cellule"/>
          <p:cNvSpPr txBox="1"/>
          <p:nvPr/>
        </p:nvSpPr>
        <p:spPr>
          <a:xfrm>
            <a:off x="548640" y="3995928"/>
            <a:ext cx="731520" cy="54864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3</a:t>
            </a:r>
            <a:endParaRPr lang="en-US" sz="1300" dirty="0"/>
          </a:p>
        </p:txBody>
      </p:sp>
      <p:sp>
        <p:nvSpPr>
          <p:cNvPr id="32" name="cellule"/>
          <p:cNvSpPr txBox="1"/>
          <p:nvPr/>
        </p:nvSpPr>
        <p:spPr>
          <a:xfrm>
            <a:off x="1280160" y="3995928"/>
            <a:ext cx="4754880" cy="548640"/>
          </a:xfrm>
          <a:prstGeom prst="rect">
            <a:avLst/>
          </a:prstGeom>
          <a:solidFill>
            <a:srgbClr val="F2F5FA"/>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1 + réseau convolutif (CNN), carte graphique</a:t>
            </a:r>
            <a:endParaRPr lang="en-US" sz="1300" dirty="0"/>
          </a:p>
        </p:txBody>
      </p:sp>
      <p:sp>
        <p:nvSpPr>
          <p:cNvPr id="33" name="cellule"/>
          <p:cNvSpPr txBox="1"/>
          <p:nvPr/>
        </p:nvSpPr>
        <p:spPr>
          <a:xfrm>
            <a:off x="6035040" y="3995928"/>
            <a:ext cx="1463040" cy="54864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76,6 ± 8,5 %</a:t>
            </a:r>
            <a:endParaRPr lang="en-US" sz="1300" dirty="0"/>
          </a:p>
        </p:txBody>
      </p:sp>
      <p:sp>
        <p:nvSpPr>
          <p:cNvPr id="34" name="cellule"/>
          <p:cNvSpPr txBox="1"/>
          <p:nvPr/>
        </p:nvSpPr>
        <p:spPr>
          <a:xfrm>
            <a:off x="7498080" y="3995928"/>
            <a:ext cx="1600200" cy="54864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 (poids perdus)</a:t>
            </a:r>
            <a:endParaRPr lang="en-US" sz="1300" dirty="0"/>
          </a:p>
        </p:txBody>
      </p:sp>
      <p:sp>
        <p:nvSpPr>
          <p:cNvPr id="35" name="cellule"/>
          <p:cNvSpPr txBox="1"/>
          <p:nvPr/>
        </p:nvSpPr>
        <p:spPr>
          <a:xfrm>
            <a:off x="9098280" y="3995928"/>
            <a:ext cx="1234440" cy="54864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2210</a:t>
            </a:r>
            <a:endParaRPr lang="en-US" sz="1300" dirty="0"/>
          </a:p>
        </p:txBody>
      </p:sp>
      <p:sp>
        <p:nvSpPr>
          <p:cNvPr id="36" name="cellule"/>
          <p:cNvSpPr txBox="1"/>
          <p:nvPr/>
        </p:nvSpPr>
        <p:spPr>
          <a:xfrm>
            <a:off x="10332720" y="3995928"/>
            <a:ext cx="1307592" cy="54864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3351</a:t>
            </a:r>
            <a:endParaRPr lang="en-US" sz="1300" dirty="0"/>
          </a:p>
        </p:txBody>
      </p:sp>
      <p:sp>
        <p:nvSpPr>
          <p:cNvPr id="37" name="cellule"/>
          <p:cNvSpPr txBox="1"/>
          <p:nvPr/>
        </p:nvSpPr>
        <p:spPr>
          <a:xfrm>
            <a:off x="548640" y="4544568"/>
            <a:ext cx="731520" cy="54864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4</a:t>
            </a:r>
            <a:endParaRPr lang="en-US" sz="1300" dirty="0"/>
          </a:p>
        </p:txBody>
      </p:sp>
      <p:sp>
        <p:nvSpPr>
          <p:cNvPr id="38" name="cellule"/>
          <p:cNvSpPr txBox="1"/>
          <p:nvPr/>
        </p:nvSpPr>
        <p:spPr>
          <a:xfrm>
            <a:off x="1280160" y="4544568"/>
            <a:ext cx="4754880" cy="548640"/>
          </a:xfrm>
          <a:prstGeom prst="rect">
            <a:avLst/>
          </a:prstGeom>
          <a:solidFill>
            <a:srgbClr val="FFFFFF"/>
          </a:solidFill>
          <a:ln/>
        </p:spPr>
        <p:txBody>
          <a:bodyPr wrap="square" lIns="177800" tIns="25400" rIns="76200" bIns="25400" rtlCol="0" anchor="ctr"/>
          <a:lstStyle/>
          <a:p>
            <a:pPr algn="l" indent="0" marL="0">
              <a:buNone/>
            </a:pPr>
            <a:r>
              <a:rPr lang="en-US" sz="1300" dirty="0">
                <a:solidFill>
                  <a:srgbClr val="14183D"/>
                </a:solidFill>
                <a:latin typeface="Montserrat" pitchFamily="34" charset="0"/>
                <a:ea typeface="Montserrat" pitchFamily="34" charset="-122"/>
                <a:cs typeface="Montserrat" pitchFamily="34" charset="-120"/>
              </a:rPr>
              <a:t>1 + ε plancher 0,02, mémoire 100 000, corrections limitées, meilleure version</a:t>
            </a:r>
            <a:endParaRPr lang="en-US" sz="1300" dirty="0"/>
          </a:p>
        </p:txBody>
      </p:sp>
      <p:sp>
        <p:nvSpPr>
          <p:cNvPr id="39" name="cellule"/>
          <p:cNvSpPr txBox="1"/>
          <p:nvPr/>
        </p:nvSpPr>
        <p:spPr>
          <a:xfrm>
            <a:off x="6035040" y="4544568"/>
            <a:ext cx="1463040" cy="548640"/>
          </a:xfrm>
          <a:prstGeom prst="rect">
            <a:avLst/>
          </a:prstGeom>
          <a:solidFill>
            <a:srgbClr val="FFF0B3"/>
          </a:solidFill>
          <a:ln/>
        </p:spPr>
        <p:txBody>
          <a:bodyPr wrap="square" lIns="25400" tIns="25400" rIns="25400" bIns="25400" rtlCol="0" anchor="ctr"/>
          <a:lstStyle/>
          <a:p>
            <a:pPr algn="ctr" indent="0" marL="0">
              <a:buNone/>
            </a:pPr>
            <a:r>
              <a:rPr lang="en-US" sz="1300" b="1" dirty="0">
                <a:solidFill>
                  <a:srgbClr val="14183D"/>
                </a:solidFill>
                <a:latin typeface="Montserrat" pitchFamily="34" charset="0"/>
                <a:ea typeface="Montserrat" pitchFamily="34" charset="-122"/>
                <a:cs typeface="Montserrat" pitchFamily="34" charset="-120"/>
              </a:rPr>
              <a:t>94,5 ± 1,8 %</a:t>
            </a:r>
            <a:endParaRPr lang="en-US" sz="1300" dirty="0"/>
          </a:p>
        </p:txBody>
      </p:sp>
      <p:sp>
        <p:nvSpPr>
          <p:cNvPr id="40" name="cellule"/>
          <p:cNvSpPr txBox="1"/>
          <p:nvPr/>
        </p:nvSpPr>
        <p:spPr>
          <a:xfrm>
            <a:off x="7498080" y="4544568"/>
            <a:ext cx="1600200" cy="548640"/>
          </a:xfrm>
          <a:prstGeom prst="rect">
            <a:avLst/>
          </a:prstGeom>
          <a:solidFill>
            <a:srgbClr val="FFF0B3"/>
          </a:solidFill>
          <a:ln/>
        </p:spPr>
        <p:txBody>
          <a:bodyPr wrap="square" lIns="25400" tIns="25400" rIns="25400" bIns="25400" rtlCol="0" anchor="ctr"/>
          <a:lstStyle/>
          <a:p>
            <a:pPr algn="ctr" indent="0" marL="0">
              <a:buNone/>
            </a:pPr>
            <a:r>
              <a:rPr lang="en-US" sz="1300" b="1" dirty="0">
                <a:solidFill>
                  <a:srgbClr val="14183D"/>
                </a:solidFill>
                <a:latin typeface="Montserrat" pitchFamily="34" charset="0"/>
                <a:ea typeface="Montserrat" pitchFamily="34" charset="-122"/>
                <a:cs typeface="Montserrat" pitchFamily="34" charset="-120"/>
              </a:rPr>
              <a:t>94 / 94 %</a:t>
            </a:r>
            <a:endParaRPr lang="en-US" sz="1300" dirty="0"/>
          </a:p>
        </p:txBody>
      </p:sp>
      <p:sp>
        <p:nvSpPr>
          <p:cNvPr id="41" name="cellule"/>
          <p:cNvSpPr txBox="1"/>
          <p:nvPr/>
        </p:nvSpPr>
        <p:spPr>
          <a:xfrm>
            <a:off x="9098280" y="4544568"/>
            <a:ext cx="1234440" cy="548640"/>
          </a:xfrm>
          <a:prstGeom prst="rect">
            <a:avLst/>
          </a:prstGeom>
          <a:solidFill>
            <a:srgbClr val="FFF0B3"/>
          </a:solidFill>
          <a:ln/>
        </p:spPr>
        <p:txBody>
          <a:bodyPr wrap="square" lIns="25400" tIns="25400" rIns="25400" bIns="25400" rtlCol="0" anchor="ctr"/>
          <a:lstStyle/>
          <a:p>
            <a:pPr algn="ctr" indent="0" marL="0">
              <a:buNone/>
            </a:pPr>
            <a:r>
              <a:rPr lang="en-US" sz="1300" b="1" dirty="0">
                <a:solidFill>
                  <a:srgbClr val="14183D"/>
                </a:solidFill>
                <a:latin typeface="Montserrat" pitchFamily="34" charset="0"/>
                <a:ea typeface="Montserrat" pitchFamily="34" charset="-122"/>
                <a:cs typeface="Montserrat" pitchFamily="34" charset="-120"/>
              </a:rPr>
              <a:t>1959</a:t>
            </a:r>
            <a:endParaRPr lang="en-US" sz="1300" dirty="0"/>
          </a:p>
        </p:txBody>
      </p:sp>
      <p:sp>
        <p:nvSpPr>
          <p:cNvPr id="42" name="cellule"/>
          <p:cNvSpPr txBox="1"/>
          <p:nvPr/>
        </p:nvSpPr>
        <p:spPr>
          <a:xfrm>
            <a:off x="10332720" y="4544568"/>
            <a:ext cx="1307592" cy="54864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3022</a:t>
            </a:r>
            <a:endParaRPr lang="en-US" sz="1300" dirty="0"/>
          </a:p>
        </p:txBody>
      </p:sp>
      <p:sp>
        <p:nvSpPr>
          <p:cNvPr id="43" name="carte"/>
          <p:cNvSpPr/>
          <p:nvPr/>
        </p:nvSpPr>
        <p:spPr>
          <a:xfrm>
            <a:off x="548640" y="5349240"/>
            <a:ext cx="11091672" cy="914400"/>
          </a:xfrm>
          <a:prstGeom prst="roundRect">
            <a:avLst>
              <a:gd name="adj" fmla="val 8000"/>
            </a:avLst>
          </a:prstGeom>
          <a:solidFill>
            <a:srgbClr val="FFF4C2"/>
          </a:solidFill>
          <a:ln/>
          <a:effectLst>
            <a:outerShdw sx="100000" sy="100000" kx="0" ky="0" algn="bl" rotWithShape="0" blurRad="101600" dist="25400" dir="5400000">
              <a:srgbClr val="0B1F44">
                <a:alpha val="22000"/>
              </a:srgbClr>
            </a:outerShdw>
          </a:effectLst>
        </p:spPr>
      </p:sp>
      <p:sp>
        <p:nvSpPr>
          <p:cNvPr id="44" name="Text 42"/>
          <p:cNvSpPr txBox="1"/>
          <p:nvPr/>
        </p:nvSpPr>
        <p:spPr>
          <a:xfrm>
            <a:off x="777240" y="5394960"/>
            <a:ext cx="10698480" cy="822960"/>
          </a:xfrm>
          <a:prstGeom prst="rect">
            <a:avLst/>
          </a:prstGeom>
          <a:noFill/>
          <a:ln/>
        </p:spPr>
        <p:txBody>
          <a:bodyPr wrap="square" lIns="0" tIns="0" rIns="0" bIns="0" rtlCol="0" anchor="ctr"/>
          <a:lstStyle/>
          <a:p>
            <a:pPr indent="0" marL="0">
              <a:buNone/>
            </a:pPr>
            <a:r>
              <a:rPr lang="en-US" sz="1350" dirty="0">
                <a:solidFill>
                  <a:srgbClr val="14183D"/>
                </a:solidFill>
                <a:latin typeface="Montserrat" pitchFamily="34" charset="0"/>
                <a:ea typeface="Montserrat" pitchFamily="34" charset="-122"/>
                <a:cs typeface="Montserrat" pitchFamily="34" charset="-120"/>
              </a:rPr>
              <a:t>Ce qui compte : la vue complète (+38 points). Les améliorations connues de DQN et le CNN n'apportent rien ici ; l'étape 4 apporte la stabilité. Sur les 5 graines : 93,7 % de victoires, 94,4 % de robustesse.</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ANNEXE E</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PPO par graine</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28</a:t>
            </a:r>
            <a:endParaRPr lang="en-US" sz="1100" dirty="0"/>
          </a:p>
        </p:txBody>
      </p:sp>
      <p:sp>
        <p:nvSpPr>
          <p:cNvPr id="6" name="tableau_fond"/>
          <p:cNvSpPr/>
          <p:nvPr/>
        </p:nvSpPr>
        <p:spPr>
          <a:xfrm>
            <a:off x="548640" y="1783080"/>
            <a:ext cx="5394960" cy="3291840"/>
          </a:xfrm>
          <a:prstGeom prst="rect">
            <a:avLst/>
          </a:prstGeom>
          <a:solidFill>
            <a:srgbClr val="FFFFFF"/>
          </a:solidFill>
          <a:ln/>
          <a:effectLst>
            <a:outerShdw sx="100000" sy="100000" kx="0" ky="0" algn="bl" rotWithShape="0" blurRad="101600" dist="25400" dir="5400000">
              <a:srgbClr val="0B1F44">
                <a:alpha val="22000"/>
              </a:srgbClr>
            </a:outerShdw>
          </a:effectLst>
        </p:spPr>
      </p:sp>
      <p:sp>
        <p:nvSpPr>
          <p:cNvPr id="7" name="entete"/>
          <p:cNvSpPr txBox="1"/>
          <p:nvPr/>
        </p:nvSpPr>
        <p:spPr>
          <a:xfrm>
            <a:off x="548640" y="1783080"/>
            <a:ext cx="1097280" cy="548640"/>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Graine</a:t>
            </a:r>
            <a:endParaRPr lang="en-US" sz="1200" dirty="0"/>
          </a:p>
        </p:txBody>
      </p:sp>
      <p:sp>
        <p:nvSpPr>
          <p:cNvPr id="8" name="entete"/>
          <p:cNvSpPr txBox="1"/>
          <p:nvPr/>
        </p:nvSpPr>
        <p:spPr>
          <a:xfrm>
            <a:off x="1645920" y="1783080"/>
            <a:ext cx="1417320" cy="54864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Victoires</a:t>
            </a:r>
            <a:endParaRPr lang="en-US" sz="1200" dirty="0"/>
          </a:p>
        </p:txBody>
      </p:sp>
      <p:sp>
        <p:nvSpPr>
          <p:cNvPr id="9" name="entete"/>
          <p:cNvSpPr txBox="1"/>
          <p:nvPr/>
        </p:nvSpPr>
        <p:spPr>
          <a:xfrm>
            <a:off x="3063240" y="1783080"/>
            <a:ext cx="1417320" cy="54864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Robustesse</a:t>
            </a:r>
            <a:endParaRPr lang="en-US" sz="1200" dirty="0"/>
          </a:p>
        </p:txBody>
      </p:sp>
      <p:sp>
        <p:nvSpPr>
          <p:cNvPr id="10" name="entete"/>
          <p:cNvSpPr txBox="1"/>
          <p:nvPr/>
        </p:nvSpPr>
        <p:spPr>
          <a:xfrm>
            <a:off x="4480560" y="1783080"/>
            <a:ext cx="1463040" cy="54864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Sans hasard</a:t>
            </a:r>
            <a:endParaRPr lang="en-US" sz="1200" dirty="0"/>
          </a:p>
        </p:txBody>
      </p:sp>
      <p:sp>
        <p:nvSpPr>
          <p:cNvPr id="11" name="cellule"/>
          <p:cNvSpPr txBox="1"/>
          <p:nvPr/>
        </p:nvSpPr>
        <p:spPr>
          <a:xfrm>
            <a:off x="548640" y="2331720"/>
            <a:ext cx="1097280" cy="45720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42</a:t>
            </a:r>
            <a:endParaRPr lang="en-US" sz="1300" dirty="0"/>
          </a:p>
        </p:txBody>
      </p:sp>
      <p:sp>
        <p:nvSpPr>
          <p:cNvPr id="12" name="cellule"/>
          <p:cNvSpPr txBox="1"/>
          <p:nvPr/>
        </p:nvSpPr>
        <p:spPr>
          <a:xfrm>
            <a:off x="1645920" y="2331720"/>
            <a:ext cx="141732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87,6 %</a:t>
            </a:r>
            <a:endParaRPr lang="en-US" sz="1300" dirty="0"/>
          </a:p>
        </p:txBody>
      </p:sp>
      <p:sp>
        <p:nvSpPr>
          <p:cNvPr id="13" name="cellule"/>
          <p:cNvSpPr txBox="1"/>
          <p:nvPr/>
        </p:nvSpPr>
        <p:spPr>
          <a:xfrm>
            <a:off x="3063240" y="2331720"/>
            <a:ext cx="141732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54 %</a:t>
            </a:r>
            <a:endParaRPr lang="en-US" sz="1300" dirty="0"/>
          </a:p>
        </p:txBody>
      </p:sp>
      <p:sp>
        <p:nvSpPr>
          <p:cNvPr id="14" name="cellule"/>
          <p:cNvSpPr txBox="1"/>
          <p:nvPr/>
        </p:nvSpPr>
        <p:spPr>
          <a:xfrm>
            <a:off x="4480560" y="2331720"/>
            <a:ext cx="146304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336 pas</a:t>
            </a:r>
            <a:endParaRPr lang="en-US" sz="1300" dirty="0"/>
          </a:p>
        </p:txBody>
      </p:sp>
      <p:sp>
        <p:nvSpPr>
          <p:cNvPr id="15" name="cellule"/>
          <p:cNvSpPr txBox="1"/>
          <p:nvPr/>
        </p:nvSpPr>
        <p:spPr>
          <a:xfrm>
            <a:off x="548640" y="2788920"/>
            <a:ext cx="1097280" cy="45720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43</a:t>
            </a:r>
            <a:endParaRPr lang="en-US" sz="1300" dirty="0"/>
          </a:p>
        </p:txBody>
      </p:sp>
      <p:sp>
        <p:nvSpPr>
          <p:cNvPr id="16" name="cellule"/>
          <p:cNvSpPr txBox="1"/>
          <p:nvPr/>
        </p:nvSpPr>
        <p:spPr>
          <a:xfrm>
            <a:off x="1645920" y="2788920"/>
            <a:ext cx="141732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74,8 %</a:t>
            </a:r>
            <a:endParaRPr lang="en-US" sz="1300" dirty="0"/>
          </a:p>
        </p:txBody>
      </p:sp>
      <p:sp>
        <p:nvSpPr>
          <p:cNvPr id="17" name="cellule"/>
          <p:cNvSpPr txBox="1"/>
          <p:nvPr/>
        </p:nvSpPr>
        <p:spPr>
          <a:xfrm>
            <a:off x="3063240" y="2788920"/>
            <a:ext cx="141732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64 %</a:t>
            </a:r>
            <a:endParaRPr lang="en-US" sz="1300" dirty="0"/>
          </a:p>
        </p:txBody>
      </p:sp>
      <p:sp>
        <p:nvSpPr>
          <p:cNvPr id="18" name="cellule"/>
          <p:cNvSpPr txBox="1"/>
          <p:nvPr/>
        </p:nvSpPr>
        <p:spPr>
          <a:xfrm>
            <a:off x="4480560" y="2788920"/>
            <a:ext cx="146304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326 pas</a:t>
            </a:r>
            <a:endParaRPr lang="en-US" sz="1300" dirty="0"/>
          </a:p>
        </p:txBody>
      </p:sp>
      <p:sp>
        <p:nvSpPr>
          <p:cNvPr id="19" name="cellule"/>
          <p:cNvSpPr txBox="1"/>
          <p:nvPr/>
        </p:nvSpPr>
        <p:spPr>
          <a:xfrm>
            <a:off x="548640" y="3246120"/>
            <a:ext cx="1097280" cy="45720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44</a:t>
            </a:r>
            <a:endParaRPr lang="en-US" sz="1300" dirty="0"/>
          </a:p>
        </p:txBody>
      </p:sp>
      <p:sp>
        <p:nvSpPr>
          <p:cNvPr id="20" name="cellule"/>
          <p:cNvSpPr txBox="1"/>
          <p:nvPr/>
        </p:nvSpPr>
        <p:spPr>
          <a:xfrm>
            <a:off x="1645920" y="3246120"/>
            <a:ext cx="141732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77,0 %</a:t>
            </a:r>
            <a:endParaRPr lang="en-US" sz="1300" dirty="0"/>
          </a:p>
        </p:txBody>
      </p:sp>
      <p:sp>
        <p:nvSpPr>
          <p:cNvPr id="21" name="cellule"/>
          <p:cNvSpPr txBox="1"/>
          <p:nvPr/>
        </p:nvSpPr>
        <p:spPr>
          <a:xfrm>
            <a:off x="3063240" y="3246120"/>
            <a:ext cx="141732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52 %</a:t>
            </a:r>
            <a:endParaRPr lang="en-US" sz="1300" dirty="0"/>
          </a:p>
        </p:txBody>
      </p:sp>
      <p:sp>
        <p:nvSpPr>
          <p:cNvPr id="22" name="cellule"/>
          <p:cNvSpPr txBox="1"/>
          <p:nvPr/>
        </p:nvSpPr>
        <p:spPr>
          <a:xfrm>
            <a:off x="4480560" y="3246120"/>
            <a:ext cx="146304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347 pas</a:t>
            </a:r>
            <a:endParaRPr lang="en-US" sz="1300" dirty="0"/>
          </a:p>
        </p:txBody>
      </p:sp>
      <p:sp>
        <p:nvSpPr>
          <p:cNvPr id="23" name="cellule"/>
          <p:cNvSpPr txBox="1"/>
          <p:nvPr/>
        </p:nvSpPr>
        <p:spPr>
          <a:xfrm>
            <a:off x="548640" y="3703320"/>
            <a:ext cx="1097280" cy="45720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45</a:t>
            </a:r>
            <a:endParaRPr lang="en-US" sz="1300" dirty="0"/>
          </a:p>
        </p:txBody>
      </p:sp>
      <p:sp>
        <p:nvSpPr>
          <p:cNvPr id="24" name="cellule"/>
          <p:cNvSpPr txBox="1"/>
          <p:nvPr/>
        </p:nvSpPr>
        <p:spPr>
          <a:xfrm>
            <a:off x="1645920" y="3703320"/>
            <a:ext cx="141732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86,4 %</a:t>
            </a:r>
            <a:endParaRPr lang="en-US" sz="1300" dirty="0"/>
          </a:p>
        </p:txBody>
      </p:sp>
      <p:sp>
        <p:nvSpPr>
          <p:cNvPr id="25" name="cellule"/>
          <p:cNvSpPr txBox="1"/>
          <p:nvPr/>
        </p:nvSpPr>
        <p:spPr>
          <a:xfrm>
            <a:off x="3063240" y="3703320"/>
            <a:ext cx="141732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46 %</a:t>
            </a:r>
            <a:endParaRPr lang="en-US" sz="1300" dirty="0"/>
          </a:p>
        </p:txBody>
      </p:sp>
      <p:sp>
        <p:nvSpPr>
          <p:cNvPr id="26" name="cellule"/>
          <p:cNvSpPr txBox="1"/>
          <p:nvPr/>
        </p:nvSpPr>
        <p:spPr>
          <a:xfrm>
            <a:off x="4480560" y="3703320"/>
            <a:ext cx="146304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361 pas</a:t>
            </a:r>
            <a:endParaRPr lang="en-US" sz="1300" dirty="0"/>
          </a:p>
        </p:txBody>
      </p:sp>
      <p:sp>
        <p:nvSpPr>
          <p:cNvPr id="27" name="cellule"/>
          <p:cNvSpPr txBox="1"/>
          <p:nvPr/>
        </p:nvSpPr>
        <p:spPr>
          <a:xfrm>
            <a:off x="548640" y="4160520"/>
            <a:ext cx="1097280" cy="457200"/>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46</a:t>
            </a:r>
            <a:endParaRPr lang="en-US" sz="1300" dirty="0"/>
          </a:p>
        </p:txBody>
      </p:sp>
      <p:sp>
        <p:nvSpPr>
          <p:cNvPr id="28" name="cellule"/>
          <p:cNvSpPr txBox="1"/>
          <p:nvPr/>
        </p:nvSpPr>
        <p:spPr>
          <a:xfrm>
            <a:off x="1645920" y="4160520"/>
            <a:ext cx="141732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81,2 %</a:t>
            </a:r>
            <a:endParaRPr lang="en-US" sz="1300" dirty="0"/>
          </a:p>
        </p:txBody>
      </p:sp>
      <p:sp>
        <p:nvSpPr>
          <p:cNvPr id="29" name="cellule"/>
          <p:cNvSpPr txBox="1"/>
          <p:nvPr/>
        </p:nvSpPr>
        <p:spPr>
          <a:xfrm>
            <a:off x="3063240" y="4160520"/>
            <a:ext cx="141732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82 %</a:t>
            </a:r>
            <a:endParaRPr lang="en-US" sz="1300" dirty="0"/>
          </a:p>
        </p:txBody>
      </p:sp>
      <p:sp>
        <p:nvSpPr>
          <p:cNvPr id="30" name="cellule"/>
          <p:cNvSpPr txBox="1"/>
          <p:nvPr/>
        </p:nvSpPr>
        <p:spPr>
          <a:xfrm>
            <a:off x="4480560" y="4160520"/>
            <a:ext cx="1463040" cy="457200"/>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375 pas</a:t>
            </a:r>
            <a:endParaRPr lang="en-US" sz="1300" dirty="0"/>
          </a:p>
        </p:txBody>
      </p:sp>
      <p:sp>
        <p:nvSpPr>
          <p:cNvPr id="31" name="cellule"/>
          <p:cNvSpPr txBox="1"/>
          <p:nvPr/>
        </p:nvSpPr>
        <p:spPr>
          <a:xfrm>
            <a:off x="548640" y="4617720"/>
            <a:ext cx="1097280" cy="457200"/>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Moy.</a:t>
            </a:r>
            <a:endParaRPr lang="en-US" sz="1300" dirty="0"/>
          </a:p>
        </p:txBody>
      </p:sp>
      <p:sp>
        <p:nvSpPr>
          <p:cNvPr id="32" name="cellule"/>
          <p:cNvSpPr txBox="1"/>
          <p:nvPr/>
        </p:nvSpPr>
        <p:spPr>
          <a:xfrm>
            <a:off x="1645920" y="4617720"/>
            <a:ext cx="141732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81,4 %</a:t>
            </a:r>
            <a:endParaRPr lang="en-US" sz="1300" dirty="0"/>
          </a:p>
        </p:txBody>
      </p:sp>
      <p:sp>
        <p:nvSpPr>
          <p:cNvPr id="33" name="cellule"/>
          <p:cNvSpPr txBox="1"/>
          <p:nvPr/>
        </p:nvSpPr>
        <p:spPr>
          <a:xfrm>
            <a:off x="3063240" y="4617720"/>
            <a:ext cx="141732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59,6 %</a:t>
            </a:r>
            <a:endParaRPr lang="en-US" sz="1300" dirty="0"/>
          </a:p>
        </p:txBody>
      </p:sp>
      <p:sp>
        <p:nvSpPr>
          <p:cNvPr id="34" name="cellule"/>
          <p:cNvSpPr txBox="1"/>
          <p:nvPr/>
        </p:nvSpPr>
        <p:spPr>
          <a:xfrm>
            <a:off x="4480560" y="4617720"/>
            <a:ext cx="1463040" cy="457200"/>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5 / 5</a:t>
            </a:r>
            <a:endParaRPr lang="en-US" sz="1300" dirty="0"/>
          </a:p>
        </p:txBody>
      </p:sp>
      <p:sp>
        <p:nvSpPr>
          <p:cNvPr id="35" name="Text 33"/>
          <p:cNvSpPr txBox="1"/>
          <p:nvPr/>
        </p:nvSpPr>
        <p:spPr>
          <a:xfrm>
            <a:off x="548640" y="5166360"/>
            <a:ext cx="5394960" cy="274320"/>
          </a:xfrm>
          <a:prstGeom prst="rect">
            <a:avLst/>
          </a:prstGeom>
          <a:noFill/>
          <a:ln/>
        </p:spPr>
        <p:txBody>
          <a:bodyPr wrap="square" lIns="0" tIns="0" rIns="0" bIns="0" rtlCol="0" anchor="t"/>
          <a:lstStyle/>
          <a:p>
            <a:pPr indent="0" marL="0">
              <a:buNone/>
            </a:pPr>
            <a:r>
              <a:rPr lang="en-US" sz="1300" b="1" dirty="0">
                <a:solidFill>
                  <a:srgbClr val="14183D"/>
                </a:solidFill>
                <a:latin typeface="Montserrat" pitchFamily="34" charset="0"/>
                <a:ea typeface="Montserrat" pitchFamily="34" charset="-122"/>
                <a:cs typeface="Montserrat" pitchFamily="34" charset="-120"/>
              </a:rPr>
              <a:t>PPO sur le niveau v3 du vrai jeu</a:t>
            </a:r>
            <a:endParaRPr lang="en-US" sz="1300" dirty="0"/>
          </a:p>
        </p:txBody>
      </p:sp>
      <p:sp>
        <p:nvSpPr>
          <p:cNvPr id="36" name="tableau_fond"/>
          <p:cNvSpPr/>
          <p:nvPr/>
        </p:nvSpPr>
        <p:spPr>
          <a:xfrm>
            <a:off x="6263640" y="1783080"/>
            <a:ext cx="5376672" cy="3291840"/>
          </a:xfrm>
          <a:prstGeom prst="rect">
            <a:avLst/>
          </a:prstGeom>
          <a:solidFill>
            <a:srgbClr val="FFFFFF"/>
          </a:solidFill>
          <a:ln/>
          <a:effectLst>
            <a:outerShdw sx="100000" sy="100000" kx="0" ky="0" algn="bl" rotWithShape="0" blurRad="101600" dist="25400" dir="5400000">
              <a:srgbClr val="0B1F44">
                <a:alpha val="22000"/>
              </a:srgbClr>
            </a:outerShdw>
          </a:effectLst>
        </p:spPr>
      </p:sp>
      <p:sp>
        <p:nvSpPr>
          <p:cNvPr id="37" name="entete"/>
          <p:cNvSpPr txBox="1"/>
          <p:nvPr/>
        </p:nvSpPr>
        <p:spPr>
          <a:xfrm>
            <a:off x="6263640" y="1783080"/>
            <a:ext cx="777240" cy="548640"/>
          </a:xfrm>
          <a:prstGeom prst="rect">
            <a:avLst/>
          </a:prstGeom>
          <a:solidFill>
            <a:srgbClr val="14183D"/>
          </a:solidFill>
          <a:ln/>
        </p:spPr>
        <p:txBody>
          <a:bodyPr wrap="square" lIns="177800" tIns="25400" rIns="76200" bIns="25400" rtlCol="0" anchor="ctr"/>
          <a:lstStyle/>
          <a:p>
            <a:pPr algn="l" indent="0" marL="0">
              <a:buNone/>
            </a:pPr>
            <a:r>
              <a:rPr lang="en-US" sz="1100" b="1" dirty="0">
                <a:solidFill>
                  <a:srgbClr val="FFFFFF"/>
                </a:solidFill>
                <a:latin typeface="Montserrat" pitchFamily="34" charset="0"/>
                <a:ea typeface="Montserrat" pitchFamily="34" charset="-122"/>
                <a:cs typeface="Montserrat" pitchFamily="34" charset="-120"/>
              </a:rPr>
              <a:t>Graine</a:t>
            </a:r>
            <a:endParaRPr lang="en-US" sz="1100" dirty="0"/>
          </a:p>
        </p:txBody>
      </p:sp>
      <p:sp>
        <p:nvSpPr>
          <p:cNvPr id="38" name="entete"/>
          <p:cNvSpPr txBox="1"/>
          <p:nvPr/>
        </p:nvSpPr>
        <p:spPr>
          <a:xfrm>
            <a:off x="7040880" y="1783080"/>
            <a:ext cx="1005840" cy="548640"/>
          </a:xfrm>
          <a:prstGeom prst="rect">
            <a:avLst/>
          </a:prstGeom>
          <a:solidFill>
            <a:srgbClr val="14183D"/>
          </a:solidFill>
          <a:ln/>
        </p:spPr>
        <p:txBody>
          <a:bodyPr wrap="square" lIns="76200" tIns="25400" rIns="76200" bIns="2540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Victoires</a:t>
            </a:r>
            <a:endParaRPr lang="en-US" sz="1100" dirty="0"/>
          </a:p>
        </p:txBody>
      </p:sp>
      <p:sp>
        <p:nvSpPr>
          <p:cNvPr id="39" name="entete"/>
          <p:cNvSpPr txBox="1"/>
          <p:nvPr/>
        </p:nvSpPr>
        <p:spPr>
          <a:xfrm>
            <a:off x="8046720" y="1783080"/>
            <a:ext cx="1005840" cy="548640"/>
          </a:xfrm>
          <a:prstGeom prst="rect">
            <a:avLst/>
          </a:prstGeom>
          <a:solidFill>
            <a:srgbClr val="14183D"/>
          </a:solidFill>
          <a:ln/>
        </p:spPr>
        <p:txBody>
          <a:bodyPr wrap="square" lIns="76200" tIns="25400" rIns="76200" bIns="2540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Salle bonus</a:t>
            </a:r>
            <a:endParaRPr lang="en-US" sz="1100" dirty="0"/>
          </a:p>
        </p:txBody>
      </p:sp>
      <p:sp>
        <p:nvSpPr>
          <p:cNvPr id="40" name="entete"/>
          <p:cNvSpPr txBox="1"/>
          <p:nvPr/>
        </p:nvSpPr>
        <p:spPr>
          <a:xfrm>
            <a:off x="9052560" y="1783080"/>
            <a:ext cx="1005840" cy="548640"/>
          </a:xfrm>
          <a:prstGeom prst="rect">
            <a:avLst/>
          </a:prstGeom>
          <a:solidFill>
            <a:srgbClr val="14183D"/>
          </a:solidFill>
          <a:ln/>
        </p:spPr>
        <p:txBody>
          <a:bodyPr wrap="square" lIns="76200" tIns="25400" rIns="76200" bIns="2540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Champi-</a:t>
            </a:r>
            <a:endParaRPr lang="en-US" sz="1100" dirty="0"/>
          </a:p>
          <a:p>
            <a:pPr algn="ctr" indent="0" marL="0">
              <a:buNone/>
            </a:pPr>
            <a:r>
              <a:rPr lang="en-US" sz="1100" b="1" dirty="0">
                <a:solidFill>
                  <a:srgbClr val="FFFFFF"/>
                </a:solidFill>
                <a:latin typeface="Montserrat" pitchFamily="34" charset="0"/>
                <a:ea typeface="Montserrat" pitchFamily="34" charset="-122"/>
                <a:cs typeface="Montserrat" pitchFamily="34" charset="-120"/>
              </a:rPr>
              <a:t>gnon</a:t>
            </a:r>
            <a:endParaRPr lang="en-US" sz="1100" dirty="0"/>
          </a:p>
        </p:txBody>
      </p:sp>
      <p:sp>
        <p:nvSpPr>
          <p:cNvPr id="41" name="entete"/>
          <p:cNvSpPr txBox="1"/>
          <p:nvPr/>
        </p:nvSpPr>
        <p:spPr>
          <a:xfrm>
            <a:off x="10058400" y="1783080"/>
            <a:ext cx="868680" cy="548640"/>
          </a:xfrm>
          <a:prstGeom prst="rect">
            <a:avLst/>
          </a:prstGeom>
          <a:solidFill>
            <a:srgbClr val="14183D"/>
          </a:solidFill>
          <a:ln/>
        </p:spPr>
        <p:txBody>
          <a:bodyPr wrap="square" lIns="76200" tIns="25400" rIns="76200" bIns="2540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Fleur</a:t>
            </a:r>
            <a:endParaRPr lang="en-US" sz="1100" dirty="0"/>
          </a:p>
        </p:txBody>
      </p:sp>
      <p:sp>
        <p:nvSpPr>
          <p:cNvPr id="42" name="entete"/>
          <p:cNvSpPr txBox="1"/>
          <p:nvPr/>
        </p:nvSpPr>
        <p:spPr>
          <a:xfrm>
            <a:off x="10927080" y="1783080"/>
            <a:ext cx="713232" cy="548640"/>
          </a:xfrm>
          <a:prstGeom prst="rect">
            <a:avLst/>
          </a:prstGeom>
          <a:solidFill>
            <a:srgbClr val="14183D"/>
          </a:solidFill>
          <a:ln/>
        </p:spPr>
        <p:txBody>
          <a:bodyPr wrap="square" lIns="76200" tIns="25400" rIns="76200" bIns="2540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Robus-</a:t>
            </a:r>
            <a:endParaRPr lang="en-US" sz="1100" dirty="0"/>
          </a:p>
          <a:p>
            <a:pPr algn="ctr" indent="0" marL="0">
              <a:buNone/>
            </a:pPr>
            <a:r>
              <a:rPr lang="en-US" sz="1100" b="1" dirty="0">
                <a:solidFill>
                  <a:srgbClr val="FFFFFF"/>
                </a:solidFill>
                <a:latin typeface="Montserrat" pitchFamily="34" charset="0"/>
                <a:ea typeface="Montserrat" pitchFamily="34" charset="-122"/>
                <a:cs typeface="Montserrat" pitchFamily="34" charset="-120"/>
              </a:rPr>
              <a:t>tesse</a:t>
            </a:r>
            <a:endParaRPr lang="en-US" sz="1100" dirty="0"/>
          </a:p>
        </p:txBody>
      </p:sp>
      <p:sp>
        <p:nvSpPr>
          <p:cNvPr id="43" name="cellule"/>
          <p:cNvSpPr txBox="1"/>
          <p:nvPr/>
        </p:nvSpPr>
        <p:spPr>
          <a:xfrm>
            <a:off x="6263640" y="2331720"/>
            <a:ext cx="777240" cy="457200"/>
          </a:xfrm>
          <a:prstGeom prst="rect">
            <a:avLst/>
          </a:prstGeom>
          <a:solidFill>
            <a:srgbClr val="FFFFFF"/>
          </a:solidFill>
          <a:ln/>
        </p:spPr>
        <p:txBody>
          <a:bodyPr wrap="square" lIns="177800" tIns="25400" rIns="76200" bIns="25400" rtlCol="0" anchor="ctr"/>
          <a:lstStyle/>
          <a:p>
            <a:pPr algn="l" indent="0" marL="0">
              <a:buNone/>
            </a:pPr>
            <a:r>
              <a:rPr lang="en-US" sz="1250" b="1" dirty="0">
                <a:solidFill>
                  <a:srgbClr val="14183D"/>
                </a:solidFill>
                <a:latin typeface="Montserrat" pitchFamily="34" charset="0"/>
                <a:ea typeface="Montserrat" pitchFamily="34" charset="-122"/>
                <a:cs typeface="Montserrat" pitchFamily="34" charset="-120"/>
              </a:rPr>
              <a:t>42</a:t>
            </a:r>
            <a:endParaRPr lang="en-US" sz="1250" dirty="0"/>
          </a:p>
        </p:txBody>
      </p:sp>
      <p:sp>
        <p:nvSpPr>
          <p:cNvPr id="44" name="cellule"/>
          <p:cNvSpPr txBox="1"/>
          <p:nvPr/>
        </p:nvSpPr>
        <p:spPr>
          <a:xfrm>
            <a:off x="7040880" y="23317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87,4 %</a:t>
            </a:r>
            <a:endParaRPr lang="en-US" sz="1250" dirty="0"/>
          </a:p>
        </p:txBody>
      </p:sp>
      <p:sp>
        <p:nvSpPr>
          <p:cNvPr id="45" name="cellule"/>
          <p:cNvSpPr txBox="1"/>
          <p:nvPr/>
        </p:nvSpPr>
        <p:spPr>
          <a:xfrm>
            <a:off x="8046720" y="23317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90,4 %</a:t>
            </a:r>
            <a:endParaRPr lang="en-US" sz="1250" dirty="0"/>
          </a:p>
        </p:txBody>
      </p:sp>
      <p:sp>
        <p:nvSpPr>
          <p:cNvPr id="46" name="cellule"/>
          <p:cNvSpPr txBox="1"/>
          <p:nvPr/>
        </p:nvSpPr>
        <p:spPr>
          <a:xfrm>
            <a:off x="9052560" y="23317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97,6 %</a:t>
            </a:r>
            <a:endParaRPr lang="en-US" sz="1250" dirty="0"/>
          </a:p>
        </p:txBody>
      </p:sp>
      <p:sp>
        <p:nvSpPr>
          <p:cNvPr id="47" name="cellule"/>
          <p:cNvSpPr txBox="1"/>
          <p:nvPr/>
        </p:nvSpPr>
        <p:spPr>
          <a:xfrm>
            <a:off x="10058400" y="2331720"/>
            <a:ext cx="86868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91,4 %</a:t>
            </a:r>
            <a:endParaRPr lang="en-US" sz="1250" dirty="0"/>
          </a:p>
        </p:txBody>
      </p:sp>
      <p:sp>
        <p:nvSpPr>
          <p:cNvPr id="48" name="cellule"/>
          <p:cNvSpPr txBox="1"/>
          <p:nvPr/>
        </p:nvSpPr>
        <p:spPr>
          <a:xfrm>
            <a:off x="10927080" y="2331720"/>
            <a:ext cx="713232"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66 %</a:t>
            </a:r>
            <a:endParaRPr lang="en-US" sz="1250" dirty="0"/>
          </a:p>
        </p:txBody>
      </p:sp>
      <p:sp>
        <p:nvSpPr>
          <p:cNvPr id="49" name="cellule"/>
          <p:cNvSpPr txBox="1"/>
          <p:nvPr/>
        </p:nvSpPr>
        <p:spPr>
          <a:xfrm>
            <a:off x="6263640" y="2788920"/>
            <a:ext cx="777240" cy="457200"/>
          </a:xfrm>
          <a:prstGeom prst="rect">
            <a:avLst/>
          </a:prstGeom>
          <a:solidFill>
            <a:srgbClr val="F2F5FA"/>
          </a:solidFill>
          <a:ln/>
        </p:spPr>
        <p:txBody>
          <a:bodyPr wrap="square" lIns="177800" tIns="25400" rIns="76200" bIns="25400" rtlCol="0" anchor="ctr"/>
          <a:lstStyle/>
          <a:p>
            <a:pPr algn="l" indent="0" marL="0">
              <a:buNone/>
            </a:pPr>
            <a:r>
              <a:rPr lang="en-US" sz="1250" b="1" dirty="0">
                <a:solidFill>
                  <a:srgbClr val="14183D"/>
                </a:solidFill>
                <a:latin typeface="Montserrat" pitchFamily="34" charset="0"/>
                <a:ea typeface="Montserrat" pitchFamily="34" charset="-122"/>
                <a:cs typeface="Montserrat" pitchFamily="34" charset="-120"/>
              </a:rPr>
              <a:t>43</a:t>
            </a:r>
            <a:endParaRPr lang="en-US" sz="1250" dirty="0"/>
          </a:p>
        </p:txBody>
      </p:sp>
      <p:sp>
        <p:nvSpPr>
          <p:cNvPr id="50" name="cellule"/>
          <p:cNvSpPr txBox="1"/>
          <p:nvPr/>
        </p:nvSpPr>
        <p:spPr>
          <a:xfrm>
            <a:off x="7040880" y="27889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89,8 %</a:t>
            </a:r>
            <a:endParaRPr lang="en-US" sz="1250" dirty="0"/>
          </a:p>
        </p:txBody>
      </p:sp>
      <p:sp>
        <p:nvSpPr>
          <p:cNvPr id="51" name="cellule"/>
          <p:cNvSpPr txBox="1"/>
          <p:nvPr/>
        </p:nvSpPr>
        <p:spPr>
          <a:xfrm>
            <a:off x="8046720" y="27889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92,0 %</a:t>
            </a:r>
            <a:endParaRPr lang="en-US" sz="1250" dirty="0"/>
          </a:p>
        </p:txBody>
      </p:sp>
      <p:sp>
        <p:nvSpPr>
          <p:cNvPr id="52" name="cellule"/>
          <p:cNvSpPr txBox="1"/>
          <p:nvPr/>
        </p:nvSpPr>
        <p:spPr>
          <a:xfrm>
            <a:off x="9052560" y="27889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95,6 %</a:t>
            </a:r>
            <a:endParaRPr lang="en-US" sz="1250" dirty="0"/>
          </a:p>
        </p:txBody>
      </p:sp>
      <p:sp>
        <p:nvSpPr>
          <p:cNvPr id="53" name="cellule"/>
          <p:cNvSpPr txBox="1"/>
          <p:nvPr/>
        </p:nvSpPr>
        <p:spPr>
          <a:xfrm>
            <a:off x="10058400" y="2788920"/>
            <a:ext cx="86868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93,6 %</a:t>
            </a:r>
            <a:endParaRPr lang="en-US" sz="1250" dirty="0"/>
          </a:p>
        </p:txBody>
      </p:sp>
      <p:sp>
        <p:nvSpPr>
          <p:cNvPr id="54" name="cellule"/>
          <p:cNvSpPr txBox="1"/>
          <p:nvPr/>
        </p:nvSpPr>
        <p:spPr>
          <a:xfrm>
            <a:off x="10927080" y="2788920"/>
            <a:ext cx="713232"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78 %</a:t>
            </a:r>
            <a:endParaRPr lang="en-US" sz="1250" dirty="0"/>
          </a:p>
        </p:txBody>
      </p:sp>
      <p:sp>
        <p:nvSpPr>
          <p:cNvPr id="55" name="cellule"/>
          <p:cNvSpPr txBox="1"/>
          <p:nvPr/>
        </p:nvSpPr>
        <p:spPr>
          <a:xfrm>
            <a:off x="6263640" y="3246120"/>
            <a:ext cx="777240" cy="457200"/>
          </a:xfrm>
          <a:prstGeom prst="rect">
            <a:avLst/>
          </a:prstGeom>
          <a:solidFill>
            <a:srgbClr val="FFFFFF"/>
          </a:solidFill>
          <a:ln/>
        </p:spPr>
        <p:txBody>
          <a:bodyPr wrap="square" lIns="177800" tIns="25400" rIns="76200" bIns="25400" rtlCol="0" anchor="ctr"/>
          <a:lstStyle/>
          <a:p>
            <a:pPr algn="l" indent="0" marL="0">
              <a:buNone/>
            </a:pPr>
            <a:r>
              <a:rPr lang="en-US" sz="1250" b="1" dirty="0">
                <a:solidFill>
                  <a:srgbClr val="14183D"/>
                </a:solidFill>
                <a:latin typeface="Montserrat" pitchFamily="34" charset="0"/>
                <a:ea typeface="Montserrat" pitchFamily="34" charset="-122"/>
                <a:cs typeface="Montserrat" pitchFamily="34" charset="-120"/>
              </a:rPr>
              <a:t>44</a:t>
            </a:r>
            <a:endParaRPr lang="en-US" sz="1250" dirty="0"/>
          </a:p>
        </p:txBody>
      </p:sp>
      <p:sp>
        <p:nvSpPr>
          <p:cNvPr id="56" name="cellule"/>
          <p:cNvSpPr txBox="1"/>
          <p:nvPr/>
        </p:nvSpPr>
        <p:spPr>
          <a:xfrm>
            <a:off x="7040880" y="32461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95,8 %</a:t>
            </a:r>
            <a:endParaRPr lang="en-US" sz="1250" dirty="0"/>
          </a:p>
        </p:txBody>
      </p:sp>
      <p:sp>
        <p:nvSpPr>
          <p:cNvPr id="57" name="cellule"/>
          <p:cNvSpPr txBox="1"/>
          <p:nvPr/>
        </p:nvSpPr>
        <p:spPr>
          <a:xfrm>
            <a:off x="8046720" y="32461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96,2 %</a:t>
            </a:r>
            <a:endParaRPr lang="en-US" sz="1250" dirty="0"/>
          </a:p>
        </p:txBody>
      </p:sp>
      <p:sp>
        <p:nvSpPr>
          <p:cNvPr id="58" name="cellule"/>
          <p:cNvSpPr txBox="1"/>
          <p:nvPr/>
        </p:nvSpPr>
        <p:spPr>
          <a:xfrm>
            <a:off x="9052560" y="32461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98,2 %</a:t>
            </a:r>
            <a:endParaRPr lang="en-US" sz="1250" dirty="0"/>
          </a:p>
        </p:txBody>
      </p:sp>
      <p:sp>
        <p:nvSpPr>
          <p:cNvPr id="59" name="cellule"/>
          <p:cNvSpPr txBox="1"/>
          <p:nvPr/>
        </p:nvSpPr>
        <p:spPr>
          <a:xfrm>
            <a:off x="10058400" y="3246120"/>
            <a:ext cx="86868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97,8 %</a:t>
            </a:r>
            <a:endParaRPr lang="en-US" sz="1250" dirty="0"/>
          </a:p>
        </p:txBody>
      </p:sp>
      <p:sp>
        <p:nvSpPr>
          <p:cNvPr id="60" name="cellule"/>
          <p:cNvSpPr txBox="1"/>
          <p:nvPr/>
        </p:nvSpPr>
        <p:spPr>
          <a:xfrm>
            <a:off x="10927080" y="3246120"/>
            <a:ext cx="713232"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78 %</a:t>
            </a:r>
            <a:endParaRPr lang="en-US" sz="1250" dirty="0"/>
          </a:p>
        </p:txBody>
      </p:sp>
      <p:sp>
        <p:nvSpPr>
          <p:cNvPr id="61" name="cellule"/>
          <p:cNvSpPr txBox="1"/>
          <p:nvPr/>
        </p:nvSpPr>
        <p:spPr>
          <a:xfrm>
            <a:off x="6263640" y="3703320"/>
            <a:ext cx="777240" cy="457200"/>
          </a:xfrm>
          <a:prstGeom prst="rect">
            <a:avLst/>
          </a:prstGeom>
          <a:solidFill>
            <a:srgbClr val="F2F5FA"/>
          </a:solidFill>
          <a:ln/>
        </p:spPr>
        <p:txBody>
          <a:bodyPr wrap="square" lIns="177800" tIns="25400" rIns="76200" bIns="25400" rtlCol="0" anchor="ctr"/>
          <a:lstStyle/>
          <a:p>
            <a:pPr algn="l" indent="0" marL="0">
              <a:buNone/>
            </a:pPr>
            <a:r>
              <a:rPr lang="en-US" sz="1250" b="1" dirty="0">
                <a:solidFill>
                  <a:srgbClr val="14183D"/>
                </a:solidFill>
                <a:latin typeface="Montserrat" pitchFamily="34" charset="0"/>
                <a:ea typeface="Montserrat" pitchFamily="34" charset="-122"/>
                <a:cs typeface="Montserrat" pitchFamily="34" charset="-120"/>
              </a:rPr>
              <a:t>45</a:t>
            </a:r>
            <a:endParaRPr lang="en-US" sz="1250" dirty="0"/>
          </a:p>
        </p:txBody>
      </p:sp>
      <p:sp>
        <p:nvSpPr>
          <p:cNvPr id="62" name="cellule"/>
          <p:cNvSpPr txBox="1"/>
          <p:nvPr/>
        </p:nvSpPr>
        <p:spPr>
          <a:xfrm>
            <a:off x="7040880" y="37033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93,6 %</a:t>
            </a:r>
            <a:endParaRPr lang="en-US" sz="1250" dirty="0"/>
          </a:p>
        </p:txBody>
      </p:sp>
      <p:sp>
        <p:nvSpPr>
          <p:cNvPr id="63" name="cellule"/>
          <p:cNvSpPr txBox="1"/>
          <p:nvPr/>
        </p:nvSpPr>
        <p:spPr>
          <a:xfrm>
            <a:off x="8046720" y="37033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95,6 %</a:t>
            </a:r>
            <a:endParaRPr lang="en-US" sz="1250" dirty="0"/>
          </a:p>
        </p:txBody>
      </p:sp>
      <p:sp>
        <p:nvSpPr>
          <p:cNvPr id="64" name="cellule"/>
          <p:cNvSpPr txBox="1"/>
          <p:nvPr/>
        </p:nvSpPr>
        <p:spPr>
          <a:xfrm>
            <a:off x="9052560" y="37033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99,2 %</a:t>
            </a:r>
            <a:endParaRPr lang="en-US" sz="1250" dirty="0"/>
          </a:p>
        </p:txBody>
      </p:sp>
      <p:sp>
        <p:nvSpPr>
          <p:cNvPr id="65" name="cellule"/>
          <p:cNvSpPr txBox="1"/>
          <p:nvPr/>
        </p:nvSpPr>
        <p:spPr>
          <a:xfrm>
            <a:off x="10058400" y="3703320"/>
            <a:ext cx="86868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96,6 %</a:t>
            </a:r>
            <a:endParaRPr lang="en-US" sz="1250" dirty="0"/>
          </a:p>
        </p:txBody>
      </p:sp>
      <p:sp>
        <p:nvSpPr>
          <p:cNvPr id="66" name="cellule"/>
          <p:cNvSpPr txBox="1"/>
          <p:nvPr/>
        </p:nvSpPr>
        <p:spPr>
          <a:xfrm>
            <a:off x="10927080" y="3703320"/>
            <a:ext cx="713232"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92 %</a:t>
            </a:r>
            <a:endParaRPr lang="en-US" sz="1250" dirty="0"/>
          </a:p>
        </p:txBody>
      </p:sp>
      <p:sp>
        <p:nvSpPr>
          <p:cNvPr id="67" name="cellule"/>
          <p:cNvSpPr txBox="1"/>
          <p:nvPr/>
        </p:nvSpPr>
        <p:spPr>
          <a:xfrm>
            <a:off x="6263640" y="4160520"/>
            <a:ext cx="777240" cy="457200"/>
          </a:xfrm>
          <a:prstGeom prst="rect">
            <a:avLst/>
          </a:prstGeom>
          <a:solidFill>
            <a:srgbClr val="FFFFFF"/>
          </a:solidFill>
          <a:ln/>
        </p:spPr>
        <p:txBody>
          <a:bodyPr wrap="square" lIns="177800" tIns="25400" rIns="76200" bIns="25400" rtlCol="0" anchor="ctr"/>
          <a:lstStyle/>
          <a:p>
            <a:pPr algn="l" indent="0" marL="0">
              <a:buNone/>
            </a:pPr>
            <a:r>
              <a:rPr lang="en-US" sz="1250" b="1" dirty="0">
                <a:solidFill>
                  <a:srgbClr val="14183D"/>
                </a:solidFill>
                <a:latin typeface="Montserrat" pitchFamily="34" charset="0"/>
                <a:ea typeface="Montserrat" pitchFamily="34" charset="-122"/>
                <a:cs typeface="Montserrat" pitchFamily="34" charset="-120"/>
              </a:rPr>
              <a:t>46</a:t>
            </a:r>
            <a:endParaRPr lang="en-US" sz="1250" dirty="0"/>
          </a:p>
        </p:txBody>
      </p:sp>
      <p:sp>
        <p:nvSpPr>
          <p:cNvPr id="68" name="cellule"/>
          <p:cNvSpPr txBox="1"/>
          <p:nvPr/>
        </p:nvSpPr>
        <p:spPr>
          <a:xfrm>
            <a:off x="7040880" y="41605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89,4 %</a:t>
            </a:r>
            <a:endParaRPr lang="en-US" sz="1250" dirty="0"/>
          </a:p>
        </p:txBody>
      </p:sp>
      <p:sp>
        <p:nvSpPr>
          <p:cNvPr id="69" name="cellule"/>
          <p:cNvSpPr txBox="1"/>
          <p:nvPr/>
        </p:nvSpPr>
        <p:spPr>
          <a:xfrm>
            <a:off x="8046720" y="41605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95,0 %</a:t>
            </a:r>
            <a:endParaRPr lang="en-US" sz="1250" dirty="0"/>
          </a:p>
        </p:txBody>
      </p:sp>
      <p:sp>
        <p:nvSpPr>
          <p:cNvPr id="70" name="cellule"/>
          <p:cNvSpPr txBox="1"/>
          <p:nvPr/>
        </p:nvSpPr>
        <p:spPr>
          <a:xfrm>
            <a:off x="9052560" y="4160520"/>
            <a:ext cx="100584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95,8 %</a:t>
            </a:r>
            <a:endParaRPr lang="en-US" sz="1250" dirty="0"/>
          </a:p>
        </p:txBody>
      </p:sp>
      <p:sp>
        <p:nvSpPr>
          <p:cNvPr id="71" name="cellule"/>
          <p:cNvSpPr txBox="1"/>
          <p:nvPr/>
        </p:nvSpPr>
        <p:spPr>
          <a:xfrm>
            <a:off x="10058400" y="4160520"/>
            <a:ext cx="868680"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85,8 %</a:t>
            </a:r>
            <a:endParaRPr lang="en-US" sz="1250" dirty="0"/>
          </a:p>
        </p:txBody>
      </p:sp>
      <p:sp>
        <p:nvSpPr>
          <p:cNvPr id="72" name="cellule"/>
          <p:cNvSpPr txBox="1"/>
          <p:nvPr/>
        </p:nvSpPr>
        <p:spPr>
          <a:xfrm>
            <a:off x="10927080" y="4160520"/>
            <a:ext cx="713232" cy="457200"/>
          </a:xfrm>
          <a:prstGeom prst="rect">
            <a:avLst/>
          </a:prstGeom>
          <a:solidFill>
            <a:srgbClr val="FFFFFF"/>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88 %</a:t>
            </a:r>
            <a:endParaRPr lang="en-US" sz="1250" dirty="0"/>
          </a:p>
        </p:txBody>
      </p:sp>
      <p:sp>
        <p:nvSpPr>
          <p:cNvPr id="73" name="cellule"/>
          <p:cNvSpPr txBox="1"/>
          <p:nvPr/>
        </p:nvSpPr>
        <p:spPr>
          <a:xfrm>
            <a:off x="6263640" y="4617720"/>
            <a:ext cx="777240" cy="457200"/>
          </a:xfrm>
          <a:prstGeom prst="rect">
            <a:avLst/>
          </a:prstGeom>
          <a:solidFill>
            <a:srgbClr val="F2F5FA"/>
          </a:solidFill>
          <a:ln/>
        </p:spPr>
        <p:txBody>
          <a:bodyPr wrap="square" lIns="177800" tIns="25400" rIns="76200" bIns="25400" rtlCol="0" anchor="ctr"/>
          <a:lstStyle/>
          <a:p>
            <a:pPr algn="l" indent="0" marL="0">
              <a:buNone/>
            </a:pPr>
            <a:r>
              <a:rPr lang="en-US" sz="1250" b="1" dirty="0">
                <a:solidFill>
                  <a:srgbClr val="14183D"/>
                </a:solidFill>
                <a:latin typeface="Montserrat" pitchFamily="34" charset="0"/>
                <a:ea typeface="Montserrat" pitchFamily="34" charset="-122"/>
                <a:cs typeface="Montserrat" pitchFamily="34" charset="-120"/>
              </a:rPr>
              <a:t>Moy.</a:t>
            </a:r>
            <a:endParaRPr lang="en-US" sz="1250" dirty="0"/>
          </a:p>
        </p:txBody>
      </p:sp>
      <p:sp>
        <p:nvSpPr>
          <p:cNvPr id="74" name="cellule"/>
          <p:cNvSpPr txBox="1"/>
          <p:nvPr/>
        </p:nvSpPr>
        <p:spPr>
          <a:xfrm>
            <a:off x="7040880" y="46177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91,2 %</a:t>
            </a:r>
            <a:endParaRPr lang="en-US" sz="1250" dirty="0"/>
          </a:p>
        </p:txBody>
      </p:sp>
      <p:sp>
        <p:nvSpPr>
          <p:cNvPr id="75" name="cellule"/>
          <p:cNvSpPr txBox="1"/>
          <p:nvPr/>
        </p:nvSpPr>
        <p:spPr>
          <a:xfrm>
            <a:off x="8046720" y="46177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93,8 %</a:t>
            </a:r>
            <a:endParaRPr lang="en-US" sz="1250" dirty="0"/>
          </a:p>
        </p:txBody>
      </p:sp>
      <p:sp>
        <p:nvSpPr>
          <p:cNvPr id="76" name="cellule"/>
          <p:cNvSpPr txBox="1"/>
          <p:nvPr/>
        </p:nvSpPr>
        <p:spPr>
          <a:xfrm>
            <a:off x="9052560" y="4617720"/>
            <a:ext cx="100584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97,3 %</a:t>
            </a:r>
            <a:endParaRPr lang="en-US" sz="1250" dirty="0"/>
          </a:p>
        </p:txBody>
      </p:sp>
      <p:sp>
        <p:nvSpPr>
          <p:cNvPr id="77" name="cellule"/>
          <p:cNvSpPr txBox="1"/>
          <p:nvPr/>
        </p:nvSpPr>
        <p:spPr>
          <a:xfrm>
            <a:off x="10058400" y="4617720"/>
            <a:ext cx="868680"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93,0 %</a:t>
            </a:r>
            <a:endParaRPr lang="en-US" sz="1250" dirty="0"/>
          </a:p>
        </p:txBody>
      </p:sp>
      <p:sp>
        <p:nvSpPr>
          <p:cNvPr id="78" name="cellule"/>
          <p:cNvSpPr txBox="1"/>
          <p:nvPr/>
        </p:nvSpPr>
        <p:spPr>
          <a:xfrm>
            <a:off x="10927080" y="4617720"/>
            <a:ext cx="713232" cy="457200"/>
          </a:xfrm>
          <a:prstGeom prst="rect">
            <a:avLst/>
          </a:prstGeom>
          <a:solidFill>
            <a:srgbClr val="F2F5FA"/>
          </a:solidFill>
          <a:ln/>
        </p:spPr>
        <p:txBody>
          <a:bodyPr wrap="square" lIns="25400" tIns="25400" rIns="25400" bIns="25400" rtlCol="0" anchor="ctr"/>
          <a:lstStyle/>
          <a:p>
            <a:pPr algn="ctr" indent="0" marL="0">
              <a:buNone/>
            </a:pPr>
            <a:r>
              <a:rPr lang="en-US" sz="1250" dirty="0">
                <a:solidFill>
                  <a:srgbClr val="14183D"/>
                </a:solidFill>
                <a:latin typeface="Montserrat" pitchFamily="34" charset="0"/>
                <a:ea typeface="Montserrat" pitchFamily="34" charset="-122"/>
                <a:cs typeface="Montserrat" pitchFamily="34" charset="-120"/>
              </a:rPr>
              <a:t>80,4 %</a:t>
            </a:r>
            <a:endParaRPr lang="en-US" sz="1250" dirty="0"/>
          </a:p>
        </p:txBody>
      </p:sp>
      <p:sp>
        <p:nvSpPr>
          <p:cNvPr id="79" name="Text 77"/>
          <p:cNvSpPr txBox="1"/>
          <p:nvPr/>
        </p:nvSpPr>
        <p:spPr>
          <a:xfrm>
            <a:off x="6263640" y="5166360"/>
            <a:ext cx="5394960" cy="274320"/>
          </a:xfrm>
          <a:prstGeom prst="rect">
            <a:avLst/>
          </a:prstGeom>
          <a:noFill/>
          <a:ln/>
        </p:spPr>
        <p:txBody>
          <a:bodyPr wrap="square" lIns="0" tIns="0" rIns="0" bIns="0" rtlCol="0" anchor="t"/>
          <a:lstStyle/>
          <a:p>
            <a:pPr indent="0" marL="0">
              <a:buNone/>
            </a:pPr>
            <a:r>
              <a:rPr lang="en-US" sz="1300" b="1" dirty="0">
                <a:solidFill>
                  <a:srgbClr val="14183D"/>
                </a:solidFill>
                <a:latin typeface="Montserrat" pitchFamily="34" charset="0"/>
                <a:ea typeface="Montserrat" pitchFamily="34" charset="-122"/>
                <a:cs typeface="Montserrat" pitchFamily="34" charset="-120"/>
              </a:rPr>
              <a:t>PPO Route A (tuyau, champignon, fleur) : 5 / 5 sans hasard</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ANNEXE F</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Route A : les réglages</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29</a:t>
            </a:r>
            <a:endParaRPr lang="en-US" sz="1100" dirty="0"/>
          </a:p>
        </p:txBody>
      </p:sp>
      <p:sp>
        <p:nvSpPr>
          <p:cNvPr id="6" name="carte"/>
          <p:cNvSpPr/>
          <p:nvPr/>
        </p:nvSpPr>
        <p:spPr>
          <a:xfrm>
            <a:off x="548640" y="1783080"/>
            <a:ext cx="5394960" cy="4480560"/>
          </a:xfrm>
          <a:prstGeom prst="roundRect">
            <a:avLst>
              <a:gd name="adj" fmla="val 1633"/>
            </a:avLst>
          </a:prstGeom>
          <a:solidFill>
            <a:srgbClr val="FFFFFF"/>
          </a:solidFill>
          <a:ln/>
          <a:effectLst>
            <a:outerShdw sx="100000" sy="100000" kx="0" ky="0" algn="bl" rotWithShape="0" blurRad="101600" dist="25400" dir="5400000">
              <a:srgbClr val="0B1F44">
                <a:alpha val="22000"/>
              </a:srgbClr>
            </a:outerShdw>
          </a:effectLst>
        </p:spPr>
      </p:sp>
      <p:sp>
        <p:nvSpPr>
          <p:cNvPr id="7" name="etiquette"/>
          <p:cNvSpPr txBox="1"/>
          <p:nvPr/>
        </p:nvSpPr>
        <p:spPr>
          <a:xfrm>
            <a:off x="822960" y="1984248"/>
            <a:ext cx="2743200" cy="274320"/>
          </a:xfrm>
          <a:prstGeom prst="rect">
            <a:avLst/>
          </a:prstGeom>
          <a:noFill/>
          <a:ln/>
        </p:spPr>
        <p:txBody>
          <a:bodyPr wrap="square" lIns="0" tIns="0" rIns="0" bIns="0" rtlCol="0" anchor="ctr"/>
          <a:lstStyle/>
          <a:p>
            <a:pPr indent="0" marL="0">
              <a:buNone/>
            </a:pPr>
            <a:r>
              <a:rPr lang="en-US" sz="1150" b="1" spc="100" kern="0" dirty="0">
                <a:solidFill>
                  <a:srgbClr val="4A5070"/>
                </a:solidFill>
                <a:latin typeface="Montserrat" pitchFamily="34" charset="0"/>
                <a:ea typeface="Montserrat" pitchFamily="34" charset="-122"/>
                <a:cs typeface="Montserrat" pitchFamily="34" charset="-120"/>
              </a:rPr>
              <a:t>CONFIGURATION FINALE</a:t>
            </a:r>
            <a:endParaRPr lang="en-US" sz="1150" dirty="0"/>
          </a:p>
        </p:txBody>
      </p:sp>
      <p:sp>
        <p:nvSpPr>
          <p:cNvPr id="8" name="Text 6"/>
          <p:cNvSpPr txBox="1"/>
          <p:nvPr/>
        </p:nvSpPr>
        <p:spPr>
          <a:xfrm>
            <a:off x="749808" y="2286000"/>
            <a:ext cx="5029200" cy="3840480"/>
          </a:xfrm>
          <a:prstGeom prst="rect">
            <a:avLst/>
          </a:prstGeom>
          <a:noFill/>
          <a:ln/>
        </p:spPr>
        <p:txBody>
          <a:bodyPr wrap="square" lIns="0" tIns="0" rIns="0" bIns="0" rtlCol="0" anchor="t"/>
          <a:lstStyle/>
          <a:p>
            <a:pPr marL="203200" indent="-203200">
              <a:lnSpc>
                <a:spcPct val="105000"/>
              </a:lnSpc>
              <a:spcAft>
                <a:spcPts val="900"/>
              </a:spcAft>
              <a:buSzPct val="100000"/>
              <a:buChar char="•"/>
            </a:pPr>
            <a:r>
              <a:rPr lang="en-US" sz="1300" b="1" dirty="0">
                <a:solidFill>
                  <a:srgbClr val="14183D"/>
                </a:solidFill>
                <a:latin typeface="Montserrat" pitchFamily="34" charset="0"/>
                <a:ea typeface="Montserrat" pitchFamily="34" charset="-122"/>
                <a:cs typeface="Montserrat" pitchFamily="34" charset="-120"/>
              </a:rPr>
              <a:t>Niveau : </a:t>
            </a:r>
            <a:r>
              <a:rPr lang="en-US" sz="1300" dirty="0">
                <a:solidFill>
                  <a:srgbClr val="14183D"/>
                </a:solidFill>
                <a:latin typeface="Montserrat" pitchFamily="34" charset="0"/>
                <a:ea typeface="Montserrat" pitchFamily="34" charset="-122"/>
                <a:cs typeface="Montserrat" pitchFamily="34" charset="-120"/>
              </a:rPr>
              <a:t>complet, avec salle bonus ; bloc champignon (col. 34) et bloc fleur pour Mario grand (col. 36) ajoutés</a:t>
            </a:r>
            <a:endParaRPr lang="en-US" sz="1300" dirty="0"/>
          </a:p>
          <a:p>
            <a:pPr marL="203200" indent="-203200">
              <a:lnSpc>
                <a:spcPct val="105000"/>
              </a:lnSpc>
              <a:spcAft>
                <a:spcPts val="900"/>
              </a:spcAft>
              <a:buSzPct val="100000"/>
              <a:buChar char="•"/>
            </a:pPr>
            <a:r>
              <a:rPr lang="en-US" sz="1300" b="1" dirty="0">
                <a:solidFill>
                  <a:srgbClr val="14183D"/>
                </a:solidFill>
                <a:latin typeface="Montserrat" pitchFamily="34" charset="0"/>
                <a:ea typeface="Montserrat" pitchFamily="34" charset="-122"/>
                <a:cs typeface="Montserrat" pitchFamily="34" charset="-120"/>
              </a:rPr>
              <a:t>Vue : </a:t>
            </a:r>
            <a:r>
              <a:rPr lang="en-US" sz="1300" dirty="0">
                <a:solidFill>
                  <a:srgbClr val="14183D"/>
                </a:solidFill>
                <a:latin typeface="Montserrat" pitchFamily="34" charset="0"/>
                <a:ea typeface="Montserrat" pitchFamily="34" charset="-122"/>
                <a:cs typeface="Montserrat" pitchFamily="34" charset="-120"/>
              </a:rPr>
              <a:t>91 nombres (objets, pièces, tuyaux, boutons du pas précédent)</a:t>
            </a:r>
            <a:endParaRPr lang="en-US" sz="1300" dirty="0"/>
          </a:p>
          <a:p>
            <a:pPr marL="203200" indent="-203200">
              <a:lnSpc>
                <a:spcPct val="105000"/>
              </a:lnSpc>
              <a:spcAft>
                <a:spcPts val="900"/>
              </a:spcAft>
              <a:buSzPct val="100000"/>
              <a:buChar char="•"/>
            </a:pPr>
            <a:r>
              <a:rPr lang="en-US" sz="1300" b="1" dirty="0">
                <a:solidFill>
                  <a:srgbClr val="14183D"/>
                </a:solidFill>
                <a:latin typeface="Montserrat" pitchFamily="34" charset="0"/>
                <a:ea typeface="Montserrat" pitchFamily="34" charset="-122"/>
                <a:cs typeface="Montserrat" pitchFamily="34" charset="-120"/>
              </a:rPr>
              <a:t>8 boutons : </a:t>
            </a:r>
            <a:r>
              <a:rPr lang="en-US" sz="1300" dirty="0">
                <a:solidFill>
                  <a:srgbClr val="14183D"/>
                </a:solidFill>
                <a:latin typeface="Montserrat" pitchFamily="34" charset="0"/>
                <a:ea typeface="Montserrat" pitchFamily="34" charset="-122"/>
                <a:cs typeface="Montserrat" pitchFamily="34" charset="-120"/>
              </a:rPr>
              <a:t>rien, droite, droite + saut, droite + course, droite + saut + course, bas, gauche, gauche + saut</a:t>
            </a:r>
            <a:endParaRPr lang="en-US" sz="1300" dirty="0"/>
          </a:p>
          <a:p>
            <a:pPr marL="203200" indent="-203200">
              <a:lnSpc>
                <a:spcPct val="105000"/>
              </a:lnSpc>
              <a:spcAft>
                <a:spcPts val="900"/>
              </a:spcAft>
              <a:buSzPct val="100000"/>
              <a:buChar char="•"/>
            </a:pPr>
            <a:r>
              <a:rPr lang="en-US" sz="1300" b="1" dirty="0">
                <a:solidFill>
                  <a:srgbClr val="14183D"/>
                </a:solidFill>
                <a:latin typeface="Montserrat" pitchFamily="34" charset="0"/>
                <a:ea typeface="Montserrat" pitchFamily="34" charset="-122"/>
                <a:cs typeface="Montserrat" pitchFamily="34" charset="-120"/>
              </a:rPr>
              <a:t>Règle du blocage : </a:t>
            </a:r>
            <a:r>
              <a:rPr lang="en-US" sz="1300" dirty="0">
                <a:solidFill>
                  <a:srgbClr val="14183D"/>
                </a:solidFill>
                <a:latin typeface="Montserrat" pitchFamily="34" charset="0"/>
                <a:ea typeface="Montserrat" pitchFamily="34" charset="-122"/>
                <a:cs typeface="Montserrat" pitchFamily="34" charset="-120"/>
              </a:rPr>
              <a:t>150 pas sans rien de neuf = partie perdue</a:t>
            </a:r>
            <a:endParaRPr lang="en-US" sz="1300" dirty="0"/>
          </a:p>
        </p:txBody>
      </p:sp>
      <p:sp>
        <p:nvSpPr>
          <p:cNvPr id="9" name="tableau_fond"/>
          <p:cNvSpPr/>
          <p:nvPr/>
        </p:nvSpPr>
        <p:spPr>
          <a:xfrm>
            <a:off x="6263640" y="1783080"/>
            <a:ext cx="5376672" cy="3822192"/>
          </a:xfrm>
          <a:prstGeom prst="rect">
            <a:avLst/>
          </a:prstGeom>
          <a:solidFill>
            <a:srgbClr val="FFFFFF"/>
          </a:solidFill>
          <a:ln/>
          <a:effectLst>
            <a:outerShdw sx="100000" sy="100000" kx="0" ky="0" algn="bl" rotWithShape="0" blurRad="101600" dist="25400" dir="5400000">
              <a:srgbClr val="0B1F44">
                <a:alpha val="22000"/>
              </a:srgbClr>
            </a:outerShdw>
          </a:effectLst>
        </p:spPr>
      </p:sp>
      <p:sp>
        <p:nvSpPr>
          <p:cNvPr id="10" name="entete"/>
          <p:cNvSpPr txBox="1"/>
          <p:nvPr/>
        </p:nvSpPr>
        <p:spPr>
          <a:xfrm>
            <a:off x="6263640" y="1783080"/>
            <a:ext cx="3520440" cy="457200"/>
          </a:xfrm>
          <a:prstGeom prst="rect">
            <a:avLst/>
          </a:prstGeom>
          <a:solidFill>
            <a:srgbClr val="14183D"/>
          </a:solidFill>
          <a:ln/>
        </p:spPr>
        <p:txBody>
          <a:bodyPr wrap="square" lIns="177800" tIns="25400" rIns="76200" bIns="25400" rtlCol="0" anchor="ctr"/>
          <a:lstStyle/>
          <a:p>
            <a:pPr algn="l" indent="0" marL="0">
              <a:buNone/>
            </a:pPr>
            <a:r>
              <a:rPr lang="en-US" sz="1200" b="1" dirty="0">
                <a:solidFill>
                  <a:srgbClr val="FFFFFF"/>
                </a:solidFill>
                <a:latin typeface="Montserrat" pitchFamily="34" charset="0"/>
                <a:ea typeface="Montserrat" pitchFamily="34" charset="-122"/>
                <a:cs typeface="Montserrat" pitchFamily="34" charset="-120"/>
              </a:rPr>
              <a:t>Événement</a:t>
            </a:r>
            <a:endParaRPr lang="en-US" sz="1200" dirty="0"/>
          </a:p>
        </p:txBody>
      </p:sp>
      <p:sp>
        <p:nvSpPr>
          <p:cNvPr id="11" name="entete"/>
          <p:cNvSpPr txBox="1"/>
          <p:nvPr/>
        </p:nvSpPr>
        <p:spPr>
          <a:xfrm>
            <a:off x="9784080" y="1783080"/>
            <a:ext cx="1856232" cy="457200"/>
          </a:xfrm>
          <a:prstGeom prst="rect">
            <a:avLst/>
          </a:prstGeom>
          <a:solidFill>
            <a:srgbClr val="14183D"/>
          </a:solidFill>
          <a:ln/>
        </p:spPr>
        <p:txBody>
          <a:bodyPr wrap="square" lIns="76200" tIns="25400" rIns="76200" bIns="2540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Récompense</a:t>
            </a:r>
            <a:endParaRPr lang="en-US" sz="1200" dirty="0"/>
          </a:p>
        </p:txBody>
      </p:sp>
      <p:sp>
        <p:nvSpPr>
          <p:cNvPr id="12" name="cellule"/>
          <p:cNvSpPr txBox="1"/>
          <p:nvPr/>
        </p:nvSpPr>
        <p:spPr>
          <a:xfrm>
            <a:off x="6263640" y="2240280"/>
            <a:ext cx="3520440" cy="420624"/>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Pièce</a:t>
            </a:r>
            <a:endParaRPr lang="en-US" sz="1300" dirty="0"/>
          </a:p>
        </p:txBody>
      </p:sp>
      <p:sp>
        <p:nvSpPr>
          <p:cNvPr id="13" name="cellule"/>
          <p:cNvSpPr txBox="1"/>
          <p:nvPr/>
        </p:nvSpPr>
        <p:spPr>
          <a:xfrm>
            <a:off x="9784080" y="2240280"/>
            <a:ext cx="1856232" cy="420624"/>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+10</a:t>
            </a:r>
            <a:endParaRPr lang="en-US" sz="1300" dirty="0"/>
          </a:p>
        </p:txBody>
      </p:sp>
      <p:sp>
        <p:nvSpPr>
          <p:cNvPr id="14" name="cellule"/>
          <p:cNvSpPr txBox="1"/>
          <p:nvPr/>
        </p:nvSpPr>
        <p:spPr>
          <a:xfrm>
            <a:off x="6263640" y="2660904"/>
            <a:ext cx="3520440" cy="420624"/>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Entrer dans la salle bonus</a:t>
            </a:r>
            <a:endParaRPr lang="en-US" sz="1300" dirty="0"/>
          </a:p>
        </p:txBody>
      </p:sp>
      <p:sp>
        <p:nvSpPr>
          <p:cNvPr id="15" name="cellule"/>
          <p:cNvSpPr txBox="1"/>
          <p:nvPr/>
        </p:nvSpPr>
        <p:spPr>
          <a:xfrm>
            <a:off x="9784080" y="2660904"/>
            <a:ext cx="1856232" cy="420624"/>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+200</a:t>
            </a:r>
            <a:endParaRPr lang="en-US" sz="1300" dirty="0"/>
          </a:p>
        </p:txBody>
      </p:sp>
      <p:sp>
        <p:nvSpPr>
          <p:cNvPr id="16" name="cellule"/>
          <p:cNvSpPr txBox="1"/>
          <p:nvPr/>
        </p:nvSpPr>
        <p:spPr>
          <a:xfrm>
            <a:off x="6263640" y="3081528"/>
            <a:ext cx="3520440" cy="420624"/>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Champignon ou fleur</a:t>
            </a:r>
            <a:endParaRPr lang="en-US" sz="1300" dirty="0"/>
          </a:p>
        </p:txBody>
      </p:sp>
      <p:sp>
        <p:nvSpPr>
          <p:cNvPr id="17" name="cellule"/>
          <p:cNvSpPr txBox="1"/>
          <p:nvPr/>
        </p:nvSpPr>
        <p:spPr>
          <a:xfrm>
            <a:off x="9784080" y="3081528"/>
            <a:ext cx="1856232" cy="420624"/>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+150</a:t>
            </a:r>
            <a:endParaRPr lang="en-US" sz="1300" dirty="0"/>
          </a:p>
        </p:txBody>
      </p:sp>
      <p:sp>
        <p:nvSpPr>
          <p:cNvPr id="18" name="cellule"/>
          <p:cNvSpPr txBox="1"/>
          <p:nvPr/>
        </p:nvSpPr>
        <p:spPr>
          <a:xfrm>
            <a:off x="6263640" y="3502152"/>
            <a:ext cx="3520440" cy="420624"/>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Bloc power-up frappé</a:t>
            </a:r>
            <a:endParaRPr lang="en-US" sz="1300" dirty="0"/>
          </a:p>
        </p:txBody>
      </p:sp>
      <p:sp>
        <p:nvSpPr>
          <p:cNvPr id="19" name="cellule"/>
          <p:cNvSpPr txBox="1"/>
          <p:nvPr/>
        </p:nvSpPr>
        <p:spPr>
          <a:xfrm>
            <a:off x="9784080" y="3502152"/>
            <a:ext cx="1856232" cy="420624"/>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+25</a:t>
            </a:r>
            <a:endParaRPr lang="en-US" sz="1300" dirty="0"/>
          </a:p>
        </p:txBody>
      </p:sp>
      <p:sp>
        <p:nvSpPr>
          <p:cNvPr id="20" name="cellule"/>
          <p:cNvSpPr txBox="1"/>
          <p:nvPr/>
        </p:nvSpPr>
        <p:spPr>
          <a:xfrm>
            <a:off x="6263640" y="3922776"/>
            <a:ext cx="3520440" cy="420624"/>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Se rapprocher d'un objet visible</a:t>
            </a:r>
            <a:endParaRPr lang="en-US" sz="1300" dirty="0"/>
          </a:p>
        </p:txBody>
      </p:sp>
      <p:sp>
        <p:nvSpPr>
          <p:cNvPr id="21" name="cellule"/>
          <p:cNvSpPr txBox="1"/>
          <p:nvPr/>
        </p:nvSpPr>
        <p:spPr>
          <a:xfrm>
            <a:off x="9784080" y="3922776"/>
            <a:ext cx="1856232" cy="420624"/>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+2 par case</a:t>
            </a:r>
            <a:endParaRPr lang="en-US" sz="1300" dirty="0"/>
          </a:p>
        </p:txBody>
      </p:sp>
      <p:sp>
        <p:nvSpPr>
          <p:cNvPr id="22" name="cellule"/>
          <p:cNvSpPr txBox="1"/>
          <p:nvPr/>
        </p:nvSpPr>
        <p:spPr>
          <a:xfrm>
            <a:off x="6263640" y="4343400"/>
            <a:ext cx="3520440" cy="420624"/>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Chaque seconde du chrono</a:t>
            </a:r>
            <a:endParaRPr lang="en-US" sz="1300" dirty="0"/>
          </a:p>
        </p:txBody>
      </p:sp>
      <p:sp>
        <p:nvSpPr>
          <p:cNvPr id="23" name="cellule"/>
          <p:cNvSpPr txBox="1"/>
          <p:nvPr/>
        </p:nvSpPr>
        <p:spPr>
          <a:xfrm>
            <a:off x="9784080" y="4343400"/>
            <a:ext cx="1856232" cy="420624"/>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-0,5</a:t>
            </a:r>
            <a:endParaRPr lang="en-US" sz="1300" dirty="0"/>
          </a:p>
        </p:txBody>
      </p:sp>
      <p:sp>
        <p:nvSpPr>
          <p:cNvPr id="24" name="cellule"/>
          <p:cNvSpPr txBox="1"/>
          <p:nvPr/>
        </p:nvSpPr>
        <p:spPr>
          <a:xfrm>
            <a:off x="6263640" y="4764024"/>
            <a:ext cx="3520440" cy="420624"/>
          </a:xfrm>
          <a:prstGeom prst="rect">
            <a:avLst/>
          </a:prstGeom>
          <a:solidFill>
            <a:srgbClr val="FFFFFF"/>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Mort ou blocage</a:t>
            </a:r>
            <a:endParaRPr lang="en-US" sz="1300" dirty="0"/>
          </a:p>
        </p:txBody>
      </p:sp>
      <p:sp>
        <p:nvSpPr>
          <p:cNvPr id="25" name="cellule"/>
          <p:cNvSpPr txBox="1"/>
          <p:nvPr/>
        </p:nvSpPr>
        <p:spPr>
          <a:xfrm>
            <a:off x="9784080" y="4764024"/>
            <a:ext cx="1856232" cy="420624"/>
          </a:xfrm>
          <a:prstGeom prst="rect">
            <a:avLst/>
          </a:prstGeom>
          <a:solidFill>
            <a:srgbClr val="FFFFFF"/>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-50</a:t>
            </a:r>
            <a:endParaRPr lang="en-US" sz="1300" dirty="0"/>
          </a:p>
        </p:txBody>
      </p:sp>
      <p:sp>
        <p:nvSpPr>
          <p:cNvPr id="26" name="cellule"/>
          <p:cNvSpPr txBox="1"/>
          <p:nvPr/>
        </p:nvSpPr>
        <p:spPr>
          <a:xfrm>
            <a:off x="6263640" y="5184648"/>
            <a:ext cx="3520440" cy="420624"/>
          </a:xfrm>
          <a:prstGeom prst="rect">
            <a:avLst/>
          </a:prstGeom>
          <a:solidFill>
            <a:srgbClr val="F2F5FA"/>
          </a:solidFill>
          <a:ln/>
        </p:spPr>
        <p:txBody>
          <a:bodyPr wrap="square" lIns="177800" tIns="25400" rIns="76200" bIns="25400" rtlCol="0" anchor="ctr"/>
          <a:lstStyle/>
          <a:p>
            <a:pPr algn="l" indent="0" marL="0">
              <a:buNone/>
            </a:pPr>
            <a:r>
              <a:rPr lang="en-US" sz="1300" b="1" dirty="0">
                <a:solidFill>
                  <a:srgbClr val="14183D"/>
                </a:solidFill>
                <a:latin typeface="Montserrat" pitchFamily="34" charset="0"/>
                <a:ea typeface="Montserrat" pitchFamily="34" charset="-122"/>
                <a:cs typeface="Montserrat" pitchFamily="34" charset="-120"/>
              </a:rPr>
              <a:t>Drapeau</a:t>
            </a:r>
            <a:endParaRPr lang="en-US" sz="1300" dirty="0"/>
          </a:p>
        </p:txBody>
      </p:sp>
      <p:sp>
        <p:nvSpPr>
          <p:cNvPr id="27" name="cellule"/>
          <p:cNvSpPr txBox="1"/>
          <p:nvPr/>
        </p:nvSpPr>
        <p:spPr>
          <a:xfrm>
            <a:off x="9784080" y="5184648"/>
            <a:ext cx="1856232" cy="420624"/>
          </a:xfrm>
          <a:prstGeom prst="rect">
            <a:avLst/>
          </a:prstGeom>
          <a:solidFill>
            <a:srgbClr val="F2F5FA"/>
          </a:solidFill>
          <a:ln/>
        </p:spPr>
        <p:txBody>
          <a:bodyPr wrap="square" lIns="25400" tIns="25400" rIns="25400" bIns="25400" rtlCol="0" anchor="ctr"/>
          <a:lstStyle/>
          <a:p>
            <a:pPr algn="ctr" indent="0" marL="0">
              <a:buNone/>
            </a:pPr>
            <a:r>
              <a:rPr lang="en-US" sz="1300" dirty="0">
                <a:solidFill>
                  <a:srgbClr val="14183D"/>
                </a:solidFill>
                <a:latin typeface="Montserrat" pitchFamily="34" charset="0"/>
                <a:ea typeface="Montserrat" pitchFamily="34" charset="-122"/>
                <a:cs typeface="Montserrat" pitchFamily="34" charset="-120"/>
              </a:rPr>
              <a:t>+100</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5A99ED"/>
        </a:solidFill>
      </p:bgPr>
    </p:bg>
    <p:spTree>
      <p:nvGrpSpPr>
        <p:cNvPr id="1" name=""/>
        <p:cNvGrpSpPr/>
        <p:nvPr/>
      </p:nvGrpSpPr>
      <p:grpSpPr>
        <a:xfrm>
          <a:off x="0" y="0"/>
          <a:ext cx="0" cy="0"/>
          <a:chOff x="0" y="0"/>
          <a:chExt cx="0" cy="0"/>
        </a:xfrm>
      </p:grpSpPr>
      <p:sp>
        <p:nvSpPr>
          <p:cNvPr id="2" name="sol"/>
          <p:cNvSpPr/>
          <p:nvPr/>
        </p:nvSpPr>
        <p:spPr>
          <a:xfrm>
            <a:off x="0" y="6711696"/>
            <a:ext cx="12191695" cy="146304"/>
          </a:xfrm>
          <a:prstGeom prst="rect">
            <a:avLst/>
          </a:prstGeom>
          <a:solidFill>
            <a:srgbClr val="1AA703"/>
          </a:solidFill>
          <a:ln/>
        </p:spPr>
      </p:sp>
      <p:sp>
        <p:nvSpPr>
          <p:cNvPr id="3" name="monde"/>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dirty="0">
                <a:solidFill>
                  <a:srgbClr val="FFC703"/>
                </a:solidFill>
                <a:latin typeface="Arcade Gamer" pitchFamily="34" charset="0"/>
                <a:ea typeface="Arcade Gamer" pitchFamily="34" charset="-122"/>
                <a:cs typeface="Arcade Gamer" pitchFamily="34" charset="-120"/>
              </a:rPr>
              <a:t>ANNEXE G</a:t>
            </a:r>
            <a:endParaRPr lang="en-US" sz="1100" dirty="0"/>
          </a:p>
        </p:txBody>
      </p:sp>
      <p:sp>
        <p:nvSpPr>
          <p:cNvPr id="4" name="titre"/>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Références</a:t>
            </a:r>
            <a:endParaRPr lang="en-US" sz="3000" dirty="0"/>
          </a:p>
        </p:txBody>
      </p:sp>
      <p:sp>
        <p:nvSpPr>
          <p:cNvPr id="5" name="Text 3"/>
          <p:cNvSpPr txBox="1"/>
          <p:nvPr/>
        </p:nvSpPr>
        <p:spPr>
          <a:xfrm>
            <a:off x="11277295" y="6355080"/>
            <a:ext cx="566928" cy="274320"/>
          </a:xfrm>
          <a:prstGeom prst="rect">
            <a:avLst/>
          </a:prstGeom>
          <a:noFill/>
          <a:ln/>
        </p:spPr>
        <p:txBody>
          <a:bodyPr wrap="square" lIns="0" tIns="0" rIns="0" bIns="0" rtlCol="0" anchor="ctr"/>
          <a:lstStyle/>
          <a:p>
            <a:pPr algn="r" indent="0" marL="0">
              <a:buNone/>
            </a:pPr>
            <a:r>
              <a:rPr lang="en-US" sz="1100" b="1" dirty="0">
                <a:solidFill>
                  <a:srgbClr val="FFFFFF"/>
                </a:solidFill>
                <a:latin typeface="Montserrat" pitchFamily="34" charset="0"/>
                <a:ea typeface="Montserrat" pitchFamily="34" charset="-122"/>
                <a:cs typeface="Montserrat" pitchFamily="34" charset="-120"/>
              </a:rPr>
              <a:t>30</a:t>
            </a:r>
            <a:endParaRPr lang="en-US" sz="1100" dirty="0"/>
          </a:p>
        </p:txBody>
      </p:sp>
      <p:sp>
        <p:nvSpPr>
          <p:cNvPr id="6" name="carte"/>
          <p:cNvSpPr/>
          <p:nvPr/>
        </p:nvSpPr>
        <p:spPr>
          <a:xfrm>
            <a:off x="548640" y="1371600"/>
            <a:ext cx="11091672" cy="4919472"/>
          </a:xfrm>
          <a:prstGeom prst="roundRect">
            <a:avLst>
              <a:gd name="adj" fmla="val 1487"/>
            </a:avLst>
          </a:prstGeom>
          <a:solidFill>
            <a:srgbClr val="FFFFFF"/>
          </a:solidFill>
          <a:ln/>
          <a:effectLst>
            <a:outerShdw sx="100000" sy="100000" kx="0" ky="0" algn="bl" rotWithShape="0" blurRad="101600" dist="25400" dir="5400000">
              <a:srgbClr val="0B1F44">
                <a:alpha val="22000"/>
              </a:srgbClr>
            </a:outerShdw>
          </a:effectLst>
        </p:spPr>
      </p:sp>
      <p:sp>
        <p:nvSpPr>
          <p:cNvPr id="7" name="Text 5"/>
          <p:cNvSpPr txBox="1"/>
          <p:nvPr/>
        </p:nvSpPr>
        <p:spPr>
          <a:xfrm>
            <a:off x="777240" y="1554480"/>
            <a:ext cx="10698480" cy="4663440"/>
          </a:xfrm>
          <a:prstGeom prst="rect">
            <a:avLst/>
          </a:prstGeom>
          <a:noFill/>
          <a:ln/>
        </p:spPr>
        <p:txBody>
          <a:bodyPr wrap="square" lIns="0" tIns="0" rIns="0" bIns="0" rtlCol="0" anchor="t"/>
          <a:lstStyle/>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J. Ponnock, L. Ho. Reinforcement Learning in Super Mario Bros: Curriculum, Pedagogy, and Optimal Level Design in World 1-1. arXiv:2606.29511, 2026.</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R. S. Sutton, A. G. Barto. Reinforcement Learning: An Introduction, 2e éd. MIT Press, 2018.</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C. J. C. H. Watkins, P. Dayan. Q-learning. Machine Learning 8(3-4), 1992.</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G. A. Rummery, M. Niranjan. On-line Q-learning using connectionist systems. Cambridge, 1994.</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Y. Bengio, J. Louradour, R. Collobert, J. Weston. Curriculum learning. ICML, 2009.</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V. Mnih et al. Human-level control through deep reinforcement learning. Nature 518, 2015.</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H. van Hasselt, A. Guez, D. Silver. Deep reinforcement learning with double Q-learning. AAAI, 2016.</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J. Schulman et al. Proximal Policy Optimization Algorithms. arXiv:1707.06347, 2017.</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D. Pathak et al. Curiosity-driven exploration by self-supervised prediction. ICML, 2017 (agent testé sur Super Mario Bros).</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C. Kautenja. gym-super-mario-bros. GitHub, 2018.</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S. Dahlskog, J. Togelius. Patterns and procedural content generation: revisiting Mario in World 1 Level 1. DPG, 2012.</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E. Strubell, A. Ganesh, A. McCallum. Energy and policy considerations for deep learning in NLP. ACL, 2019.</a:t>
            </a:r>
            <a:endParaRPr lang="en-US" sz="1350" dirty="0"/>
          </a:p>
          <a:p>
            <a:pPr marL="203200" indent="-203200">
              <a:lnSpc>
                <a:spcPct val="105000"/>
              </a:lnSpc>
              <a:spcAft>
                <a:spcPts val="500"/>
              </a:spcAft>
              <a:buSzPct val="100000"/>
              <a:buChar char="•"/>
            </a:pPr>
            <a:r>
              <a:rPr lang="en-US" sz="1350" dirty="0">
                <a:solidFill>
                  <a:srgbClr val="14183D"/>
                </a:solidFill>
                <a:latin typeface="Montserrat" pitchFamily="34" charset="0"/>
                <a:ea typeface="Montserrat" pitchFamily="34" charset="-122"/>
                <a:cs typeface="Montserrat" pitchFamily="34" charset="-120"/>
              </a:rPr>
              <a:t>CodeCarbon : outil de mesure de l'empreinte carbone du calcul (codecarbon.io).</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cade Gam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HPDA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Reinforcement Learning in Super Mario Bros - oral final</dc:title>
  <dc:subject>Veille scientifique : Ponnock et Ho (2026)</dc:subject>
  <dc:creator>Chris, Ewen, Chloé</dc:creator>
  <cp:lastModifiedBy>Chris, Ewen, Chloé</cp:lastModifiedBy>
  <cp:revision>1</cp:revision>
  <dcterms:created xsi:type="dcterms:W3CDTF">2026-10-05T12:44:24Z</dcterms:created>
  <dcterms:modified xsi:type="dcterms:W3CDTF">2026-10-05T12:44:24Z</dcterms:modified>
</cp:coreProperties>
</file>